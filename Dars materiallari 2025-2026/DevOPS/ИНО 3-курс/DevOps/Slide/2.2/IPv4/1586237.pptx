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8.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9.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20.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1.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22.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23.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24.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25.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26.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27.xml" ContentType="application/vnd.openxmlformats-officedocument.presentationml.tags+xml"/>
  <Override PartName="/ppt/notesSlides/notesSlide67.xml" ContentType="application/vnd.openxmlformats-officedocument.presentationml.notesSlide+xml"/>
  <Override PartName="/ppt/tags/tag28.xml" ContentType="application/vnd.openxmlformats-officedocument.presentationml.tags+xml"/>
  <Override PartName="/ppt/notesSlides/notesSlide68.xml" ContentType="application/vnd.openxmlformats-officedocument.presentationml.notesSlide+xml"/>
  <Override PartName="/ppt/tags/tag29.xml" ContentType="application/vnd.openxmlformats-officedocument.presentationml.tags+xml"/>
  <Override PartName="/ppt/notesSlides/notesSlide69.xml" ContentType="application/vnd.openxmlformats-officedocument.presentationml.notesSlide+xml"/>
  <Override PartName="/ppt/tags/tag30.xml" ContentType="application/vnd.openxmlformats-officedocument.presentationml.tags+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4"/>
  </p:notesMasterIdLst>
  <p:sldIdLst>
    <p:sldId id="513" r:id="rId2"/>
    <p:sldId id="1161" r:id="rId3"/>
    <p:sldId id="1162" r:id="rId4"/>
    <p:sldId id="1163" r:id="rId5"/>
    <p:sldId id="1164" r:id="rId6"/>
    <p:sldId id="763" r:id="rId7"/>
    <p:sldId id="1094" r:id="rId8"/>
    <p:sldId id="1151" r:id="rId9"/>
    <p:sldId id="1052" r:id="rId10"/>
    <p:sldId id="1069" r:id="rId11"/>
    <p:sldId id="1160" r:id="rId12"/>
    <p:sldId id="1152" r:id="rId13"/>
    <p:sldId id="1153" r:id="rId14"/>
    <p:sldId id="876" r:id="rId15"/>
    <p:sldId id="1096" r:id="rId16"/>
    <p:sldId id="759" r:id="rId17"/>
    <p:sldId id="1054" r:id="rId18"/>
    <p:sldId id="1098" r:id="rId19"/>
    <p:sldId id="1099" r:id="rId20"/>
    <p:sldId id="1100" r:id="rId21"/>
    <p:sldId id="1101" r:id="rId22"/>
    <p:sldId id="1102" r:id="rId23"/>
    <p:sldId id="1056" r:id="rId24"/>
    <p:sldId id="1103" r:id="rId25"/>
    <p:sldId id="1104" r:id="rId26"/>
    <p:sldId id="1106" r:id="rId27"/>
    <p:sldId id="1111" r:id="rId28"/>
    <p:sldId id="1118" r:id="rId29"/>
    <p:sldId id="1125" r:id="rId30"/>
    <p:sldId id="1126" r:id="rId31"/>
    <p:sldId id="1127" r:id="rId32"/>
    <p:sldId id="1128" r:id="rId33"/>
    <p:sldId id="1112" r:id="rId34"/>
    <p:sldId id="1119" r:id="rId35"/>
    <p:sldId id="1129" r:id="rId36"/>
    <p:sldId id="1130" r:id="rId37"/>
    <p:sldId id="1113" r:id="rId38"/>
    <p:sldId id="1120" r:id="rId39"/>
    <p:sldId id="1150" r:id="rId40"/>
    <p:sldId id="1131" r:id="rId41"/>
    <p:sldId id="1132" r:id="rId42"/>
    <p:sldId id="1133" r:id="rId43"/>
    <p:sldId id="1135" r:id="rId44"/>
    <p:sldId id="1114" r:id="rId45"/>
    <p:sldId id="1121" r:id="rId46"/>
    <p:sldId id="1137" r:id="rId47"/>
    <p:sldId id="1138" r:id="rId48"/>
    <p:sldId id="1139" r:id="rId49"/>
    <p:sldId id="1140" r:id="rId50"/>
    <p:sldId id="1115" r:id="rId51"/>
    <p:sldId id="1122" r:id="rId52"/>
    <p:sldId id="1141" r:id="rId53"/>
    <p:sldId id="1142" r:id="rId54"/>
    <p:sldId id="1143" r:id="rId55"/>
    <p:sldId id="1116" r:id="rId56"/>
    <p:sldId id="1123" r:id="rId57"/>
    <p:sldId id="1144" r:id="rId58"/>
    <p:sldId id="1145" r:id="rId59"/>
    <p:sldId id="1154" r:id="rId60"/>
    <p:sldId id="1146" r:id="rId61"/>
    <p:sldId id="1147" r:id="rId62"/>
    <p:sldId id="1117" r:id="rId63"/>
    <p:sldId id="1124" r:id="rId64"/>
    <p:sldId id="1148" r:id="rId65"/>
    <p:sldId id="1149" r:id="rId66"/>
    <p:sldId id="957" r:id="rId67"/>
    <p:sldId id="1155" r:id="rId68"/>
    <p:sldId id="1156" r:id="rId69"/>
    <p:sldId id="958" r:id="rId70"/>
    <p:sldId id="1157" r:id="rId71"/>
    <p:sldId id="874" r:id="rId72"/>
    <p:sldId id="291" r:id="rId73"/>
  </p:sldIdLst>
  <p:sldSz cx="9144000" cy="5143500" type="screen16x9"/>
  <p:notesSz cx="6858000" cy="9144000"/>
  <p:custDataLst>
    <p:tags r:id="rId7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63" autoAdjust="0"/>
    <p:restoredTop sz="77285" autoAdjust="0"/>
  </p:normalViewPr>
  <p:slideViewPr>
    <p:cSldViewPr snapToGrid="0" showGuides="1">
      <p:cViewPr varScale="1">
        <p:scale>
          <a:sx n="117" d="100"/>
          <a:sy n="117" d="100"/>
        </p:scale>
        <p:origin x="1716" y="9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00" d="100"/>
        <a:sy n="100" d="100"/>
      </p:scale>
      <p:origin x="0" y="-343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12/4/2024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b="0"/>
              <a:t>Программа Сетевой академии Cisco</a:t>
            </a:r>
          </a:p>
          <a:p>
            <a:pPr rtl="0">
              <a:buFontTx/>
              <a:buNone/>
            </a:pPr>
            <a:r>
              <a:rPr lang="ru-RU" b="0" baseline="0"/>
              <a:t>Введение в сетевые технологии v</a:t>
            </a:r>
            <a:r>
              <a:rPr lang="ru-RU" b="0"/>
              <a:t>7.0 (ITN)</a:t>
            </a:r>
          </a:p>
          <a:p>
            <a:pPr rtl="0">
              <a:buFontTx/>
              <a:buNone/>
            </a:pPr>
            <a:r>
              <a:rPr lang="ru-RU">
                <a:solidFill>
                  <a:schemeClr val="accent5">
                    <a:lumMod val="40000"/>
                    <a:lumOff val="60000"/>
                  </a:schemeClr>
                </a:solidFill>
              </a:rPr>
              <a:t>Модуль 11: Адресация IPv4</a:t>
            </a:r>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rtl="0"/>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549651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rtl="0"/>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810182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rtl="0"/>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rtl="0"/>
              <a:t>7</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185351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rtl="0"/>
              <a:t>8</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011303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9</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10</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11</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65193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12</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793685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13</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10745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b="0" dirty="0"/>
              <a:t>Программа Сетевой академии </a:t>
            </a:r>
            <a:r>
              <a:rPr lang="ru-RU" b="0" dirty="0" err="1"/>
              <a:t>Cisco</a:t>
            </a:r>
            <a:endParaRPr lang="ru-RU" b="0" dirty="0"/>
          </a:p>
          <a:p>
            <a:pPr rtl="0">
              <a:buFontTx/>
              <a:buNone/>
            </a:pPr>
            <a:r>
              <a:rPr lang="ru-RU" b="0" baseline="0" dirty="0"/>
              <a:t>Введение в сетевые технологии v</a:t>
            </a:r>
            <a:r>
              <a:rPr lang="ru-RU" b="0" dirty="0"/>
              <a:t>7.0 (ITN)</a:t>
            </a:r>
          </a:p>
          <a:p>
            <a:pPr rtl="0"/>
            <a:r>
              <a:rPr lang="ru-RU" dirty="0">
                <a:solidFill>
                  <a:schemeClr val="accent5">
                    <a:lumMod val="40000"/>
                    <a:lumOff val="60000"/>
                  </a:schemeClr>
                </a:solidFill>
              </a:rPr>
              <a:t>Модуль 11: Адресация IPv4</a:t>
            </a:r>
          </a:p>
        </p:txBody>
      </p:sp>
      <p:sp>
        <p:nvSpPr>
          <p:cNvPr id="4" name="Slide Number Placeholder 3"/>
          <p:cNvSpPr>
            <a:spLocks noGrp="1"/>
          </p:cNvSpPr>
          <p:nvPr>
            <p:ph type="sldNum" sz="quarter" idx="10"/>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5081187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15</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buFontTx/>
              <a:buNone/>
            </a:pPr>
            <a:r>
              <a:rPr lang="ru-RU" sz="1200" b="0"/>
              <a:t>11.0 - Введение</a:t>
            </a:r>
          </a:p>
          <a:p>
            <a:pPr rtl="0">
              <a:lnSpc>
                <a:spcPct val="80000"/>
              </a:lnSpc>
              <a:buFontTx/>
              <a:buNone/>
            </a:pPr>
            <a:r>
              <a:rPr lang="ru-RU" sz="1200" kern="1200">
                <a:solidFill>
                  <a:schemeClr val="tx1"/>
                </a:solidFill>
                <a:latin typeface="Arial" charset="0"/>
                <a:ea typeface="ＭＳ Ｐゴシック" charset="0"/>
                <a:cs typeface="ＭＳ Ｐゴシック" charset="0"/>
              </a:rPr>
              <a:t>11.0.2 - </a:t>
            </a:r>
            <a:r>
              <a:rPr lang="ru-RU" sz="1200" kern="1200">
                <a:solidFill>
                  <a:schemeClr val="tx1"/>
                </a:solidFill>
                <a:latin typeface="+mn-lt"/>
                <a:ea typeface="+mn-ea"/>
                <a:cs typeface="+mn-cs"/>
              </a:rPr>
              <a:t>Что</a:t>
            </a:r>
            <a:r>
              <a:rPr lang="ru-RU" sz="1200" kern="1200" baseline="0">
                <a:solidFill>
                  <a:schemeClr val="tx1"/>
                </a:solidFill>
                <a:latin typeface="+mn-lt"/>
                <a:ea typeface="+mn-ea"/>
                <a:cs typeface="+mn-cs"/>
              </a:rPr>
              <a:t> я буду изучать в этом модуле?</a:t>
            </a: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buFontTx/>
              <a:buNone/>
            </a:pPr>
            <a:r>
              <a:rPr lang="ru-RU" sz="1200" b="0"/>
              <a:t>11.1 </a:t>
            </a:r>
            <a:r>
              <a:rPr lang="ru-RU"/>
              <a:t>Структура адреса IPv4</a:t>
            </a:r>
          </a:p>
        </p:txBody>
      </p:sp>
      <p:sp>
        <p:nvSpPr>
          <p:cNvPr id="4" name="Slide Number Placeholder 3"/>
          <p:cNvSpPr>
            <a:spLocks noGrp="1"/>
          </p:cNvSpPr>
          <p:nvPr>
            <p:ph type="sldNum" sz="quarter" idx="10"/>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r>
              <a:rPr lang="ru-RU"/>
              <a:t>11.1 Структура адреса IPv4</a:t>
            </a:r>
          </a:p>
          <a:p>
            <a:pPr rtl="0"/>
            <a:r>
              <a:rPr lang="ru-RU"/>
              <a:t>11.1.1 – Сетевая и хостовая части</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r>
              <a:rPr lang="ru-RU"/>
              <a:t>11.1 Структура адреса IPv4</a:t>
            </a:r>
          </a:p>
          <a:p>
            <a:pPr rtl="0"/>
            <a:r>
              <a:rPr lang="ru-RU"/>
              <a:t>11.1.2 – Маска подсети</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31890989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r>
              <a:rPr lang="ru-RU"/>
              <a:t>11.1 Структура адреса IPv4</a:t>
            </a:r>
          </a:p>
          <a:p>
            <a:pPr rtl="0"/>
            <a:r>
              <a:rPr lang="ru-RU"/>
              <a:t>11.1.3 – Длина префикса</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12295882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r>
              <a:rPr lang="ru-RU"/>
              <a:t>11.1 Структура адреса IPv4</a:t>
            </a:r>
          </a:p>
          <a:p>
            <a:pPr rtl="0"/>
            <a:r>
              <a:rPr lang="ru-RU"/>
              <a:t>11.1.4 — Определение сети: логическое И</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66883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11.1 Структура адреса IPv4</a:t>
            </a:r>
          </a:p>
          <a:p>
            <a:pPr rtl="0"/>
            <a:r>
              <a:rPr lang="ru-RU"/>
              <a:t>11.1.5 – Видео - Сетевой адрес, адрес хоста и широковещательный адрес</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30150828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11.1 Структура адреса IPv4</a:t>
            </a:r>
          </a:p>
          <a:p>
            <a:pPr rtl="0"/>
            <a:r>
              <a:rPr lang="ru-RU"/>
              <a:t>11.1.6 – Сетевой адрес, адрес хоста и широковещательный адрес</a:t>
            </a:r>
          </a:p>
          <a:p>
            <a:pPr rtl="0"/>
            <a:r>
              <a:rPr lang="ru-RU"/>
              <a:t>11.1.7 – Задание. Использование логической операции И для определения сетевого адреса</a:t>
            </a:r>
          </a:p>
          <a:p>
            <a:pPr rtl="0"/>
            <a:r>
              <a:rPr lang="ru-RU"/>
              <a:t>11.1.8 — Проверьте ваше понимание — Структура адресов IPv4</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3732201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11.2 Одноадресная, широковещательная и многоадресная рассылка IPv4</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11.2 Одноадресная, широковещательная и многоадресная рассылка IPv4</a:t>
            </a:r>
          </a:p>
          <a:p>
            <a:pPr rtl="0"/>
            <a:r>
              <a:rPr lang="ru-RU"/>
              <a:t>11.2.1 — Одноадресная передача</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24491579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11.2 Одноадресная, широковещательная и многоадресная рассылка IPv4</a:t>
            </a:r>
          </a:p>
          <a:p>
            <a:pPr rtl="0"/>
            <a:r>
              <a:rPr lang="ru-RU"/>
              <a:t>11.2.2 — Широковещательная передача</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30190846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11.2 Одноадресная, широковещательная и многоадресная рассылка IPv4</a:t>
            </a:r>
          </a:p>
          <a:p>
            <a:pPr rtl="0"/>
            <a:r>
              <a:rPr lang="ru-RU"/>
              <a:t>11.2.3 — Многоадресная передача</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11.2.4 – </a:t>
            </a:r>
            <a:r>
              <a:rPr lang="ru-RU" sz="1200" b="0" i="0" kern="1200">
                <a:solidFill>
                  <a:schemeClr val="tx1"/>
                </a:solidFill>
                <a:effectLst/>
                <a:latin typeface="+mn-lt"/>
                <a:ea typeface="+mn-ea"/>
                <a:cs typeface="+mn-cs"/>
              </a:rPr>
              <a:t>Задание. Одноадресная, многоадресная и широковещательная рассылка</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2938994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8967279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11.3.1 – Публичные и частные IPv4-адреса</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12408230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11.3.2 — Маршрутизация в Интернет</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11.3.3 – </a:t>
            </a:r>
            <a:r>
              <a:rPr lang="ru-RU" sz="1200" b="0" i="0" kern="1200">
                <a:solidFill>
                  <a:schemeClr val="tx1"/>
                </a:solidFill>
                <a:effectLst/>
                <a:latin typeface="+mn-lt"/>
                <a:ea typeface="+mn-ea"/>
                <a:cs typeface="+mn-cs"/>
              </a:rPr>
              <a:t>Задание. Разрешение или блокировка IPv4-адресов</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3362594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11.3.4 – IPv4-адреса специального назначения</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29014941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11.3.5. Традиционная классовая адресация</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9591470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11.3.6 Назначение IP-адресов</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11.3.7 – </a:t>
            </a:r>
            <a:r>
              <a:rPr lang="ru-RU" sz="1200" b="0" i="0" kern="1200">
                <a:solidFill>
                  <a:schemeClr val="tx1"/>
                </a:solidFill>
                <a:effectLst/>
                <a:latin typeface="+mn-lt"/>
                <a:ea typeface="+mn-ea"/>
                <a:cs typeface="+mn-cs"/>
              </a:rPr>
              <a:t>Задание. Публичные и частные IPv4-адреса</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11.3.8 — </a:t>
            </a:r>
            <a:r>
              <a:rPr lang="ru-RU" sz="1200" b="0" i="0" kern="1200">
                <a:solidFill>
                  <a:schemeClr val="tx1"/>
                </a:solidFill>
                <a:effectLst/>
                <a:latin typeface="+mn-lt"/>
                <a:ea typeface="+mn-ea"/>
                <a:cs typeface="+mn-cs"/>
              </a:rPr>
              <a:t>Проверьте ваше понимание темы - Типы IPv4 адресов</a:t>
            </a:r>
          </a:p>
          <a:p>
            <a:endParaRPr lang="en-US" dirty="0"/>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20437822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11.4 — Сегментация сети</a:t>
            </a:r>
          </a:p>
          <a:p>
            <a:endParaRPr lang="en-US"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30742313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11.4 — Сегментация сети</a:t>
            </a:r>
          </a:p>
          <a:p>
            <a:pPr rtl="0"/>
            <a:r>
              <a:rPr lang="ru-RU"/>
              <a:t>11.4.1 — Домены вещания и сегментация</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17490744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11.4 — Сегментация сети</a:t>
            </a:r>
          </a:p>
          <a:p>
            <a:pPr rtl="0"/>
            <a:r>
              <a:rPr lang="ru-RU"/>
              <a:t>11.4.2. Проблемы с крупными доменами широковещательной рассылки</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33086440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11.4 — Сегментация сети</a:t>
            </a:r>
          </a:p>
          <a:p>
            <a:pPr rtl="0"/>
            <a:r>
              <a:rPr lang="ru-RU"/>
              <a:t>11.4.3 — Причины сегментации сетей</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11.4.4 — </a:t>
            </a:r>
            <a:r>
              <a:rPr lang="ru-RU" sz="1200" b="0" i="0" kern="1200">
                <a:solidFill>
                  <a:schemeClr val="tx1"/>
                </a:solidFill>
                <a:effectLst/>
                <a:latin typeface="+mn-lt"/>
                <a:ea typeface="+mn-ea"/>
                <a:cs typeface="+mn-cs"/>
              </a:rPr>
              <a:t>Проверьте ваше понимание темы — Сегментация сети</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4592482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29829977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pPr rtl="0"/>
            <a:r>
              <a:rPr lang="ru-RU"/>
              <a:t>11.5.1 — Подсеть на границе октета</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36278872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pPr rtl="0"/>
            <a:r>
              <a:rPr lang="ru-RU"/>
              <a:t>11.5.1 — Подсеть на границе октета (продолжение)</a:t>
            </a:r>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29824262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pPr rtl="0"/>
            <a:r>
              <a:rPr lang="ru-RU"/>
              <a:t>11.5.2 — Подсеть внутри границы октета</a:t>
            </a:r>
          </a:p>
        </p:txBody>
      </p:sp>
      <p:sp>
        <p:nvSpPr>
          <p:cNvPr id="4" name="Slide Number Placeholder 3"/>
          <p:cNvSpPr>
            <a:spLocks noGrp="1"/>
          </p:cNvSpPr>
          <p:nvPr>
            <p:ph type="sldNum" sz="quarter" idx="5"/>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11699841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Разделение сети  IPv4 на подсети</a:t>
            </a:r>
          </a:p>
          <a:p>
            <a:pPr rtl="0"/>
            <a:r>
              <a:rPr lang="ru-RU"/>
              <a:t>11.5.3. Видеоролик. Маска подсети</a:t>
            </a:r>
          </a:p>
        </p:txBody>
      </p:sp>
      <p:sp>
        <p:nvSpPr>
          <p:cNvPr id="4" name="Slide Number Placeholder 3"/>
          <p:cNvSpPr>
            <a:spLocks noGrp="1"/>
          </p:cNvSpPr>
          <p:nvPr>
            <p:ph type="sldNum" sz="quarter" idx="5"/>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36359008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Разделение сети IPv4 на подсети</a:t>
            </a:r>
          </a:p>
          <a:p>
            <a:pPr rtl="0"/>
            <a:r>
              <a:rPr lang="ru-RU"/>
              <a:t>11.5.4 – Видео - Разделение на подсети с помощью «магического числа»</a:t>
            </a:r>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18706598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pPr rtl="0"/>
            <a:r>
              <a:rPr lang="ru-RU"/>
              <a:t>11.5.5 — Packet Tracer — Разделение IPv4-сети на подсети</a:t>
            </a:r>
          </a:p>
        </p:txBody>
      </p:sp>
      <p:sp>
        <p:nvSpPr>
          <p:cNvPr id="4" name="Slide Number Placeholder 3"/>
          <p:cNvSpPr>
            <a:spLocks noGrp="1"/>
          </p:cNvSpPr>
          <p:nvPr>
            <p:ph type="sldNum" sz="quarter" idx="5"/>
          </p:nvPr>
        </p:nvSpPr>
        <p:spPr/>
        <p:txBody>
          <a:bodyPr/>
          <a:lstStyle/>
          <a:p>
            <a:pPr rtl="0"/>
            <a:fld id="{5641018C-6CAF-B84E-B92C-ECB119457FBA}" type="slidenum">
              <a:rPr/>
              <a:t>43</a:t>
            </a:fld>
            <a:endParaRPr/>
          </a:p>
        </p:txBody>
      </p:sp>
    </p:spTree>
    <p:extLst>
      <p:ext uri="{BB962C8B-B14F-4D97-AF65-F5344CB8AC3E}">
        <p14:creationId xmlns:p14="http://schemas.microsoft.com/office/powerpoint/2010/main" val="6874563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2760207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pPr rtl="0"/>
            <a:r>
              <a:rPr lang="ru-RU"/>
              <a:t>11.6.1 — Создание подсетей с префиксом /16</a:t>
            </a:r>
          </a:p>
        </p:txBody>
      </p:sp>
      <p:sp>
        <p:nvSpPr>
          <p:cNvPr id="4" name="Slide Number Placeholder 3"/>
          <p:cNvSpPr>
            <a:spLocks noGrp="1"/>
          </p:cNvSpPr>
          <p:nvPr>
            <p:ph type="sldNum" sz="quarter" idx="5"/>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17655035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pPr rtl="0"/>
            <a:r>
              <a:rPr lang="ru-RU"/>
              <a:t>11.6.2 — Создание 100 подсетей с префиксом косой черты 16</a:t>
            </a:r>
          </a:p>
        </p:txBody>
      </p:sp>
      <p:sp>
        <p:nvSpPr>
          <p:cNvPr id="4" name="Slide Number Placeholder 3"/>
          <p:cNvSpPr>
            <a:spLocks noGrp="1"/>
          </p:cNvSpPr>
          <p:nvPr>
            <p:ph type="sldNum" sz="quarter" idx="5"/>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25680850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pPr rtl="0"/>
            <a:r>
              <a:rPr lang="ru-RU"/>
              <a:t>11.6.3 — Создание 1000 подсетей с префиксом косой черты 8</a:t>
            </a:r>
          </a:p>
        </p:txBody>
      </p:sp>
      <p:sp>
        <p:nvSpPr>
          <p:cNvPr id="4" name="Slide Number Placeholder 3"/>
          <p:cNvSpPr>
            <a:spLocks noGrp="1"/>
          </p:cNvSpPr>
          <p:nvPr>
            <p:ph type="sldNum" sz="quarter" idx="5"/>
          </p:nvPr>
        </p:nvSpPr>
        <p:spPr/>
        <p:txBody>
          <a:bodyPr/>
          <a:lstStyle/>
          <a:p>
            <a:pPr rtl="0"/>
            <a:fld id="{5641018C-6CAF-B84E-B92C-ECB119457FBA}" type="slidenum">
              <a:rPr/>
              <a:t>47</a:t>
            </a:fld>
            <a:endParaRPr/>
          </a:p>
        </p:txBody>
      </p:sp>
    </p:spTree>
    <p:extLst>
      <p:ext uri="{BB962C8B-B14F-4D97-AF65-F5344CB8AC3E}">
        <p14:creationId xmlns:p14="http://schemas.microsoft.com/office/powerpoint/2010/main" val="18854180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pPr rtl="0"/>
            <a:r>
              <a:rPr lang="ru-RU"/>
              <a:t>11.6.4 — Видео — подсеть по нескольким октетам</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11.6.5 </a:t>
            </a:r>
            <a:r>
              <a:rPr lang="ru-RU" sz="1200" b="0" i="0" kern="1200">
                <a:solidFill>
                  <a:schemeClr val="tx1"/>
                </a:solidFill>
                <a:effectLst/>
                <a:latin typeface="+mn-lt"/>
                <a:ea typeface="+mn-ea"/>
                <a:cs typeface="+mn-cs"/>
              </a:rPr>
              <a:t>Упражнение. Расчет маски подсети</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48</a:t>
            </a:fld>
            <a:endParaRPr/>
          </a:p>
        </p:txBody>
      </p:sp>
    </p:spTree>
    <p:extLst>
      <p:ext uri="{BB962C8B-B14F-4D97-AF65-F5344CB8AC3E}">
        <p14:creationId xmlns:p14="http://schemas.microsoft.com/office/powerpoint/2010/main" val="29924931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pPr rtl="0"/>
            <a:r>
              <a:rPr lang="ru-RU"/>
              <a:t>11.6.6 – Лабораторная работа - Расчет подсетей IPv4</a:t>
            </a:r>
          </a:p>
        </p:txBody>
      </p:sp>
      <p:sp>
        <p:nvSpPr>
          <p:cNvPr id="4" name="Slide Number Placeholder 3"/>
          <p:cNvSpPr>
            <a:spLocks noGrp="1"/>
          </p:cNvSpPr>
          <p:nvPr>
            <p:ph type="sldNum" sz="quarter" idx="5"/>
          </p:nvPr>
        </p:nvSpPr>
        <p:spPr/>
        <p:txBody>
          <a:bodyPr/>
          <a:lstStyle/>
          <a:p>
            <a:pPr rtl="0"/>
            <a:fld id="{5641018C-6CAF-B84E-B92C-ECB119457FBA}" type="slidenum">
              <a:rPr/>
              <a:t>49</a:t>
            </a:fld>
            <a:endParaRPr/>
          </a:p>
        </p:txBody>
      </p:sp>
    </p:spTree>
    <p:extLst>
      <p:ext uri="{BB962C8B-B14F-4D97-AF65-F5344CB8AC3E}">
        <p14:creationId xmlns:p14="http://schemas.microsoft.com/office/powerpoint/2010/main" val="39770051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11.7 Разделение на подсети для соответствия требованиям</a:t>
            </a:r>
          </a:p>
          <a:p>
            <a:endParaRPr lang="en-US"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50</a:t>
            </a:fld>
            <a:endParaRPr/>
          </a:p>
        </p:txBody>
      </p:sp>
    </p:spTree>
    <p:extLst>
      <p:ext uri="{BB962C8B-B14F-4D97-AF65-F5344CB8AC3E}">
        <p14:creationId xmlns:p14="http://schemas.microsoft.com/office/powerpoint/2010/main" val="21516756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dirty="0"/>
              <a:t>11 — Адресация IPv4</a:t>
            </a:r>
          </a:p>
          <a:p>
            <a:pPr rtl="0"/>
            <a:r>
              <a:rPr lang="ru-RU" dirty="0"/>
              <a:t>11.7 Разделение на подсети для соответствия требованиям</a:t>
            </a:r>
          </a:p>
          <a:p>
            <a:pPr rtl="0"/>
            <a:r>
              <a:rPr lang="ru-RU" dirty="0"/>
              <a:t>11.7.1 — Частное и публичное адресное пространство IPv4 подсети</a:t>
            </a:r>
          </a:p>
        </p:txBody>
      </p:sp>
      <p:sp>
        <p:nvSpPr>
          <p:cNvPr id="4" name="Slide Number Placeholder 3"/>
          <p:cNvSpPr>
            <a:spLocks noGrp="1"/>
          </p:cNvSpPr>
          <p:nvPr>
            <p:ph type="sldNum" sz="quarter" idx="5"/>
          </p:nvPr>
        </p:nvSpPr>
        <p:spPr/>
        <p:txBody>
          <a:bodyPr/>
          <a:lstStyle/>
          <a:p>
            <a:pPr rtl="0"/>
            <a:fld id="{5641018C-6CAF-B84E-B92C-ECB119457FBA}" type="slidenum">
              <a:rPr/>
              <a:t>51</a:t>
            </a:fld>
            <a:endParaRPr/>
          </a:p>
        </p:txBody>
      </p:sp>
    </p:spTree>
    <p:extLst>
      <p:ext uri="{BB962C8B-B14F-4D97-AF65-F5344CB8AC3E}">
        <p14:creationId xmlns:p14="http://schemas.microsoft.com/office/powerpoint/2010/main" val="36834504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11.7 Разделение на подсети для соответствия требованиям</a:t>
            </a:r>
          </a:p>
          <a:p>
            <a:pPr rtl="0"/>
            <a:r>
              <a:rPr lang="ru-RU"/>
              <a:t>11.7.2 — Минимизация неиспользуемых адресов IPv4 узлов и максимизация подсетей</a:t>
            </a:r>
          </a:p>
        </p:txBody>
      </p:sp>
      <p:sp>
        <p:nvSpPr>
          <p:cNvPr id="4" name="Slide Number Placeholder 3"/>
          <p:cNvSpPr>
            <a:spLocks noGrp="1"/>
          </p:cNvSpPr>
          <p:nvPr>
            <p:ph type="sldNum" sz="quarter" idx="5"/>
          </p:nvPr>
        </p:nvSpPr>
        <p:spPr/>
        <p:txBody>
          <a:bodyPr/>
          <a:lstStyle/>
          <a:p>
            <a:pPr rtl="0"/>
            <a:fld id="{5641018C-6CAF-B84E-B92C-ECB119457FBA}" type="slidenum">
              <a:rPr/>
              <a:t>52</a:t>
            </a:fld>
            <a:endParaRPr/>
          </a:p>
        </p:txBody>
      </p:sp>
    </p:spTree>
    <p:extLst>
      <p:ext uri="{BB962C8B-B14F-4D97-AF65-F5344CB8AC3E}">
        <p14:creationId xmlns:p14="http://schemas.microsoft.com/office/powerpoint/2010/main" val="29491420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11.7 Разделение на подсети для соответствия требованиям</a:t>
            </a:r>
          </a:p>
          <a:p>
            <a:pPr rtl="0"/>
            <a:r>
              <a:rPr lang="ru-RU"/>
              <a:t>11.7.3 — Пример: Эффективное разделение на подсети IPv4</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11.7.4 – </a:t>
            </a:r>
            <a:r>
              <a:rPr lang="ru-RU" sz="1200" b="0" i="0" kern="1200">
                <a:solidFill>
                  <a:schemeClr val="tx1"/>
                </a:solidFill>
                <a:effectLst/>
                <a:latin typeface="+mn-lt"/>
                <a:ea typeface="+mn-ea"/>
                <a:cs typeface="+mn-cs"/>
              </a:rPr>
              <a:t>Задание. Определение количества бит для заимствования</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53</a:t>
            </a:fld>
            <a:endParaRPr/>
          </a:p>
        </p:txBody>
      </p:sp>
    </p:spTree>
    <p:extLst>
      <p:ext uri="{BB962C8B-B14F-4D97-AF65-F5344CB8AC3E}">
        <p14:creationId xmlns:p14="http://schemas.microsoft.com/office/powerpoint/2010/main" val="34033917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11.7 Разделение на подсети для соответствия требованиям</a:t>
            </a:r>
          </a:p>
          <a:p>
            <a:pPr rtl="0"/>
            <a:r>
              <a:rPr lang="ru-RU"/>
              <a:t>11.7.5. Packet Tracer. Разделение на подсети. Сценарий</a:t>
            </a:r>
          </a:p>
        </p:txBody>
      </p:sp>
      <p:sp>
        <p:nvSpPr>
          <p:cNvPr id="4" name="Slide Number Placeholder 3"/>
          <p:cNvSpPr>
            <a:spLocks noGrp="1"/>
          </p:cNvSpPr>
          <p:nvPr>
            <p:ph type="sldNum" sz="quarter" idx="5"/>
          </p:nvPr>
        </p:nvSpPr>
        <p:spPr/>
        <p:txBody>
          <a:bodyPr/>
          <a:lstStyle/>
          <a:p>
            <a:pPr rtl="0"/>
            <a:fld id="{5641018C-6CAF-B84E-B92C-ECB119457FBA}" type="slidenum">
              <a:rPr/>
              <a:t>54</a:t>
            </a:fld>
            <a:endParaRPr/>
          </a:p>
        </p:txBody>
      </p:sp>
    </p:spTree>
    <p:extLst>
      <p:ext uri="{BB962C8B-B14F-4D97-AF65-F5344CB8AC3E}">
        <p14:creationId xmlns:p14="http://schemas.microsoft.com/office/powerpoint/2010/main" val="20848546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ВЛСМ</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55</a:t>
            </a:fld>
            <a:endParaRPr/>
          </a:p>
        </p:txBody>
      </p:sp>
    </p:spTree>
    <p:extLst>
      <p:ext uri="{BB962C8B-B14F-4D97-AF65-F5344CB8AC3E}">
        <p14:creationId xmlns:p14="http://schemas.microsoft.com/office/powerpoint/2010/main" val="4464950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11.8.1 — Видео — Основы VLSM</a:t>
            </a:r>
          </a:p>
        </p:txBody>
      </p:sp>
      <p:sp>
        <p:nvSpPr>
          <p:cNvPr id="4" name="Slide Number Placeholder 3"/>
          <p:cNvSpPr>
            <a:spLocks noGrp="1"/>
          </p:cNvSpPr>
          <p:nvPr>
            <p:ph type="sldNum" sz="quarter" idx="5"/>
          </p:nvPr>
        </p:nvSpPr>
        <p:spPr/>
        <p:txBody>
          <a:bodyPr/>
          <a:lstStyle/>
          <a:p>
            <a:pPr rtl="0"/>
            <a:fld id="{5641018C-6CAF-B84E-B92C-ECB119457FBA}" type="slidenum">
              <a:rPr/>
              <a:t>56</a:t>
            </a:fld>
            <a:endParaRPr/>
          </a:p>
        </p:txBody>
      </p:sp>
    </p:spTree>
    <p:extLst>
      <p:ext uri="{BB962C8B-B14F-4D97-AF65-F5344CB8AC3E}">
        <p14:creationId xmlns:p14="http://schemas.microsoft.com/office/powerpoint/2010/main" val="29711771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11.8.2 — Видео — Пример VLSM</a:t>
            </a:r>
          </a:p>
        </p:txBody>
      </p:sp>
      <p:sp>
        <p:nvSpPr>
          <p:cNvPr id="4" name="Slide Number Placeholder 3"/>
          <p:cNvSpPr>
            <a:spLocks noGrp="1"/>
          </p:cNvSpPr>
          <p:nvPr>
            <p:ph type="sldNum" sz="quarter" idx="5"/>
          </p:nvPr>
        </p:nvSpPr>
        <p:spPr/>
        <p:txBody>
          <a:bodyPr/>
          <a:lstStyle/>
          <a:p>
            <a:pPr rtl="0"/>
            <a:fld id="{5641018C-6CAF-B84E-B92C-ECB119457FBA}" type="slidenum">
              <a:rPr/>
              <a:t>57</a:t>
            </a:fld>
            <a:endParaRPr/>
          </a:p>
        </p:txBody>
      </p:sp>
    </p:spTree>
    <p:extLst>
      <p:ext uri="{BB962C8B-B14F-4D97-AF65-F5344CB8AC3E}">
        <p14:creationId xmlns:p14="http://schemas.microsoft.com/office/powerpoint/2010/main" val="25503493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11.8.3 — Сохранение адресов IPv4</a:t>
            </a:r>
          </a:p>
        </p:txBody>
      </p:sp>
      <p:sp>
        <p:nvSpPr>
          <p:cNvPr id="4" name="Slide Number Placeholder 3"/>
          <p:cNvSpPr>
            <a:spLocks noGrp="1"/>
          </p:cNvSpPr>
          <p:nvPr>
            <p:ph type="sldNum" sz="quarter" idx="5"/>
          </p:nvPr>
        </p:nvSpPr>
        <p:spPr/>
        <p:txBody>
          <a:bodyPr/>
          <a:lstStyle/>
          <a:p>
            <a:pPr rtl="0"/>
            <a:fld id="{5641018C-6CAF-B84E-B92C-ECB119457FBA}" type="slidenum">
              <a:rPr/>
              <a:t>58</a:t>
            </a:fld>
            <a:endParaRPr/>
          </a:p>
        </p:txBody>
      </p:sp>
    </p:spTree>
    <p:extLst>
      <p:ext uri="{BB962C8B-B14F-4D97-AF65-F5344CB8AC3E}">
        <p14:creationId xmlns:p14="http://schemas.microsoft.com/office/powerpoint/2010/main" val="33346008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11.8.3 — Сохранение адресов IPv4</a:t>
            </a:r>
          </a:p>
        </p:txBody>
      </p:sp>
      <p:sp>
        <p:nvSpPr>
          <p:cNvPr id="4" name="Slide Number Placeholder 3"/>
          <p:cNvSpPr>
            <a:spLocks noGrp="1"/>
          </p:cNvSpPr>
          <p:nvPr>
            <p:ph type="sldNum" sz="quarter" idx="5"/>
          </p:nvPr>
        </p:nvSpPr>
        <p:spPr/>
        <p:txBody>
          <a:bodyPr/>
          <a:lstStyle/>
          <a:p>
            <a:pPr rtl="0"/>
            <a:fld id="{5641018C-6CAF-B84E-B92C-ECB119457FBA}" type="slidenum">
              <a:rPr/>
              <a:t>59</a:t>
            </a:fld>
            <a:endParaRPr/>
          </a:p>
        </p:txBody>
      </p:sp>
    </p:spTree>
    <p:extLst>
      <p:ext uri="{BB962C8B-B14F-4D97-AF65-F5344CB8AC3E}">
        <p14:creationId xmlns:p14="http://schemas.microsoft.com/office/powerpoint/2010/main" val="7134150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11.8.4 — VLSM</a:t>
            </a:r>
          </a:p>
        </p:txBody>
      </p:sp>
      <p:sp>
        <p:nvSpPr>
          <p:cNvPr id="4" name="Slide Number Placeholder 3"/>
          <p:cNvSpPr>
            <a:spLocks noGrp="1"/>
          </p:cNvSpPr>
          <p:nvPr>
            <p:ph type="sldNum" sz="quarter" idx="5"/>
          </p:nvPr>
        </p:nvSpPr>
        <p:spPr/>
        <p:txBody>
          <a:bodyPr/>
          <a:lstStyle/>
          <a:p>
            <a:pPr rtl="0"/>
            <a:fld id="{5641018C-6CAF-B84E-B92C-ECB119457FBA}" type="slidenum">
              <a:rPr/>
              <a:t>60</a:t>
            </a:fld>
            <a:endParaRPr/>
          </a:p>
        </p:txBody>
      </p:sp>
    </p:spTree>
    <p:extLst>
      <p:ext uri="{BB962C8B-B14F-4D97-AF65-F5344CB8AC3E}">
        <p14:creationId xmlns:p14="http://schemas.microsoft.com/office/powerpoint/2010/main" val="133943219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11.8.5 — Назначение адреса топологии VLSM</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11.8.6 — </a:t>
            </a:r>
            <a:r>
              <a:rPr lang="ru-RU" sz="1200" b="0" i="0" kern="1200">
                <a:solidFill>
                  <a:schemeClr val="tx1"/>
                </a:solidFill>
                <a:effectLst/>
                <a:latin typeface="+mn-lt"/>
                <a:ea typeface="+mn-ea"/>
                <a:cs typeface="+mn-cs"/>
              </a:rPr>
              <a:t>Задание - Практика VLSM</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61</a:t>
            </a:fld>
            <a:endParaRPr/>
          </a:p>
        </p:txBody>
      </p:sp>
    </p:spTree>
    <p:extLst>
      <p:ext uri="{BB962C8B-B14F-4D97-AF65-F5344CB8AC3E}">
        <p14:creationId xmlns:p14="http://schemas.microsoft.com/office/powerpoint/2010/main" val="36551194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11.9.  Структурированное проектирование</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62</a:t>
            </a:fld>
            <a:endParaRPr/>
          </a:p>
        </p:txBody>
      </p:sp>
    </p:spTree>
    <p:extLst>
      <p:ext uri="{BB962C8B-B14F-4D97-AF65-F5344CB8AC3E}">
        <p14:creationId xmlns:p14="http://schemas.microsoft.com/office/powerpoint/2010/main" val="14175597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11.9.  Структурированное проектирование</a:t>
            </a:r>
          </a:p>
          <a:p>
            <a:pPr rtl="0"/>
            <a:r>
              <a:rPr lang="ru-RU"/>
              <a:t>11.9.1 – Планирование адресации сети</a:t>
            </a:r>
          </a:p>
        </p:txBody>
      </p:sp>
      <p:sp>
        <p:nvSpPr>
          <p:cNvPr id="4" name="Slide Number Placeholder 3"/>
          <p:cNvSpPr>
            <a:spLocks noGrp="1"/>
          </p:cNvSpPr>
          <p:nvPr>
            <p:ph type="sldNum" sz="quarter" idx="5"/>
          </p:nvPr>
        </p:nvSpPr>
        <p:spPr/>
        <p:txBody>
          <a:bodyPr/>
          <a:lstStyle/>
          <a:p>
            <a:pPr rtl="0"/>
            <a:fld id="{5641018C-6CAF-B84E-B92C-ECB119457FBA}" type="slidenum">
              <a:rPr/>
              <a:t>63</a:t>
            </a:fld>
            <a:endParaRPr/>
          </a:p>
        </p:txBody>
      </p:sp>
    </p:spTree>
    <p:extLst>
      <p:ext uri="{BB962C8B-B14F-4D97-AF65-F5344CB8AC3E}">
        <p14:creationId xmlns:p14="http://schemas.microsoft.com/office/powerpoint/2010/main" val="260650522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11.9.  Структурированное проектирование</a:t>
            </a:r>
          </a:p>
          <a:p>
            <a:pPr rtl="0"/>
            <a:r>
              <a:rPr lang="ru-RU"/>
              <a:t>11.9.2 — Назначение адреса устройства</a:t>
            </a:r>
          </a:p>
        </p:txBody>
      </p:sp>
      <p:sp>
        <p:nvSpPr>
          <p:cNvPr id="4" name="Slide Number Placeholder 3"/>
          <p:cNvSpPr>
            <a:spLocks noGrp="1"/>
          </p:cNvSpPr>
          <p:nvPr>
            <p:ph type="sldNum" sz="quarter" idx="5"/>
          </p:nvPr>
        </p:nvSpPr>
        <p:spPr/>
        <p:txBody>
          <a:bodyPr/>
          <a:lstStyle/>
          <a:p>
            <a:pPr rtl="0"/>
            <a:fld id="{5641018C-6CAF-B84E-B92C-ECB119457FBA}" type="slidenum">
              <a:rPr/>
              <a:t>64</a:t>
            </a:fld>
            <a:endParaRPr/>
          </a:p>
        </p:txBody>
      </p:sp>
    </p:spTree>
    <p:extLst>
      <p:ext uri="{BB962C8B-B14F-4D97-AF65-F5344CB8AC3E}">
        <p14:creationId xmlns:p14="http://schemas.microsoft.com/office/powerpoint/2010/main" val="163408749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11.9.  Структурированное проектирование</a:t>
            </a:r>
          </a:p>
          <a:p>
            <a:pPr rtl="0"/>
            <a:r>
              <a:rPr lang="ru-RU"/>
              <a:t>11.9.3 — Packet Tracer — Практика проектирования и внедрения VLSM</a:t>
            </a:r>
          </a:p>
        </p:txBody>
      </p:sp>
      <p:sp>
        <p:nvSpPr>
          <p:cNvPr id="4" name="Slide Number Placeholder 3"/>
          <p:cNvSpPr>
            <a:spLocks noGrp="1"/>
          </p:cNvSpPr>
          <p:nvPr>
            <p:ph type="sldNum" sz="quarter" idx="5"/>
          </p:nvPr>
        </p:nvSpPr>
        <p:spPr/>
        <p:txBody>
          <a:bodyPr/>
          <a:lstStyle/>
          <a:p>
            <a:pPr rtl="0"/>
            <a:fld id="{5641018C-6CAF-B84E-B92C-ECB119457FBA}" type="slidenum">
              <a:rPr/>
              <a:t>65</a:t>
            </a:fld>
            <a:endParaRPr/>
          </a:p>
        </p:txBody>
      </p:sp>
    </p:spTree>
    <p:extLst>
      <p:ext uri="{BB962C8B-B14F-4D97-AF65-F5344CB8AC3E}">
        <p14:creationId xmlns:p14="http://schemas.microsoft.com/office/powerpoint/2010/main" val="10226435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11.10 Практика и контрольная работа модуля</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66</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11.10. Структурированное проектирование</a:t>
            </a:r>
          </a:p>
          <a:p>
            <a:pPr rtl="0"/>
            <a:r>
              <a:rPr lang="ru-RU"/>
              <a:t>11.10.1 – Packet Tracer - Разработка и реализация схемы адресации VLSM</a:t>
            </a:r>
          </a:p>
        </p:txBody>
      </p:sp>
      <p:sp>
        <p:nvSpPr>
          <p:cNvPr id="4" name="Slide Number Placeholder 3"/>
          <p:cNvSpPr>
            <a:spLocks noGrp="1"/>
          </p:cNvSpPr>
          <p:nvPr>
            <p:ph type="sldNum" sz="quarter" idx="5"/>
          </p:nvPr>
        </p:nvSpPr>
        <p:spPr/>
        <p:txBody>
          <a:bodyPr/>
          <a:lstStyle/>
          <a:p>
            <a:pPr rtl="0"/>
            <a:fld id="{5641018C-6CAF-B84E-B92C-ECB119457FBA}" type="slidenum">
              <a:rPr/>
              <a:t>67</a:t>
            </a:fld>
            <a:endParaRPr/>
          </a:p>
        </p:txBody>
      </p:sp>
    </p:spTree>
    <p:extLst>
      <p:ext uri="{BB962C8B-B14F-4D97-AF65-F5344CB8AC3E}">
        <p14:creationId xmlns:p14="http://schemas.microsoft.com/office/powerpoint/2010/main" val="2994776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11.10. Структурированное проектирование</a:t>
            </a:r>
          </a:p>
          <a:p>
            <a:pPr rtl="0"/>
            <a:r>
              <a:rPr lang="ru-RU"/>
              <a:t>11.10.2 – </a:t>
            </a:r>
            <a:r>
              <a:rPr lang="ru-RU" sz="1200"/>
              <a:t>Лабораторная работа - Разработка и реализация схемы адресации VLSM</a:t>
            </a:r>
          </a:p>
        </p:txBody>
      </p:sp>
      <p:sp>
        <p:nvSpPr>
          <p:cNvPr id="4" name="Slide Number Placeholder 3"/>
          <p:cNvSpPr>
            <a:spLocks noGrp="1"/>
          </p:cNvSpPr>
          <p:nvPr>
            <p:ph type="sldNum" sz="quarter" idx="5"/>
          </p:nvPr>
        </p:nvSpPr>
        <p:spPr/>
        <p:txBody>
          <a:bodyPr/>
          <a:lstStyle/>
          <a:p>
            <a:pPr rtl="0"/>
            <a:fld id="{5641018C-6CAF-B84E-B92C-ECB119457FBA}" type="slidenum">
              <a:rPr/>
              <a:t>68</a:t>
            </a:fld>
            <a:endParaRPr/>
          </a:p>
        </p:txBody>
      </p:sp>
    </p:spTree>
    <p:extLst>
      <p:ext uri="{BB962C8B-B14F-4D97-AF65-F5344CB8AC3E}">
        <p14:creationId xmlns:p14="http://schemas.microsoft.com/office/powerpoint/2010/main" val="70042031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69</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ru-RU"/>
              <a:t>11 — Адресация IPv4</a:t>
            </a:r>
          </a:p>
          <a:p>
            <a:pPr rtl="0"/>
            <a:r>
              <a:rPr lang="ru-RU"/>
              <a:t>11.10. Структурированное проектирование</a:t>
            </a:r>
          </a:p>
          <a:p>
            <a:pPr rtl="0"/>
            <a:r>
              <a:rPr lang="ru-RU"/>
              <a:t>11.10.3 – Что я узнал в этом модуле?</a:t>
            </a:r>
          </a:p>
        </p:txBody>
      </p:sp>
    </p:spTree>
    <p:extLst>
      <p:ext uri="{BB962C8B-B14F-4D97-AF65-F5344CB8AC3E}">
        <p14:creationId xmlns:p14="http://schemas.microsoft.com/office/powerpoint/2010/main" val="14768241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70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ru-RU"/>
              <a:t>11 — Адресация IPv4</a:t>
            </a:r>
          </a:p>
          <a:p>
            <a:pPr rtl="0"/>
            <a:r>
              <a:rPr lang="ru-RU"/>
              <a:t>11.10. Структурированное проектирование</a:t>
            </a:r>
          </a:p>
          <a:p>
            <a:pPr rtl="0"/>
            <a:r>
              <a:rPr lang="ru-RU"/>
              <a:t>11.10.3 – Что я узнал в этом модуле? (продолжение)</a:t>
            </a:r>
          </a:p>
          <a:p>
            <a:pPr rtl="0"/>
            <a:r>
              <a:rPr lang="ru-RU"/>
              <a:t>11.10.4 — Контрольная по модулю — адресация IPv4</a:t>
            </a:r>
          </a:p>
        </p:txBody>
      </p:sp>
    </p:spTree>
    <p:extLst>
      <p:ext uri="{BB962C8B-B14F-4D97-AF65-F5344CB8AC3E}">
        <p14:creationId xmlns:p14="http://schemas.microsoft.com/office/powerpoint/2010/main" val="270844664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71</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72</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ru-RU" sz="600">
                <a:solidFill>
                  <a:schemeClr val="accent5">
                    <a:lumMod val="50000"/>
                  </a:schemeClr>
                </a:solidFill>
                <a:latin typeface="+mn-lt"/>
                <a:ea typeface="+mn-ea"/>
                <a:cs typeface="CiscoSans Thin"/>
              </a:rPr>
              <a:t>© Cisco и/или Партнеры, 2016 г. Все права защищены.   Конфиденциальная информация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ru-RU" sz="600">
                <a:solidFill>
                  <a:schemeClr val="accent3">
                    <a:lumMod val="85000"/>
                  </a:schemeClr>
                </a:solidFill>
                <a:latin typeface="+mn-lt"/>
                <a:ea typeface="+mn-ea"/>
                <a:cs typeface="CiscoSans Thin"/>
              </a:rPr>
              <a:t>© Cisco и/или Партнеры, 2016 г. Все права защищены.   Конфиденциальная информация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7.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8.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6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4.xml"/><Relationship Id="rId1" Type="http://schemas.openxmlformats.org/officeDocument/2006/relationships/tags" Target="../tags/tag2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4.xml"/><Relationship Id="rId1" Type="http://schemas.openxmlformats.org/officeDocument/2006/relationships/tags" Target="../tags/tag2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3.xml"/><Relationship Id="rId1" Type="http://schemas.openxmlformats.org/officeDocument/2006/relationships/tags" Target="../tags/tag27.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3.xml"/><Relationship Id="rId1" Type="http://schemas.openxmlformats.org/officeDocument/2006/relationships/tags" Target="../tags/tag28.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0.xml"/><Relationship Id="rId1" Type="http://schemas.openxmlformats.org/officeDocument/2006/relationships/tags" Target="../tags/tag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ru-RU" dirty="0">
                <a:solidFill>
                  <a:schemeClr val="accent5">
                    <a:lumMod val="40000"/>
                    <a:lumOff val="60000"/>
                  </a:schemeClr>
                </a:solidFill>
              </a:rPr>
              <a:t>Модуль 11: Адресация IPv4</a:t>
            </a:r>
          </a:p>
        </p:txBody>
      </p:sp>
      <p:sp>
        <p:nvSpPr>
          <p:cNvPr id="5" name="Text Placeholder 4"/>
          <p:cNvSpPr>
            <a:spLocks noGrp="1"/>
          </p:cNvSpPr>
          <p:nvPr>
            <p:ph type="body" sz="quarter" idx="13"/>
          </p:nvPr>
        </p:nvSpPr>
        <p:spPr>
          <a:xfrm>
            <a:off x="469497" y="3127609"/>
            <a:ext cx="5925246" cy="299001"/>
          </a:xfrm>
        </p:spPr>
        <p:txBody>
          <a:bodyPr/>
          <a:lstStyle/>
          <a:p>
            <a:pPr rtl="0"/>
            <a:r>
              <a:rPr lang="ru-RU" dirty="0">
                <a:solidFill>
                  <a:schemeClr val="bg2">
                    <a:lumMod val="40000"/>
                    <a:lumOff val="60000"/>
                  </a:schemeClr>
                </a:solidFill>
              </a:rPr>
              <a:t>Тонких Артём Петрович</a:t>
            </a:r>
          </a:p>
        </p:txBody>
      </p:sp>
      <p:sp>
        <p:nvSpPr>
          <p:cNvPr id="7" name="Subtitle 6"/>
          <p:cNvSpPr>
            <a:spLocks noGrp="1"/>
          </p:cNvSpPr>
          <p:nvPr>
            <p:ph type="subTitle" idx="1"/>
          </p:nvPr>
        </p:nvSpPr>
        <p:spPr>
          <a:xfrm>
            <a:off x="469497" y="3809526"/>
            <a:ext cx="2368954" cy="902174"/>
          </a:xfrm>
        </p:spPr>
        <p:txBody>
          <a:bodyPr/>
          <a:lstStyle/>
          <a:p>
            <a:pPr rtl="0"/>
            <a:r>
              <a:rPr lang="ru-RU">
                <a:solidFill>
                  <a:schemeClr val="accent5">
                    <a:lumMod val="40000"/>
                    <a:lumOff val="60000"/>
                  </a:schemeClr>
                </a:solidFill>
              </a:rPr>
              <a:t>Введение в сетевые технологии v7.0 (ITN)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ru-RU" dirty="0"/>
              <a:t>Материалы для инструкторов. Модуль 11. Руководство по планированию</a:t>
            </a:r>
          </a:p>
        </p:txBody>
      </p:sp>
      <p:sp>
        <p:nvSpPr>
          <p:cNvPr id="4099" name="Rectangle 34"/>
          <p:cNvSpPr>
            <a:spLocks noGrp="1" noChangeArrowheads="1"/>
          </p:cNvSpPr>
          <p:nvPr>
            <p:ph idx="1"/>
          </p:nvPr>
        </p:nvSpPr>
        <p:spPr>
          <a:xfrm>
            <a:off x="144065" y="798944"/>
            <a:ext cx="8853286" cy="3747655"/>
          </a:xfrm>
        </p:spPr>
        <p:txBody>
          <a:bodyPr/>
          <a:lstStyle/>
          <a:p>
            <a:pPr marL="0" indent="0">
              <a:buNone/>
            </a:pPr>
            <a:r>
              <a:rPr lang="ru-RU" dirty="0"/>
              <a:t>Эта презентация </a:t>
            </a:r>
            <a:r>
              <a:rPr lang="en-US" dirty="0"/>
              <a:t>PowerPoint </a:t>
            </a:r>
            <a:r>
              <a:rPr lang="ru-RU" dirty="0"/>
              <a:t>состоит двух частей:</a:t>
            </a:r>
          </a:p>
          <a:p>
            <a:pPr>
              <a:buFont typeface="Arial" panose="020B0604020202020204" pitchFamily="34" charset="0"/>
              <a:buChar char="•"/>
            </a:pPr>
            <a:r>
              <a:rPr lang="ru-RU" dirty="0"/>
              <a:t>Руководство по планированию для инструкторов</a:t>
            </a:r>
          </a:p>
          <a:p>
            <a:pPr lvl="1"/>
            <a:r>
              <a:rPr lang="ru-RU" dirty="0"/>
              <a:t>Ознакомительная информация по модулю </a:t>
            </a:r>
          </a:p>
          <a:p>
            <a:pPr lvl="1"/>
            <a:r>
              <a:rPr lang="ru-RU" dirty="0"/>
              <a:t>Методические пособия</a:t>
            </a:r>
          </a:p>
          <a:p>
            <a:r>
              <a:rPr lang="ru-RU" dirty="0"/>
              <a:t>Презентация перед классом для инструктора</a:t>
            </a:r>
          </a:p>
          <a:p>
            <a:pPr lvl="1">
              <a:buFont typeface="Arial" panose="020B0604020202020204" pitchFamily="34" charset="0"/>
              <a:buChar char="•"/>
            </a:pPr>
            <a:r>
              <a:rPr lang="ru-RU" dirty="0"/>
              <a:t>Дополнительные слайды, которые можно использовать в классе</a:t>
            </a:r>
          </a:p>
          <a:p>
            <a:pPr lvl="1">
              <a:buFont typeface="Arial" panose="020B0604020202020204" pitchFamily="34" charset="0"/>
              <a:buChar char="•"/>
            </a:pPr>
            <a:r>
              <a:rPr lang="ru-RU" dirty="0"/>
              <a:t>Начало на слайде № 14</a:t>
            </a:r>
            <a:br>
              <a:rPr lang="ru-RU" dirty="0"/>
            </a:br>
            <a:endParaRPr lang="ru-RU" dirty="0"/>
          </a:p>
          <a:p>
            <a:pPr marL="142875" lvl="1" indent="0">
              <a:buNone/>
            </a:pPr>
            <a:r>
              <a:rPr lang="ru-RU" sz="1600" b="1" dirty="0"/>
              <a:t>Примечание</a:t>
            </a:r>
            <a:r>
              <a:rPr lang="ru-RU" sz="1600" dirty="0"/>
              <a:t>: Перед предоставлением общего доступа удалите руководство по планированию из данной презентации.</a:t>
            </a:r>
          </a:p>
          <a:p>
            <a:pPr marL="142875" lvl="1" indent="0">
              <a:buNone/>
            </a:pPr>
            <a:r>
              <a:rPr lang="ru-RU" sz="1600" dirty="0">
                <a:solidFill>
                  <a:schemeClr val="accent4"/>
                </a:solidFill>
              </a:rPr>
              <a:t>Для получения дополнительной помощи и ресурсов перейдите на домашнюю страницу инструктора и ресурсы курса для этого курса. Вы также можете посетить сайт профессионального развития на netacad.com, официальную страницу </a:t>
            </a:r>
            <a:r>
              <a:rPr lang="ru-RU" sz="1600" dirty="0" err="1">
                <a:solidFill>
                  <a:schemeClr val="accent4"/>
                </a:solidFill>
              </a:rPr>
              <a:t>Cisco</a:t>
            </a:r>
            <a:r>
              <a:rPr lang="ru-RU" sz="1600" dirty="0">
                <a:solidFill>
                  <a:schemeClr val="accent4"/>
                </a:solidFill>
              </a:rPr>
              <a:t> </a:t>
            </a:r>
            <a:r>
              <a:rPr lang="ru-RU" sz="1600" dirty="0" err="1">
                <a:solidFill>
                  <a:schemeClr val="accent4"/>
                </a:solidFill>
              </a:rPr>
              <a:t>Networking</a:t>
            </a:r>
            <a:r>
              <a:rPr lang="ru-RU" sz="1600" dirty="0">
                <a:solidFill>
                  <a:schemeClr val="accent4"/>
                </a:solidFill>
              </a:rPr>
              <a:t> </a:t>
            </a:r>
            <a:r>
              <a:rPr lang="ru-RU" sz="1600" dirty="0" err="1">
                <a:solidFill>
                  <a:schemeClr val="accent4"/>
                </a:solidFill>
              </a:rPr>
              <a:t>Academy</a:t>
            </a:r>
            <a:r>
              <a:rPr lang="ru-RU" sz="1600" dirty="0">
                <a:solidFill>
                  <a:schemeClr val="accent4"/>
                </a:solidFill>
              </a:rPr>
              <a:t> в </a:t>
            </a:r>
            <a:r>
              <a:rPr lang="ru-RU" sz="1600" dirty="0" err="1">
                <a:solidFill>
                  <a:schemeClr val="accent4"/>
                </a:solidFill>
              </a:rPr>
              <a:t>Facebook</a:t>
            </a:r>
            <a:r>
              <a:rPr lang="ru-RU" sz="1600" dirty="0">
                <a:solidFill>
                  <a:schemeClr val="accent4"/>
                </a:solidFill>
              </a:rPr>
              <a:t> или группу FB только для инструкторов</a:t>
            </a:r>
            <a:r>
              <a:rPr lang="ru-RU" sz="1600" b="1" dirty="0">
                <a:solidFill>
                  <a:schemeClr val="accent4"/>
                </a:solidFill>
              </a:rPr>
              <a:t>.</a:t>
            </a:r>
          </a:p>
        </p:txBody>
      </p:sp>
    </p:spTree>
    <p:custDataLst>
      <p:tags r:id="rId1"/>
    </p:custDataLst>
    <p:extLst>
      <p:ext uri="{BB962C8B-B14F-4D97-AF65-F5344CB8AC3E}">
        <p14:creationId xmlns:p14="http://schemas.microsoft.com/office/powerpoint/2010/main" val="2536170888"/>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ru-RU" dirty="0"/>
              <a:t>В этом модуле</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ru-RU" dirty="0"/>
              <a:t>Для облегчения обучения в этот модуль могут быть включены следующие функции в GUI:</a:t>
            </a:r>
            <a:endParaRPr lang="en-US" dirty="0"/>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291944" y="1278314"/>
          <a:ext cx="8557528" cy="3088407"/>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ru-RU" dirty="0"/>
                        <a:t>Функции</a:t>
                      </a:r>
                    </a:p>
                  </a:txBody>
                  <a:tcPr/>
                </a:tc>
                <a:tc>
                  <a:txBody>
                    <a:bodyPr/>
                    <a:lstStyle/>
                    <a:p>
                      <a:pPr rtl="0"/>
                      <a:r>
                        <a:rPr lang="ru-RU" dirty="0"/>
                        <a:t>Описание</a:t>
                      </a:r>
                    </a:p>
                  </a:txBody>
                  <a:tcPr/>
                </a:tc>
                <a:extLst>
                  <a:ext uri="{0D108BD9-81ED-4DB2-BD59-A6C34878D82A}">
                    <a16:rowId xmlns:a16="http://schemas.microsoft.com/office/drawing/2014/main" val="367710602"/>
                  </a:ext>
                </a:extLst>
              </a:tr>
              <a:tr h="331556">
                <a:tc>
                  <a:txBody>
                    <a:bodyPr/>
                    <a:lstStyle/>
                    <a:p>
                      <a:pPr algn="l" rtl="0" fontAlgn="b"/>
                      <a:r>
                        <a:rPr lang="ru-RU" sz="1400" b="0" i="0" u="none" strike="noStrike" dirty="0">
                          <a:solidFill>
                            <a:srgbClr val="000000"/>
                          </a:solidFill>
                          <a:effectLst/>
                          <a:latin typeface="+mn-lt"/>
                        </a:rPr>
                        <a:t>Анимация</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dirty="0"/>
                        <a:t>Познакомит учащихся с новыми навыками и понятиями.</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ru-RU" sz="1400" b="0" i="0" u="none" strike="noStrike" dirty="0">
                          <a:solidFill>
                            <a:srgbClr val="000000"/>
                          </a:solidFill>
                          <a:effectLst/>
                          <a:latin typeface="+mn-lt"/>
                        </a:rPr>
                        <a:t>Видео</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dirty="0"/>
                        <a:t>Познакомит учащихся с новыми навыками и понятиями.</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ru-RU" sz="1400" b="0" i="0" u="none" strike="noStrike" dirty="0">
                          <a:solidFill>
                            <a:srgbClr val="000000"/>
                          </a:solidFill>
                          <a:effectLst/>
                          <a:latin typeface="+mn-lt"/>
                        </a:rPr>
                        <a:t>«Проверьте</a:t>
                      </a:r>
                      <a:r>
                        <a:rPr lang="ru-RU" sz="1400" b="0" i="0" u="none" strike="noStrike" baseline="0" dirty="0">
                          <a:solidFill>
                            <a:srgbClr val="000000"/>
                          </a:solidFill>
                          <a:effectLst/>
                          <a:latin typeface="+mn-lt"/>
                        </a:rPr>
                        <a:t> свое</a:t>
                      </a:r>
                      <a:r>
                        <a:rPr lang="ru-RU" sz="1400" b="0" i="0" u="none" strike="noStrike" dirty="0">
                          <a:solidFill>
                            <a:srgbClr val="000000"/>
                          </a:solidFill>
                          <a:effectLst/>
                          <a:latin typeface="+mn-lt"/>
                        </a:rPr>
                        <a:t> понимание</a:t>
                      </a:r>
                      <a:r>
                        <a:rPr lang="ru-RU" sz="1400" b="0" i="0" u="none" strike="noStrike" baseline="0" dirty="0">
                          <a:solidFill>
                            <a:srgbClr val="000000"/>
                          </a:solidFill>
                          <a:effectLst/>
                          <a:latin typeface="+mn-lt"/>
                        </a:rPr>
                        <a:t> </a:t>
                      </a:r>
                      <a:r>
                        <a:rPr lang="ru-RU" sz="1400" b="0" i="0" u="none" strike="noStrike" dirty="0">
                          <a:solidFill>
                            <a:srgbClr val="000000"/>
                          </a:solidFill>
                          <a:effectLst/>
                          <a:latin typeface="+mn-lt"/>
                        </a:rPr>
                        <a:t>темы»</a:t>
                      </a:r>
                    </a:p>
                  </a:txBody>
                  <a:tcPr marL="9525" marR="9525" marT="9525" marB="0" anchor="b"/>
                </a:tc>
                <a:tc>
                  <a:txBody>
                    <a:bodyPr/>
                    <a:lstStyle/>
                    <a:p>
                      <a:pPr rtl="0"/>
                      <a:r>
                        <a:rPr lang="ru-RU" dirty="0"/>
                        <a:t>Онлайн</a:t>
                      </a:r>
                      <a:r>
                        <a:rPr lang="ru-RU" baseline="0" dirty="0"/>
                        <a:t>-к</a:t>
                      </a:r>
                      <a:r>
                        <a:rPr lang="ru-RU" dirty="0"/>
                        <a:t>онтрольная по теме,</a:t>
                      </a:r>
                      <a:r>
                        <a:rPr lang="ru-RU" baseline="0" dirty="0"/>
                        <a:t> чтобы помочь ученикам самостоятельно оценить понимание материала.</a:t>
                      </a:r>
                      <a:endParaRPr lang="ru-RU" dirty="0"/>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ru-RU" sz="1400" b="0" i="0" u="none" strike="noStrike" dirty="0">
                          <a:solidFill>
                            <a:srgbClr val="000000"/>
                          </a:solidFill>
                          <a:effectLst/>
                          <a:latin typeface="+mn-lt"/>
                        </a:rPr>
                        <a:t>Интерактивные</a:t>
                      </a:r>
                      <a:r>
                        <a:rPr lang="ru-RU" sz="1400" b="0" i="0" u="none" strike="noStrike" baseline="0" dirty="0">
                          <a:solidFill>
                            <a:srgbClr val="000000"/>
                          </a:solidFill>
                          <a:effectLst/>
                          <a:latin typeface="+mn-lt"/>
                        </a:rPr>
                        <a:t> задания</a:t>
                      </a:r>
                      <a:endParaRPr lang="ru-RU" sz="1400" b="0" i="0" u="none" strike="noStrike" dirty="0">
                        <a:solidFill>
                          <a:srgbClr val="000000"/>
                        </a:solidFill>
                        <a:effectLst/>
                        <a:latin typeface="+mn-lt"/>
                      </a:endParaRPr>
                    </a:p>
                  </a:txBody>
                  <a:tcPr marL="9525" marR="9525" marT="9525" marB="0" anchor="b"/>
                </a:tc>
                <a:tc>
                  <a:txBody>
                    <a:bodyPr/>
                    <a:lstStyle/>
                    <a:p>
                      <a:pPr rtl="0"/>
                      <a:r>
                        <a:rPr lang="ru-RU" dirty="0"/>
                        <a:t>Задания</a:t>
                      </a:r>
                      <a:r>
                        <a:rPr lang="ru-RU" baseline="0" dirty="0"/>
                        <a:t> р</a:t>
                      </a:r>
                      <a:r>
                        <a:rPr lang="ru-RU" dirty="0"/>
                        <a:t>азных форматов, чтобы помочь ученикам оценить понимание материала.</a:t>
                      </a:r>
                    </a:p>
                  </a:txBody>
                  <a:tcPr/>
                </a:tc>
                <a:extLst>
                  <a:ext uri="{0D108BD9-81ED-4DB2-BD59-A6C34878D82A}">
                    <a16:rowId xmlns:a16="http://schemas.microsoft.com/office/drawing/2014/main" val="3454703549"/>
                  </a:ext>
                </a:extLst>
              </a:tr>
              <a:tr h="215293">
                <a:tc>
                  <a:txBody>
                    <a:bodyPr/>
                    <a:lstStyle/>
                    <a:p>
                      <a:pPr algn="l" rtl="0" fontAlgn="b"/>
                      <a:r>
                        <a:rPr lang="ru-RU" sz="1400" b="0" i="0" u="none" strike="noStrike" dirty="0">
                          <a:solidFill>
                            <a:srgbClr val="000000"/>
                          </a:solidFill>
                          <a:effectLst/>
                          <a:latin typeface="+mn-lt"/>
                        </a:rPr>
                        <a:t>Проверка синтаксиса</a:t>
                      </a:r>
                    </a:p>
                  </a:txBody>
                  <a:tcPr marL="9525" marR="9525" marT="9525" marB="0" anchor="b"/>
                </a:tc>
                <a:tc>
                  <a:txBody>
                    <a:bodyPr/>
                    <a:lstStyle/>
                    <a:p>
                      <a:pPr rtl="0"/>
                      <a:r>
                        <a:rPr lang="ru-RU" dirty="0"/>
                        <a:t>Небольшие симуляции</a:t>
                      </a:r>
                      <a:r>
                        <a:rPr lang="ru-RU" baseline="0" dirty="0"/>
                        <a:t> </a:t>
                      </a:r>
                      <a:r>
                        <a:rPr lang="ru-RU" dirty="0"/>
                        <a:t>для отработки навыков настройки</a:t>
                      </a:r>
                      <a:r>
                        <a:rPr lang="en-US" dirty="0"/>
                        <a:t> </a:t>
                      </a:r>
                      <a:r>
                        <a:rPr lang="ru-RU" dirty="0"/>
                        <a:t>в</a:t>
                      </a:r>
                      <a:r>
                        <a:rPr lang="ru-RU" baseline="0" dirty="0"/>
                        <a:t> </a:t>
                      </a:r>
                      <a:r>
                        <a:rPr lang="ru-RU" dirty="0"/>
                        <a:t>командной строке </a:t>
                      </a:r>
                      <a:r>
                        <a:rPr lang="ru-RU" dirty="0" err="1"/>
                        <a:t>Cisco</a:t>
                      </a:r>
                      <a:r>
                        <a:rPr lang="ru-RU" dirty="0"/>
                        <a:t>.</a:t>
                      </a:r>
                    </a:p>
                  </a:txBody>
                  <a:tcPr/>
                </a:tc>
                <a:extLst>
                  <a:ext uri="{0D108BD9-81ED-4DB2-BD59-A6C34878D82A}">
                    <a16:rowId xmlns:a16="http://schemas.microsoft.com/office/drawing/2014/main" val="2195331658"/>
                  </a:ext>
                </a:extLst>
              </a:tr>
              <a:tr h="265091">
                <a:tc>
                  <a:txBody>
                    <a:bodyPr/>
                    <a:lstStyle/>
                    <a:p>
                      <a:pPr algn="l" rtl="0" fontAlgn="b"/>
                      <a:r>
                        <a:rPr lang="ru-RU" sz="1400" b="0" i="0" u="none" strike="noStrike" dirty="0">
                          <a:solidFill>
                            <a:srgbClr val="000000"/>
                          </a:solidFill>
                          <a:effectLst/>
                          <a:latin typeface="+mn-lt"/>
                        </a:rPr>
                        <a:t>Задания в PT</a:t>
                      </a:r>
                    </a:p>
                  </a:txBody>
                  <a:tcPr marL="9525" marR="9525" marT="9525" marB="0" anchor="b"/>
                </a:tc>
                <a:tc>
                  <a:txBody>
                    <a:bodyPr/>
                    <a:lstStyle/>
                    <a:p>
                      <a:pPr rtl="0"/>
                      <a:r>
                        <a:rPr lang="ru-RU" dirty="0"/>
                        <a:t>Моделирование сетей, предназначенных для изучения, приобретения, укрепления и расширения навыков.</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305978626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ru-RU" dirty="0"/>
              <a:t>В этом модуле (продолжение)</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0" y="664250"/>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lang="ru-RU" dirty="0"/>
              <a:t>Для облегчения обучения в этот модуль могут быть включены следующие функции:</a:t>
            </a: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2508885"/>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ru-RU" sz="1400" b="1" i="0" u="none" strike="noStrike" dirty="0">
                          <a:solidFill>
                            <a:schemeClr val="bg1"/>
                          </a:solidFill>
                          <a:effectLst/>
                          <a:latin typeface="+mn-lt"/>
                        </a:rPr>
                        <a:t>Функции</a:t>
                      </a:r>
                    </a:p>
                  </a:txBody>
                  <a:tcPr marL="9525" marR="9525" marT="9525" marB="0" anchor="b"/>
                </a:tc>
                <a:tc>
                  <a:txBody>
                    <a:bodyPr/>
                    <a:lstStyle/>
                    <a:p>
                      <a:pPr rtl="0"/>
                      <a:r>
                        <a:rPr lang="ru-RU" dirty="0"/>
                        <a:t>Описание</a:t>
                      </a:r>
                    </a:p>
                  </a:txBody>
                  <a:tcPr/>
                </a:tc>
                <a:extLst>
                  <a:ext uri="{0D108BD9-81ED-4DB2-BD59-A6C34878D82A}">
                    <a16:rowId xmlns:a16="http://schemas.microsoft.com/office/drawing/2014/main" val="3768427975"/>
                  </a:ext>
                </a:extLst>
              </a:tr>
              <a:tr h="265091">
                <a:tc>
                  <a:txBody>
                    <a:bodyPr/>
                    <a:lstStyle/>
                    <a:p>
                      <a:pPr algn="l" rtl="0" fontAlgn="b"/>
                      <a:r>
                        <a:rPr lang="ru-RU" sz="1400" b="0" i="0" u="none" strike="noStrike" dirty="0">
                          <a:solidFill>
                            <a:srgbClr val="000000"/>
                          </a:solidFill>
                          <a:effectLst/>
                          <a:latin typeface="+mn-lt"/>
                        </a:rPr>
                        <a:t>Практические лабораторные работы</a:t>
                      </a:r>
                    </a:p>
                  </a:txBody>
                  <a:tcPr marL="9525" marR="9525" marT="9525" marB="0" anchor="b"/>
                </a:tc>
                <a:tc>
                  <a:txBody>
                    <a:bodyPr/>
                    <a:lstStyle/>
                    <a:p>
                      <a:pPr rtl="0"/>
                      <a:r>
                        <a:rPr lang="ru-RU" dirty="0"/>
                        <a:t>Лабораторные</a:t>
                      </a:r>
                      <a:r>
                        <a:rPr lang="ru-RU" baseline="0" dirty="0"/>
                        <a:t> работы</a:t>
                      </a:r>
                      <a:r>
                        <a:rPr lang="ru-RU" dirty="0"/>
                        <a:t>, предназначенные для работы с физическим оборудованием.</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ru-RU" sz="1400" b="0" i="0" u="none" strike="noStrike" dirty="0">
                          <a:solidFill>
                            <a:srgbClr val="000000"/>
                          </a:solidFill>
                          <a:effectLst/>
                          <a:latin typeface="+mn-lt"/>
                        </a:rPr>
                        <a:t>Работа в классе</a:t>
                      </a:r>
                    </a:p>
                  </a:txBody>
                  <a:tcPr marL="9525" marR="9525" marT="9525" marB="0" anchor="b"/>
                </a:tc>
                <a:tc>
                  <a:txBody>
                    <a:bodyPr/>
                    <a:lstStyle/>
                    <a:p>
                      <a:pPr rtl="0"/>
                      <a:r>
                        <a:rPr lang="ru-RU" dirty="0"/>
                        <a:t>Они находятся на странице ресурсов для инструкторов. Занятия в классе предназначены для облегчения обучения, обсуждения в классе и совместной</a:t>
                      </a:r>
                      <a:r>
                        <a:rPr lang="ru-RU" baseline="0" dirty="0"/>
                        <a:t> работы учащихся</a:t>
                      </a:r>
                      <a:r>
                        <a:rPr lang="ru-RU" dirty="0"/>
                        <a:t>.</a:t>
                      </a:r>
                    </a:p>
                  </a:txBody>
                  <a:tcPr/>
                </a:tc>
                <a:extLst>
                  <a:ext uri="{0D108BD9-81ED-4DB2-BD59-A6C34878D82A}">
                    <a16:rowId xmlns:a16="http://schemas.microsoft.com/office/drawing/2014/main" val="1125566603"/>
                  </a:ext>
                </a:extLst>
              </a:tr>
              <a:tr h="265091">
                <a:tc>
                  <a:txBody>
                    <a:bodyPr/>
                    <a:lstStyle/>
                    <a:p>
                      <a:pPr algn="l" rtl="0" fontAlgn="b"/>
                      <a:r>
                        <a:rPr lang="ru-RU" sz="1400" b="0" i="0" u="none" strike="noStrike" dirty="0">
                          <a:solidFill>
                            <a:srgbClr val="000000"/>
                          </a:solidFill>
                          <a:effectLst/>
                          <a:latin typeface="+mn-lt"/>
                        </a:rPr>
                        <a:t>Контрольная</a:t>
                      </a:r>
                      <a:r>
                        <a:rPr lang="ru-RU" sz="1400" b="0" i="0" u="none" strike="noStrike" baseline="0" dirty="0">
                          <a:solidFill>
                            <a:srgbClr val="000000"/>
                          </a:solidFill>
                          <a:effectLst/>
                          <a:latin typeface="+mn-lt"/>
                        </a:rPr>
                        <a:t> работа по модулю</a:t>
                      </a:r>
                      <a:endParaRPr lang="ru-RU" sz="1400" b="0" i="0" u="none" strike="noStrike" dirty="0">
                        <a:solidFill>
                          <a:srgbClr val="000000"/>
                        </a:solidFill>
                        <a:effectLst/>
                        <a:latin typeface="+mn-lt"/>
                      </a:endParaRPr>
                    </a:p>
                  </a:txBody>
                  <a:tcPr marL="9525" marR="9525" marT="9525" marB="0" anchor="b"/>
                </a:tc>
                <a:tc>
                  <a:txBody>
                    <a:bodyPr/>
                    <a:lstStyle/>
                    <a:p>
                      <a:pPr rtl="0"/>
                      <a:r>
                        <a:rPr lang="ru-RU" dirty="0"/>
                        <a:t>Работы</a:t>
                      </a:r>
                      <a:r>
                        <a:rPr lang="ru-RU" baseline="0" dirty="0"/>
                        <a:t> для с</a:t>
                      </a:r>
                      <a:r>
                        <a:rPr lang="ru-RU" dirty="0"/>
                        <a:t>амооценки</a:t>
                      </a:r>
                      <a:r>
                        <a:rPr lang="ru-RU" baseline="0" dirty="0"/>
                        <a:t> </a:t>
                      </a:r>
                      <a:r>
                        <a:rPr lang="ru-RU" dirty="0"/>
                        <a:t>концепций и навыков, полученных в рамках серии тем, представленных в модуле.</a:t>
                      </a:r>
                    </a:p>
                  </a:txBody>
                  <a:tcPr/>
                </a:tc>
                <a:extLst>
                  <a:ext uri="{0D108BD9-81ED-4DB2-BD59-A6C34878D82A}">
                    <a16:rowId xmlns:a16="http://schemas.microsoft.com/office/drawing/2014/main" val="831502776"/>
                  </a:ext>
                </a:extLst>
              </a:tr>
              <a:tr h="265091">
                <a:tc>
                  <a:txBody>
                    <a:bodyPr/>
                    <a:lstStyle/>
                    <a:p>
                      <a:pPr algn="l" rtl="0" fontAlgn="b"/>
                      <a:r>
                        <a:rPr lang="ru-RU" sz="1400" b="0" i="0" u="none" strike="noStrike" dirty="0">
                          <a:solidFill>
                            <a:srgbClr val="000000"/>
                          </a:solidFill>
                          <a:effectLst/>
                          <a:latin typeface="+mn-lt"/>
                        </a:rPr>
                        <a:t>Краткое содержание модуля</a:t>
                      </a:r>
                    </a:p>
                  </a:txBody>
                  <a:tcPr marL="9525" marR="9525" marT="9525" marB="0" anchor="b"/>
                </a:tc>
                <a:tc>
                  <a:txBody>
                    <a:bodyPr/>
                    <a:lstStyle/>
                    <a:p>
                      <a:pPr rtl="0"/>
                      <a:r>
                        <a:rPr lang="ru-RU" dirty="0"/>
                        <a:t>Конспект материалов модуля.</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2629016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r>
              <a:rPr lang="ru-RU" dirty="0"/>
              <a:t>«Проверьте свое понимание темы»</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ru-RU" sz="1400" dirty="0"/>
              <a:t>Упражнения «Проверьте свое понимание темы» предназначены для того, чтобы ученики могли быстро определить, поняли ли они содержание темы и могут ли они переходить к следующей, или им нужно вернуться и пересмотреть текущую тему.</a:t>
            </a:r>
          </a:p>
          <a:p>
            <a:pPr>
              <a:spcBef>
                <a:spcPct val="30000"/>
              </a:spcBef>
              <a:buFont typeface="Arial" panose="020B0604020202020204" pitchFamily="34" charset="0"/>
              <a:buChar char="•"/>
            </a:pPr>
            <a:r>
              <a:rPr lang="ru-RU" sz="1400" dirty="0"/>
              <a:t>Упражнения «Проверьте свое понимание темы» </a:t>
            </a:r>
            <a:r>
              <a:rPr lang="ru-RU" sz="1400" b="1" i="1" dirty="0"/>
              <a:t>не влияют </a:t>
            </a:r>
            <a:r>
              <a:rPr lang="ru-RU" sz="1400" dirty="0"/>
              <a:t>на оценки учащихся.</a:t>
            </a:r>
          </a:p>
          <a:p>
            <a:pPr>
              <a:spcBef>
                <a:spcPct val="30000"/>
              </a:spcBef>
              <a:buFont typeface="Arial" panose="020B0604020202020204" pitchFamily="34" charset="0"/>
              <a:buChar char="•"/>
            </a:pPr>
            <a:r>
              <a:rPr lang="ru-RU" sz="1400" dirty="0"/>
              <a:t>Для этих упражнений нет отдельных слайдов в презентации для инструкторов. Они перечислены в области заметок слайда перед их началом.</a:t>
            </a:r>
            <a:endParaRPr lang="en-US" dirty="0"/>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241408504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r>
              <a:rPr lang="ru-RU" dirty="0"/>
              <a:t>Модуль 11: Задания</a:t>
            </a:r>
          </a:p>
        </p:txBody>
      </p:sp>
      <p:sp>
        <p:nvSpPr>
          <p:cNvPr id="6147" name="Rectangle 34"/>
          <p:cNvSpPr>
            <a:spLocks noGrp="1" noChangeArrowheads="1"/>
          </p:cNvSpPr>
          <p:nvPr>
            <p:ph idx="1"/>
          </p:nvPr>
        </p:nvSpPr>
        <p:spPr>
          <a:xfrm>
            <a:off x="144065" y="798945"/>
            <a:ext cx="8853286" cy="281056"/>
          </a:xfrm>
        </p:spPr>
        <p:txBody>
          <a:bodyPr/>
          <a:lstStyle/>
          <a:p>
            <a:pPr marL="0" indent="0">
              <a:spcBef>
                <a:spcPct val="30000"/>
              </a:spcBef>
              <a:buNone/>
            </a:pPr>
            <a:r>
              <a:rPr lang="ru-RU" dirty="0"/>
              <a:t>Какие задания представлены в этом модуле?</a:t>
            </a:r>
            <a:endParaRPr lang="en-US" dirty="0"/>
          </a:p>
          <a:p>
            <a:endParaRPr lang="en-US" dirty="0"/>
          </a:p>
          <a:p>
            <a:endParaRPr lang="en-US" dirty="0"/>
          </a:p>
          <a:p>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527015795"/>
              </p:ext>
            </p:extLst>
          </p:nvPr>
        </p:nvGraphicFramePr>
        <p:xfrm>
          <a:off x="432000" y="1127135"/>
          <a:ext cx="8446824" cy="3670794"/>
        </p:xfrm>
        <a:graphic>
          <a:graphicData uri="http://schemas.openxmlformats.org/drawingml/2006/table">
            <a:tbl>
              <a:tblPr firstRow="1" bandRow="1">
                <a:tableStyleId>{5C22544A-7EE6-4342-B048-85BDC9FD1C3A}</a:tableStyleId>
              </a:tblPr>
              <a:tblGrid>
                <a:gridCol w="1159578">
                  <a:extLst>
                    <a:ext uri="{9D8B030D-6E8A-4147-A177-3AD203B41FA5}">
                      <a16:colId xmlns:a16="http://schemas.microsoft.com/office/drawing/2014/main" val="20001"/>
                    </a:ext>
                  </a:extLst>
                </a:gridCol>
                <a:gridCol w="1745982">
                  <a:extLst>
                    <a:ext uri="{9D8B030D-6E8A-4147-A177-3AD203B41FA5}">
                      <a16:colId xmlns:a16="http://schemas.microsoft.com/office/drawing/2014/main" val="3156509146"/>
                    </a:ext>
                  </a:extLst>
                </a:gridCol>
                <a:gridCol w="4348696">
                  <a:extLst>
                    <a:ext uri="{9D8B030D-6E8A-4147-A177-3AD203B41FA5}">
                      <a16:colId xmlns:a16="http://schemas.microsoft.com/office/drawing/2014/main" val="20002"/>
                    </a:ext>
                  </a:extLst>
                </a:gridCol>
                <a:gridCol w="1192568">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ru-RU" sz="1200" dirty="0"/>
                        <a:t>Страницы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200" dirty="0"/>
                        <a:t>Тип</a:t>
                      </a:r>
                      <a:r>
                        <a:rPr lang="ru-RU" sz="1200" baseline="0" dirty="0"/>
                        <a:t> задания</a:t>
                      </a:r>
                      <a:endParaRPr lang="ru-RU" sz="1200" dirty="0"/>
                    </a:p>
                  </a:txBody>
                  <a:tcPr marL="68580" marR="68580" marT="34290" marB="34290" anchor="ctr"/>
                </a:tc>
                <a:tc>
                  <a:txBody>
                    <a:bodyPr/>
                    <a:lstStyle/>
                    <a:p>
                      <a:pPr rtl="0"/>
                      <a:r>
                        <a:rPr lang="ru-RU" sz="1200" dirty="0"/>
                        <a:t>Название</a:t>
                      </a:r>
                    </a:p>
                  </a:txBody>
                  <a:tcPr marL="68580" marR="68580" marT="34290" marB="34290" anchor="ctr"/>
                </a:tc>
                <a:tc>
                  <a:txBody>
                    <a:bodyPr/>
                    <a:lstStyle/>
                    <a:p>
                      <a:pPr rtl="0"/>
                      <a:r>
                        <a:rPr lang="ru-RU" sz="1200" dirty="0"/>
                        <a:t>Функционал</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ru-RU" sz="1100"/>
                        <a:t>11.1.5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Видео</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Сетевой адрес, адрес хоста и широковещательный адрес</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1049020341"/>
                  </a:ext>
                </a:extLst>
              </a:tr>
              <a:tr h="350784">
                <a:tc>
                  <a:txBody>
                    <a:bodyPr/>
                    <a:lstStyle/>
                    <a:p>
                      <a:pPr algn="ctr" rtl="0"/>
                      <a:r>
                        <a:rPr lang="ru-RU" sz="1100"/>
                        <a:t>11.1.7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Упражнение</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Использование логической операции И для определения сетевого адреса</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8039395"/>
                  </a:ext>
                </a:extLst>
              </a:tr>
              <a:tr h="350784">
                <a:tc>
                  <a:txBody>
                    <a:bodyPr/>
                    <a:lstStyle/>
                    <a:p>
                      <a:pPr algn="ctr" rtl="0"/>
                      <a:r>
                        <a:rPr lang="ru-RU" sz="1100"/>
                        <a:t>11.1.8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100" dirty="0"/>
                        <a:t>Проверьте свое понимание темы</a:t>
                      </a:r>
                    </a:p>
                  </a:txBody>
                  <a:tcPr marL="68580" marR="68580" marT="34290" marB="34290" anchor="ctr"/>
                </a:tc>
                <a:tc>
                  <a:txBody>
                    <a:bodyPr/>
                    <a:lstStyle/>
                    <a:p>
                      <a:pPr rtl="0"/>
                      <a:r>
                        <a:rPr lang="ru-RU" sz="1100" dirty="0"/>
                        <a:t>Структура адресов </a:t>
                      </a:r>
                      <a:r>
                        <a:rPr lang="en-US" sz="1100" dirty="0"/>
                        <a:t>IPv4</a:t>
                      </a:r>
                      <a:endParaRPr lang="ru-RU" sz="1100" dirty="0"/>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ru-RU" sz="1100"/>
                        <a:t>11.2.4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Упражнение</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Одноадресная, многоадресная и широковещательная рассылка</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ru-RU" sz="1100"/>
                        <a:t>11.3.3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Упражнение</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Разрешение или блокировка </a:t>
                      </a:r>
                      <a:r>
                        <a:rPr lang="en-US" sz="1100" dirty="0"/>
                        <a:t>IPv4-</a:t>
                      </a:r>
                      <a:r>
                        <a:rPr lang="ru-RU" sz="1100" dirty="0"/>
                        <a:t>адресов</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lang="ru-RU" sz="1100"/>
                        <a:t>11.3.7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Упражнение</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Публичные и частные </a:t>
                      </a:r>
                      <a:r>
                        <a:rPr lang="en-US" sz="1100" dirty="0"/>
                        <a:t>IPv4-</a:t>
                      </a:r>
                      <a:r>
                        <a:rPr lang="ru-RU" sz="1100" dirty="0"/>
                        <a:t>адреса</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001172460"/>
                  </a:ext>
                </a:extLst>
              </a:tr>
              <a:tr h="350784">
                <a:tc>
                  <a:txBody>
                    <a:bodyPr/>
                    <a:lstStyle/>
                    <a:p>
                      <a:pPr algn="ctr" rtl="0"/>
                      <a:r>
                        <a:rPr lang="ru-RU" sz="1100"/>
                        <a:t>11.3.8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100" dirty="0"/>
                        <a:t>Проверьте свое понимание темы</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Типы адресов </a:t>
                      </a:r>
                      <a:r>
                        <a:rPr lang="en-US" sz="1100" dirty="0"/>
                        <a:t>IPv4</a:t>
                      </a:r>
                      <a:endParaRPr lang="ru-RU" sz="1100" dirty="0"/>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22206681"/>
                  </a:ext>
                </a:extLst>
              </a:tr>
              <a:tr h="350784">
                <a:tc>
                  <a:txBody>
                    <a:bodyPr/>
                    <a:lstStyle/>
                    <a:p>
                      <a:pPr algn="ctr" rtl="0"/>
                      <a:r>
                        <a:rPr lang="ru-RU" sz="1100"/>
                        <a:t>11.4.4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100" dirty="0"/>
                        <a:t>Проверьте свое понимание темы</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Сегментация сети</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529209024"/>
                  </a:ext>
                </a:extLst>
              </a:tr>
              <a:tr h="350784">
                <a:tc>
                  <a:txBody>
                    <a:bodyPr/>
                    <a:lstStyle/>
                    <a:p>
                      <a:pPr algn="ctr" rtl="0"/>
                      <a:r>
                        <a:rPr lang="ru-RU" sz="1100" kern="1200">
                          <a:solidFill>
                            <a:schemeClr val="dk1"/>
                          </a:solidFill>
                          <a:latin typeface="+mn-lt"/>
                          <a:ea typeface="+mn-ea"/>
                          <a:cs typeface="+mn-cs"/>
                        </a:rPr>
                        <a:t>11.5.3</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Видео</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Маска подсети</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587265571"/>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r>
              <a:rPr lang="ru-RU" dirty="0"/>
              <a:t>Модуль 11: Задания (Продолжение)</a:t>
            </a:r>
          </a:p>
        </p:txBody>
      </p:sp>
      <p:sp>
        <p:nvSpPr>
          <p:cNvPr id="6147" name="Rectangle 34"/>
          <p:cNvSpPr>
            <a:spLocks noGrp="1" noChangeArrowheads="1"/>
          </p:cNvSpPr>
          <p:nvPr>
            <p:ph idx="1"/>
          </p:nvPr>
        </p:nvSpPr>
        <p:spPr>
          <a:xfrm>
            <a:off x="144065" y="798945"/>
            <a:ext cx="8853286" cy="281056"/>
          </a:xfrm>
        </p:spPr>
        <p:txBody>
          <a:bodyPr/>
          <a:lstStyle/>
          <a:p>
            <a:pPr marL="0" indent="0">
              <a:spcBef>
                <a:spcPct val="30000"/>
              </a:spcBef>
              <a:buNone/>
            </a:pPr>
            <a:r>
              <a:rPr lang="ru-RU" dirty="0"/>
              <a:t>Какие задания представлены в этом модуле?</a:t>
            </a:r>
            <a:endParaRPr lang="en-US" dirty="0"/>
          </a:p>
          <a:p>
            <a:endParaRPr lang="en-US" dirty="0"/>
          </a:p>
          <a:p>
            <a:endParaRPr lang="en-US" dirty="0"/>
          </a:p>
          <a:p>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0410917"/>
              </p:ext>
            </p:extLst>
          </p:nvPr>
        </p:nvGraphicFramePr>
        <p:xfrm>
          <a:off x="432000" y="1117708"/>
          <a:ext cx="8428536" cy="3458490"/>
        </p:xfrm>
        <a:graphic>
          <a:graphicData uri="http://schemas.openxmlformats.org/drawingml/2006/table">
            <a:tbl>
              <a:tblPr firstRow="1" bandRow="1">
                <a:tableStyleId>{5C22544A-7EE6-4342-B048-85BDC9FD1C3A}</a:tableStyleId>
              </a:tblPr>
              <a:tblGrid>
                <a:gridCol w="1159578">
                  <a:extLst>
                    <a:ext uri="{9D8B030D-6E8A-4147-A177-3AD203B41FA5}">
                      <a16:colId xmlns:a16="http://schemas.microsoft.com/office/drawing/2014/main" val="20001"/>
                    </a:ext>
                  </a:extLst>
                </a:gridCol>
                <a:gridCol w="1906814">
                  <a:extLst>
                    <a:ext uri="{9D8B030D-6E8A-4147-A177-3AD203B41FA5}">
                      <a16:colId xmlns:a16="http://schemas.microsoft.com/office/drawing/2014/main" val="3156509146"/>
                    </a:ext>
                  </a:extLst>
                </a:gridCol>
                <a:gridCol w="4187864">
                  <a:extLst>
                    <a:ext uri="{9D8B030D-6E8A-4147-A177-3AD203B41FA5}">
                      <a16:colId xmlns:a16="http://schemas.microsoft.com/office/drawing/2014/main" val="20002"/>
                    </a:ext>
                  </a:extLst>
                </a:gridCol>
                <a:gridCol w="1174280">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ru-RU" sz="1200" dirty="0"/>
                        <a:t>Страница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200" dirty="0"/>
                        <a:t>Тип</a:t>
                      </a:r>
                      <a:r>
                        <a:rPr lang="ru-RU" sz="1200" baseline="0" dirty="0"/>
                        <a:t> задания</a:t>
                      </a:r>
                      <a:endParaRPr lang="ru-RU" sz="1200" dirty="0"/>
                    </a:p>
                  </a:txBody>
                  <a:tcPr marL="68580" marR="68580" marT="34290" marB="34290" anchor="ctr"/>
                </a:tc>
                <a:tc>
                  <a:txBody>
                    <a:bodyPr/>
                    <a:lstStyle/>
                    <a:p>
                      <a:pPr rtl="0"/>
                      <a:r>
                        <a:rPr lang="ru-RU" sz="1200" dirty="0"/>
                        <a:t>Название</a:t>
                      </a:r>
                    </a:p>
                  </a:txBody>
                  <a:tcPr marL="68580" marR="68580" marT="34290" marB="34290" anchor="ctr"/>
                </a:tc>
                <a:tc>
                  <a:txBody>
                    <a:bodyPr/>
                    <a:lstStyle/>
                    <a:p>
                      <a:pPr rtl="0"/>
                      <a:r>
                        <a:rPr lang="ru-RU" sz="1200" dirty="0"/>
                        <a:t>Функционал</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ru-RU" sz="1100" kern="1200">
                          <a:solidFill>
                            <a:schemeClr val="dk1"/>
                          </a:solidFill>
                          <a:latin typeface="+mn-lt"/>
                          <a:ea typeface="+mn-ea"/>
                          <a:cs typeface="+mn-cs"/>
                        </a:rPr>
                        <a:t>11.5.4</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Видео</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Разделение на подсети с помощью «магического числа»</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954574810"/>
                  </a:ext>
                </a:extLst>
              </a:tr>
              <a:tr h="350784">
                <a:tc>
                  <a:txBody>
                    <a:bodyPr/>
                    <a:lstStyle/>
                    <a:p>
                      <a:pPr algn="ctr" rtl="0"/>
                      <a:r>
                        <a:rPr lang="ru-RU" sz="1100" kern="1200">
                          <a:solidFill>
                            <a:schemeClr val="dk1"/>
                          </a:solidFill>
                          <a:latin typeface="+mn-lt"/>
                          <a:ea typeface="+mn-ea"/>
                          <a:cs typeface="+mn-cs"/>
                        </a:rPr>
                        <a:t>11.5.5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100" kern="1200">
                          <a:solidFill>
                            <a:schemeClr val="dk1"/>
                          </a:solidFill>
                          <a:latin typeface="+mn-lt"/>
                          <a:ea typeface="+mn-ea"/>
                          <a:cs typeface="+mn-cs"/>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Подсеть </a:t>
                      </a:r>
                      <a:r>
                        <a:rPr lang="en-US" sz="1100" kern="1200" dirty="0">
                          <a:solidFill>
                            <a:schemeClr val="dk1"/>
                          </a:solidFill>
                          <a:latin typeface="+mn-lt"/>
                          <a:ea typeface="+mn-ea"/>
                          <a:cs typeface="+mn-cs"/>
                        </a:rPr>
                        <a:t>IPv4-</a:t>
                      </a:r>
                      <a:r>
                        <a:rPr lang="ru-RU" sz="1100" kern="1200" dirty="0">
                          <a:solidFill>
                            <a:schemeClr val="dk1"/>
                          </a:solidFill>
                          <a:latin typeface="+mn-lt"/>
                          <a:ea typeface="+mn-ea"/>
                          <a:cs typeface="+mn-cs"/>
                        </a:rPr>
                        <a:t>сети</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057775100"/>
                  </a:ext>
                </a:extLst>
              </a:tr>
              <a:tr h="350784">
                <a:tc>
                  <a:txBody>
                    <a:bodyPr/>
                    <a:lstStyle/>
                    <a:p>
                      <a:pPr algn="ctr" rtl="0"/>
                      <a:r>
                        <a:rPr lang="ru-RU" sz="1100" kern="1200">
                          <a:solidFill>
                            <a:schemeClr val="dk1"/>
                          </a:solidFill>
                          <a:latin typeface="+mn-lt"/>
                          <a:ea typeface="+mn-ea"/>
                          <a:cs typeface="+mn-cs"/>
                        </a:rPr>
                        <a:t>11.6.4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Видео</a:t>
                      </a:r>
                    </a:p>
                  </a:txBody>
                  <a:tcPr marL="68580" marR="68580" marT="34290" marB="34290" anchor="ctr"/>
                </a:tc>
                <a:tc>
                  <a:txBody>
                    <a:bodyPr/>
                    <a:lstStyle/>
                    <a:p>
                      <a:pPr rtl="0"/>
                      <a:r>
                        <a:rPr lang="ru-RU" sz="1100" kern="1200" dirty="0">
                          <a:solidFill>
                            <a:schemeClr val="dk1"/>
                          </a:solidFill>
                          <a:latin typeface="+mn-lt"/>
                          <a:ea typeface="+mn-ea"/>
                          <a:cs typeface="+mn-cs"/>
                        </a:rPr>
                        <a:t>Организация подсетей по нескольким октетам</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61874528"/>
                  </a:ext>
                </a:extLst>
              </a:tr>
              <a:tr h="350784">
                <a:tc>
                  <a:txBody>
                    <a:bodyPr/>
                    <a:lstStyle/>
                    <a:p>
                      <a:pPr algn="ctr" rtl="0"/>
                      <a:r>
                        <a:rPr lang="ru-RU" sz="1100" kern="1200">
                          <a:solidFill>
                            <a:schemeClr val="dk1"/>
                          </a:solidFill>
                          <a:latin typeface="+mn-lt"/>
                          <a:ea typeface="+mn-ea"/>
                          <a:cs typeface="+mn-cs"/>
                        </a:rPr>
                        <a:t>11.6.5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Упражнение</a:t>
                      </a:r>
                    </a:p>
                  </a:txBody>
                  <a:tcPr marL="68580" marR="68580" marT="34290" marB="34290" anchor="ctr"/>
                </a:tc>
                <a:tc>
                  <a:txBody>
                    <a:bodyPr/>
                    <a:lstStyle/>
                    <a:p>
                      <a:pPr rtl="0"/>
                      <a:r>
                        <a:rPr lang="ru-RU" sz="1100" kern="1200" dirty="0">
                          <a:solidFill>
                            <a:schemeClr val="dk1"/>
                          </a:solidFill>
                          <a:latin typeface="+mn-lt"/>
                          <a:ea typeface="+mn-ea"/>
                          <a:cs typeface="+mn-cs"/>
                        </a:rPr>
                        <a:t>Расчет маски подсети</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36677826"/>
                  </a:ext>
                </a:extLst>
              </a:tr>
              <a:tr h="350784">
                <a:tc>
                  <a:txBody>
                    <a:bodyPr/>
                    <a:lstStyle/>
                    <a:p>
                      <a:pPr algn="ctr" rtl="0"/>
                      <a:r>
                        <a:rPr lang="ru-RU" sz="1100" kern="1200">
                          <a:solidFill>
                            <a:schemeClr val="dk1"/>
                          </a:solidFill>
                          <a:latin typeface="+mn-lt"/>
                          <a:ea typeface="+mn-ea"/>
                          <a:cs typeface="+mn-cs"/>
                        </a:rPr>
                        <a:t>11.6.6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Лабораторная</a:t>
                      </a:r>
                      <a:r>
                        <a:rPr lang="ru-RU" sz="1100" kern="1200" baseline="0" dirty="0">
                          <a:solidFill>
                            <a:schemeClr val="dk1"/>
                          </a:solidFill>
                          <a:latin typeface="+mn-lt"/>
                          <a:ea typeface="+mn-ea"/>
                          <a:cs typeface="+mn-cs"/>
                        </a:rPr>
                        <a:t> работа</a:t>
                      </a:r>
                      <a:endParaRPr lang="ru-RU" sz="1100" kern="1200" dirty="0">
                        <a:solidFill>
                          <a:schemeClr val="dk1"/>
                        </a:solidFill>
                        <a:latin typeface="+mn-lt"/>
                        <a:ea typeface="+mn-ea"/>
                        <a:cs typeface="+mn-cs"/>
                      </a:endParaRP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Расчет подсетей </a:t>
                      </a:r>
                      <a:r>
                        <a:rPr lang="en-US" sz="1100" kern="1200" dirty="0">
                          <a:solidFill>
                            <a:schemeClr val="dk1"/>
                          </a:solidFill>
                          <a:latin typeface="+mn-lt"/>
                          <a:ea typeface="+mn-ea"/>
                          <a:cs typeface="+mn-cs"/>
                        </a:rPr>
                        <a:t>IPv4</a:t>
                      </a:r>
                      <a:endParaRPr lang="ru-RU" sz="1100" kern="1200" dirty="0">
                        <a:solidFill>
                          <a:schemeClr val="dk1"/>
                        </a:solidFill>
                        <a:latin typeface="+mn-lt"/>
                        <a:ea typeface="+mn-ea"/>
                        <a:cs typeface="+mn-cs"/>
                      </a:endParaRP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ru-RU" sz="1100" kern="1200">
                          <a:solidFill>
                            <a:schemeClr val="dk1"/>
                          </a:solidFill>
                          <a:latin typeface="+mn-lt"/>
                          <a:ea typeface="+mn-ea"/>
                          <a:cs typeface="+mn-cs"/>
                        </a:rPr>
                        <a:t>11.7.4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t>Упражнение</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Определение количества бит для заимствования</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lang="ru-RU" sz="1100" kern="1200">
                          <a:solidFill>
                            <a:schemeClr val="dk1"/>
                          </a:solidFill>
                          <a:latin typeface="+mn-lt"/>
                          <a:ea typeface="+mn-ea"/>
                          <a:cs typeface="+mn-cs"/>
                        </a:rPr>
                        <a:t>11.7.5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100" kern="1200">
                          <a:solidFill>
                            <a:schemeClr val="dk1"/>
                          </a:solidFill>
                          <a:latin typeface="+mn-lt"/>
                          <a:ea typeface="+mn-ea"/>
                          <a:cs typeface="+mn-cs"/>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Сценарий разделения на подсети</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001172460"/>
                  </a:ext>
                </a:extLst>
              </a:tr>
              <a:tr h="350784">
                <a:tc>
                  <a:txBody>
                    <a:bodyPr/>
                    <a:lstStyle/>
                    <a:p>
                      <a:pPr algn="ctr" rtl="0"/>
                      <a:r>
                        <a:rPr lang="ru-RU" sz="1100" kern="1200">
                          <a:solidFill>
                            <a:schemeClr val="dk1"/>
                          </a:solidFill>
                          <a:latin typeface="+mn-lt"/>
                          <a:ea typeface="+mn-ea"/>
                          <a:cs typeface="+mn-cs"/>
                        </a:rPr>
                        <a:t>11.8.1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Видео</a:t>
                      </a:r>
                    </a:p>
                  </a:txBody>
                  <a:tcPr marL="68580" marR="68580" marT="34290" marB="34290" anchor="ctr"/>
                </a:tc>
                <a:tc>
                  <a:txBody>
                    <a:bodyPr/>
                    <a:lstStyle/>
                    <a:p>
                      <a:r>
                        <a:rPr lang="ru-RU" sz="1100" kern="1200" dirty="0">
                          <a:solidFill>
                            <a:schemeClr val="dk1"/>
                          </a:solidFill>
                          <a:latin typeface="+mn-lt"/>
                          <a:ea typeface="+mn-ea"/>
                          <a:cs typeface="+mn-cs"/>
                        </a:rPr>
                        <a:t>Основы </a:t>
                      </a:r>
                      <a:r>
                        <a:rPr lang="en-US" sz="1100" kern="1200" dirty="0">
                          <a:solidFill>
                            <a:schemeClr val="dk1"/>
                          </a:solidFill>
                          <a:latin typeface="+mn-lt"/>
                          <a:ea typeface="+mn-ea"/>
                          <a:cs typeface="+mn-cs"/>
                        </a:rPr>
                        <a:t>VLSM</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4005649858"/>
                  </a:ext>
                </a:extLst>
              </a:tr>
              <a:tr h="350784">
                <a:tc>
                  <a:txBody>
                    <a:bodyPr/>
                    <a:lstStyle/>
                    <a:p>
                      <a:pPr algn="ctr" rtl="0"/>
                      <a:r>
                        <a:rPr lang="ru-RU" sz="1100" kern="1200">
                          <a:solidFill>
                            <a:schemeClr val="dk1"/>
                          </a:solidFill>
                          <a:latin typeface="+mn-lt"/>
                          <a:ea typeface="+mn-ea"/>
                          <a:cs typeface="+mn-cs"/>
                        </a:rPr>
                        <a:t>11.8.2</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Видео</a:t>
                      </a:r>
                    </a:p>
                  </a:txBody>
                  <a:tcPr marL="68580" marR="68580" marT="34290" marB="34290" anchor="ctr"/>
                </a:tc>
                <a:tc>
                  <a:txBody>
                    <a:bodyPr/>
                    <a:lstStyle/>
                    <a:p>
                      <a:r>
                        <a:rPr lang="ru-RU" sz="1100" kern="1200" dirty="0">
                          <a:solidFill>
                            <a:schemeClr val="dk1"/>
                          </a:solidFill>
                          <a:latin typeface="+mn-lt"/>
                          <a:ea typeface="+mn-ea"/>
                          <a:cs typeface="+mn-cs"/>
                        </a:rPr>
                        <a:t>Пример </a:t>
                      </a:r>
                      <a:r>
                        <a:rPr lang="en-US" sz="1100" kern="1200" dirty="0">
                          <a:solidFill>
                            <a:schemeClr val="dk1"/>
                          </a:solidFill>
                          <a:latin typeface="+mn-lt"/>
                          <a:ea typeface="+mn-ea"/>
                          <a:cs typeface="+mn-cs"/>
                        </a:rPr>
                        <a:t>VLSM</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2958805830"/>
                  </a:ext>
                </a:extLst>
              </a:tr>
            </a:tbl>
          </a:graphicData>
        </a:graphic>
      </p:graphicFrame>
    </p:spTree>
    <p:custDataLst>
      <p:tags r:id="rId1"/>
    </p:custDataLst>
    <p:extLst>
      <p:ext uri="{BB962C8B-B14F-4D97-AF65-F5344CB8AC3E}">
        <p14:creationId xmlns:p14="http://schemas.microsoft.com/office/powerpoint/2010/main" val="423543700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r>
              <a:rPr lang="ru-RU" dirty="0"/>
              <a:t>Модуль 11: Задания (Продолжение)</a:t>
            </a:r>
          </a:p>
        </p:txBody>
      </p:sp>
      <p:sp>
        <p:nvSpPr>
          <p:cNvPr id="6147" name="Rectangle 34"/>
          <p:cNvSpPr>
            <a:spLocks noGrp="1" noChangeArrowheads="1"/>
          </p:cNvSpPr>
          <p:nvPr>
            <p:ph idx="1"/>
          </p:nvPr>
        </p:nvSpPr>
        <p:spPr>
          <a:xfrm>
            <a:off x="144065" y="798945"/>
            <a:ext cx="8853286" cy="281056"/>
          </a:xfrm>
        </p:spPr>
        <p:txBody>
          <a:bodyPr/>
          <a:lstStyle/>
          <a:p>
            <a:pPr marL="0" indent="0">
              <a:spcBef>
                <a:spcPct val="30000"/>
              </a:spcBef>
              <a:buNone/>
            </a:pPr>
            <a:r>
              <a:rPr lang="ru-RU" dirty="0"/>
              <a:t>Какие задания представлены в этом модуле?</a:t>
            </a:r>
            <a:endParaRPr lang="en-US" dirty="0"/>
          </a:p>
          <a:p>
            <a:endParaRPr lang="en-US" dirty="0"/>
          </a:p>
          <a:p>
            <a:endParaRPr lang="en-US" dirty="0"/>
          </a:p>
          <a:p>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891142404"/>
              </p:ext>
            </p:extLst>
          </p:nvPr>
        </p:nvGraphicFramePr>
        <p:xfrm>
          <a:off x="431998" y="1127135"/>
          <a:ext cx="8565352" cy="1704570"/>
        </p:xfrm>
        <a:graphic>
          <a:graphicData uri="http://schemas.openxmlformats.org/drawingml/2006/table">
            <a:tbl>
              <a:tblPr firstRow="1" bandRow="1">
                <a:tableStyleId>{5C22544A-7EE6-4342-B048-85BDC9FD1C3A}</a:tableStyleId>
              </a:tblPr>
              <a:tblGrid>
                <a:gridCol w="1175850">
                  <a:extLst>
                    <a:ext uri="{9D8B030D-6E8A-4147-A177-3AD203B41FA5}">
                      <a16:colId xmlns:a16="http://schemas.microsoft.com/office/drawing/2014/main" val="20001"/>
                    </a:ext>
                  </a:extLst>
                </a:gridCol>
                <a:gridCol w="1933571">
                  <a:extLst>
                    <a:ext uri="{9D8B030D-6E8A-4147-A177-3AD203B41FA5}">
                      <a16:colId xmlns:a16="http://schemas.microsoft.com/office/drawing/2014/main" val="3156509146"/>
                    </a:ext>
                  </a:extLst>
                </a:gridCol>
                <a:gridCol w="4246629">
                  <a:extLst>
                    <a:ext uri="{9D8B030D-6E8A-4147-A177-3AD203B41FA5}">
                      <a16:colId xmlns:a16="http://schemas.microsoft.com/office/drawing/2014/main" val="20002"/>
                    </a:ext>
                  </a:extLst>
                </a:gridCol>
                <a:gridCol w="1209302">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ru-RU" sz="1200" dirty="0"/>
                        <a:t>Страница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200" dirty="0"/>
                        <a:t>Тип</a:t>
                      </a:r>
                      <a:r>
                        <a:rPr lang="ru-RU" sz="1200" baseline="0" dirty="0"/>
                        <a:t> задания</a:t>
                      </a:r>
                      <a:endParaRPr lang="ru-RU" sz="1200" dirty="0"/>
                    </a:p>
                  </a:txBody>
                  <a:tcPr marL="68580" marR="68580" marT="34290" marB="34290" anchor="ctr"/>
                </a:tc>
                <a:tc>
                  <a:txBody>
                    <a:bodyPr/>
                    <a:lstStyle/>
                    <a:p>
                      <a:pPr rtl="0"/>
                      <a:r>
                        <a:rPr lang="ru-RU" sz="1200" dirty="0"/>
                        <a:t>Название</a:t>
                      </a:r>
                    </a:p>
                  </a:txBody>
                  <a:tcPr marL="68580" marR="68580" marT="34290" marB="34290" anchor="ctr"/>
                </a:tc>
                <a:tc>
                  <a:txBody>
                    <a:bodyPr/>
                    <a:lstStyle/>
                    <a:p>
                      <a:pPr rtl="0"/>
                      <a:r>
                        <a:rPr lang="ru-RU" sz="1200" dirty="0"/>
                        <a:t>Функционал</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ru-RU" sz="1100" kern="1200">
                          <a:solidFill>
                            <a:schemeClr val="dk1"/>
                          </a:solidFill>
                          <a:latin typeface="+mn-lt"/>
                          <a:ea typeface="+mn-ea"/>
                          <a:cs typeface="+mn-cs"/>
                        </a:rPr>
                        <a:t>11.8.6</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Упражнение</a:t>
                      </a:r>
                    </a:p>
                  </a:txBody>
                  <a:tcPr marL="68580" marR="68580" marT="34290" marB="34290" anchor="ctr"/>
                </a:tc>
                <a:tc>
                  <a:txBody>
                    <a:bodyPr/>
                    <a:lstStyle/>
                    <a:p>
                      <a:r>
                        <a:rPr lang="ru-RU" sz="1100" kern="1200" dirty="0">
                          <a:solidFill>
                            <a:schemeClr val="dk1"/>
                          </a:solidFill>
                          <a:latin typeface="+mn-lt"/>
                          <a:ea typeface="+mn-ea"/>
                          <a:cs typeface="+mn-cs"/>
                        </a:rPr>
                        <a:t>Практика </a:t>
                      </a:r>
                      <a:r>
                        <a:rPr lang="en-US" sz="1100" kern="1200" dirty="0">
                          <a:solidFill>
                            <a:schemeClr val="dk1"/>
                          </a:solidFill>
                          <a:latin typeface="+mn-lt"/>
                          <a:ea typeface="+mn-ea"/>
                          <a:cs typeface="+mn-cs"/>
                        </a:rPr>
                        <a:t>VLSM</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22206681"/>
                  </a:ext>
                </a:extLst>
              </a:tr>
              <a:tr h="350784">
                <a:tc>
                  <a:txBody>
                    <a:bodyPr/>
                    <a:lstStyle/>
                    <a:p>
                      <a:pPr algn="ctr" rtl="0"/>
                      <a:r>
                        <a:rPr lang="ru-RU" sz="1100" kern="1200">
                          <a:solidFill>
                            <a:schemeClr val="dk1"/>
                          </a:solidFill>
                          <a:latin typeface="+mn-lt"/>
                          <a:ea typeface="+mn-ea"/>
                          <a:cs typeface="+mn-cs"/>
                        </a:rPr>
                        <a:t>11.9.3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a:solidFill>
                            <a:schemeClr val="dk1"/>
                          </a:solidFill>
                          <a:latin typeface="+mn-lt"/>
                          <a:ea typeface="+mn-ea"/>
                          <a:cs typeface="+mn-cs"/>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Практика проектирования и внедрения VLSM</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406068602"/>
                  </a:ext>
                </a:extLst>
              </a:tr>
              <a:tr h="350784">
                <a:tc>
                  <a:txBody>
                    <a:bodyPr/>
                    <a:lstStyle/>
                    <a:p>
                      <a:pPr marL="0" algn="ctr" defTabSz="685777" rtl="0" eaLnBrk="1" latinLnBrk="0" hangingPunct="1"/>
                      <a:r>
                        <a:rPr lang="ru-RU" sz="1100" kern="1200">
                          <a:solidFill>
                            <a:schemeClr val="dk1"/>
                          </a:solidFill>
                          <a:latin typeface="+mn-lt"/>
                          <a:ea typeface="+mn-ea"/>
                          <a:cs typeface="+mn-cs"/>
                        </a:rPr>
                        <a:t>11.10.1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a:solidFill>
                            <a:schemeClr val="dk1"/>
                          </a:solidFill>
                          <a:latin typeface="+mn-lt"/>
                          <a:ea typeface="+mn-ea"/>
                          <a:cs typeface="+mn-cs"/>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Разработка и реализация схемы адресации VLSM</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514539205"/>
                  </a:ext>
                </a:extLst>
              </a:tr>
              <a:tr h="350784">
                <a:tc>
                  <a:txBody>
                    <a:bodyPr/>
                    <a:lstStyle/>
                    <a:p>
                      <a:pPr marL="0" algn="ctr" defTabSz="685777" rtl="0" eaLnBrk="1" latinLnBrk="0" hangingPunct="1"/>
                      <a:r>
                        <a:rPr lang="ru-RU" sz="1100" kern="1200">
                          <a:solidFill>
                            <a:schemeClr val="dk1"/>
                          </a:solidFill>
                          <a:latin typeface="+mn-lt"/>
                          <a:ea typeface="+mn-ea"/>
                          <a:cs typeface="+mn-cs"/>
                        </a:rPr>
                        <a:t>11.10.2</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Лабораторная</a:t>
                      </a:r>
                      <a:r>
                        <a:rPr lang="ru-RU" sz="1100" kern="1200" baseline="0" dirty="0">
                          <a:solidFill>
                            <a:schemeClr val="dk1"/>
                          </a:solidFill>
                          <a:latin typeface="+mn-lt"/>
                          <a:ea typeface="+mn-ea"/>
                          <a:cs typeface="+mn-cs"/>
                        </a:rPr>
                        <a:t> работа</a:t>
                      </a:r>
                      <a:endParaRPr lang="ru-RU" sz="1100" kern="1200" dirty="0">
                        <a:solidFill>
                          <a:schemeClr val="dk1"/>
                        </a:solidFill>
                        <a:latin typeface="+mn-lt"/>
                        <a:ea typeface="+mn-ea"/>
                        <a:cs typeface="+mn-cs"/>
                      </a:endParaRPr>
                    </a:p>
                  </a:txBody>
                  <a:tcPr marL="68580" marR="68580" marT="34290" marB="34290" anchor="ctr"/>
                </a:tc>
                <a:tc>
                  <a:txBody>
                    <a:bodyPr/>
                    <a:lstStyle/>
                    <a:p>
                      <a:r>
                        <a:rPr lang="ru-RU" sz="1100" kern="1200" dirty="0">
                          <a:solidFill>
                            <a:schemeClr val="dk1"/>
                          </a:solidFill>
                          <a:latin typeface="+mn-lt"/>
                          <a:ea typeface="+mn-ea"/>
                          <a:cs typeface="+mn-cs"/>
                        </a:rPr>
                        <a:t>Разработка и реализация схемы адресации VLSM</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631969203"/>
                  </a:ext>
                </a:extLst>
              </a:tr>
            </a:tbl>
          </a:graphicData>
        </a:graphic>
      </p:graphicFrame>
    </p:spTree>
    <p:custDataLst>
      <p:tags r:id="rId1"/>
    </p:custDataLst>
    <p:extLst>
      <p:ext uri="{BB962C8B-B14F-4D97-AF65-F5344CB8AC3E}">
        <p14:creationId xmlns:p14="http://schemas.microsoft.com/office/powerpoint/2010/main" val="356799509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a:t>
            </a:r>
          </a:p>
        </p:txBody>
      </p:sp>
      <p:sp>
        <p:nvSpPr>
          <p:cNvPr id="11266" name="Rectangle 34"/>
          <p:cNvSpPr>
            <a:spLocks noGrp="1" noChangeArrowheads="1"/>
          </p:cNvSpPr>
          <p:nvPr>
            <p:ph idx="1"/>
          </p:nvPr>
        </p:nvSpPr>
        <p:spPr>
          <a:xfrm>
            <a:off x="145356" y="684644"/>
            <a:ext cx="8998643" cy="4155319"/>
          </a:xfrm>
        </p:spPr>
        <p:txBody>
          <a:bodyPr/>
          <a:lstStyle/>
          <a:p>
            <a:pPr marL="0" indent="0">
              <a:lnSpc>
                <a:spcPct val="85000"/>
              </a:lnSpc>
              <a:spcBef>
                <a:spcPct val="30000"/>
              </a:spcBef>
              <a:buNone/>
            </a:pPr>
            <a:r>
              <a:rPr lang="ru-RU" sz="1600" dirty="0"/>
              <a:t>Перед обучением по модулю 11 инструктор должен:</a:t>
            </a:r>
          </a:p>
          <a:p>
            <a:pPr>
              <a:lnSpc>
                <a:spcPct val="85000"/>
              </a:lnSpc>
              <a:spcBef>
                <a:spcPct val="30000"/>
              </a:spcBef>
              <a:buFont typeface="Arial" panose="020B0604020202020204" pitchFamily="34" charset="0"/>
              <a:buChar char="•"/>
            </a:pPr>
            <a:r>
              <a:rPr lang="ru-RU" sz="1600" dirty="0"/>
              <a:t>Просмотреть задания и лабораторные работы для этого модуля.</a:t>
            </a:r>
          </a:p>
          <a:p>
            <a:pPr>
              <a:lnSpc>
                <a:spcPct val="85000"/>
              </a:lnSpc>
              <a:spcBef>
                <a:spcPct val="30000"/>
              </a:spcBef>
              <a:buFont typeface="Arial" panose="020B0604020202020204" pitchFamily="34" charset="0"/>
              <a:buChar char="•"/>
            </a:pPr>
            <a:r>
              <a:rPr lang="ru-RU" sz="1600" dirty="0"/>
              <a:t>Постараться включить как можно больше вопросов, чтобы привлечь внимание учащихся во время презентации в классе.</a:t>
            </a:r>
          </a:p>
          <a:p>
            <a:pPr marL="0" indent="0" rtl="0" eaLnBrk="1" hangingPunct="1">
              <a:lnSpc>
                <a:spcPct val="85000"/>
              </a:lnSpc>
              <a:spcBef>
                <a:spcPct val="30000"/>
              </a:spcBef>
              <a:buNone/>
            </a:pPr>
            <a:r>
              <a:rPr lang="ru-RU" sz="1600" dirty="0"/>
              <a:t>Тема 11.1</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Как маршрутизатор идентифицирует сетевую и </a:t>
            </a:r>
            <a:r>
              <a:rPr lang="ru-RU" sz="1600" dirty="0" err="1"/>
              <a:t>хостовую</a:t>
            </a:r>
            <a:r>
              <a:rPr lang="ru-RU" sz="1600" dirty="0"/>
              <a:t> части IP-адреса?</a:t>
            </a:r>
          </a:p>
          <a:p>
            <a:pPr lvl="2">
              <a:lnSpc>
                <a:spcPct val="85000"/>
              </a:lnSpc>
              <a:spcBef>
                <a:spcPct val="30000"/>
              </a:spcBef>
            </a:pPr>
            <a:r>
              <a:rPr lang="ru-RU" sz="1600" dirty="0"/>
              <a:t>Не могли бы вы объяснить, как маска подсети IPv4 и длина префикса IPv6 используются для идентификации частей сети и хоста с использованием операции И.</a:t>
            </a:r>
          </a:p>
          <a:p>
            <a:pPr marL="0" indent="0" rtl="0">
              <a:lnSpc>
                <a:spcPct val="85000"/>
              </a:lnSpc>
              <a:spcBef>
                <a:spcPct val="30000"/>
              </a:spcBef>
              <a:buNone/>
            </a:pPr>
            <a:r>
              <a:rPr lang="ru-RU" sz="1600" dirty="0"/>
              <a:t>Тема 11.2</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привести пример одноадресной, широковещательной и многоадресной рассылки?</a:t>
            </a:r>
          </a:p>
          <a:p>
            <a:pPr eaLnBrk="1" hangingPunct="1">
              <a:lnSpc>
                <a:spcPct val="85000"/>
              </a:lnSpc>
              <a:spcBef>
                <a:spcPct val="30000"/>
              </a:spcBef>
            </a:pPr>
            <a:endParaRPr lang="en-US" sz="1400"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 (Продолжение)</a:t>
            </a:r>
          </a:p>
        </p:txBody>
      </p:sp>
      <p:sp>
        <p:nvSpPr>
          <p:cNvPr id="11266" name="Rectangle 34"/>
          <p:cNvSpPr>
            <a:spLocks noGrp="1" noChangeArrowheads="1"/>
          </p:cNvSpPr>
          <p:nvPr>
            <p:ph idx="1"/>
          </p:nvPr>
        </p:nvSpPr>
        <p:spPr>
          <a:xfrm>
            <a:off x="145357" y="628083"/>
            <a:ext cx="8853286" cy="4155319"/>
          </a:xfrm>
        </p:spPr>
        <p:txBody>
          <a:bodyPr/>
          <a:lstStyle/>
          <a:p>
            <a:pPr marL="0" indent="0" rtl="0" eaLnBrk="1" hangingPunct="1">
              <a:lnSpc>
                <a:spcPct val="85000"/>
              </a:lnSpc>
              <a:spcBef>
                <a:spcPct val="30000"/>
              </a:spcBef>
              <a:buNone/>
            </a:pPr>
            <a:r>
              <a:rPr lang="ru-RU" sz="1600" dirty="0"/>
              <a:t>Тема 11.3</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Какой адрес они используют при доступе в интернет?</a:t>
            </a:r>
          </a:p>
          <a:p>
            <a:pPr lvl="2">
              <a:lnSpc>
                <a:spcPct val="85000"/>
              </a:lnSpc>
              <a:spcBef>
                <a:spcPct val="30000"/>
              </a:spcBef>
            </a:pPr>
            <a:r>
              <a:rPr lang="ru-RU" sz="1600" dirty="0"/>
              <a:t>Почему поле маски подсети автоматически заполняется маской подсети 255.0.0.0, 255.255.0.0 или 255.255.255.0 при назначении узлу </a:t>
            </a:r>
            <a:r>
              <a:rPr lang="ru-RU" sz="1600" dirty="0" err="1"/>
              <a:t>Windows</a:t>
            </a:r>
            <a:r>
              <a:rPr lang="ru-RU" sz="1600" dirty="0"/>
              <a:t> IP-адреса вручную?</a:t>
            </a:r>
          </a:p>
          <a:p>
            <a:pPr marL="0" indent="0" rtl="0">
              <a:lnSpc>
                <a:spcPct val="85000"/>
              </a:lnSpc>
              <a:spcBef>
                <a:spcPct val="30000"/>
              </a:spcBef>
              <a:buNone/>
            </a:pPr>
            <a:r>
              <a:rPr lang="ru-RU" sz="1600" dirty="0"/>
              <a:t>Тема 11.4</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привести пример широковещательного домена с использованием людей и комнат?</a:t>
            </a:r>
          </a:p>
          <a:p>
            <a:pPr lvl="2">
              <a:lnSpc>
                <a:spcPct val="85000"/>
              </a:lnSpc>
              <a:spcBef>
                <a:spcPct val="30000"/>
              </a:spcBef>
            </a:pPr>
            <a:r>
              <a:rPr lang="ru-RU" sz="1600" dirty="0"/>
              <a:t>Можете ли вы привести примеры того, как мы можем сгруппировать устройства и службы в подсети?</a:t>
            </a: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 (Продолжение)</a:t>
            </a:r>
          </a:p>
        </p:txBody>
      </p:sp>
      <p:sp>
        <p:nvSpPr>
          <p:cNvPr id="11266" name="Rectangle 34"/>
          <p:cNvSpPr>
            <a:spLocks noGrp="1" noChangeArrowheads="1"/>
          </p:cNvSpPr>
          <p:nvPr>
            <p:ph idx="1"/>
          </p:nvPr>
        </p:nvSpPr>
        <p:spPr>
          <a:xfrm>
            <a:off x="145357" y="637511"/>
            <a:ext cx="8853286" cy="4000478"/>
          </a:xfrm>
        </p:spPr>
        <p:txBody>
          <a:bodyPr/>
          <a:lstStyle/>
          <a:p>
            <a:pPr marL="0" indent="0">
              <a:lnSpc>
                <a:spcPct val="85000"/>
              </a:lnSpc>
              <a:spcBef>
                <a:spcPct val="30000"/>
              </a:spcBef>
              <a:buNone/>
            </a:pPr>
            <a:r>
              <a:rPr lang="ru-RU" sz="1600" dirty="0"/>
              <a:t>Тема 11.5</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привести пример подсетей с использованием пиццы? Подсеть (т. Е. Разделить) ее на куски соответствующего размера.</a:t>
            </a:r>
          </a:p>
          <a:p>
            <a:pPr lvl="2">
              <a:lnSpc>
                <a:spcPct val="85000"/>
              </a:lnSpc>
              <a:spcBef>
                <a:spcPct val="30000"/>
              </a:spcBef>
            </a:pPr>
            <a:r>
              <a:rPr lang="ru-RU" sz="1600" dirty="0"/>
              <a:t>Можете ли вы объяснить, как разделить на подсети сеть / 24?</a:t>
            </a:r>
            <a:br>
              <a:rPr lang="ru-RU" sz="1600" dirty="0"/>
            </a:br>
            <a:endParaRPr lang="ru-RU" sz="1600" dirty="0"/>
          </a:p>
          <a:p>
            <a:pPr lvl="2">
              <a:lnSpc>
                <a:spcPct val="85000"/>
              </a:lnSpc>
              <a:spcBef>
                <a:spcPct val="30000"/>
              </a:spcBef>
            </a:pPr>
            <a:endParaRPr lang="ru-RU" sz="1600" dirty="0"/>
          </a:p>
          <a:p>
            <a:pPr marL="261937" lvl="2" indent="0">
              <a:lnSpc>
                <a:spcPct val="85000"/>
              </a:lnSpc>
              <a:spcBef>
                <a:spcPct val="30000"/>
              </a:spcBef>
              <a:buNone/>
            </a:pPr>
            <a:r>
              <a:rPr lang="ru-RU" sz="1600" dirty="0"/>
              <a:t>Тема 11.6</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Какой адрес они используют при доступе в интернет?</a:t>
            </a:r>
          </a:p>
          <a:p>
            <a:pPr lvl="2">
              <a:lnSpc>
                <a:spcPct val="85000"/>
              </a:lnSpc>
              <a:spcBef>
                <a:spcPct val="30000"/>
              </a:spcBef>
            </a:pPr>
            <a:r>
              <a:rPr lang="ru-RU" sz="1600" dirty="0"/>
              <a:t>Почему поле маски подсети автоматически заполняется маской подсети 255.0.0.0, 255.255.0.0 или 255.255.255.0 при назначении узлу </a:t>
            </a:r>
            <a:r>
              <a:rPr lang="ru-RU" sz="1600" dirty="0" err="1"/>
              <a:t>Windows</a:t>
            </a:r>
            <a:r>
              <a:rPr lang="ru-RU" sz="1600" dirty="0"/>
              <a:t> IP-адреса вручную?</a:t>
            </a:r>
          </a:p>
        </p:txBody>
      </p:sp>
    </p:spTree>
    <p:custDataLst>
      <p:tags r:id="rId1"/>
    </p:custDataLst>
    <p:extLst>
      <p:ext uri="{BB962C8B-B14F-4D97-AF65-F5344CB8AC3E}">
        <p14:creationId xmlns:p14="http://schemas.microsoft.com/office/powerpoint/2010/main" val="2160710637"/>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 (Продолжение)</a:t>
            </a:r>
          </a:p>
        </p:txBody>
      </p:sp>
      <p:sp>
        <p:nvSpPr>
          <p:cNvPr id="11266" name="Rectangle 34"/>
          <p:cNvSpPr>
            <a:spLocks noGrp="1" noChangeArrowheads="1"/>
          </p:cNvSpPr>
          <p:nvPr>
            <p:ph idx="1"/>
          </p:nvPr>
        </p:nvSpPr>
        <p:spPr>
          <a:xfrm>
            <a:off x="145357" y="628083"/>
            <a:ext cx="8853286" cy="4155319"/>
          </a:xfrm>
        </p:spPr>
        <p:txBody>
          <a:bodyPr/>
          <a:lstStyle/>
          <a:p>
            <a:pPr marL="0" indent="0">
              <a:lnSpc>
                <a:spcPct val="85000"/>
              </a:lnSpc>
              <a:spcBef>
                <a:spcPct val="30000"/>
              </a:spcBef>
              <a:buNone/>
            </a:pPr>
            <a:r>
              <a:rPr lang="ru-RU" sz="1600" dirty="0"/>
              <a:t>Тема 11.7</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объяснить, почему подсеть может тратить IP-адреса хоста? Используя аналогию с пиццей, подчеркните, что не все одинаково голодны. Может быть, один человек хочет два или три куска, а другой - половину куска.</a:t>
            </a:r>
          </a:p>
          <a:p>
            <a:pPr lvl="2">
              <a:lnSpc>
                <a:spcPct val="85000"/>
              </a:lnSpc>
              <a:spcBef>
                <a:spcPct val="30000"/>
              </a:spcBef>
            </a:pPr>
            <a:r>
              <a:rPr lang="ru-RU" sz="1600" dirty="0"/>
              <a:t>Спросите, как эта проблема может быть решена.</a:t>
            </a:r>
          </a:p>
          <a:p>
            <a:pPr lvl="2">
              <a:lnSpc>
                <a:spcPct val="85000"/>
              </a:lnSpc>
              <a:spcBef>
                <a:spcPct val="30000"/>
              </a:spcBef>
            </a:pPr>
            <a:r>
              <a:rPr lang="ru-RU" sz="1600" dirty="0"/>
              <a:t>Спросите, как это можно применить к подсетям.</a:t>
            </a:r>
          </a:p>
          <a:p>
            <a:pPr marL="0" indent="0">
              <a:lnSpc>
                <a:spcPct val="85000"/>
              </a:lnSpc>
              <a:spcBef>
                <a:spcPct val="30000"/>
              </a:spcBef>
              <a:buNone/>
            </a:pPr>
            <a:r>
              <a:rPr lang="ru-RU" sz="1600" dirty="0"/>
              <a:t>Тема 11.8</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привести пример VLSM с использованием кусочков пиццы? Ломтики соответствующего размера нарезаются в зависимости от необходимости.</a:t>
            </a:r>
          </a:p>
          <a:p>
            <a:pPr lvl="2">
              <a:lnSpc>
                <a:spcPct val="85000"/>
              </a:lnSpc>
              <a:spcBef>
                <a:spcPct val="30000"/>
              </a:spcBef>
            </a:pPr>
            <a:r>
              <a:rPr lang="ru-RU" sz="1600" dirty="0"/>
              <a:t>Можете ли вы объяснить, как VLSM может применяться к подсетям?</a:t>
            </a:r>
          </a:p>
        </p:txBody>
      </p:sp>
    </p:spTree>
    <p:custDataLst>
      <p:tags r:id="rId1"/>
    </p:custDataLst>
    <p:extLst>
      <p:ext uri="{BB962C8B-B14F-4D97-AF65-F5344CB8AC3E}">
        <p14:creationId xmlns:p14="http://schemas.microsoft.com/office/powerpoint/2010/main" val="155309727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 (Продолжение)</a:t>
            </a:r>
          </a:p>
        </p:txBody>
      </p:sp>
      <p:sp>
        <p:nvSpPr>
          <p:cNvPr id="11266" name="Rectangle 34"/>
          <p:cNvSpPr>
            <a:spLocks noGrp="1" noChangeArrowheads="1"/>
          </p:cNvSpPr>
          <p:nvPr>
            <p:ph idx="1"/>
          </p:nvPr>
        </p:nvSpPr>
        <p:spPr>
          <a:xfrm>
            <a:off x="145357" y="628083"/>
            <a:ext cx="8853286" cy="4155319"/>
          </a:xfrm>
        </p:spPr>
        <p:txBody>
          <a:bodyPr/>
          <a:lstStyle/>
          <a:p>
            <a:pPr lvl="2">
              <a:lnSpc>
                <a:spcPct val="85000"/>
              </a:lnSpc>
              <a:spcBef>
                <a:spcPct val="30000"/>
              </a:spcBef>
            </a:pPr>
            <a:endParaRPr lang="en-US" sz="1600" dirty="0"/>
          </a:p>
          <a:p>
            <a:pPr marL="0" indent="0">
              <a:lnSpc>
                <a:spcPct val="85000"/>
              </a:lnSpc>
              <a:spcBef>
                <a:spcPct val="30000"/>
              </a:spcBef>
              <a:buNone/>
            </a:pPr>
            <a:r>
              <a:rPr lang="ru-RU" sz="1600" dirty="0"/>
              <a:t>Тема 11.9</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Учитывая </a:t>
            </a:r>
            <a:r>
              <a:rPr lang="ru-RU" sz="1600" dirty="0" err="1"/>
              <a:t>многосайтовую</a:t>
            </a:r>
            <a:r>
              <a:rPr lang="ru-RU" sz="1600" dirty="0"/>
              <a:t> топологию, можете ли вы разработать масштабируемую схему адресации?</a:t>
            </a:r>
          </a:p>
          <a:p>
            <a:pPr lvl="2">
              <a:lnSpc>
                <a:spcPct val="85000"/>
              </a:lnSpc>
              <a:spcBef>
                <a:spcPct val="30000"/>
              </a:spcBef>
            </a:pPr>
            <a:r>
              <a:rPr lang="ru-RU" sz="1600" dirty="0"/>
              <a:t>Можете ли вы создать диаграмму логической топологии и определить схему масштабируемой адресации?</a:t>
            </a:r>
          </a:p>
        </p:txBody>
      </p:sp>
    </p:spTree>
    <p:custDataLst>
      <p:tags r:id="rId1"/>
    </p:custDataLst>
    <p:extLst>
      <p:ext uri="{BB962C8B-B14F-4D97-AF65-F5344CB8AC3E}">
        <p14:creationId xmlns:p14="http://schemas.microsoft.com/office/powerpoint/2010/main" val="325775429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58416" cy="1080143"/>
          </a:xfrm>
        </p:spPr>
        <p:txBody>
          <a:bodyPr/>
          <a:lstStyle/>
          <a:p>
            <a:pPr rtl="0"/>
            <a:r>
              <a:rPr lang="ru-RU" sz="4400">
                <a:solidFill>
                  <a:schemeClr val="accent5">
                    <a:lumMod val="40000"/>
                    <a:lumOff val="60000"/>
                  </a:schemeClr>
                </a:solidFill>
              </a:rPr>
              <a:t>Модуль 11: Адресация IPv4</a:t>
            </a:r>
          </a:p>
        </p:txBody>
      </p:sp>
      <p:sp>
        <p:nvSpPr>
          <p:cNvPr id="7" name="Subtitle 6"/>
          <p:cNvSpPr>
            <a:spLocks noGrp="1"/>
          </p:cNvSpPr>
          <p:nvPr>
            <p:ph type="subTitle" idx="1"/>
          </p:nvPr>
        </p:nvSpPr>
        <p:spPr>
          <a:xfrm>
            <a:off x="469497" y="3809526"/>
            <a:ext cx="2368954" cy="902174"/>
          </a:xfrm>
        </p:spPr>
        <p:txBody>
          <a:bodyPr/>
          <a:lstStyle/>
          <a:p>
            <a:pPr rtl="0"/>
            <a:r>
              <a:rPr lang="ru-RU">
                <a:solidFill>
                  <a:schemeClr val="accent5">
                    <a:lumMod val="40000"/>
                    <a:lumOff val="60000"/>
                  </a:schemeClr>
                </a:solidFill>
              </a:rPr>
              <a:t>Введение в сетевые технологии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ru-RU"/>
              <a:t>Задачи модуля</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Название модуля: </a:t>
            </a:r>
            <a:r>
              <a:rPr kumimoji="0" lang="ru-RU"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Адресация IPv4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rtl="0" eaLnBrk="0" hangingPunct="0"/>
            <a:r>
              <a:rPr kumimoji="0" lang="ru-RU"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Цели модуля</a:t>
            </a:r>
            <a:r>
              <a:rPr kumimoji="0" lang="ru-RU"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ru-RU" sz="1600" dirty="0">
                <a:latin typeface="+mn-lt"/>
                <a:ea typeface="Calibri" panose="020F0502020204030204" pitchFamily="34" charset="0"/>
                <a:cs typeface="Calibri" panose="020F0502020204030204" pitchFamily="34" charset="0"/>
              </a:rPr>
              <a:t>Вычисление схемы устройства подсетей IPv4 для эффективного сегментирования сети.</a:t>
            </a: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4015827905"/>
              </p:ext>
            </p:extLst>
          </p:nvPr>
        </p:nvGraphicFramePr>
        <p:xfrm>
          <a:off x="313704" y="1821168"/>
          <a:ext cx="8328900" cy="2661225"/>
        </p:xfrm>
        <a:graphic>
          <a:graphicData uri="http://schemas.openxmlformats.org/drawingml/2006/table">
            <a:tbl>
              <a:tblPr firstRow="1" firstCol="1" bandRow="1">
                <a:tableStyleId>{5C22544A-7EE6-4342-B048-85BDC9FD1C3A}</a:tableStyleId>
              </a:tblPr>
              <a:tblGrid>
                <a:gridCol w="3051288">
                  <a:extLst>
                    <a:ext uri="{9D8B030D-6E8A-4147-A177-3AD203B41FA5}">
                      <a16:colId xmlns:a16="http://schemas.microsoft.com/office/drawing/2014/main" val="1523797708"/>
                    </a:ext>
                  </a:extLst>
                </a:gridCol>
                <a:gridCol w="5277612">
                  <a:extLst>
                    <a:ext uri="{9D8B030D-6E8A-4147-A177-3AD203B41FA5}">
                      <a16:colId xmlns:a16="http://schemas.microsoft.com/office/drawing/2014/main" val="2750207184"/>
                    </a:ext>
                  </a:extLst>
                </a:gridCol>
              </a:tblGrid>
              <a:tr h="216347">
                <a:tc>
                  <a:txBody>
                    <a:bodyPr/>
                    <a:lstStyle/>
                    <a:p>
                      <a:pPr marL="0" marR="0" rtl="0">
                        <a:lnSpc>
                          <a:spcPct val="107000"/>
                        </a:lnSpc>
                        <a:spcBef>
                          <a:spcPts val="0"/>
                        </a:spcBef>
                        <a:spcAft>
                          <a:spcPts val="0"/>
                        </a:spcAft>
                      </a:pPr>
                      <a:r>
                        <a:rPr lang="ru-RU" sz="1400">
                          <a:effectLst/>
                        </a:rPr>
                        <a:t>Заголовок темы</a:t>
                      </a:r>
                    </a:p>
                  </a:txBody>
                  <a:tcPr marL="68580" marR="68580" marT="0" marB="0"/>
                </a:tc>
                <a:tc>
                  <a:txBody>
                    <a:bodyPr/>
                    <a:lstStyle/>
                    <a:p>
                      <a:pPr marL="0" marR="0" rtl="0">
                        <a:lnSpc>
                          <a:spcPct val="107000"/>
                        </a:lnSpc>
                        <a:spcBef>
                          <a:spcPts val="0"/>
                        </a:spcBef>
                        <a:spcAft>
                          <a:spcPts val="0"/>
                        </a:spcAft>
                      </a:pPr>
                      <a:r>
                        <a:rPr lang="ru-RU" sz="1400">
                          <a:effectLst/>
                        </a:rPr>
                        <a:t>Цель темы</a:t>
                      </a:r>
                    </a:p>
                  </a:txBody>
                  <a:tcPr marL="68580" marR="68580" marT="0" marB="0"/>
                </a:tc>
                <a:extLst>
                  <a:ext uri="{0D108BD9-81ED-4DB2-BD59-A6C34878D82A}">
                    <a16:rowId xmlns:a16="http://schemas.microsoft.com/office/drawing/2014/main" val="1874061904"/>
                  </a:ext>
                </a:extLst>
              </a:tr>
              <a:tr h="444151">
                <a:tc>
                  <a:txBody>
                    <a:bodyPr/>
                    <a:lstStyle/>
                    <a:p>
                      <a:pPr marL="0" marR="0" rtl="0">
                        <a:lnSpc>
                          <a:spcPct val="107000"/>
                        </a:lnSpc>
                        <a:spcBef>
                          <a:spcPts val="0"/>
                        </a:spcBef>
                        <a:spcAft>
                          <a:spcPts val="0"/>
                        </a:spcAft>
                      </a:pPr>
                      <a:r>
                        <a:rPr lang="ru-RU" sz="1400">
                          <a:effectLst/>
                          <a:latin typeface="+mn-lt"/>
                          <a:ea typeface="Calibri" panose="020F0502020204030204" pitchFamily="34" charset="0"/>
                          <a:cs typeface="Times New Roman" panose="02020603050405020304" pitchFamily="18" charset="0"/>
                        </a:rPr>
                        <a:t>Структура адреса IPv4</a:t>
                      </a:r>
                    </a:p>
                  </a:txBody>
                  <a:tcPr marL="68580" marR="68580" marT="0" marB="0"/>
                </a:tc>
                <a:tc>
                  <a:txBody>
                    <a:bodyPr/>
                    <a:lstStyle/>
                    <a:p>
                      <a:pPr marL="0" marR="0" rtl="0">
                        <a:lnSpc>
                          <a:spcPct val="107000"/>
                        </a:lnSpc>
                        <a:spcBef>
                          <a:spcPts val="0"/>
                        </a:spcBef>
                        <a:spcAft>
                          <a:spcPts val="0"/>
                        </a:spcAft>
                      </a:pPr>
                      <a:r>
                        <a:rPr lang="ru-RU" sz="1400" kern="1200">
                          <a:solidFill>
                            <a:srgbClr val="000000"/>
                          </a:solidFill>
                          <a:effectLst/>
                          <a:latin typeface="+mn-lt"/>
                          <a:ea typeface="+mn-ea"/>
                          <a:cs typeface="+mn-cs"/>
                        </a:rPr>
                        <a:t>Описать структуру адреса IPv4, в том числе сетевую часть, часть хоста и маску подсети.</a:t>
                      </a:r>
                    </a:p>
                  </a:txBody>
                  <a:tcPr marL="68580" marR="68580" marT="0" marB="0"/>
                </a:tc>
                <a:extLst>
                  <a:ext uri="{0D108BD9-81ED-4DB2-BD59-A6C34878D82A}">
                    <a16:rowId xmlns:a16="http://schemas.microsoft.com/office/drawing/2014/main" val="1646858405"/>
                  </a:ext>
                </a:extLst>
              </a:tr>
              <a:tr h="315930">
                <a:tc>
                  <a:txBody>
                    <a:bodyPr/>
                    <a:lstStyle/>
                    <a:p>
                      <a:pPr marL="0" marR="0" rtl="0">
                        <a:lnSpc>
                          <a:spcPct val="107000"/>
                        </a:lnSpc>
                        <a:spcBef>
                          <a:spcPts val="0"/>
                        </a:spcBef>
                        <a:spcAft>
                          <a:spcPts val="0"/>
                        </a:spcAft>
                      </a:pPr>
                      <a:r>
                        <a:rPr lang="ru-RU" sz="1400" dirty="0">
                          <a:effectLst/>
                          <a:latin typeface="+mn-lt"/>
                          <a:ea typeface="Calibri" panose="020F0502020204030204" pitchFamily="34" charset="0"/>
                          <a:cs typeface="Times New Roman" panose="02020603050405020304" pitchFamily="18" charset="0"/>
                        </a:rPr>
                        <a:t>Одноадресная, широковещательная и многоадресная рассылка IPv4</a:t>
                      </a:r>
                    </a:p>
                  </a:txBody>
                  <a:tcPr marL="68580" marR="68580" marT="0" marB="0"/>
                </a:tc>
                <a:tc>
                  <a:txBody>
                    <a:bodyPr/>
                    <a:lstStyle/>
                    <a:p>
                      <a:pPr marL="0" marR="0" rtl="0">
                        <a:lnSpc>
                          <a:spcPct val="107000"/>
                        </a:lnSpc>
                        <a:spcBef>
                          <a:spcPts val="0"/>
                        </a:spcBef>
                        <a:spcAft>
                          <a:spcPts val="0"/>
                        </a:spcAft>
                      </a:pPr>
                      <a:r>
                        <a:rPr lang="ru-RU" sz="1400" kern="1200">
                          <a:solidFill>
                            <a:srgbClr val="000000"/>
                          </a:solidFill>
                          <a:effectLst/>
                          <a:latin typeface="+mn-lt"/>
                          <a:ea typeface="+mn-ea"/>
                          <a:cs typeface="+mn-cs"/>
                        </a:rPr>
                        <a:t>Сравнить характеристики и способы использования адресов IPv4 для одноадресной, широковещательной и многоадресной рассылки.</a:t>
                      </a:r>
                    </a:p>
                  </a:txBody>
                  <a:tcPr marL="68580" marR="68580" marT="0" marB="0"/>
                </a:tc>
                <a:extLst>
                  <a:ext uri="{0D108BD9-81ED-4DB2-BD59-A6C34878D82A}">
                    <a16:rowId xmlns:a16="http://schemas.microsoft.com/office/drawing/2014/main" val="1435904258"/>
                  </a:ext>
                </a:extLst>
              </a:tr>
              <a:tr h="444151">
                <a:tc>
                  <a:txBody>
                    <a:bodyPr/>
                    <a:lstStyle/>
                    <a:p>
                      <a:pPr marL="0" marR="0" rtl="0">
                        <a:lnSpc>
                          <a:spcPct val="107000"/>
                        </a:lnSpc>
                        <a:spcBef>
                          <a:spcPts val="0"/>
                        </a:spcBef>
                        <a:spcAft>
                          <a:spcPts val="0"/>
                        </a:spcAft>
                      </a:pPr>
                      <a:r>
                        <a:rPr lang="ru-RU" sz="1400" dirty="0">
                          <a:effectLst/>
                          <a:latin typeface="+mn-lt"/>
                          <a:ea typeface="Calibri" panose="020F0502020204030204" pitchFamily="34" charset="0"/>
                          <a:cs typeface="Times New Roman" panose="02020603050405020304" pitchFamily="18" charset="0"/>
                        </a:rPr>
                        <a:t>Типы адресов IPv4</a:t>
                      </a:r>
                    </a:p>
                  </a:txBody>
                  <a:tcPr marL="68580" marR="68580" marT="0" marB="0"/>
                </a:tc>
                <a:tc>
                  <a:txBody>
                    <a:bodyPr/>
                    <a:lstStyle/>
                    <a:p>
                      <a:pPr marL="0" marR="0" rtl="0">
                        <a:lnSpc>
                          <a:spcPct val="107000"/>
                        </a:lnSpc>
                        <a:spcBef>
                          <a:spcPts val="0"/>
                        </a:spcBef>
                        <a:spcAft>
                          <a:spcPts val="0"/>
                        </a:spcAft>
                      </a:pPr>
                      <a:r>
                        <a:rPr lang="ru-RU" sz="1400" kern="1200">
                          <a:solidFill>
                            <a:srgbClr val="000000"/>
                          </a:solidFill>
                          <a:effectLst/>
                          <a:latin typeface="+mn-lt"/>
                          <a:ea typeface="+mn-ea"/>
                          <a:cs typeface="+mn-cs"/>
                        </a:rPr>
                        <a:t>Объяснить назначение общедоступных, частных и зарезервированных адресов IPv4.</a:t>
                      </a:r>
                    </a:p>
                  </a:txBody>
                  <a:tcPr marL="68580" marR="68580" marT="0" marB="0"/>
                </a:tc>
                <a:extLst>
                  <a:ext uri="{0D108BD9-81ED-4DB2-BD59-A6C34878D82A}">
                    <a16:rowId xmlns:a16="http://schemas.microsoft.com/office/drawing/2014/main" val="131737215"/>
                  </a:ext>
                </a:extLst>
              </a:tr>
              <a:tr h="444151">
                <a:tc>
                  <a:txBody>
                    <a:bodyPr/>
                    <a:lstStyle/>
                    <a:p>
                      <a:pPr marL="0" marR="0" rtl="0">
                        <a:lnSpc>
                          <a:spcPct val="107000"/>
                        </a:lnSpc>
                        <a:spcBef>
                          <a:spcPts val="0"/>
                        </a:spcBef>
                        <a:spcAft>
                          <a:spcPts val="0"/>
                        </a:spcAft>
                      </a:pPr>
                      <a:r>
                        <a:rPr lang="ru-RU" sz="1400">
                          <a:effectLst/>
                          <a:latin typeface="+mn-lt"/>
                          <a:ea typeface="Calibri" panose="020F0502020204030204" pitchFamily="34" charset="0"/>
                          <a:cs typeface="Times New Roman" panose="02020603050405020304" pitchFamily="18" charset="0"/>
                        </a:rPr>
                        <a:t>Сегментация сети</a:t>
                      </a:r>
                    </a:p>
                  </a:txBody>
                  <a:tcPr marL="68580" marR="68580" marT="0" marB="0"/>
                </a:tc>
                <a:tc>
                  <a:txBody>
                    <a:bodyPr/>
                    <a:lstStyle/>
                    <a:p>
                      <a:pPr marL="0" marR="0" rtl="0">
                        <a:lnSpc>
                          <a:spcPct val="107000"/>
                        </a:lnSpc>
                        <a:spcBef>
                          <a:spcPts val="0"/>
                        </a:spcBef>
                        <a:spcAft>
                          <a:spcPts val="0"/>
                        </a:spcAft>
                      </a:pPr>
                      <a:r>
                        <a:rPr lang="ru-RU" sz="1400" kern="1200">
                          <a:solidFill>
                            <a:srgbClr val="000000"/>
                          </a:solidFill>
                          <a:effectLst/>
                          <a:latin typeface="+mn-lt"/>
                          <a:ea typeface="+mn-ea"/>
                          <a:cs typeface="+mn-cs"/>
                        </a:rPr>
                        <a:t>Объяснить, почему разделение на сегменты-подсети повышает эффективность передачи данных.</a:t>
                      </a:r>
                    </a:p>
                  </a:txBody>
                  <a:tcPr marL="68580" marR="68580" marT="0" marB="0"/>
                </a:tc>
                <a:extLst>
                  <a:ext uri="{0D108BD9-81ED-4DB2-BD59-A6C34878D82A}">
                    <a16:rowId xmlns:a16="http://schemas.microsoft.com/office/drawing/2014/main" val="3818444524"/>
                  </a:ext>
                </a:extLst>
              </a:tr>
              <a:tr h="444151">
                <a:tc>
                  <a:txBody>
                    <a:bodyPr/>
                    <a:lstStyle/>
                    <a:p>
                      <a:pPr marL="0" marR="0" rtl="0">
                        <a:lnSpc>
                          <a:spcPct val="107000"/>
                        </a:lnSpc>
                        <a:spcBef>
                          <a:spcPts val="0"/>
                        </a:spcBef>
                        <a:spcAft>
                          <a:spcPts val="0"/>
                        </a:spcAft>
                      </a:pPr>
                      <a:r>
                        <a:rPr lang="ru-RU" sz="1400">
                          <a:effectLst/>
                          <a:latin typeface="+mn-lt"/>
                          <a:ea typeface="Calibri" panose="020F0502020204030204" pitchFamily="34" charset="0"/>
                          <a:cs typeface="Times New Roman" panose="02020603050405020304" pitchFamily="18" charset="0"/>
                        </a:rPr>
                        <a:t>Разделение сети IPv4 на подсети</a:t>
                      </a:r>
                    </a:p>
                  </a:txBody>
                  <a:tcPr marL="68580" marR="68580" marT="0" marB="0"/>
                </a:tc>
                <a:tc>
                  <a:txBody>
                    <a:bodyPr/>
                    <a:lstStyle/>
                    <a:p>
                      <a:pPr marL="0" marR="0" rtl="0">
                        <a:lnSpc>
                          <a:spcPct val="107000"/>
                        </a:lnSpc>
                        <a:spcBef>
                          <a:spcPts val="0"/>
                        </a:spcBef>
                        <a:spcAft>
                          <a:spcPts val="0"/>
                        </a:spcAft>
                      </a:pPr>
                      <a:r>
                        <a:rPr lang="ru-RU" sz="1400" kern="1200" dirty="0">
                          <a:solidFill>
                            <a:srgbClr val="000000"/>
                          </a:solidFill>
                          <a:effectLst/>
                          <a:latin typeface="+mn-lt"/>
                          <a:ea typeface="+mn-ea"/>
                          <a:cs typeface="+mn-cs"/>
                        </a:rPr>
                        <a:t>Выполнить расчет подсетей IPv4 для префикса /24.</a:t>
                      </a:r>
                    </a:p>
                  </a:txBody>
                  <a:tcPr marL="68580" marR="68580" marT="0" marB="0"/>
                </a:tc>
                <a:extLst>
                  <a:ext uri="{0D108BD9-81ED-4DB2-BD59-A6C34878D82A}">
                    <a16:rowId xmlns:a16="http://schemas.microsoft.com/office/drawing/2014/main" val="1846877670"/>
                  </a:ext>
                </a:extLst>
              </a:tr>
            </a:tbl>
          </a:graphicData>
        </a:graphic>
      </p:graphicFrame>
    </p:spTree>
    <p:custDataLst>
      <p:tags r:id="rId1"/>
    </p:custDataLst>
    <p:extLst>
      <p:ext uri="{BB962C8B-B14F-4D97-AF65-F5344CB8AC3E}">
        <p14:creationId xmlns:p14="http://schemas.microsoft.com/office/powerpoint/2010/main" val="94570917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ru-RU">
                <a:solidFill>
                  <a:schemeClr val="accent5">
                    <a:lumMod val="40000"/>
                    <a:lumOff val="60000"/>
                  </a:schemeClr>
                </a:solidFill>
              </a:rPr>
              <a:t>11.1 Структура адреса IPv4</a:t>
            </a:r>
            <a:br>
              <a:rPr lang="en-US"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 Структура адреса IPv4  </a:t>
            </a:r>
            <a:br>
              <a:rPr lang="en-US" dirty="0"/>
            </a:br>
            <a:r>
              <a:rPr lang="ru-RU" sz="2400"/>
              <a:t>Сетевая и хостовая часть</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085744"/>
          </a:xfrm>
        </p:spPr>
        <p:txBody>
          <a:bodyPr/>
          <a:lstStyle/>
          <a:p>
            <a:pPr marL="342900" indent="-342900" algn="l" rtl="0">
              <a:buFont typeface="Arial" panose="020B0604020202020204" pitchFamily="34" charset="0"/>
              <a:buChar char="•"/>
            </a:pPr>
            <a:r>
              <a:rPr lang="ru-RU" sz="1600">
                <a:solidFill>
                  <a:srgbClr val="000000"/>
                </a:solidFill>
              </a:rPr>
              <a:t>Адрес IPv4 является иерархическим и состоит из сетевой части и  хостовой части.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Определяя ту или иную часть, необходимо обращать внимание не на десятичное значение, а на 32-битнную запись</a:t>
            </a:r>
          </a:p>
          <a:p>
            <a:pPr marL="342900" indent="-342900" algn="l" rtl="0">
              <a:buFont typeface="Arial" panose="020B0604020202020204" pitchFamily="34" charset="0"/>
              <a:buChar char="•"/>
            </a:pPr>
            <a:r>
              <a:rPr lang="ru-RU" sz="1600">
                <a:solidFill>
                  <a:srgbClr val="000000"/>
                </a:solidFill>
              </a:rPr>
              <a:t>Маска подсети используется для определения сетевой и хостовой части адреса. </a:t>
            </a:r>
          </a:p>
        </p:txBody>
      </p:sp>
      <p:pic>
        <p:nvPicPr>
          <p:cNvPr id="2" name="Picture 1">
            <a:extLst>
              <a:ext uri="{FF2B5EF4-FFF2-40B4-BE49-F238E27FC236}">
                <a16:creationId xmlns:a16="http://schemas.microsoft.com/office/drawing/2014/main" id="{45D4F014-EE3C-4707-828B-FA78C75DBDCD}"/>
              </a:ext>
            </a:extLst>
          </p:cNvPr>
          <p:cNvPicPr>
            <a:picLocks noChangeAspect="1"/>
          </p:cNvPicPr>
          <p:nvPr/>
        </p:nvPicPr>
        <p:blipFill>
          <a:blip r:embed="rId3"/>
          <a:stretch>
            <a:fillRect/>
          </a:stretch>
        </p:blipFill>
        <p:spPr>
          <a:xfrm>
            <a:off x="2050804" y="3066806"/>
            <a:ext cx="4457929" cy="1524078"/>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Структура адреса IPv4</a:t>
            </a:r>
            <a:br>
              <a:rPr lang="en-US" dirty="0"/>
            </a:br>
            <a:r>
              <a:rPr lang="ru-RU" sz="2400"/>
              <a:t> </a:t>
            </a:r>
            <a:r>
              <a:rPr lang="ru-RU" sz="1600"/>
              <a:t>Маска подсети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1837"/>
          </a:xfrm>
        </p:spPr>
        <p:txBody>
          <a:bodyPr/>
          <a:lstStyle/>
          <a:p>
            <a:pPr marL="342900" indent="-342900" algn="l" rtl="0">
              <a:buFont typeface="Arial" panose="020B0604020202020204" pitchFamily="34" charset="0"/>
              <a:buChar char="•"/>
            </a:pPr>
            <a:r>
              <a:rPr lang="ru-RU" sz="1600">
                <a:solidFill>
                  <a:srgbClr val="000000"/>
                </a:solidFill>
              </a:rPr>
              <a:t>Для идентификации сетевой и узловой части IPv4-адреса маска подсети побитово сравнивается с IPv4-адресом слева направо, как показано на рисунке.</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id="{F127D040-EF9A-41B6-A2B0-0C5D87D85AC1}"/>
              </a:ext>
            </a:extLst>
          </p:cNvPr>
          <p:cNvSpPr txBox="1">
            <a:spLocks/>
          </p:cNvSpPr>
          <p:nvPr/>
        </p:nvSpPr>
        <p:spPr>
          <a:xfrm>
            <a:off x="431971" y="1684028"/>
            <a:ext cx="3031991" cy="15468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a:solidFill>
                  <a:srgbClr val="000000"/>
                </a:solidFill>
              </a:rPr>
              <a:t>Сам процесс, используемый для определения сетевой и узловой частей адреса, называется логической операцией И (AND).</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82DA54EB-7DE0-40F0-802E-91DE00F2C9A7}"/>
              </a:ext>
            </a:extLst>
          </p:cNvPr>
          <p:cNvPicPr>
            <a:picLocks noChangeAspect="1"/>
          </p:cNvPicPr>
          <p:nvPr/>
        </p:nvPicPr>
        <p:blipFill>
          <a:blip r:embed="rId3"/>
          <a:stretch>
            <a:fillRect/>
          </a:stretch>
        </p:blipFill>
        <p:spPr>
          <a:xfrm>
            <a:off x="3874858" y="1710838"/>
            <a:ext cx="4470630" cy="2159111"/>
          </a:xfrm>
          <a:prstGeom prst="rect">
            <a:avLst/>
          </a:prstGeom>
          <a:ln>
            <a:solidFill>
              <a:srgbClr val="0070C0"/>
            </a:solidFill>
          </a:ln>
        </p:spPr>
      </p:pic>
    </p:spTree>
    <p:extLst>
      <p:ext uri="{BB962C8B-B14F-4D97-AF65-F5344CB8AC3E}">
        <p14:creationId xmlns:p14="http://schemas.microsoft.com/office/powerpoint/2010/main" val="325785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Структура адреса IPv4  </a:t>
            </a:r>
            <a:br>
              <a:rPr lang="en-US" dirty="0"/>
            </a:br>
            <a:r>
              <a:rPr lang="ru-RU" sz="2400"/>
              <a:t>Длина префикса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510802"/>
          </a:xfrm>
        </p:spPr>
        <p:txBody>
          <a:bodyPr/>
          <a:lstStyle/>
          <a:p>
            <a:pPr marL="342900" indent="-342900" algn="l" rtl="0">
              <a:buFont typeface="Arial" panose="020B0604020202020204" pitchFamily="34" charset="0"/>
              <a:buChar char="•"/>
            </a:pPr>
            <a:r>
              <a:rPr lang="ru-RU" sz="1600">
                <a:solidFill>
                  <a:srgbClr val="000000"/>
                </a:solidFill>
              </a:rPr>
              <a:t>Длина префикса является менее громоздким методом, используемым для идентификации адреса маски подсети.</a:t>
            </a:r>
          </a:p>
        </p:txBody>
      </p:sp>
      <p:sp>
        <p:nvSpPr>
          <p:cNvPr id="5" name="Content Placeholder 3">
            <a:extLst>
              <a:ext uri="{FF2B5EF4-FFF2-40B4-BE49-F238E27FC236}">
                <a16:creationId xmlns:a16="http://schemas.microsoft.com/office/drawing/2014/main" id="{121F958E-C237-4731-8453-C4FA21B38C3F}"/>
              </a:ext>
            </a:extLst>
          </p:cNvPr>
          <p:cNvSpPr txBox="1">
            <a:spLocks/>
          </p:cNvSpPr>
          <p:nvPr/>
        </p:nvSpPr>
        <p:spPr>
          <a:xfrm>
            <a:off x="431970" y="1447090"/>
            <a:ext cx="337623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a:solidFill>
                  <a:srgbClr val="000000"/>
                </a:solidFill>
              </a:rPr>
              <a:t>Длина префикса означает количество бит, установленных в единицу (1) в маске подсети.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Следовательно, нужно подсчитать число битов в маске подсети и поставить перед этим значением косую черту.</a:t>
            </a:r>
          </a:p>
        </p:txBody>
      </p:sp>
      <p:graphicFrame>
        <p:nvGraphicFramePr>
          <p:cNvPr id="2" name="Table 1">
            <a:extLst>
              <a:ext uri="{FF2B5EF4-FFF2-40B4-BE49-F238E27FC236}">
                <a16:creationId xmlns:a16="http://schemas.microsoft.com/office/drawing/2014/main" id="{F233CEE0-728D-4198-87F2-5E9774E181A6}"/>
              </a:ext>
            </a:extLst>
          </p:cNvPr>
          <p:cNvGraphicFramePr>
            <a:graphicFrameLocks noGrp="1"/>
          </p:cNvGraphicFramePr>
          <p:nvPr>
            <p:extLst>
              <p:ext uri="{D42A27DB-BD31-4B8C-83A1-F6EECF244321}">
                <p14:modId xmlns:p14="http://schemas.microsoft.com/office/powerpoint/2010/main" val="499052206"/>
              </p:ext>
            </p:extLst>
          </p:nvPr>
        </p:nvGraphicFramePr>
        <p:xfrm>
          <a:off x="3808207" y="1476075"/>
          <a:ext cx="5000514" cy="3342146"/>
        </p:xfrm>
        <a:graphic>
          <a:graphicData uri="http://schemas.openxmlformats.org/drawingml/2006/table">
            <a:tbl>
              <a:tblPr firstRow="1" bandRow="1">
                <a:tableStyleId>{5C22544A-7EE6-4342-B048-85BDC9FD1C3A}</a:tableStyleId>
              </a:tblPr>
              <a:tblGrid>
                <a:gridCol w="1208123">
                  <a:extLst>
                    <a:ext uri="{9D8B030D-6E8A-4147-A177-3AD203B41FA5}">
                      <a16:colId xmlns:a16="http://schemas.microsoft.com/office/drawing/2014/main" val="2853717215"/>
                    </a:ext>
                  </a:extLst>
                </a:gridCol>
                <a:gridCol w="2759676">
                  <a:extLst>
                    <a:ext uri="{9D8B030D-6E8A-4147-A177-3AD203B41FA5}">
                      <a16:colId xmlns:a16="http://schemas.microsoft.com/office/drawing/2014/main" val="3859420295"/>
                    </a:ext>
                  </a:extLst>
                </a:gridCol>
                <a:gridCol w="1032715">
                  <a:extLst>
                    <a:ext uri="{9D8B030D-6E8A-4147-A177-3AD203B41FA5}">
                      <a16:colId xmlns:a16="http://schemas.microsoft.com/office/drawing/2014/main" val="2152541703"/>
                    </a:ext>
                  </a:extLst>
                </a:gridCol>
              </a:tblGrid>
              <a:tr h="369809">
                <a:tc>
                  <a:txBody>
                    <a:bodyPr/>
                    <a:lstStyle/>
                    <a:p>
                      <a:pPr algn="l" rtl="0" fontAlgn="ctr"/>
                      <a:r>
                        <a:rPr lang="ru-RU" sz="1050" b="1">
                          <a:effectLst/>
                        </a:rPr>
                        <a:t>Маска подсети</a:t>
                      </a:r>
                    </a:p>
                  </a:txBody>
                  <a:tcPr marL="31750" marR="31750" marT="31750" marB="31750" anchor="ctr"/>
                </a:tc>
                <a:tc>
                  <a:txBody>
                    <a:bodyPr/>
                    <a:lstStyle/>
                    <a:p>
                      <a:pPr algn="l" rtl="0" fontAlgn="ctr"/>
                      <a:r>
                        <a:rPr lang="ru-RU" sz="1050" b="1">
                          <a:effectLst/>
                        </a:rPr>
                        <a:t>32-битный адрес</a:t>
                      </a:r>
                    </a:p>
                  </a:txBody>
                  <a:tcPr marL="31750" marR="31750" marT="31750" marB="31750" anchor="ctr"/>
                </a:tc>
                <a:tc>
                  <a:txBody>
                    <a:bodyPr/>
                    <a:lstStyle/>
                    <a:p>
                      <a:pPr algn="l" rtl="0" fontAlgn="ctr"/>
                      <a:r>
                        <a:rPr lang="ru-RU" sz="1050" b="1">
                          <a:effectLst/>
                        </a:rPr>
                        <a:t>Префикс </a:t>
                      </a:r>
                    </a:p>
                    <a:p>
                      <a:pPr algn="l" rtl="0" fontAlgn="ctr"/>
                      <a:r>
                        <a:rPr lang="ru-RU" sz="1050" b="1">
                          <a:effectLst/>
                        </a:rPr>
                        <a:t>Длина</a:t>
                      </a:r>
                    </a:p>
                  </a:txBody>
                  <a:tcPr marL="31750" marR="31750" marT="31750" marB="31750" anchor="ctr"/>
                </a:tc>
                <a:extLst>
                  <a:ext uri="{0D108BD9-81ED-4DB2-BD59-A6C34878D82A}">
                    <a16:rowId xmlns:a16="http://schemas.microsoft.com/office/drawing/2014/main" val="1617726287"/>
                  </a:ext>
                </a:extLst>
              </a:tr>
              <a:tr h="328734">
                <a:tc>
                  <a:txBody>
                    <a:bodyPr/>
                    <a:lstStyle/>
                    <a:p>
                      <a:pPr rtl="0" fontAlgn="ctr"/>
                      <a:r>
                        <a:rPr lang="ru-RU" sz="1000" b="0">
                          <a:effectLst/>
                        </a:rPr>
                        <a:t>255.0.0.0</a:t>
                      </a:r>
                    </a:p>
                  </a:txBody>
                  <a:tcPr marL="31750" marR="31750" marT="31750" marB="31750" anchor="ctr"/>
                </a:tc>
                <a:tc>
                  <a:txBody>
                    <a:bodyPr/>
                    <a:lstStyle/>
                    <a:p>
                      <a:pPr rtl="0" fontAlgn="ctr"/>
                      <a:r>
                        <a:rPr lang="ru-RU" sz="1000" b="0">
                          <a:effectLst/>
                        </a:rPr>
                        <a:t>11111111.00000000.00000000.00000000</a:t>
                      </a:r>
                    </a:p>
                  </a:txBody>
                  <a:tcPr marL="31750" marR="31750" marT="31750" marB="31750" anchor="ctr"/>
                </a:tc>
                <a:tc>
                  <a:txBody>
                    <a:bodyPr/>
                    <a:lstStyle/>
                    <a:p>
                      <a:pPr rtl="0" fontAlgn="ctr"/>
                      <a:r>
                        <a:rPr lang="ru-RU" sz="1000" b="0">
                          <a:effectLst/>
                        </a:rPr>
                        <a:t>/8</a:t>
                      </a:r>
                    </a:p>
                  </a:txBody>
                  <a:tcPr marL="31750" marR="31750" marT="31750" marB="31750" anchor="ctr"/>
                </a:tc>
                <a:extLst>
                  <a:ext uri="{0D108BD9-81ED-4DB2-BD59-A6C34878D82A}">
                    <a16:rowId xmlns:a16="http://schemas.microsoft.com/office/drawing/2014/main" val="3476665342"/>
                  </a:ext>
                </a:extLst>
              </a:tr>
              <a:tr h="328734">
                <a:tc>
                  <a:txBody>
                    <a:bodyPr/>
                    <a:lstStyle/>
                    <a:p>
                      <a:pPr rtl="0" fontAlgn="ctr"/>
                      <a:r>
                        <a:rPr lang="ru-RU" sz="1000" b="0">
                          <a:effectLst/>
                        </a:rPr>
                        <a:t>255.255.0.0</a:t>
                      </a:r>
                    </a:p>
                  </a:txBody>
                  <a:tcPr marL="31750" marR="31750" marT="31750" marB="31750" anchor="ctr"/>
                </a:tc>
                <a:tc>
                  <a:txBody>
                    <a:bodyPr/>
                    <a:lstStyle/>
                    <a:p>
                      <a:pPr rtl="0" fontAlgn="ctr"/>
                      <a:r>
                        <a:rPr lang="ru-RU" sz="1000" b="0">
                          <a:effectLst/>
                        </a:rPr>
                        <a:t>11111111.11111111.00000000.00000000</a:t>
                      </a:r>
                    </a:p>
                  </a:txBody>
                  <a:tcPr marL="31750" marR="31750" marT="31750" marB="31750" anchor="ctr"/>
                </a:tc>
                <a:tc>
                  <a:txBody>
                    <a:bodyPr/>
                    <a:lstStyle/>
                    <a:p>
                      <a:pPr rtl="0" fontAlgn="ctr"/>
                      <a:r>
                        <a:rPr lang="ru-RU" sz="1000" b="0">
                          <a:effectLst/>
                        </a:rPr>
                        <a:t>/16</a:t>
                      </a:r>
                    </a:p>
                  </a:txBody>
                  <a:tcPr marL="31750" marR="31750" marT="31750" marB="31750" anchor="ctr"/>
                </a:tc>
                <a:extLst>
                  <a:ext uri="{0D108BD9-81ED-4DB2-BD59-A6C34878D82A}">
                    <a16:rowId xmlns:a16="http://schemas.microsoft.com/office/drawing/2014/main" val="863355901"/>
                  </a:ext>
                </a:extLst>
              </a:tr>
              <a:tr h="328734">
                <a:tc>
                  <a:txBody>
                    <a:bodyPr/>
                    <a:lstStyle/>
                    <a:p>
                      <a:pPr rtl="0" fontAlgn="ctr"/>
                      <a:r>
                        <a:rPr lang="ru-RU" sz="1000" b="0">
                          <a:effectLst/>
                        </a:rPr>
                        <a:t>255.255.255.0</a:t>
                      </a:r>
                    </a:p>
                  </a:txBody>
                  <a:tcPr marL="31750" marR="31750" marT="31750" marB="31750" anchor="ctr"/>
                </a:tc>
                <a:tc>
                  <a:txBody>
                    <a:bodyPr/>
                    <a:lstStyle/>
                    <a:p>
                      <a:pPr rtl="0" fontAlgn="ctr"/>
                      <a:r>
                        <a:rPr lang="ru-RU" sz="1000" b="0">
                          <a:effectLst/>
                        </a:rPr>
                        <a:t>11111111.11111111.11111111.00000000</a:t>
                      </a:r>
                    </a:p>
                  </a:txBody>
                  <a:tcPr marL="31750" marR="31750" marT="31750" marB="31750" anchor="ctr"/>
                </a:tc>
                <a:tc>
                  <a:txBody>
                    <a:bodyPr/>
                    <a:lstStyle/>
                    <a:p>
                      <a:pPr rtl="0" fontAlgn="ctr"/>
                      <a:r>
                        <a:rPr lang="ru-RU" sz="1000" b="0">
                          <a:effectLst/>
                        </a:rPr>
                        <a:t>/24</a:t>
                      </a:r>
                    </a:p>
                  </a:txBody>
                  <a:tcPr marL="31750" marR="31750" marT="31750" marB="31750" anchor="ctr"/>
                </a:tc>
                <a:extLst>
                  <a:ext uri="{0D108BD9-81ED-4DB2-BD59-A6C34878D82A}">
                    <a16:rowId xmlns:a16="http://schemas.microsoft.com/office/drawing/2014/main" val="2609772987"/>
                  </a:ext>
                </a:extLst>
              </a:tr>
              <a:tr h="328734">
                <a:tc>
                  <a:txBody>
                    <a:bodyPr/>
                    <a:lstStyle/>
                    <a:p>
                      <a:pPr rtl="0" fontAlgn="ctr"/>
                      <a:r>
                        <a:rPr lang="ru-RU" sz="1000" b="0">
                          <a:effectLst/>
                        </a:rPr>
                        <a:t>255.255.255.128</a:t>
                      </a:r>
                    </a:p>
                  </a:txBody>
                  <a:tcPr marL="31750" marR="31750" marT="31750" marB="31750" anchor="ctr"/>
                </a:tc>
                <a:tc>
                  <a:txBody>
                    <a:bodyPr/>
                    <a:lstStyle/>
                    <a:p>
                      <a:pPr rtl="0" fontAlgn="ctr"/>
                      <a:r>
                        <a:rPr lang="ru-RU" sz="1000" b="0">
                          <a:effectLst/>
                        </a:rPr>
                        <a:t>11111111.1111111111111111.10000000</a:t>
                      </a:r>
                    </a:p>
                  </a:txBody>
                  <a:tcPr marL="31750" marR="31750" marT="31750" marB="31750" anchor="ctr"/>
                </a:tc>
                <a:tc>
                  <a:txBody>
                    <a:bodyPr/>
                    <a:lstStyle/>
                    <a:p>
                      <a:pPr rtl="0" fontAlgn="ctr"/>
                      <a:r>
                        <a:rPr lang="ru-RU" sz="1000" b="0">
                          <a:effectLst/>
                        </a:rPr>
                        <a:t>/25</a:t>
                      </a:r>
                    </a:p>
                  </a:txBody>
                  <a:tcPr marL="31750" marR="31750" marT="31750" marB="31750" anchor="ctr"/>
                </a:tc>
                <a:extLst>
                  <a:ext uri="{0D108BD9-81ED-4DB2-BD59-A6C34878D82A}">
                    <a16:rowId xmlns:a16="http://schemas.microsoft.com/office/drawing/2014/main" val="1362219286"/>
                  </a:ext>
                </a:extLst>
              </a:tr>
              <a:tr h="328734">
                <a:tc>
                  <a:txBody>
                    <a:bodyPr/>
                    <a:lstStyle/>
                    <a:p>
                      <a:pPr rtl="0" fontAlgn="ctr"/>
                      <a:r>
                        <a:rPr lang="ru-RU" sz="1000" b="0">
                          <a:effectLst/>
                        </a:rPr>
                        <a:t>255.255.255.192</a:t>
                      </a:r>
                    </a:p>
                  </a:txBody>
                  <a:tcPr marL="31750" marR="31750" marT="31750" marB="31750" anchor="ctr"/>
                </a:tc>
                <a:tc>
                  <a:txBody>
                    <a:bodyPr/>
                    <a:lstStyle/>
                    <a:p>
                      <a:pPr rtl="0" fontAlgn="ctr"/>
                      <a:r>
                        <a:rPr lang="ru-RU" sz="1000" b="0">
                          <a:effectLst/>
                        </a:rPr>
                        <a:t>11111111.11111111.1111111111.11000000</a:t>
                      </a:r>
                    </a:p>
                  </a:txBody>
                  <a:tcPr marL="31750" marR="31750" marT="31750" marB="31750" anchor="ctr"/>
                </a:tc>
                <a:tc>
                  <a:txBody>
                    <a:bodyPr/>
                    <a:lstStyle/>
                    <a:p>
                      <a:pPr rtl="0" fontAlgn="ctr"/>
                      <a:r>
                        <a:rPr lang="ru-RU" sz="1000" b="0">
                          <a:effectLst/>
                        </a:rPr>
                        <a:t>/26</a:t>
                      </a:r>
                    </a:p>
                  </a:txBody>
                  <a:tcPr marL="31750" marR="31750" marT="31750" marB="31750" anchor="ctr"/>
                </a:tc>
                <a:extLst>
                  <a:ext uri="{0D108BD9-81ED-4DB2-BD59-A6C34878D82A}">
                    <a16:rowId xmlns:a16="http://schemas.microsoft.com/office/drawing/2014/main" val="2881816204"/>
                  </a:ext>
                </a:extLst>
              </a:tr>
              <a:tr h="328734">
                <a:tc>
                  <a:txBody>
                    <a:bodyPr/>
                    <a:lstStyle/>
                    <a:p>
                      <a:pPr rtl="0" fontAlgn="ctr"/>
                      <a:r>
                        <a:rPr lang="ru-RU" sz="1000" b="0">
                          <a:effectLst/>
                        </a:rPr>
                        <a:t>255.255.255.224</a:t>
                      </a:r>
                    </a:p>
                  </a:txBody>
                  <a:tcPr marL="31750" marR="31750" marT="31750" marB="31750" anchor="ctr"/>
                </a:tc>
                <a:tc>
                  <a:txBody>
                    <a:bodyPr/>
                    <a:lstStyle/>
                    <a:p>
                      <a:pPr rtl="0" fontAlgn="ctr"/>
                      <a:r>
                        <a:rPr lang="ru-RU" sz="1000" b="0">
                          <a:effectLst/>
                        </a:rPr>
                        <a:t>11111111.11111111.11111111.11100000</a:t>
                      </a:r>
                    </a:p>
                  </a:txBody>
                  <a:tcPr marL="31750" marR="31750" marT="31750" marB="31750" anchor="ctr"/>
                </a:tc>
                <a:tc>
                  <a:txBody>
                    <a:bodyPr/>
                    <a:lstStyle/>
                    <a:p>
                      <a:pPr rtl="0" fontAlgn="ctr"/>
                      <a:r>
                        <a:rPr lang="ru-RU" sz="1000" b="0">
                          <a:effectLst/>
                        </a:rPr>
                        <a:t>/27</a:t>
                      </a:r>
                    </a:p>
                  </a:txBody>
                  <a:tcPr marL="31750" marR="31750" marT="31750" marB="31750" anchor="ctr"/>
                </a:tc>
                <a:extLst>
                  <a:ext uri="{0D108BD9-81ED-4DB2-BD59-A6C34878D82A}">
                    <a16:rowId xmlns:a16="http://schemas.microsoft.com/office/drawing/2014/main" val="1859046036"/>
                  </a:ext>
                </a:extLst>
              </a:tr>
              <a:tr h="328734">
                <a:tc>
                  <a:txBody>
                    <a:bodyPr/>
                    <a:lstStyle/>
                    <a:p>
                      <a:pPr rtl="0" fontAlgn="ctr"/>
                      <a:r>
                        <a:rPr lang="ru-RU" sz="1000" b="0">
                          <a:effectLst/>
                        </a:rPr>
                        <a:t>255.255.255.240</a:t>
                      </a:r>
                    </a:p>
                  </a:txBody>
                  <a:tcPr marL="31750" marR="31750" marT="31750" marB="31750" anchor="ctr"/>
                </a:tc>
                <a:tc>
                  <a:txBody>
                    <a:bodyPr/>
                    <a:lstStyle/>
                    <a:p>
                      <a:pPr rtl="0" fontAlgn="ctr"/>
                      <a:r>
                        <a:rPr lang="ru-RU" sz="1000" b="0">
                          <a:effectLst/>
                        </a:rPr>
                        <a:t>11111111.11111111.11111111.11110000</a:t>
                      </a:r>
                    </a:p>
                  </a:txBody>
                  <a:tcPr marL="31750" marR="31750" marT="31750" marB="31750" anchor="ctr"/>
                </a:tc>
                <a:tc>
                  <a:txBody>
                    <a:bodyPr/>
                    <a:lstStyle/>
                    <a:p>
                      <a:pPr rtl="0" fontAlgn="ctr"/>
                      <a:r>
                        <a:rPr lang="ru-RU" sz="1000" b="0">
                          <a:effectLst/>
                        </a:rPr>
                        <a:t>/28</a:t>
                      </a:r>
                    </a:p>
                  </a:txBody>
                  <a:tcPr marL="31750" marR="31750" marT="31750" marB="31750" anchor="ctr"/>
                </a:tc>
                <a:extLst>
                  <a:ext uri="{0D108BD9-81ED-4DB2-BD59-A6C34878D82A}">
                    <a16:rowId xmlns:a16="http://schemas.microsoft.com/office/drawing/2014/main" val="2913653739"/>
                  </a:ext>
                </a:extLst>
              </a:tr>
              <a:tr h="328734">
                <a:tc>
                  <a:txBody>
                    <a:bodyPr/>
                    <a:lstStyle/>
                    <a:p>
                      <a:pPr rtl="0" fontAlgn="ctr"/>
                      <a:r>
                        <a:rPr lang="ru-RU" sz="1000" b="0">
                          <a:effectLst/>
                        </a:rPr>
                        <a:t>255.255.255.248</a:t>
                      </a:r>
                    </a:p>
                  </a:txBody>
                  <a:tcPr marL="31750" marR="31750" marT="31750" marB="31750" anchor="ctr"/>
                </a:tc>
                <a:tc>
                  <a:txBody>
                    <a:bodyPr/>
                    <a:lstStyle/>
                    <a:p>
                      <a:pPr rtl="0" fontAlgn="ctr"/>
                      <a:r>
                        <a:rPr lang="ru-RU" sz="1000" b="0" dirty="0">
                          <a:effectLst/>
                        </a:rPr>
                        <a:t>11111111.11111111.11111111.11111000</a:t>
                      </a:r>
                    </a:p>
                  </a:txBody>
                  <a:tcPr marL="31750" marR="31750" marT="31750" marB="31750" anchor="ctr"/>
                </a:tc>
                <a:tc>
                  <a:txBody>
                    <a:bodyPr/>
                    <a:lstStyle/>
                    <a:p>
                      <a:pPr rtl="0" fontAlgn="ctr"/>
                      <a:r>
                        <a:rPr lang="ru-RU" sz="1000" b="0">
                          <a:effectLst/>
                        </a:rPr>
                        <a:t>/29</a:t>
                      </a:r>
                    </a:p>
                  </a:txBody>
                  <a:tcPr marL="31750" marR="31750" marT="31750" marB="31750" anchor="ctr"/>
                </a:tc>
                <a:extLst>
                  <a:ext uri="{0D108BD9-81ED-4DB2-BD59-A6C34878D82A}">
                    <a16:rowId xmlns:a16="http://schemas.microsoft.com/office/drawing/2014/main" val="200304742"/>
                  </a:ext>
                </a:extLst>
              </a:tr>
              <a:tr h="328734">
                <a:tc>
                  <a:txBody>
                    <a:bodyPr/>
                    <a:lstStyle/>
                    <a:p>
                      <a:pPr rtl="0" fontAlgn="ctr"/>
                      <a:r>
                        <a:rPr lang="ru-RU" sz="1000" b="0">
                          <a:effectLst/>
                        </a:rPr>
                        <a:t>255.255.255.252</a:t>
                      </a:r>
                    </a:p>
                  </a:txBody>
                  <a:tcPr marL="31750" marR="31750" marT="31750" marB="31750" anchor="ctr"/>
                </a:tc>
                <a:tc>
                  <a:txBody>
                    <a:bodyPr/>
                    <a:lstStyle/>
                    <a:p>
                      <a:pPr rtl="0" fontAlgn="ctr"/>
                      <a:r>
                        <a:rPr lang="ru-RU" sz="1000" b="0">
                          <a:effectLst/>
                        </a:rPr>
                        <a:t>11111111.11111111.11111111.11111100</a:t>
                      </a:r>
                    </a:p>
                  </a:txBody>
                  <a:tcPr marL="31750" marR="31750" marT="31750" marB="31750" anchor="ctr"/>
                </a:tc>
                <a:tc>
                  <a:txBody>
                    <a:bodyPr/>
                    <a:lstStyle/>
                    <a:p>
                      <a:pPr rtl="0" fontAlgn="ctr"/>
                      <a:r>
                        <a:rPr lang="ru-RU" sz="1000" b="0" dirty="0">
                          <a:effectLst/>
                        </a:rPr>
                        <a:t>/30</a:t>
                      </a:r>
                    </a:p>
                  </a:txBody>
                  <a:tcPr marL="31750" marR="31750" marT="31750" marB="31750" anchor="ctr"/>
                </a:tc>
                <a:extLst>
                  <a:ext uri="{0D108BD9-81ED-4DB2-BD59-A6C34878D82A}">
                    <a16:rowId xmlns:a16="http://schemas.microsoft.com/office/drawing/2014/main" val="235243754"/>
                  </a:ext>
                </a:extLst>
              </a:tr>
            </a:tbl>
          </a:graphicData>
        </a:graphic>
      </p:graphicFrame>
    </p:spTree>
    <p:extLst>
      <p:ext uri="{BB962C8B-B14F-4D97-AF65-F5344CB8AC3E}">
        <p14:creationId xmlns:p14="http://schemas.microsoft.com/office/powerpoint/2010/main" val="3152352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Структура адресов IPv4</a:t>
            </a:r>
            <a:br>
              <a:rPr lang="en-US" dirty="0"/>
            </a:br>
            <a:r>
              <a:rPr lang="ru-RU" sz="2400"/>
              <a:t>Определение сети: логическое 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82881" y="855419"/>
            <a:ext cx="8529147" cy="1522021"/>
          </a:xfrm>
        </p:spPr>
        <p:txBody>
          <a:bodyPr/>
          <a:lstStyle/>
          <a:p>
            <a:pPr marL="342900" indent="-342900" algn="l" rtl="0">
              <a:buFont typeface="Arial" panose="020B0604020202020204" pitchFamily="34" charset="0"/>
              <a:buChar char="•"/>
            </a:pPr>
            <a:r>
              <a:rPr lang="ru-RU" sz="1600" dirty="0">
                <a:solidFill>
                  <a:srgbClr val="000000"/>
                </a:solidFill>
              </a:rPr>
              <a:t>Логическая операция И используется для определения сетевого адреса.</a:t>
            </a:r>
          </a:p>
          <a:p>
            <a:pPr marL="415985" lvl="1" indent="-342900" rtl="0">
              <a:buFont typeface="Arial" panose="020B0604020202020204" pitchFamily="34" charset="0"/>
              <a:buChar char="•"/>
            </a:pPr>
            <a:r>
              <a:rPr lang="ru-RU" dirty="0">
                <a:solidFill>
                  <a:srgbClr val="000000"/>
                </a:solidFill>
              </a:rPr>
              <a:t>Логическое И - это сравнение двух битов, где только 1 И 1 производит 1, а любая другая комбинация приводит к 0.</a:t>
            </a:r>
          </a:p>
          <a:p>
            <a:pPr marL="415985" lvl="1" indent="-342900" rtl="0">
              <a:buFont typeface="Arial" panose="020B0604020202020204" pitchFamily="34" charset="0"/>
              <a:buChar char="•"/>
            </a:pPr>
            <a:r>
              <a:rPr lang="ru-RU" dirty="0">
                <a:solidFill>
                  <a:srgbClr val="000000"/>
                </a:solidFill>
              </a:rPr>
              <a:t>1 И 1 = 1, 0 И 1 = 0, 1 И 0 = 0, 0 И 0 = 0</a:t>
            </a:r>
          </a:p>
          <a:p>
            <a:pPr marL="415985" lvl="1" indent="-342900" rtl="0">
              <a:buFont typeface="Arial" panose="020B0604020202020204" pitchFamily="34" charset="0"/>
              <a:buChar char="•"/>
            </a:pPr>
            <a:r>
              <a:rPr lang="ru-RU" dirty="0">
                <a:solidFill>
                  <a:srgbClr val="000000"/>
                </a:solidFill>
              </a:rPr>
              <a:t>1 = Истина и 0 = Ложь</a:t>
            </a:r>
          </a:p>
        </p:txBody>
      </p:sp>
      <p:sp>
        <p:nvSpPr>
          <p:cNvPr id="5" name="Content Placeholder 3">
            <a:extLst>
              <a:ext uri="{FF2B5EF4-FFF2-40B4-BE49-F238E27FC236}">
                <a16:creationId xmlns:a16="http://schemas.microsoft.com/office/drawing/2014/main" id="{3528EAA4-4ECB-4719-8E9E-7DE8051ABB69}"/>
              </a:ext>
            </a:extLst>
          </p:cNvPr>
          <p:cNvSpPr txBox="1">
            <a:spLocks/>
          </p:cNvSpPr>
          <p:nvPr/>
        </p:nvSpPr>
        <p:spPr>
          <a:xfrm>
            <a:off x="182881" y="2483539"/>
            <a:ext cx="4098664" cy="19876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dirty="0">
                <a:solidFill>
                  <a:srgbClr val="000000"/>
                </a:solidFill>
              </a:rPr>
              <a:t>Для того чтобы определить сетевой адрес IPv4-узла, к IPv4-адресу и маске подсети </a:t>
            </a:r>
            <a:r>
              <a:rPr lang="ru-RU" sz="1600" dirty="0" err="1">
                <a:solidFill>
                  <a:srgbClr val="000000"/>
                </a:solidFill>
              </a:rPr>
              <a:t>побитово</a:t>
            </a:r>
            <a:r>
              <a:rPr lang="ru-RU" sz="1600" dirty="0">
                <a:solidFill>
                  <a:srgbClr val="000000"/>
                </a:solidFill>
              </a:rPr>
              <a:t> применяется логическая операция И.</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9F2917F7-70A6-4627-8200-4118CE19CA50}"/>
              </a:ext>
            </a:extLst>
          </p:cNvPr>
          <p:cNvPicPr>
            <a:picLocks noChangeAspect="1"/>
          </p:cNvPicPr>
          <p:nvPr/>
        </p:nvPicPr>
        <p:blipFill>
          <a:blip r:embed="rId3"/>
          <a:stretch>
            <a:fillRect/>
          </a:stretch>
        </p:blipFill>
        <p:spPr>
          <a:xfrm>
            <a:off x="4381158" y="2377440"/>
            <a:ext cx="4534133" cy="1987652"/>
          </a:xfrm>
          <a:prstGeom prst="rect">
            <a:avLst/>
          </a:prstGeom>
        </p:spPr>
      </p:pic>
    </p:spTree>
    <p:extLst>
      <p:ext uri="{BB962C8B-B14F-4D97-AF65-F5344CB8AC3E}">
        <p14:creationId xmlns:p14="http://schemas.microsoft.com/office/powerpoint/2010/main" val="2687004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363456" cy="731837"/>
          </a:xfrm>
        </p:spPr>
        <p:txBody>
          <a:bodyPr/>
          <a:lstStyle/>
          <a:p>
            <a:pPr rtl="0"/>
            <a:r>
              <a:rPr lang="ru-RU" sz="1600" dirty="0"/>
              <a:t>Структура адреса IPv4 </a:t>
            </a:r>
            <a:br>
              <a:rPr lang="en-US" dirty="0"/>
            </a:br>
            <a:r>
              <a:rPr lang="ru-RU" sz="2400" dirty="0"/>
              <a:t>Видео. </a:t>
            </a:r>
            <a:br>
              <a:rPr lang="en-US" sz="2400" dirty="0"/>
            </a:br>
            <a:r>
              <a:rPr lang="ru-RU" sz="2400" dirty="0"/>
              <a:t>Сетевой адрес, адрес хоста и широковещательный адрес</a:t>
            </a:r>
          </a:p>
        </p:txBody>
      </p:sp>
      <p:sp>
        <p:nvSpPr>
          <p:cNvPr id="6" name="Content Placeholder 3">
            <a:extLst>
              <a:ext uri="{FF2B5EF4-FFF2-40B4-BE49-F238E27FC236}">
                <a16:creationId xmlns:a16="http://schemas.microsoft.com/office/drawing/2014/main" id="{201ED4EE-A438-4923-8A5A-4E8EDE0D676B}"/>
              </a:ext>
            </a:extLst>
          </p:cNvPr>
          <p:cNvSpPr txBox="1">
            <a:spLocks/>
          </p:cNvSpPr>
          <p:nvPr/>
        </p:nvSpPr>
        <p:spPr>
          <a:xfrm>
            <a:off x="431971" y="864846"/>
            <a:ext cx="8280057" cy="152202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ru-RU" sz="1600">
                <a:solidFill>
                  <a:srgbClr val="000000"/>
                </a:solidFill>
              </a:rPr>
              <a:t>Это видео будет охватывать следующее:</a:t>
            </a:r>
          </a:p>
          <a:p>
            <a:pPr marL="342900" indent="-342900" algn="l" rtl="0">
              <a:buFont typeface="Arial" panose="020B0604020202020204" pitchFamily="34" charset="0"/>
              <a:buChar char="•"/>
            </a:pPr>
            <a:r>
              <a:rPr lang="ru-RU" sz="1600">
                <a:solidFill>
                  <a:srgbClr val="000000"/>
                </a:solidFill>
              </a:rPr>
              <a:t>Сетевой адрес</a:t>
            </a:r>
          </a:p>
          <a:p>
            <a:pPr marL="342900" indent="-342900" algn="l" rtl="0">
              <a:buFont typeface="Arial" panose="020B0604020202020204" pitchFamily="34" charset="0"/>
              <a:buChar char="•"/>
            </a:pPr>
            <a:r>
              <a:rPr lang="ru-RU" sz="1600">
                <a:solidFill>
                  <a:srgbClr val="000000"/>
                </a:solidFill>
              </a:rPr>
              <a:t>Адрес широковещательной рассылки?</a:t>
            </a:r>
          </a:p>
          <a:p>
            <a:pPr marL="342900" indent="-342900" algn="l" rtl="0">
              <a:buFont typeface="Arial" panose="020B0604020202020204" pitchFamily="34" charset="0"/>
              <a:buChar char="•"/>
            </a:pPr>
            <a:r>
              <a:rPr lang="ru-RU" sz="1600">
                <a:solidFill>
                  <a:srgbClr val="000000"/>
                </a:solidFill>
              </a:rPr>
              <a:t>Первый используемый IP-адрес узла</a:t>
            </a:r>
          </a:p>
          <a:p>
            <a:pPr marL="342900" indent="-342900" algn="l" rtl="0">
              <a:buFont typeface="Arial" panose="020B0604020202020204" pitchFamily="34" charset="0"/>
              <a:buChar char="•"/>
            </a:pPr>
            <a:r>
              <a:rPr lang="ru-RU" sz="1600">
                <a:solidFill>
                  <a:srgbClr val="000000"/>
                </a:solidFill>
              </a:rPr>
              <a:t>Последний используемый IP-адрес узла</a:t>
            </a:r>
          </a:p>
        </p:txBody>
      </p:sp>
    </p:spTree>
    <p:extLst>
      <p:ext uri="{BB962C8B-B14F-4D97-AF65-F5344CB8AC3E}">
        <p14:creationId xmlns:p14="http://schemas.microsoft.com/office/powerpoint/2010/main" val="2922228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006840" cy="731837"/>
          </a:xfrm>
        </p:spPr>
        <p:txBody>
          <a:bodyPr/>
          <a:lstStyle/>
          <a:p>
            <a:pPr rtl="0"/>
            <a:r>
              <a:rPr lang="ru-RU" sz="1600" dirty="0"/>
              <a:t>Структура адреса IPv4 </a:t>
            </a:r>
            <a:br>
              <a:rPr lang="en-US" dirty="0"/>
            </a:br>
            <a:r>
              <a:rPr lang="ru-RU" sz="2400" dirty="0"/>
              <a:t>Видео. </a:t>
            </a:r>
            <a:br>
              <a:rPr lang="en-US" sz="2400" dirty="0"/>
            </a:br>
            <a:r>
              <a:rPr lang="ru-RU" sz="2400" dirty="0"/>
              <a:t>Сетевой адрес, адрес хоста и широковещательный адрес</a:t>
            </a:r>
          </a:p>
        </p:txBody>
      </p:sp>
      <p:pic>
        <p:nvPicPr>
          <p:cNvPr id="2" name="Picture 1">
            <a:extLst>
              <a:ext uri="{FF2B5EF4-FFF2-40B4-BE49-F238E27FC236}">
                <a16:creationId xmlns:a16="http://schemas.microsoft.com/office/drawing/2014/main" id="{AAC2E9A2-7F9F-404A-B632-433B3DD70A30}"/>
              </a:ext>
            </a:extLst>
          </p:cNvPr>
          <p:cNvPicPr>
            <a:picLocks noChangeAspect="1"/>
          </p:cNvPicPr>
          <p:nvPr/>
        </p:nvPicPr>
        <p:blipFill>
          <a:blip r:embed="rId3"/>
          <a:stretch>
            <a:fillRect/>
          </a:stretch>
        </p:blipFill>
        <p:spPr>
          <a:xfrm>
            <a:off x="431971" y="2222298"/>
            <a:ext cx="2898633" cy="1607424"/>
          </a:xfrm>
          <a:prstGeom prst="rect">
            <a:avLst/>
          </a:prstGeom>
        </p:spPr>
      </p:pic>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5667615" cy="1328383"/>
          </a:xfrm>
        </p:spPr>
        <p:txBody>
          <a:bodyPr/>
          <a:lstStyle/>
          <a:p>
            <a:pPr marL="342900" indent="-342900" algn="l" rtl="0">
              <a:buFont typeface="Arial" panose="020B0604020202020204" pitchFamily="34" charset="0"/>
              <a:buChar char="•"/>
            </a:pPr>
            <a:r>
              <a:rPr lang="ru-RU" sz="1600">
                <a:solidFill>
                  <a:srgbClr val="000000"/>
                </a:solidFill>
              </a:rPr>
              <a:t>В каждой сети есть три типа IP-адресов:</a:t>
            </a:r>
          </a:p>
          <a:p>
            <a:pPr marL="415985" lvl="1" indent="-342900" rtl="0">
              <a:buFont typeface="Arial" panose="020B0604020202020204" pitchFamily="34" charset="0"/>
              <a:buChar char="•"/>
            </a:pPr>
            <a:r>
              <a:rPr lang="ru-RU">
                <a:solidFill>
                  <a:srgbClr val="000000"/>
                </a:solidFill>
              </a:rPr>
              <a:t>Сетевой адрес</a:t>
            </a:r>
          </a:p>
          <a:p>
            <a:pPr marL="415985" lvl="1" indent="-342900" rtl="0">
              <a:buFont typeface="Arial" panose="020B0604020202020204" pitchFamily="34" charset="0"/>
              <a:buChar char="•"/>
            </a:pPr>
            <a:r>
              <a:rPr lang="ru-RU">
                <a:solidFill>
                  <a:srgbClr val="000000"/>
                </a:solidFill>
              </a:rPr>
              <a:t>Адрес хоста</a:t>
            </a:r>
          </a:p>
          <a:p>
            <a:pPr marL="415985" lvl="1" indent="-342900" rtl="0">
              <a:buFont typeface="Arial" panose="020B0604020202020204" pitchFamily="34" charset="0"/>
              <a:buChar char="•"/>
            </a:pPr>
            <a:r>
              <a:rPr lang="ru-RU">
                <a:solidFill>
                  <a:srgbClr val="000000"/>
                </a:solidFill>
              </a:rPr>
              <a:t>Широковещательный адрес</a:t>
            </a:r>
          </a:p>
        </p:txBody>
      </p:sp>
      <p:graphicFrame>
        <p:nvGraphicFramePr>
          <p:cNvPr id="6" name="Table 5">
            <a:extLst>
              <a:ext uri="{FF2B5EF4-FFF2-40B4-BE49-F238E27FC236}">
                <a16:creationId xmlns:a16="http://schemas.microsoft.com/office/drawing/2014/main" id="{663C58AD-E4FB-4E6F-A2AA-5493C4001BAD}"/>
              </a:ext>
            </a:extLst>
          </p:cNvPr>
          <p:cNvGraphicFramePr>
            <a:graphicFrameLocks noGrp="1"/>
          </p:cNvGraphicFramePr>
          <p:nvPr>
            <p:extLst>
              <p:ext uri="{D42A27DB-BD31-4B8C-83A1-F6EECF244321}">
                <p14:modId xmlns:p14="http://schemas.microsoft.com/office/powerpoint/2010/main" val="1207636514"/>
              </p:ext>
            </p:extLst>
          </p:nvPr>
        </p:nvGraphicFramePr>
        <p:xfrm>
          <a:off x="3512820" y="2247024"/>
          <a:ext cx="5494020" cy="2689860"/>
        </p:xfrm>
        <a:graphic>
          <a:graphicData uri="http://schemas.openxmlformats.org/drawingml/2006/table">
            <a:tbl>
              <a:tblPr firstRow="1" bandRow="1">
                <a:tableStyleId>{5C22544A-7EE6-4342-B048-85BDC9FD1C3A}</a:tableStyleId>
              </a:tblPr>
              <a:tblGrid>
                <a:gridCol w="1363980">
                  <a:extLst>
                    <a:ext uri="{9D8B030D-6E8A-4147-A177-3AD203B41FA5}">
                      <a16:colId xmlns:a16="http://schemas.microsoft.com/office/drawing/2014/main" val="6951079"/>
                    </a:ext>
                  </a:extLst>
                </a:gridCol>
                <a:gridCol w="2461260">
                  <a:extLst>
                    <a:ext uri="{9D8B030D-6E8A-4147-A177-3AD203B41FA5}">
                      <a16:colId xmlns:a16="http://schemas.microsoft.com/office/drawing/2014/main" val="3669600987"/>
                    </a:ext>
                  </a:extLst>
                </a:gridCol>
                <a:gridCol w="822960">
                  <a:extLst>
                    <a:ext uri="{9D8B030D-6E8A-4147-A177-3AD203B41FA5}">
                      <a16:colId xmlns:a16="http://schemas.microsoft.com/office/drawing/2014/main" val="1195186617"/>
                    </a:ext>
                  </a:extLst>
                </a:gridCol>
                <a:gridCol w="845820">
                  <a:extLst>
                    <a:ext uri="{9D8B030D-6E8A-4147-A177-3AD203B41FA5}">
                      <a16:colId xmlns:a16="http://schemas.microsoft.com/office/drawing/2014/main" val="3408647017"/>
                    </a:ext>
                  </a:extLst>
                </a:gridCol>
              </a:tblGrid>
              <a:tr h="370840">
                <a:tc>
                  <a:txBody>
                    <a:bodyPr/>
                    <a:lstStyle/>
                    <a:p>
                      <a:endParaRPr lang="en-CA" sz="1200" dirty="0"/>
                    </a:p>
                  </a:txBody>
                  <a:tcPr marL="31750" marR="31750" marT="31750" marB="31750" anchor="ctr">
                    <a:noFill/>
                  </a:tcPr>
                </a:tc>
                <a:tc>
                  <a:txBody>
                    <a:bodyPr/>
                    <a:lstStyle/>
                    <a:p>
                      <a:pPr algn="ctr" rtl="0" fontAlgn="ctr"/>
                      <a:r>
                        <a:rPr lang="ru-RU" sz="1050" b="1">
                          <a:effectLst/>
                        </a:rPr>
                        <a:t>Сетевая часть</a:t>
                      </a:r>
                    </a:p>
                  </a:txBody>
                  <a:tcPr marL="31750" marR="31750" marT="31750" marB="31750" anchor="ctr"/>
                </a:tc>
                <a:tc>
                  <a:txBody>
                    <a:bodyPr/>
                    <a:lstStyle/>
                    <a:p>
                      <a:pPr algn="ctr" rtl="0" fontAlgn="ctr"/>
                      <a:r>
                        <a:rPr lang="ru-RU" sz="1050" b="1">
                          <a:effectLst/>
                        </a:rPr>
                        <a:t>Раздел хоста</a:t>
                      </a:r>
                    </a:p>
                  </a:txBody>
                  <a:tcPr marL="31750" marR="31750" marT="31750" marB="31750" anchor="ctr"/>
                </a:tc>
                <a:tc>
                  <a:txBody>
                    <a:bodyPr/>
                    <a:lstStyle/>
                    <a:p>
                      <a:pPr algn="ctr" rtl="0" fontAlgn="ctr"/>
                      <a:r>
                        <a:rPr lang="ru-RU" sz="1050" b="1">
                          <a:effectLst/>
                        </a:rPr>
                        <a:t>Биты хоста</a:t>
                      </a:r>
                    </a:p>
                  </a:txBody>
                  <a:tcPr marL="31750" marR="31750" marT="31750" marB="31750" anchor="ctr"/>
                </a:tc>
                <a:extLst>
                  <a:ext uri="{0D108BD9-81ED-4DB2-BD59-A6C34878D82A}">
                    <a16:rowId xmlns:a16="http://schemas.microsoft.com/office/drawing/2014/main" val="1417013316"/>
                  </a:ext>
                </a:extLst>
              </a:tr>
              <a:tr h="370840">
                <a:tc>
                  <a:txBody>
                    <a:bodyPr/>
                    <a:lstStyle/>
                    <a:p>
                      <a:pPr rtl="0" fontAlgn="ctr"/>
                      <a:r>
                        <a:rPr lang="ru-RU" sz="1000" b="0">
                          <a:effectLst/>
                        </a:rPr>
                        <a:t>Маска подсети</a:t>
                      </a:r>
                    </a:p>
                    <a:p>
                      <a:pPr rtl="0" fontAlgn="ctr"/>
                      <a:r>
                        <a:rPr lang="ru-RU" sz="1000" b="1">
                          <a:effectLst/>
                        </a:rPr>
                        <a:t>255.255.255.</a:t>
                      </a:r>
                      <a:r>
                        <a:rPr lang="ru-RU" sz="1000" b="0">
                          <a:effectLst/>
                        </a:rPr>
                        <a:t>0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255 255 255</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11111111 111111 1111 111111</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endParaRPr lang="en-CA" sz="1000" b="0" dirty="0">
                        <a:effectLst/>
                      </a:endParaRPr>
                    </a:p>
                  </a:txBody>
                  <a:tcPr marL="31750" marR="31750" marT="31750" marB="31750" anchor="ctr"/>
                </a:tc>
                <a:extLst>
                  <a:ext uri="{0D108BD9-81ED-4DB2-BD59-A6C34878D82A}">
                    <a16:rowId xmlns:a16="http://schemas.microsoft.com/office/drawing/2014/main" val="4212010678"/>
                  </a:ext>
                </a:extLst>
              </a:tr>
              <a:tr h="370840">
                <a:tc>
                  <a:txBody>
                    <a:bodyPr/>
                    <a:lstStyle/>
                    <a:p>
                      <a:pPr rtl="0" fontAlgn="ctr"/>
                      <a:r>
                        <a:rPr lang="ru-RU" sz="1000" b="0">
                          <a:effectLst/>
                        </a:rPr>
                        <a:t>Сетевой адрес</a:t>
                      </a:r>
                    </a:p>
                    <a:p>
                      <a:pPr rtl="0" fontAlgn="ctr"/>
                      <a:r>
                        <a:rPr lang="ru-RU" sz="1000" b="1">
                          <a:effectLst/>
                        </a:rPr>
                        <a:t>192.168.10.</a:t>
                      </a:r>
                      <a:r>
                        <a:rPr lang="ru-RU" sz="1000" b="0">
                          <a:effectLst/>
                        </a:rPr>
                        <a:t>0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11000000 10100000 001010</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algn="ctr" rtl="0" fontAlgn="ctr"/>
                      <a:r>
                        <a:rPr lang="ru-RU" sz="1000" b="0">
                          <a:effectLst/>
                        </a:rPr>
                        <a:t>Все 0</a:t>
                      </a:r>
                    </a:p>
                  </a:txBody>
                  <a:tcPr marL="31750" marR="31750" marT="31750" marB="31750" anchor="ctr"/>
                </a:tc>
                <a:extLst>
                  <a:ext uri="{0D108BD9-81ED-4DB2-BD59-A6C34878D82A}">
                    <a16:rowId xmlns:a16="http://schemas.microsoft.com/office/drawing/2014/main" val="582796851"/>
                  </a:ext>
                </a:extLst>
              </a:tr>
              <a:tr h="370840">
                <a:tc>
                  <a:txBody>
                    <a:bodyPr/>
                    <a:lstStyle/>
                    <a:p>
                      <a:pPr rtl="0" fontAlgn="ctr"/>
                      <a:r>
                        <a:rPr lang="ru-RU" sz="1000" b="0">
                          <a:effectLst/>
                        </a:rPr>
                        <a:t>Первый адрес</a:t>
                      </a:r>
                    </a:p>
                    <a:p>
                      <a:pPr rtl="0" fontAlgn="ctr"/>
                      <a:r>
                        <a:rPr lang="ru-RU" sz="1000" b="1">
                          <a:effectLst/>
                        </a:rPr>
                        <a:t>192.168.10</a:t>
                      </a:r>
                      <a:r>
                        <a:rPr lang="ru-RU" sz="1000" b="0">
                          <a:effectLst/>
                        </a:rPr>
                        <a:t>.1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11000000 10100000 001010</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000001</a:t>
                      </a:r>
                    </a:p>
                  </a:txBody>
                  <a:tcPr marL="31750" marR="31750" marT="31750" marB="31750" anchor="ctr"/>
                </a:tc>
                <a:tc>
                  <a:txBody>
                    <a:bodyPr/>
                    <a:lstStyle/>
                    <a:p>
                      <a:pPr algn="ctr" rtl="0" fontAlgn="ctr"/>
                      <a:r>
                        <a:rPr lang="ru-RU" sz="1000" b="0">
                          <a:effectLst/>
                        </a:rPr>
                        <a:t>Все 0 и 1</a:t>
                      </a:r>
                    </a:p>
                  </a:txBody>
                  <a:tcPr marL="31750" marR="31750" marT="31750" marB="31750" anchor="ctr"/>
                </a:tc>
                <a:extLst>
                  <a:ext uri="{0D108BD9-81ED-4DB2-BD59-A6C34878D82A}">
                    <a16:rowId xmlns:a16="http://schemas.microsoft.com/office/drawing/2014/main" val="3315409547"/>
                  </a:ext>
                </a:extLst>
              </a:tr>
              <a:tr h="370840">
                <a:tc>
                  <a:txBody>
                    <a:bodyPr/>
                    <a:lstStyle/>
                    <a:p>
                      <a:pPr rtl="0" fontAlgn="ctr"/>
                      <a:r>
                        <a:rPr lang="ru-RU" sz="1000" b="0">
                          <a:effectLst/>
                        </a:rPr>
                        <a:t>Последний адрес</a:t>
                      </a:r>
                    </a:p>
                    <a:p>
                      <a:pPr rtl="0" fontAlgn="ctr"/>
                      <a:r>
                        <a:rPr lang="ru-RU" sz="1000" b="1">
                          <a:effectLst/>
                        </a:rPr>
                        <a:t>192.168.10</a:t>
                      </a:r>
                      <a:r>
                        <a:rPr lang="ru-RU" sz="1000" b="0">
                          <a:effectLst/>
                        </a:rPr>
                        <a:t>.254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11000000 10100000 001010</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254</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a:t>
                      </a:r>
                    </a:p>
                  </a:txBody>
                  <a:tcPr marL="31750" marR="31750" marT="31750" marB="31750" anchor="ctr"/>
                </a:tc>
                <a:tc>
                  <a:txBody>
                    <a:bodyPr/>
                    <a:lstStyle/>
                    <a:p>
                      <a:pPr algn="ctr" rtl="0" fontAlgn="ctr"/>
                      <a:r>
                        <a:rPr lang="ru-RU" sz="1000" b="0">
                          <a:effectLst/>
                        </a:rPr>
                        <a:t>Все 1 и  0</a:t>
                      </a:r>
                    </a:p>
                  </a:txBody>
                  <a:tcPr marL="31750" marR="31750" marT="31750" marB="31750" anchor="ctr"/>
                </a:tc>
                <a:extLst>
                  <a:ext uri="{0D108BD9-81ED-4DB2-BD59-A6C34878D82A}">
                    <a16:rowId xmlns:a16="http://schemas.microsoft.com/office/drawing/2014/main" val="3018522862"/>
                  </a:ext>
                </a:extLst>
              </a:tr>
              <a:tr h="370840">
                <a:tc>
                  <a:txBody>
                    <a:bodyPr/>
                    <a:lstStyle/>
                    <a:p>
                      <a:pPr rtl="0" fontAlgn="ctr"/>
                      <a:r>
                        <a:rPr lang="ru-RU" sz="1000" b="0">
                          <a:effectLst/>
                        </a:rPr>
                        <a:t>Широковещательный адрес</a:t>
                      </a:r>
                    </a:p>
                    <a:p>
                      <a:pPr rtl="0" fontAlgn="ctr"/>
                      <a:r>
                        <a:rPr lang="ru-RU" sz="1000" b="1">
                          <a:effectLst/>
                        </a:rPr>
                        <a:t>192.168.10</a:t>
                      </a:r>
                      <a:r>
                        <a:rPr lang="ru-RU" sz="1000" b="0">
                          <a:effectLst/>
                        </a:rPr>
                        <a:t>.255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11000000 10100000 001010</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255</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a:t>
                      </a:r>
                    </a:p>
                  </a:txBody>
                  <a:tcPr marL="31750" marR="31750" marT="31750" marB="31750" anchor="ctr"/>
                </a:tc>
                <a:tc>
                  <a:txBody>
                    <a:bodyPr/>
                    <a:lstStyle/>
                    <a:p>
                      <a:pPr algn="ctr" rtl="0" fontAlgn="ctr"/>
                      <a:r>
                        <a:rPr lang="ru-RU" sz="1000" b="0">
                          <a:effectLst/>
                        </a:rPr>
                        <a:t>Все 1</a:t>
                      </a:r>
                    </a:p>
                  </a:txBody>
                  <a:tcPr marL="31750" marR="31750" marT="31750" marB="31750" anchor="ctr"/>
                </a:tc>
                <a:extLst>
                  <a:ext uri="{0D108BD9-81ED-4DB2-BD59-A6C34878D82A}">
                    <a16:rowId xmlns:a16="http://schemas.microsoft.com/office/drawing/2014/main" val="2127298640"/>
                  </a:ext>
                </a:extLst>
              </a:tr>
            </a:tbl>
          </a:graphicData>
        </a:graphic>
      </p:graphicFrame>
    </p:spTree>
    <p:extLst>
      <p:ext uri="{BB962C8B-B14F-4D97-AF65-F5344CB8AC3E}">
        <p14:creationId xmlns:p14="http://schemas.microsoft.com/office/powerpoint/2010/main" val="324140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1188720"/>
            <a:ext cx="8498975" cy="2103120"/>
          </a:xfrm>
        </p:spPr>
        <p:txBody>
          <a:bodyPr/>
          <a:lstStyle/>
          <a:p>
            <a:pPr rtl="0"/>
            <a:r>
              <a:rPr lang="ru-RU" dirty="0">
                <a:solidFill>
                  <a:schemeClr val="accent5">
                    <a:lumMod val="40000"/>
                    <a:lumOff val="60000"/>
                  </a:schemeClr>
                </a:solidFill>
              </a:rPr>
              <a:t>11.2 Одноадресная, широковещательная и многоадресная рассылка IPv4</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Одноадресная, широковещательная и многоадресная рассылка IPv4 </a:t>
            </a:r>
            <a:br>
              <a:rPr lang="en-US" dirty="0"/>
            </a:br>
            <a:r>
              <a:rPr lang="ru-RU" sz="2400"/>
              <a:t>Одноадресная передача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rtl="0">
              <a:buFont typeface="Arial" panose="020B0604020202020204" pitchFamily="34" charset="0"/>
              <a:buChar char="•"/>
            </a:pPr>
            <a:r>
              <a:rPr lang="ru-RU" sz="1600">
                <a:solidFill>
                  <a:srgbClr val="000000"/>
                </a:solidFill>
              </a:rPr>
              <a:t>Одноадресная передача отправляет пакет на один IP-адрес назначения.</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Например, компьютер 172.16.4.1 отправляет одноадресный пакет на принтер по адресу 172.16.4.253.</a:t>
            </a:r>
          </a:p>
        </p:txBody>
      </p:sp>
      <p:pic>
        <p:nvPicPr>
          <p:cNvPr id="2" name="Picture 1">
            <a:extLst>
              <a:ext uri="{FF2B5EF4-FFF2-40B4-BE49-F238E27FC236}">
                <a16:creationId xmlns:a16="http://schemas.microsoft.com/office/drawing/2014/main" id="{5B7E06A5-43CA-4616-9CC2-40C3C98FD60E}"/>
              </a:ext>
            </a:extLst>
          </p:cNvPr>
          <p:cNvPicPr>
            <a:picLocks noChangeAspect="1"/>
          </p:cNvPicPr>
          <p:nvPr/>
        </p:nvPicPr>
        <p:blipFill>
          <a:blip r:embed="rId3"/>
          <a:stretch>
            <a:fillRect/>
          </a:stretch>
        </p:blipFill>
        <p:spPr>
          <a:xfrm>
            <a:off x="876392" y="2132314"/>
            <a:ext cx="2829973" cy="2316347"/>
          </a:xfrm>
          <a:prstGeom prst="rect">
            <a:avLst/>
          </a:prstGeom>
        </p:spPr>
      </p:pic>
      <p:sp>
        <p:nvSpPr>
          <p:cNvPr id="6" name="Arrow: Right 5">
            <a:extLst>
              <a:ext uri="{FF2B5EF4-FFF2-40B4-BE49-F238E27FC236}">
                <a16:creationId xmlns:a16="http://schemas.microsoft.com/office/drawing/2014/main" id="{60C084AC-73BA-4205-822C-80E03F10B01A}"/>
              </a:ext>
            </a:extLst>
          </p:cNvPr>
          <p:cNvSpPr/>
          <p:nvPr/>
        </p:nvSpPr>
        <p:spPr>
          <a:xfrm>
            <a:off x="3971431"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5" name="Picture 4">
            <a:extLst>
              <a:ext uri="{FF2B5EF4-FFF2-40B4-BE49-F238E27FC236}">
                <a16:creationId xmlns:a16="http://schemas.microsoft.com/office/drawing/2014/main" id="{0D0A7C70-F6C2-47F7-8084-E8C34124C64B}"/>
              </a:ext>
            </a:extLst>
          </p:cNvPr>
          <p:cNvPicPr>
            <a:picLocks noChangeAspect="1"/>
          </p:cNvPicPr>
          <p:nvPr/>
        </p:nvPicPr>
        <p:blipFill>
          <a:blip r:embed="rId4"/>
          <a:stretch>
            <a:fillRect/>
          </a:stretch>
        </p:blipFill>
        <p:spPr>
          <a:xfrm>
            <a:off x="5052151" y="2132314"/>
            <a:ext cx="2829973" cy="2316347"/>
          </a:xfrm>
          <a:prstGeom prst="rect">
            <a:avLst/>
          </a:prstGeom>
        </p:spPr>
      </p:pic>
    </p:spTree>
    <p:extLst>
      <p:ext uri="{BB962C8B-B14F-4D97-AF65-F5344CB8AC3E}">
        <p14:creationId xmlns:p14="http://schemas.microsoft.com/office/powerpoint/2010/main" val="28725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Одноадресная, широковещательная и многоадресная рассылка IPv4 </a:t>
            </a:r>
            <a:br>
              <a:rPr lang="en-US" dirty="0"/>
            </a:br>
            <a:r>
              <a:rPr lang="ru-RU" sz="2400"/>
              <a:t>Широковещательная передача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01661"/>
          </a:xfrm>
        </p:spPr>
        <p:txBody>
          <a:bodyPr/>
          <a:lstStyle/>
          <a:p>
            <a:pPr marL="342900" indent="-342900" algn="l" rtl="0">
              <a:buFont typeface="Arial" panose="020B0604020202020204" pitchFamily="34" charset="0"/>
              <a:buChar char="•"/>
            </a:pPr>
            <a:r>
              <a:rPr lang="ru-RU" sz="1600" dirty="0">
                <a:solidFill>
                  <a:srgbClr val="000000"/>
                </a:solidFill>
              </a:rPr>
              <a:t>Широковещательная передача отправляет пакет на все другие IP-адреса назначения.</a:t>
            </a: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Например, компьютер 172.16.4.1 отправляет широковещательный пакет всем узлам IPv4.</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id="{34F68B31-29E2-43C7-A438-1CE3A9BE1B74}"/>
              </a:ext>
            </a:extLst>
          </p:cNvPr>
          <p:cNvPicPr>
            <a:picLocks noChangeAspect="1"/>
          </p:cNvPicPr>
          <p:nvPr/>
        </p:nvPicPr>
        <p:blipFill>
          <a:blip r:embed="rId3"/>
          <a:stretch>
            <a:fillRect/>
          </a:stretch>
        </p:blipFill>
        <p:spPr>
          <a:xfrm>
            <a:off x="896757" y="1992794"/>
            <a:ext cx="2814401" cy="2423094"/>
          </a:xfrm>
          <a:prstGeom prst="rect">
            <a:avLst/>
          </a:prstGeom>
        </p:spPr>
      </p:pic>
      <p:sp>
        <p:nvSpPr>
          <p:cNvPr id="6" name="Arrow: Right 5">
            <a:extLst>
              <a:ext uri="{FF2B5EF4-FFF2-40B4-BE49-F238E27FC236}">
                <a16:creationId xmlns:a16="http://schemas.microsoft.com/office/drawing/2014/main" id="{AD1DB5E3-6538-4D97-B86F-3537291085CA}"/>
              </a:ext>
            </a:extLst>
          </p:cNvPr>
          <p:cNvSpPr/>
          <p:nvPr/>
        </p:nvSpPr>
        <p:spPr>
          <a:xfrm>
            <a:off x="4046847"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11" name="Picture 10">
            <a:extLst>
              <a:ext uri="{FF2B5EF4-FFF2-40B4-BE49-F238E27FC236}">
                <a16:creationId xmlns:a16="http://schemas.microsoft.com/office/drawing/2014/main" id="{226D91D6-8B82-4552-BA7F-ACD3DC677865}"/>
              </a:ext>
            </a:extLst>
          </p:cNvPr>
          <p:cNvPicPr>
            <a:picLocks noChangeAspect="1"/>
          </p:cNvPicPr>
          <p:nvPr/>
        </p:nvPicPr>
        <p:blipFill>
          <a:blip r:embed="rId4"/>
          <a:stretch>
            <a:fillRect/>
          </a:stretch>
        </p:blipFill>
        <p:spPr>
          <a:xfrm>
            <a:off x="5066498" y="1992460"/>
            <a:ext cx="2814401" cy="2423094"/>
          </a:xfrm>
          <a:prstGeom prst="rect">
            <a:avLst/>
          </a:prstGeom>
        </p:spPr>
      </p:pic>
    </p:spTree>
    <p:extLst>
      <p:ext uri="{BB962C8B-B14F-4D97-AF65-F5344CB8AC3E}">
        <p14:creationId xmlns:p14="http://schemas.microsoft.com/office/powerpoint/2010/main" val="116613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Одноадресная, широковещательная и многоадресная рассылка IPv4 </a:t>
            </a:r>
            <a:br>
              <a:rPr lang="en-US" dirty="0"/>
            </a:br>
            <a:r>
              <a:rPr lang="ru-RU" sz="2400"/>
              <a:t>Многоадресная передача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rtl="0">
              <a:buFont typeface="Arial" panose="020B0604020202020204" pitchFamily="34" charset="0"/>
              <a:buChar char="•"/>
            </a:pPr>
            <a:r>
              <a:rPr lang="ru-RU" sz="1600" dirty="0">
                <a:solidFill>
                  <a:srgbClr val="000000"/>
                </a:solidFill>
              </a:rPr>
              <a:t>Многоадресная передача отправляет пакет в группу адресов многоадресной рассылки.</a:t>
            </a: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Например компьютер 172.16.4.1 отправляет многоадресный пакет на адрес группы многоадресной рассылки 224.10.10.5.</a:t>
            </a:r>
          </a:p>
        </p:txBody>
      </p:sp>
      <p:pic>
        <p:nvPicPr>
          <p:cNvPr id="6" name="Picture 5">
            <a:extLst>
              <a:ext uri="{FF2B5EF4-FFF2-40B4-BE49-F238E27FC236}">
                <a16:creationId xmlns:a16="http://schemas.microsoft.com/office/drawing/2014/main" id="{0508B46F-E225-4F03-B437-98A0BB4F765A}"/>
              </a:ext>
            </a:extLst>
          </p:cNvPr>
          <p:cNvPicPr>
            <a:picLocks noChangeAspect="1"/>
          </p:cNvPicPr>
          <p:nvPr/>
        </p:nvPicPr>
        <p:blipFill>
          <a:blip r:embed="rId3"/>
          <a:stretch>
            <a:fillRect/>
          </a:stretch>
        </p:blipFill>
        <p:spPr>
          <a:xfrm>
            <a:off x="918273" y="2278304"/>
            <a:ext cx="2862981" cy="2169526"/>
          </a:xfrm>
          <a:prstGeom prst="rect">
            <a:avLst/>
          </a:prstGeom>
        </p:spPr>
      </p:pic>
      <p:sp>
        <p:nvSpPr>
          <p:cNvPr id="8" name="Arrow: Right 7">
            <a:extLst>
              <a:ext uri="{FF2B5EF4-FFF2-40B4-BE49-F238E27FC236}">
                <a16:creationId xmlns:a16="http://schemas.microsoft.com/office/drawing/2014/main" id="{7B0C162D-3A37-40E3-9806-62C97CB24D0F}"/>
              </a:ext>
            </a:extLst>
          </p:cNvPr>
          <p:cNvSpPr/>
          <p:nvPr/>
        </p:nvSpPr>
        <p:spPr>
          <a:xfrm>
            <a:off x="3999712"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7" name="Picture 6">
            <a:extLst>
              <a:ext uri="{FF2B5EF4-FFF2-40B4-BE49-F238E27FC236}">
                <a16:creationId xmlns:a16="http://schemas.microsoft.com/office/drawing/2014/main" id="{ACC59E69-3898-4F73-83D5-D2A1CF5F0CE6}"/>
              </a:ext>
            </a:extLst>
          </p:cNvPr>
          <p:cNvPicPr>
            <a:picLocks noChangeAspect="1"/>
          </p:cNvPicPr>
          <p:nvPr/>
        </p:nvPicPr>
        <p:blipFill>
          <a:blip r:embed="rId4"/>
          <a:stretch>
            <a:fillRect/>
          </a:stretch>
        </p:blipFill>
        <p:spPr>
          <a:xfrm>
            <a:off x="5073711" y="2280614"/>
            <a:ext cx="2862981" cy="2169526"/>
          </a:xfrm>
          <a:prstGeom prst="rect">
            <a:avLst/>
          </a:prstGeom>
        </p:spPr>
      </p:pic>
    </p:spTree>
    <p:extLst>
      <p:ext uri="{BB962C8B-B14F-4D97-AF65-F5344CB8AC3E}">
        <p14:creationId xmlns:p14="http://schemas.microsoft.com/office/powerpoint/2010/main" val="20855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11.3 Типы IPv4 адресов</a:t>
            </a:r>
          </a:p>
        </p:txBody>
      </p:sp>
    </p:spTree>
    <p:custDataLst>
      <p:tags r:id="rId1"/>
    </p:custDataLst>
    <p:extLst>
      <p:ext uri="{BB962C8B-B14F-4D97-AF65-F5344CB8AC3E}">
        <p14:creationId xmlns:p14="http://schemas.microsoft.com/office/powerpoint/2010/main" val="178210768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IPv4-адресов </a:t>
            </a:r>
            <a:br>
              <a:rPr lang="en-US" dirty="0"/>
            </a:br>
            <a:r>
              <a:rPr lang="ru-RU" sz="2400"/>
              <a:t>Публичные и частные IPv4-адреса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825923"/>
          </a:xfrm>
        </p:spPr>
        <p:txBody>
          <a:bodyPr/>
          <a:lstStyle/>
          <a:p>
            <a:pPr marL="342900" indent="-342900" algn="l" rtl="0">
              <a:buFont typeface="Arial" panose="020B0604020202020204" pitchFamily="34" charset="0"/>
              <a:buChar char="•"/>
            </a:pPr>
            <a:r>
              <a:rPr lang="ru-RU" sz="1600">
                <a:solidFill>
                  <a:srgbClr val="000000"/>
                </a:solidFill>
              </a:rPr>
              <a:t>Публичные IPv4-адреса представляют собой адреса, на глобальном уровне маршрутизируемые между маршрутизаторами интернет-провайдеров (Internet Service Provider, ISP).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Однако частные адреса не являются глобально маршрутизируемыми.</a:t>
            </a: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id="{58479601-5CDB-4C0D-B13C-379A83A14207}"/>
              </a:ext>
            </a:extLst>
          </p:cNvPr>
          <p:cNvSpPr txBox="1">
            <a:spLocks/>
          </p:cNvSpPr>
          <p:nvPr/>
        </p:nvSpPr>
        <p:spPr>
          <a:xfrm>
            <a:off x="431971" y="1681342"/>
            <a:ext cx="4269121" cy="24603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dirty="0">
                <a:solidFill>
                  <a:srgbClr val="000000"/>
                </a:solidFill>
              </a:rPr>
              <a:t>Имеются блоки адресов, называемые частными адресами, которые в большинстве компаний назначаются в качестве IPv4-адресов внутренних хостов.</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Частные адреса IPv4 не являются уникальными и могут использоваться в любой внутренней сети.</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graphicFrame>
        <p:nvGraphicFramePr>
          <p:cNvPr id="6" name="Table 5">
            <a:extLst>
              <a:ext uri="{FF2B5EF4-FFF2-40B4-BE49-F238E27FC236}">
                <a16:creationId xmlns:a16="http://schemas.microsoft.com/office/drawing/2014/main" id="{89B44CF3-2CFA-4BA2-948A-BF99DA4FD67D}"/>
              </a:ext>
            </a:extLst>
          </p:cNvPr>
          <p:cNvGraphicFramePr>
            <a:graphicFrameLocks noGrp="1"/>
          </p:cNvGraphicFramePr>
          <p:nvPr>
            <p:extLst>
              <p:ext uri="{D42A27DB-BD31-4B8C-83A1-F6EECF244321}">
                <p14:modId xmlns:p14="http://schemas.microsoft.com/office/powerpoint/2010/main" val="728869958"/>
              </p:ext>
            </p:extLst>
          </p:nvPr>
        </p:nvGraphicFramePr>
        <p:xfrm>
          <a:off x="5173532" y="1804924"/>
          <a:ext cx="3644396" cy="1511300"/>
        </p:xfrm>
        <a:graphic>
          <a:graphicData uri="http://schemas.openxmlformats.org/drawingml/2006/table">
            <a:tbl>
              <a:tblPr firstRow="1" bandRow="1">
                <a:tableStyleId>{5C22544A-7EE6-4342-B048-85BDC9FD1C3A}</a:tableStyleId>
              </a:tblPr>
              <a:tblGrid>
                <a:gridCol w="1219648">
                  <a:extLst>
                    <a:ext uri="{9D8B030D-6E8A-4147-A177-3AD203B41FA5}">
                      <a16:colId xmlns:a16="http://schemas.microsoft.com/office/drawing/2014/main" val="828829070"/>
                    </a:ext>
                  </a:extLst>
                </a:gridCol>
                <a:gridCol w="2424748">
                  <a:extLst>
                    <a:ext uri="{9D8B030D-6E8A-4147-A177-3AD203B41FA5}">
                      <a16:colId xmlns:a16="http://schemas.microsoft.com/office/drawing/2014/main" val="1771473634"/>
                    </a:ext>
                  </a:extLst>
                </a:gridCol>
              </a:tblGrid>
              <a:tr h="370840">
                <a:tc>
                  <a:txBody>
                    <a:bodyPr/>
                    <a:lstStyle/>
                    <a:p>
                      <a:pPr algn="l" rtl="0" fontAlgn="ctr"/>
                      <a:r>
                        <a:rPr lang="ru-RU" sz="1100" b="1">
                          <a:effectLst/>
                        </a:rPr>
                        <a:t>Сетевой адрес и префикс</a:t>
                      </a:r>
                    </a:p>
                  </a:txBody>
                  <a:tcPr marL="31750" marR="31750" marT="31750" marB="31750" anchor="ctr"/>
                </a:tc>
                <a:tc>
                  <a:txBody>
                    <a:bodyPr/>
                    <a:lstStyle/>
                    <a:p>
                      <a:pPr algn="l" rtl="0" fontAlgn="ctr"/>
                      <a:r>
                        <a:rPr lang="ru-RU" sz="1100" b="1">
                          <a:effectLst/>
                        </a:rPr>
                        <a:t>Диапазон частных адресов RFC 1918</a:t>
                      </a:r>
                    </a:p>
                  </a:txBody>
                  <a:tcPr marL="31750" marR="31750" marT="31750" marB="31750" anchor="ctr"/>
                </a:tc>
                <a:extLst>
                  <a:ext uri="{0D108BD9-81ED-4DB2-BD59-A6C34878D82A}">
                    <a16:rowId xmlns:a16="http://schemas.microsoft.com/office/drawing/2014/main" val="3171941068"/>
                  </a:ext>
                </a:extLst>
              </a:tr>
              <a:tr h="370840">
                <a:tc>
                  <a:txBody>
                    <a:bodyPr/>
                    <a:lstStyle/>
                    <a:p>
                      <a:pPr rtl="0" fontAlgn="ctr"/>
                      <a:r>
                        <a:rPr lang="ru-RU" sz="1100" b="0">
                          <a:effectLst/>
                        </a:rPr>
                        <a:t>10.0.0.0/8</a:t>
                      </a:r>
                    </a:p>
                  </a:txBody>
                  <a:tcPr marL="31750" marR="31750" marT="31750" marB="31750" anchor="ctr"/>
                </a:tc>
                <a:tc>
                  <a:txBody>
                    <a:bodyPr/>
                    <a:lstStyle/>
                    <a:p>
                      <a:pPr rtl="0" fontAlgn="ctr"/>
                      <a:r>
                        <a:rPr lang="ru-RU" sz="1100" b="0">
                          <a:effectLst/>
                        </a:rPr>
                        <a:t>10.0.0.0 - 10.255.255.255</a:t>
                      </a:r>
                    </a:p>
                  </a:txBody>
                  <a:tcPr marL="31750" marR="31750" marT="31750" marB="31750" anchor="ctr"/>
                </a:tc>
                <a:extLst>
                  <a:ext uri="{0D108BD9-81ED-4DB2-BD59-A6C34878D82A}">
                    <a16:rowId xmlns:a16="http://schemas.microsoft.com/office/drawing/2014/main" val="2015275534"/>
                  </a:ext>
                </a:extLst>
              </a:tr>
              <a:tr h="370840">
                <a:tc>
                  <a:txBody>
                    <a:bodyPr/>
                    <a:lstStyle/>
                    <a:p>
                      <a:pPr rtl="0" fontAlgn="ctr"/>
                      <a:r>
                        <a:rPr lang="ru-RU" sz="1100" b="0">
                          <a:effectLst/>
                        </a:rPr>
                        <a:t>172.16.0.0/12</a:t>
                      </a:r>
                    </a:p>
                  </a:txBody>
                  <a:tcPr marL="31750" marR="31750" marT="31750" marB="31750" anchor="ctr"/>
                </a:tc>
                <a:tc>
                  <a:txBody>
                    <a:bodyPr/>
                    <a:lstStyle/>
                    <a:p>
                      <a:pPr rtl="0" fontAlgn="ctr"/>
                      <a:r>
                        <a:rPr lang="ru-RU" sz="1100" b="0">
                          <a:effectLst/>
                        </a:rPr>
                        <a:t>172.16.0.0 - 172.31.255.255</a:t>
                      </a:r>
                    </a:p>
                  </a:txBody>
                  <a:tcPr marL="31750" marR="31750" marT="31750" marB="31750" anchor="ctr"/>
                </a:tc>
                <a:extLst>
                  <a:ext uri="{0D108BD9-81ED-4DB2-BD59-A6C34878D82A}">
                    <a16:rowId xmlns:a16="http://schemas.microsoft.com/office/drawing/2014/main" val="1058997535"/>
                  </a:ext>
                </a:extLst>
              </a:tr>
              <a:tr h="370840">
                <a:tc>
                  <a:txBody>
                    <a:bodyPr/>
                    <a:lstStyle/>
                    <a:p>
                      <a:pPr rtl="0" fontAlgn="ctr"/>
                      <a:r>
                        <a:rPr lang="ru-RU" sz="1100" b="0">
                          <a:effectLst/>
                        </a:rPr>
                        <a:t>192.168.0.0/16</a:t>
                      </a:r>
                    </a:p>
                  </a:txBody>
                  <a:tcPr marL="31750" marR="31750" marT="31750" marB="31750" anchor="ctr"/>
                </a:tc>
                <a:tc>
                  <a:txBody>
                    <a:bodyPr/>
                    <a:lstStyle/>
                    <a:p>
                      <a:pPr rtl="0" fontAlgn="ctr"/>
                      <a:r>
                        <a:rPr lang="ru-RU" sz="1100" b="0">
                          <a:effectLst/>
                        </a:rPr>
                        <a:t>192.168.0.0 - 192.168.255.255</a:t>
                      </a:r>
                    </a:p>
                  </a:txBody>
                  <a:tcPr marL="31750" marR="31750" marT="31750" marB="31750" anchor="ctr"/>
                </a:tc>
                <a:extLst>
                  <a:ext uri="{0D108BD9-81ED-4DB2-BD59-A6C34878D82A}">
                    <a16:rowId xmlns:a16="http://schemas.microsoft.com/office/drawing/2014/main" val="3597758659"/>
                  </a:ext>
                </a:extLst>
              </a:tr>
            </a:tbl>
          </a:graphicData>
        </a:graphic>
      </p:graphicFrame>
    </p:spTree>
    <p:extLst>
      <p:ext uri="{BB962C8B-B14F-4D97-AF65-F5344CB8AC3E}">
        <p14:creationId xmlns:p14="http://schemas.microsoft.com/office/powerpoint/2010/main" val="413273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IPv4 Адреса</a:t>
            </a:r>
            <a:br>
              <a:rPr lang="en-US" dirty="0"/>
            </a:br>
            <a:r>
              <a:rPr lang="ru-RU" sz="2400"/>
              <a:t>Маршрутизация в Интернет</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3737" y="855419"/>
            <a:ext cx="8538291" cy="728192"/>
          </a:xfrm>
        </p:spPr>
        <p:txBody>
          <a:bodyPr/>
          <a:lstStyle/>
          <a:p>
            <a:pPr marL="342900" indent="-342900" algn="l" rtl="0">
              <a:buFont typeface="Arial" panose="020B0604020202020204" pitchFamily="34" charset="0"/>
              <a:buChar char="•"/>
            </a:pPr>
            <a:r>
              <a:rPr lang="ru-RU" sz="1600">
                <a:solidFill>
                  <a:srgbClr val="000000"/>
                </a:solidFill>
              </a:rPr>
              <a:t>Преобразование сетевых адресов (Network Address Translation, NAT) используется для преобразования частного IPv4-адреса в публичный IPv4-адрес.</a:t>
            </a:r>
          </a:p>
        </p:txBody>
      </p:sp>
      <p:sp>
        <p:nvSpPr>
          <p:cNvPr id="5" name="Content Placeholder 3">
            <a:extLst>
              <a:ext uri="{FF2B5EF4-FFF2-40B4-BE49-F238E27FC236}">
                <a16:creationId xmlns:a16="http://schemas.microsoft.com/office/drawing/2014/main" id="{BB41F94C-72F5-4291-BC41-D3CA12CF0380}"/>
              </a:ext>
            </a:extLst>
          </p:cNvPr>
          <p:cNvSpPr txBox="1">
            <a:spLocks/>
          </p:cNvSpPr>
          <p:nvPr/>
        </p:nvSpPr>
        <p:spPr>
          <a:xfrm>
            <a:off x="173737" y="1683758"/>
            <a:ext cx="3163974"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dirty="0">
                <a:solidFill>
                  <a:srgbClr val="000000"/>
                </a:solidFill>
              </a:rPr>
              <a:t>NAT обычно включается на пограничном маршрутизаторе, подключенном к Интернету.</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Преобразует частные IP-адреса в публичные IP-адреса.</a:t>
            </a:r>
          </a:p>
        </p:txBody>
      </p:sp>
      <p:pic>
        <p:nvPicPr>
          <p:cNvPr id="2" name="Picture 1">
            <a:extLst>
              <a:ext uri="{FF2B5EF4-FFF2-40B4-BE49-F238E27FC236}">
                <a16:creationId xmlns:a16="http://schemas.microsoft.com/office/drawing/2014/main" id="{012E9573-E9D0-43E1-8820-1689885BBBE5}"/>
              </a:ext>
            </a:extLst>
          </p:cNvPr>
          <p:cNvPicPr>
            <a:picLocks noChangeAspect="1"/>
          </p:cNvPicPr>
          <p:nvPr/>
        </p:nvPicPr>
        <p:blipFill>
          <a:blip r:embed="rId3"/>
          <a:stretch>
            <a:fillRect/>
          </a:stretch>
        </p:blipFill>
        <p:spPr>
          <a:xfrm>
            <a:off x="3337710" y="1583611"/>
            <a:ext cx="5288257" cy="3440210"/>
          </a:xfrm>
          <a:prstGeom prst="rect">
            <a:avLst/>
          </a:prstGeom>
        </p:spPr>
      </p:pic>
    </p:spTree>
    <p:extLst>
      <p:ext uri="{BB962C8B-B14F-4D97-AF65-F5344CB8AC3E}">
        <p14:creationId xmlns:p14="http://schemas.microsoft.com/office/powerpoint/2010/main" val="288846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IPv4-адресов </a:t>
            </a:r>
            <a:br>
              <a:rPr lang="en-US" dirty="0"/>
            </a:br>
            <a:r>
              <a:rPr lang="ru-RU" sz="2400"/>
              <a:t>IPv4-адреса специального назначения</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28017" y="855419"/>
            <a:ext cx="5103860" cy="1478990"/>
          </a:xfrm>
        </p:spPr>
        <p:txBody>
          <a:bodyPr/>
          <a:lstStyle/>
          <a:p>
            <a:pPr marL="0" indent="0" algn="l" rtl="0"/>
            <a:r>
              <a:rPr lang="ru-RU" dirty="0">
                <a:solidFill>
                  <a:srgbClr val="000000"/>
                </a:solidFill>
              </a:rPr>
              <a:t>Адреса обратной петли</a:t>
            </a:r>
          </a:p>
          <a:p>
            <a:pPr marL="342900" indent="-342900" algn="l" rtl="0">
              <a:buFont typeface="Arial" panose="020B0604020202020204" pitchFamily="34" charset="0"/>
              <a:buChar char="•"/>
            </a:pPr>
            <a:r>
              <a:rPr lang="ru-RU" sz="1600" dirty="0">
                <a:solidFill>
                  <a:srgbClr val="000000"/>
                </a:solidFill>
              </a:rPr>
              <a:t>127.0.0.0 /8 или от 127.0.0.1 до 127.255.255.254</a:t>
            </a:r>
          </a:p>
          <a:p>
            <a:pPr marL="342900" indent="-342900" algn="l" rtl="0">
              <a:buFont typeface="Arial" panose="020B0604020202020204" pitchFamily="34" charset="0"/>
              <a:buChar char="•"/>
            </a:pPr>
            <a:r>
              <a:rPr lang="ru-RU" sz="1600" dirty="0">
                <a:solidFill>
                  <a:srgbClr val="000000"/>
                </a:solidFill>
              </a:rPr>
              <a:t>Обычно идентифицируется только как 127.0.0.1</a:t>
            </a:r>
          </a:p>
          <a:p>
            <a:pPr marL="342900" indent="-342900" algn="l" rtl="0">
              <a:buFont typeface="Arial" panose="020B0604020202020204" pitchFamily="34" charset="0"/>
              <a:buChar char="•"/>
            </a:pPr>
            <a:r>
              <a:rPr lang="ru-RU" sz="1600" dirty="0">
                <a:solidFill>
                  <a:srgbClr val="000000"/>
                </a:solidFill>
              </a:rPr>
              <a:t>Используется на хосте для проверки работоспособности конфигурации TCP/IP.</a:t>
            </a:r>
          </a:p>
        </p:txBody>
      </p:sp>
      <p:pic>
        <p:nvPicPr>
          <p:cNvPr id="2" name="Picture 1">
            <a:extLst>
              <a:ext uri="{FF2B5EF4-FFF2-40B4-BE49-F238E27FC236}">
                <a16:creationId xmlns:a16="http://schemas.microsoft.com/office/drawing/2014/main" id="{ADE57F18-BC87-45CB-B8E6-D449D45277B5}"/>
              </a:ext>
            </a:extLst>
          </p:cNvPr>
          <p:cNvPicPr>
            <a:picLocks noChangeAspect="1"/>
          </p:cNvPicPr>
          <p:nvPr/>
        </p:nvPicPr>
        <p:blipFill>
          <a:blip r:embed="rId3"/>
          <a:stretch>
            <a:fillRect/>
          </a:stretch>
        </p:blipFill>
        <p:spPr>
          <a:xfrm>
            <a:off x="5357308" y="1214135"/>
            <a:ext cx="3564074" cy="876875"/>
          </a:xfrm>
          <a:prstGeom prst="rect">
            <a:avLst/>
          </a:prstGeom>
        </p:spPr>
      </p:pic>
      <p:sp>
        <p:nvSpPr>
          <p:cNvPr id="5" name="Content Placeholder 3">
            <a:extLst>
              <a:ext uri="{FF2B5EF4-FFF2-40B4-BE49-F238E27FC236}">
                <a16:creationId xmlns:a16="http://schemas.microsoft.com/office/drawing/2014/main" id="{15B257E1-0405-4735-85E9-547525F12CE6}"/>
              </a:ext>
            </a:extLst>
          </p:cNvPr>
          <p:cNvSpPr txBox="1">
            <a:spLocks/>
          </p:cNvSpPr>
          <p:nvPr/>
        </p:nvSpPr>
        <p:spPr>
          <a:xfrm>
            <a:off x="128018" y="2385343"/>
            <a:ext cx="8510374" cy="190695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ru-RU" dirty="0">
                <a:solidFill>
                  <a:srgbClr val="000000"/>
                </a:solidFill>
              </a:rPr>
              <a:t>Локальные адреса каналов</a:t>
            </a:r>
          </a:p>
          <a:p>
            <a:pPr marL="342900" indent="-342900" algn="l" rtl="0">
              <a:buFont typeface="Arial" panose="020B0604020202020204" pitchFamily="34" charset="0"/>
              <a:buChar char="•"/>
            </a:pPr>
            <a:r>
              <a:rPr lang="ru-RU" sz="1600" dirty="0">
                <a:solidFill>
                  <a:srgbClr val="000000"/>
                </a:solidFill>
              </a:rPr>
              <a:t>169.254.0.0 /16 или от 169.254.0.1 до 169.254.255.254</a:t>
            </a:r>
          </a:p>
          <a:p>
            <a:pPr marL="342900" indent="-342900" algn="l" rtl="0">
              <a:buFont typeface="Arial" panose="020B0604020202020204" pitchFamily="34" charset="0"/>
              <a:buChar char="•"/>
            </a:pPr>
            <a:r>
              <a:rPr lang="ru-RU" sz="1600" dirty="0">
                <a:solidFill>
                  <a:srgbClr val="000000"/>
                </a:solidFill>
              </a:rPr>
              <a:t>Более известны как адреса автоматической частной IP-адресации (APIPA). </a:t>
            </a:r>
          </a:p>
          <a:p>
            <a:pPr marL="342900" indent="-342900" algn="l" rtl="0">
              <a:buFont typeface="Arial" panose="020B0604020202020204" pitchFamily="34" charset="0"/>
              <a:buChar char="•"/>
            </a:pPr>
            <a:r>
              <a:rPr lang="ru-RU" sz="1600" dirty="0">
                <a:solidFill>
                  <a:srgbClr val="000000"/>
                </a:solidFill>
              </a:rPr>
              <a:t>Используются клиентом с ОС </a:t>
            </a:r>
            <a:r>
              <a:rPr lang="ru-RU" sz="1600" dirty="0" err="1">
                <a:solidFill>
                  <a:srgbClr val="000000"/>
                </a:solidFill>
              </a:rPr>
              <a:t>Windows</a:t>
            </a:r>
            <a:r>
              <a:rPr lang="ru-RU" sz="1600" dirty="0">
                <a:solidFill>
                  <a:srgbClr val="000000"/>
                </a:solidFill>
              </a:rPr>
              <a:t> для автоматической настройки, если нет доступного DHCP-сервера.</a:t>
            </a:r>
          </a:p>
        </p:txBody>
      </p:sp>
    </p:spTree>
    <p:extLst>
      <p:ext uri="{BB962C8B-B14F-4D97-AF65-F5344CB8AC3E}">
        <p14:creationId xmlns:p14="http://schemas.microsoft.com/office/powerpoint/2010/main" val="40078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адресов IPv4 </a:t>
            </a:r>
            <a:br>
              <a:rPr lang="en-US" dirty="0"/>
            </a:br>
            <a:r>
              <a:rPr lang="ru-RU" sz="2400"/>
              <a:t>Традиционная классовая адресация</a:t>
            </a:r>
          </a:p>
        </p:txBody>
      </p:sp>
      <p:pic>
        <p:nvPicPr>
          <p:cNvPr id="2" name="Picture 1">
            <a:extLst>
              <a:ext uri="{FF2B5EF4-FFF2-40B4-BE49-F238E27FC236}">
                <a16:creationId xmlns:a16="http://schemas.microsoft.com/office/drawing/2014/main" id="{ADCDBF03-421E-4564-9492-4248ADBE461B}"/>
              </a:ext>
            </a:extLst>
          </p:cNvPr>
          <p:cNvPicPr>
            <a:picLocks noChangeAspect="1"/>
          </p:cNvPicPr>
          <p:nvPr/>
        </p:nvPicPr>
        <p:blipFill>
          <a:blip r:embed="rId3"/>
          <a:stretch>
            <a:fillRect/>
          </a:stretch>
        </p:blipFill>
        <p:spPr>
          <a:xfrm>
            <a:off x="5482551" y="1248180"/>
            <a:ext cx="3163682" cy="1836595"/>
          </a:xfrm>
          <a:prstGeom prst="rect">
            <a:avLst/>
          </a:prstGeom>
        </p:spPr>
      </p:pic>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685733"/>
            <a:ext cx="4956309" cy="4060826"/>
          </a:xfrm>
        </p:spPr>
        <p:txBody>
          <a:bodyPr/>
          <a:lstStyle/>
          <a:p>
            <a:pPr marL="0" indent="0" algn="l" rtl="0"/>
            <a:r>
              <a:rPr lang="ru-RU">
                <a:solidFill>
                  <a:srgbClr val="000000"/>
                </a:solidFill>
              </a:rPr>
              <a:t>RFC 790 (1981) выделил адреса IPv4 в классах</a:t>
            </a:r>
          </a:p>
          <a:p>
            <a:pPr marL="342900" indent="-342900" algn="l" rtl="0">
              <a:buFont typeface="Arial" panose="020B0604020202020204" pitchFamily="34" charset="0"/>
              <a:buChar char="•"/>
            </a:pPr>
            <a:r>
              <a:rPr lang="ru-RU" sz="1600">
                <a:solidFill>
                  <a:srgbClr val="000000"/>
                </a:solidFill>
              </a:rPr>
              <a:t>Класс A (0.0.0.0/8 - 127.0.0.0/8)</a:t>
            </a:r>
          </a:p>
          <a:p>
            <a:pPr marL="342900" indent="-342900" algn="l" rtl="0">
              <a:buFont typeface="Arial" panose="020B0604020202020204" pitchFamily="34" charset="0"/>
              <a:buChar char="•"/>
            </a:pPr>
            <a:r>
              <a:rPr lang="ru-RU" sz="1600">
                <a:solidFill>
                  <a:srgbClr val="000000"/>
                </a:solidFill>
              </a:rPr>
              <a:t>Класс B (128.0.0.0 /16 - 191.255.0.0 /16)</a:t>
            </a:r>
          </a:p>
          <a:p>
            <a:pPr marL="342900" indent="-342900" algn="l" rtl="0">
              <a:buFont typeface="Arial" panose="020B0604020202020204" pitchFamily="34" charset="0"/>
              <a:buChar char="•"/>
            </a:pPr>
            <a:r>
              <a:rPr lang="ru-RU" sz="1600">
                <a:solidFill>
                  <a:srgbClr val="000000"/>
                </a:solidFill>
              </a:rPr>
              <a:t>Класс С (192.0.0.0 /24 - 223.255.255.0 /24)</a:t>
            </a:r>
          </a:p>
          <a:p>
            <a:pPr marL="342900" indent="-342900" algn="l" rtl="0">
              <a:buFont typeface="Arial" panose="020B0604020202020204" pitchFamily="34" charset="0"/>
              <a:buChar char="•"/>
            </a:pPr>
            <a:r>
              <a:rPr lang="ru-RU" sz="1600">
                <a:solidFill>
                  <a:srgbClr val="000000"/>
                </a:solidFill>
              </a:rPr>
              <a:t>Класс D (224.0.0.0 - 239.0.0.0)</a:t>
            </a:r>
          </a:p>
          <a:p>
            <a:pPr marL="342900" indent="-342900" algn="l" rtl="0">
              <a:buFont typeface="Arial" panose="020B0604020202020204" pitchFamily="34" charset="0"/>
              <a:buChar char="•"/>
            </a:pPr>
            <a:r>
              <a:rPr lang="ru-RU" sz="1600">
                <a:solidFill>
                  <a:srgbClr val="000000"/>
                </a:solidFill>
              </a:rPr>
              <a:t>Класс Е (240.0.0.0 - 255.0.0.0)</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Классическая адресация потратила много адресов IPv4.</a:t>
            </a:r>
          </a:p>
          <a:p>
            <a:pPr marL="342900" indent="-342900" algn="l">
              <a:buFont typeface="Arial" panose="020B0604020202020204" pitchFamily="34" charset="0"/>
              <a:buChar char="•"/>
            </a:pPr>
            <a:endParaRPr lang="en-CA" sz="1600" dirty="0">
              <a:solidFill>
                <a:srgbClr val="000000"/>
              </a:solidFill>
            </a:endParaRPr>
          </a:p>
          <a:p>
            <a:pPr marL="0" indent="0" algn="l" rtl="0"/>
            <a:r>
              <a:rPr lang="ru-RU" sz="1600">
                <a:solidFill>
                  <a:srgbClr val="000000"/>
                </a:solidFill>
              </a:rPr>
              <a:t>Классовое распределение адресов было заменено бесклассовой адресацией, которая игнорирует правила классов (A, B, C). </a:t>
            </a:r>
          </a:p>
        </p:txBody>
      </p:sp>
    </p:spTree>
    <p:extLst>
      <p:ext uri="{BB962C8B-B14F-4D97-AF65-F5344CB8AC3E}">
        <p14:creationId xmlns:p14="http://schemas.microsoft.com/office/powerpoint/2010/main" val="72890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адресов IPv4 </a:t>
            </a:r>
            <a:br>
              <a:rPr lang="en-US" dirty="0"/>
            </a:br>
            <a:r>
              <a:rPr lang="ru-RU" sz="2400"/>
              <a:t>Назначение IP-адресов</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7711"/>
          </a:xfrm>
        </p:spPr>
        <p:txBody>
          <a:bodyPr/>
          <a:lstStyle/>
          <a:p>
            <a:pPr marL="342900" indent="-342900" algn="l" rtl="0">
              <a:buFont typeface="Arial" panose="020B0604020202020204" pitchFamily="34" charset="0"/>
              <a:buChar char="•"/>
            </a:pPr>
            <a:r>
              <a:rPr lang="ru-RU" sz="1600">
                <a:solidFill>
                  <a:srgbClr val="000000"/>
                </a:solidFill>
              </a:rPr>
              <a:t>IANA управляет блоками IP-адресов и распределяет их между региональными интернет-регистраторами (RIR). </a:t>
            </a:r>
          </a:p>
        </p:txBody>
      </p:sp>
      <p:sp>
        <p:nvSpPr>
          <p:cNvPr id="5" name="Content Placeholder 3">
            <a:extLst>
              <a:ext uri="{FF2B5EF4-FFF2-40B4-BE49-F238E27FC236}">
                <a16:creationId xmlns:a16="http://schemas.microsoft.com/office/drawing/2014/main" id="{409BC4D9-9184-42D7-839E-39E96E08A3D4}"/>
              </a:ext>
            </a:extLst>
          </p:cNvPr>
          <p:cNvSpPr txBox="1">
            <a:spLocks/>
          </p:cNvSpPr>
          <p:nvPr/>
        </p:nvSpPr>
        <p:spPr>
          <a:xfrm>
            <a:off x="431970" y="1681116"/>
            <a:ext cx="3337951" cy="224824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a:solidFill>
                  <a:srgbClr val="000000"/>
                </a:solidFill>
              </a:rPr>
              <a:t>Региональные интернет-регистраторы (RIR) отвечают за распределение IP-адресов между интернет-провайдерами (ISP), которые, в свою очередь, предоставляют блоки IPv4-адресов организациям и менее крупным провайдерам. </a:t>
            </a:r>
          </a:p>
        </p:txBody>
      </p:sp>
      <p:pic>
        <p:nvPicPr>
          <p:cNvPr id="2" name="Picture 1">
            <a:extLst>
              <a:ext uri="{FF2B5EF4-FFF2-40B4-BE49-F238E27FC236}">
                <a16:creationId xmlns:a16="http://schemas.microsoft.com/office/drawing/2014/main" id="{B02C39C3-1B89-41EA-828D-DA77348A5746}"/>
              </a:ext>
            </a:extLst>
          </p:cNvPr>
          <p:cNvPicPr>
            <a:picLocks noChangeAspect="1"/>
          </p:cNvPicPr>
          <p:nvPr/>
        </p:nvPicPr>
        <p:blipFill>
          <a:blip r:embed="rId3"/>
          <a:stretch>
            <a:fillRect/>
          </a:stretch>
        </p:blipFill>
        <p:spPr>
          <a:xfrm>
            <a:off x="3937299" y="1681116"/>
            <a:ext cx="4607351" cy="2371831"/>
          </a:xfrm>
          <a:prstGeom prst="rect">
            <a:avLst/>
          </a:prstGeom>
        </p:spPr>
      </p:pic>
    </p:spTree>
    <p:extLst>
      <p:ext uri="{BB962C8B-B14F-4D97-AF65-F5344CB8AC3E}">
        <p14:creationId xmlns:p14="http://schemas.microsoft.com/office/powerpoint/2010/main" val="619740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11.4 Сегментация</a:t>
            </a:r>
            <a:br>
              <a:rPr lang="en-CA" dirty="0">
                <a:solidFill>
                  <a:schemeClr val="accent5">
                    <a:lumMod val="40000"/>
                    <a:lumOff val="60000"/>
                  </a:schemeClr>
                </a:solidFill>
              </a:rPr>
            </a:br>
            <a:r>
              <a:rPr lang="ru-RU">
                <a:solidFill>
                  <a:schemeClr val="accent5">
                    <a:lumMod val="40000"/>
                    <a:lumOff val="60000"/>
                  </a:schemeClr>
                </a:solidFill>
              </a:rPr>
              <a:t>сети</a:t>
            </a:r>
          </a:p>
        </p:txBody>
      </p:sp>
    </p:spTree>
    <p:custDataLst>
      <p:tags r:id="rId1"/>
    </p:custDataLst>
    <p:extLst>
      <p:ext uri="{BB962C8B-B14F-4D97-AF65-F5344CB8AC3E}">
        <p14:creationId xmlns:p14="http://schemas.microsoft.com/office/powerpoint/2010/main" val="4286237413"/>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Сегментация сети </a:t>
            </a:r>
            <a:br>
              <a:rPr lang="en-US" dirty="0"/>
            </a:br>
            <a:r>
              <a:rPr lang="ru-RU" sz="2400"/>
              <a:t>Сегментация сети Домены широковещательной рассылки</a:t>
            </a:r>
          </a:p>
        </p:txBody>
      </p:sp>
      <p:sp>
        <p:nvSpPr>
          <p:cNvPr id="4" name="Content Placeholder 1">
            <a:extLst>
              <a:ext uri="{FF2B5EF4-FFF2-40B4-BE49-F238E27FC236}">
                <a16:creationId xmlns:a16="http://schemas.microsoft.com/office/drawing/2014/main" id="{50693879-5816-3444-9D50-A12F1F37F5DE}"/>
              </a:ext>
            </a:extLst>
          </p:cNvPr>
          <p:cNvSpPr>
            <a:spLocks noGrp="1"/>
          </p:cNvSpPr>
          <p:nvPr>
            <p:ph idx="1"/>
          </p:nvPr>
        </p:nvSpPr>
        <p:spPr>
          <a:xfrm>
            <a:off x="64155" y="873478"/>
            <a:ext cx="8997549" cy="1190197"/>
          </a:xfrm>
        </p:spPr>
        <p:txBody>
          <a:bodyPr/>
          <a:lstStyle/>
          <a:p>
            <a:pPr marL="342900" indent="-342900" algn="l" rtl="0">
              <a:buFont typeface="Arial" panose="020B0604020202020204" pitchFamily="34" charset="0"/>
              <a:buChar char="•"/>
            </a:pPr>
            <a:r>
              <a:rPr lang="ru-RU" sz="1600" dirty="0">
                <a:solidFill>
                  <a:srgbClr val="000000"/>
                </a:solidFill>
              </a:rPr>
              <a:t>Многие протоколы используют широковещательные или многоадресные рассылки (например, ARP использует широковещательные рассылки для поиска других устройств, хосты отправляют широковещательные рассылки DHCP для поиска DHCP-сервера).</a:t>
            </a:r>
          </a:p>
          <a:p>
            <a:pPr marL="342900" indent="-342900" algn="l" rtl="0">
              <a:buFont typeface="Arial" panose="020B0604020202020204" pitchFamily="34" charset="0"/>
              <a:buChar char="•"/>
            </a:pPr>
            <a:r>
              <a:rPr lang="ru-RU" sz="1600" dirty="0">
                <a:solidFill>
                  <a:srgbClr val="000000"/>
                </a:solidFill>
              </a:rPr>
              <a:t>Коммутаторы выполняют широковещательную рассылку на все интерфейсы, за исключением того интерфейса, через который была получена рассылка. </a:t>
            </a:r>
          </a:p>
        </p:txBody>
      </p:sp>
      <p:pic>
        <p:nvPicPr>
          <p:cNvPr id="2" name="Picture 1">
            <a:extLst>
              <a:ext uri="{FF2B5EF4-FFF2-40B4-BE49-F238E27FC236}">
                <a16:creationId xmlns:a16="http://schemas.microsoft.com/office/drawing/2014/main" id="{10398782-9905-4785-9579-06EB01676450}"/>
              </a:ext>
            </a:extLst>
          </p:cNvPr>
          <p:cNvPicPr>
            <a:picLocks noChangeAspect="1"/>
          </p:cNvPicPr>
          <p:nvPr/>
        </p:nvPicPr>
        <p:blipFill>
          <a:blip r:embed="rId3"/>
          <a:stretch>
            <a:fillRect/>
          </a:stretch>
        </p:blipFill>
        <p:spPr>
          <a:xfrm>
            <a:off x="431971" y="2358904"/>
            <a:ext cx="4432055" cy="2638933"/>
          </a:xfrm>
          <a:prstGeom prst="rect">
            <a:avLst/>
          </a:prstGeom>
        </p:spPr>
      </p:pic>
      <p:sp>
        <p:nvSpPr>
          <p:cNvPr id="5" name="Content Placeholder 3">
            <a:extLst>
              <a:ext uri="{FF2B5EF4-FFF2-40B4-BE49-F238E27FC236}">
                <a16:creationId xmlns:a16="http://schemas.microsoft.com/office/drawing/2014/main" id="{845B5FA5-3694-4D86-AB3C-0BB4544AC221}"/>
              </a:ext>
            </a:extLst>
          </p:cNvPr>
          <p:cNvSpPr txBox="1">
            <a:spLocks/>
          </p:cNvSpPr>
          <p:nvPr/>
        </p:nvSpPr>
        <p:spPr>
          <a:xfrm>
            <a:off x="4645152" y="2205317"/>
            <a:ext cx="4608576" cy="23444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dirty="0">
                <a:solidFill>
                  <a:srgbClr val="000000"/>
                </a:solidFill>
              </a:rPr>
              <a:t>Единственным устройством, останавливающим широковещательные передачи, является маршрутизатор.</a:t>
            </a:r>
          </a:p>
          <a:p>
            <a:pPr marL="342900" indent="-342900" algn="l" rtl="0">
              <a:buFont typeface="Arial" panose="020B0604020202020204" pitchFamily="34" charset="0"/>
              <a:buChar char="•"/>
            </a:pPr>
            <a:r>
              <a:rPr lang="ru-RU" sz="1600" dirty="0">
                <a:solidFill>
                  <a:srgbClr val="000000"/>
                </a:solidFill>
              </a:rPr>
              <a:t>Маршрутизаторы не выполняют широковещательную рассылку. </a:t>
            </a:r>
          </a:p>
          <a:p>
            <a:pPr marL="342900" indent="-342900" algn="l" rtl="0">
              <a:buFont typeface="Arial" panose="020B0604020202020204" pitchFamily="34" charset="0"/>
              <a:buChar char="•"/>
            </a:pPr>
            <a:r>
              <a:rPr lang="ru-RU" sz="1600" dirty="0">
                <a:solidFill>
                  <a:srgbClr val="000000"/>
                </a:solidFill>
              </a:rPr>
              <a:t>Таким образом, каждый интерфейс маршрутизатора подключен к широковещательному домену, и широковещательные рассылки выполняются только в рамках определенного домена рассылки.</a:t>
            </a:r>
          </a:p>
        </p:txBody>
      </p:sp>
    </p:spTree>
    <p:extLst>
      <p:ext uri="{BB962C8B-B14F-4D97-AF65-F5344CB8AC3E}">
        <p14:creationId xmlns:p14="http://schemas.microsoft.com/office/powerpoint/2010/main" val="46914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778018" cy="855418"/>
          </a:xfrm>
        </p:spPr>
        <p:txBody>
          <a:bodyPr/>
          <a:lstStyle/>
          <a:p>
            <a:pPr rtl="0"/>
            <a:r>
              <a:rPr lang="ru-RU" sz="1600" dirty="0"/>
              <a:t>Сегментация сети</a:t>
            </a:r>
            <a:br>
              <a:rPr lang="en-US" dirty="0"/>
            </a:br>
            <a:r>
              <a:rPr lang="ru-RU" sz="2400" dirty="0"/>
              <a:t>Проблемы с крупными доменами широковещательной рассылки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 y="855418"/>
            <a:ext cx="5238975" cy="3899461"/>
          </a:xfrm>
        </p:spPr>
        <p:txBody>
          <a:bodyPr/>
          <a:lstStyle/>
          <a:p>
            <a:pPr marL="342900" indent="-342900" algn="l" rtl="0">
              <a:buFont typeface="Arial" panose="020B0604020202020204" pitchFamily="34" charset="0"/>
              <a:buChar char="•"/>
            </a:pPr>
            <a:r>
              <a:rPr lang="ru-RU" sz="1600" dirty="0">
                <a:solidFill>
                  <a:srgbClr val="000000"/>
                </a:solidFill>
              </a:rPr>
              <a:t>Проблема крупного домена широковещательной рассылки заключается в следующем: узлы могут генерировать избыточную рассылку и негативно влиять на работу сети.</a:t>
            </a:r>
          </a:p>
          <a:p>
            <a:pPr marL="342900" indent="-342900" algn="l" rtl="0">
              <a:buFont typeface="Arial" panose="020B0604020202020204" pitchFamily="34" charset="0"/>
              <a:buChar char="•"/>
            </a:pPr>
            <a:r>
              <a:rPr lang="ru-RU" sz="1600" dirty="0">
                <a:solidFill>
                  <a:srgbClr val="000000"/>
                </a:solidFill>
              </a:rPr>
              <a:t>Для решения этой проблемы надо сократить размер сети, создав меньшие домены широковещательной рассылки. Такой процесс называется разделением на подсети. </a:t>
            </a:r>
          </a:p>
          <a:p>
            <a:pPr marL="342900" indent="-342900" algn="l" rtl="0">
              <a:buFont typeface="Arial" panose="020B0604020202020204" pitchFamily="34" charset="0"/>
              <a:buChar char="•"/>
            </a:pPr>
            <a:r>
              <a:rPr lang="ru-RU" sz="1600" dirty="0">
                <a:solidFill>
                  <a:srgbClr val="000000"/>
                </a:solidFill>
              </a:rPr>
              <a:t>400 пользователей локальной сети LAN 1 с сетевым адресом 172.16.0.0 /16 были разделены на две подсети по 200 пользователей каждая — 172.16.0.0 /24 и 172.16.1.0 /24. </a:t>
            </a:r>
          </a:p>
          <a:p>
            <a:pPr marL="342900" indent="-342900" algn="l" rtl="0">
              <a:buFont typeface="Arial" panose="020B0604020202020204" pitchFamily="34" charset="0"/>
              <a:buChar char="•"/>
            </a:pPr>
            <a:r>
              <a:rPr lang="ru-RU" sz="1600" dirty="0">
                <a:solidFill>
                  <a:srgbClr val="000000"/>
                </a:solidFill>
              </a:rPr>
              <a:t>Рассылка ограничивается более мелкими доменами широковещательной рассылки. </a:t>
            </a:r>
          </a:p>
        </p:txBody>
      </p:sp>
      <p:pic>
        <p:nvPicPr>
          <p:cNvPr id="2" name="Picture 1">
            <a:extLst>
              <a:ext uri="{FF2B5EF4-FFF2-40B4-BE49-F238E27FC236}">
                <a16:creationId xmlns:a16="http://schemas.microsoft.com/office/drawing/2014/main" id="{5A7A91AF-16E4-4E33-B4E6-A586D3355209}"/>
              </a:ext>
            </a:extLst>
          </p:cNvPr>
          <p:cNvPicPr>
            <a:picLocks noChangeAspect="1"/>
          </p:cNvPicPr>
          <p:nvPr/>
        </p:nvPicPr>
        <p:blipFill>
          <a:blip r:embed="rId3"/>
          <a:stretch>
            <a:fillRect/>
          </a:stretch>
        </p:blipFill>
        <p:spPr>
          <a:xfrm>
            <a:off x="5447794" y="582072"/>
            <a:ext cx="3330224" cy="1980005"/>
          </a:xfrm>
          <a:prstGeom prst="rect">
            <a:avLst/>
          </a:prstGeom>
        </p:spPr>
      </p:pic>
      <p:pic>
        <p:nvPicPr>
          <p:cNvPr id="5" name="Picture 4">
            <a:extLst>
              <a:ext uri="{FF2B5EF4-FFF2-40B4-BE49-F238E27FC236}">
                <a16:creationId xmlns:a16="http://schemas.microsoft.com/office/drawing/2014/main" id="{65746CC1-6CFB-4882-AB1A-AEF0BB4396C4}"/>
              </a:ext>
            </a:extLst>
          </p:cNvPr>
          <p:cNvPicPr>
            <a:picLocks noChangeAspect="1"/>
          </p:cNvPicPr>
          <p:nvPr/>
        </p:nvPicPr>
        <p:blipFill>
          <a:blip r:embed="rId4"/>
          <a:stretch>
            <a:fillRect/>
          </a:stretch>
        </p:blipFill>
        <p:spPr>
          <a:xfrm>
            <a:off x="5165109" y="2791150"/>
            <a:ext cx="3802562" cy="1755763"/>
          </a:xfrm>
          <a:prstGeom prst="rect">
            <a:avLst/>
          </a:prstGeom>
        </p:spPr>
      </p:pic>
    </p:spTree>
    <p:extLst>
      <p:ext uri="{BB962C8B-B14F-4D97-AF65-F5344CB8AC3E}">
        <p14:creationId xmlns:p14="http://schemas.microsoft.com/office/powerpoint/2010/main" val="2044923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dirty="0"/>
              <a:t>Сегментация сети </a:t>
            </a:r>
            <a:br>
              <a:rPr lang="en-US" dirty="0"/>
            </a:br>
            <a:r>
              <a:rPr lang="ru-RU" sz="2400" dirty="0"/>
              <a:t>Причины для разделения на подсети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 y="625593"/>
            <a:ext cx="9143999" cy="1550058"/>
          </a:xfrm>
        </p:spPr>
        <p:txBody>
          <a:bodyPr/>
          <a:lstStyle/>
          <a:p>
            <a:pPr marL="342900" indent="-342900" algn="l" rtl="0">
              <a:buFont typeface="Arial" panose="020B0604020202020204" pitchFamily="34" charset="0"/>
              <a:buChar char="•"/>
            </a:pPr>
            <a:r>
              <a:rPr lang="ru-RU" sz="1600" dirty="0">
                <a:solidFill>
                  <a:srgbClr val="000000"/>
                </a:solidFill>
              </a:rPr>
              <a:t>Разделение на подсети снижает общий объем сетевого трафика и повышает производительность сети. </a:t>
            </a:r>
          </a:p>
          <a:p>
            <a:pPr marL="342900" indent="-342900" algn="l" rtl="0">
              <a:buFont typeface="Arial" panose="020B0604020202020204" pitchFamily="34" charset="0"/>
              <a:buChar char="•"/>
            </a:pPr>
            <a:r>
              <a:rPr lang="ru-RU" sz="1600" dirty="0">
                <a:solidFill>
                  <a:srgbClr val="000000"/>
                </a:solidFill>
              </a:rPr>
              <a:t>Его можно использовать для реализации политик безопасности между подсетями.</a:t>
            </a:r>
          </a:p>
          <a:p>
            <a:pPr marL="342900" indent="-342900" algn="l" rtl="0">
              <a:buFont typeface="Arial" panose="020B0604020202020204" pitchFamily="34" charset="0"/>
              <a:buChar char="•"/>
            </a:pPr>
            <a:r>
              <a:rPr lang="ru-RU" sz="1600" dirty="0">
                <a:solidFill>
                  <a:srgbClr val="000000"/>
                </a:solidFill>
              </a:rPr>
              <a:t>Подсеть уменьшает количество устройств, затронутых аномальным широковещательным трафиком.</a:t>
            </a: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Подсети используются по целому ряду причин, в том числе:</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24D8B652-544C-4DA4-843F-B9A537AD3E84}"/>
              </a:ext>
            </a:extLst>
          </p:cNvPr>
          <p:cNvSpPr/>
          <p:nvPr/>
        </p:nvSpPr>
        <p:spPr>
          <a:xfrm>
            <a:off x="375431" y="2492000"/>
            <a:ext cx="2698320" cy="1806839"/>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pPr rtl="0"/>
            <a:r>
              <a:rPr lang="ru-RU" sz="1600"/>
              <a:t>Местоположение</a:t>
            </a:r>
          </a:p>
        </p:txBody>
      </p:sp>
      <p:pic>
        <p:nvPicPr>
          <p:cNvPr id="2" name="Picture 1">
            <a:extLst>
              <a:ext uri="{FF2B5EF4-FFF2-40B4-BE49-F238E27FC236}">
                <a16:creationId xmlns:a16="http://schemas.microsoft.com/office/drawing/2014/main" id="{63D0E2D3-D553-4D04-B410-56EFCD0EF721}"/>
              </a:ext>
            </a:extLst>
          </p:cNvPr>
          <p:cNvPicPr>
            <a:picLocks noChangeAspect="1"/>
          </p:cNvPicPr>
          <p:nvPr/>
        </p:nvPicPr>
        <p:blipFill>
          <a:blip r:embed="rId3"/>
          <a:stretch>
            <a:fillRect/>
          </a:stretch>
        </p:blipFill>
        <p:spPr>
          <a:xfrm>
            <a:off x="342756" y="2914594"/>
            <a:ext cx="2789064" cy="1318328"/>
          </a:xfrm>
          <a:prstGeom prst="rect">
            <a:avLst/>
          </a:prstGeom>
        </p:spPr>
      </p:pic>
      <p:sp>
        <p:nvSpPr>
          <p:cNvPr id="8" name="Rectangle 7">
            <a:extLst>
              <a:ext uri="{FF2B5EF4-FFF2-40B4-BE49-F238E27FC236}">
                <a16:creationId xmlns:a16="http://schemas.microsoft.com/office/drawing/2014/main" id="{32CC4029-1176-45DF-9BD6-D3DC9A0400D7}"/>
              </a:ext>
            </a:extLst>
          </p:cNvPr>
          <p:cNvSpPr/>
          <p:nvPr/>
        </p:nvSpPr>
        <p:spPr>
          <a:xfrm>
            <a:off x="3342986" y="2492000"/>
            <a:ext cx="2698320"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pPr rtl="0"/>
            <a:r>
              <a:rPr lang="ru-RU" sz="1600"/>
              <a:t>Группа или функция</a:t>
            </a:r>
          </a:p>
        </p:txBody>
      </p:sp>
      <p:pic>
        <p:nvPicPr>
          <p:cNvPr id="5" name="Picture 4">
            <a:extLst>
              <a:ext uri="{FF2B5EF4-FFF2-40B4-BE49-F238E27FC236}">
                <a16:creationId xmlns:a16="http://schemas.microsoft.com/office/drawing/2014/main" id="{7332D7C8-8057-4C93-9478-2A5D8FE11E83}"/>
              </a:ext>
            </a:extLst>
          </p:cNvPr>
          <p:cNvPicPr>
            <a:picLocks noChangeAspect="1"/>
          </p:cNvPicPr>
          <p:nvPr/>
        </p:nvPicPr>
        <p:blipFill>
          <a:blip r:embed="rId4"/>
          <a:stretch>
            <a:fillRect/>
          </a:stretch>
        </p:blipFill>
        <p:spPr>
          <a:xfrm>
            <a:off x="3497358" y="2879280"/>
            <a:ext cx="2372228" cy="1571706"/>
          </a:xfrm>
          <a:prstGeom prst="rect">
            <a:avLst/>
          </a:prstGeom>
        </p:spPr>
      </p:pic>
      <p:sp>
        <p:nvSpPr>
          <p:cNvPr id="9" name="Rectangle 8">
            <a:extLst>
              <a:ext uri="{FF2B5EF4-FFF2-40B4-BE49-F238E27FC236}">
                <a16:creationId xmlns:a16="http://schemas.microsoft.com/office/drawing/2014/main" id="{38AE73D0-B95E-40DB-9C64-6AF021F99C3A}"/>
              </a:ext>
            </a:extLst>
          </p:cNvPr>
          <p:cNvSpPr/>
          <p:nvPr/>
        </p:nvSpPr>
        <p:spPr>
          <a:xfrm>
            <a:off x="6319781" y="2483461"/>
            <a:ext cx="2523186"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pPr rtl="0"/>
            <a:r>
              <a:rPr lang="ru-RU" sz="1600"/>
              <a:t>Тип устройства</a:t>
            </a:r>
          </a:p>
        </p:txBody>
      </p:sp>
      <p:pic>
        <p:nvPicPr>
          <p:cNvPr id="6" name="Picture 5">
            <a:extLst>
              <a:ext uri="{FF2B5EF4-FFF2-40B4-BE49-F238E27FC236}">
                <a16:creationId xmlns:a16="http://schemas.microsoft.com/office/drawing/2014/main" id="{7D853623-0268-429C-9C1F-8E5C4E0CD002}"/>
              </a:ext>
            </a:extLst>
          </p:cNvPr>
          <p:cNvPicPr>
            <a:picLocks noChangeAspect="1"/>
          </p:cNvPicPr>
          <p:nvPr/>
        </p:nvPicPr>
        <p:blipFill>
          <a:blip r:embed="rId5"/>
          <a:stretch>
            <a:fillRect/>
          </a:stretch>
        </p:blipFill>
        <p:spPr>
          <a:xfrm>
            <a:off x="6382832" y="2900796"/>
            <a:ext cx="2372228" cy="1571706"/>
          </a:xfrm>
          <a:prstGeom prst="rect">
            <a:avLst/>
          </a:prstGeom>
        </p:spPr>
      </p:pic>
    </p:spTree>
    <p:extLst>
      <p:ext uri="{BB962C8B-B14F-4D97-AF65-F5344CB8AC3E}">
        <p14:creationId xmlns:p14="http://schemas.microsoft.com/office/powerpoint/2010/main" val="134882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1788160"/>
            <a:ext cx="8444111" cy="929640"/>
          </a:xfrm>
        </p:spPr>
        <p:txBody>
          <a:bodyPr/>
          <a:lstStyle/>
          <a:p>
            <a:pPr rtl="0"/>
            <a:r>
              <a:rPr lang="ru-RU" dirty="0">
                <a:solidFill>
                  <a:schemeClr val="accent5">
                    <a:lumMod val="40000"/>
                    <a:lumOff val="60000"/>
                  </a:schemeClr>
                </a:solidFill>
              </a:rPr>
              <a:t>11.5 Подсеть сети</a:t>
            </a:r>
            <a:r>
              <a:rPr lang="en-CA" dirty="0">
                <a:solidFill>
                  <a:schemeClr val="accent5">
                    <a:lumMod val="40000"/>
                    <a:lumOff val="60000"/>
                  </a:schemeClr>
                </a:solidFill>
              </a:rPr>
              <a:t> </a:t>
            </a:r>
            <a:r>
              <a:rPr lang="ru-RU" dirty="0">
                <a:solidFill>
                  <a:schemeClr val="accent5">
                    <a:lumMod val="40000"/>
                    <a:lumOff val="60000"/>
                  </a:schemeClr>
                </a:solidFill>
              </a:rPr>
              <a:t>IPv4</a:t>
            </a:r>
          </a:p>
        </p:txBody>
      </p:sp>
    </p:spTree>
    <p:custDataLst>
      <p:tags r:id="rId1"/>
    </p:custDataLst>
    <p:extLst>
      <p:ext uri="{BB962C8B-B14F-4D97-AF65-F5344CB8AC3E}">
        <p14:creationId xmlns:p14="http://schemas.microsoft.com/office/powerpoint/2010/main" val="603752357"/>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IPv4-сети</a:t>
            </a:r>
            <a:br>
              <a:rPr lang="en-US" dirty="0"/>
            </a:br>
            <a:r>
              <a:rPr lang="ru-RU" sz="2400"/>
              <a:t> Разделение на подсети на границе октетов</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14783"/>
          </a:xfrm>
        </p:spPr>
        <p:txBody>
          <a:bodyPr/>
          <a:lstStyle/>
          <a:p>
            <a:pPr marL="342900" indent="-342900" algn="l" rtl="0">
              <a:buFont typeface="Arial" panose="020B0604020202020204" pitchFamily="34" charset="0"/>
              <a:buChar char="•"/>
            </a:pPr>
            <a:r>
              <a:rPr lang="ru-RU" sz="1600">
                <a:solidFill>
                  <a:srgbClr val="000000"/>
                </a:solidFill>
              </a:rPr>
              <a:t>Разделение сетей проще всего выполнить на границах октетов /8, /16 и /24.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Обратите внимание, что увеличение длины префикса сокращает число узлов в каждой подсети.</a:t>
            </a:r>
          </a:p>
        </p:txBody>
      </p:sp>
      <p:graphicFrame>
        <p:nvGraphicFramePr>
          <p:cNvPr id="5" name="Table 4">
            <a:extLst>
              <a:ext uri="{FF2B5EF4-FFF2-40B4-BE49-F238E27FC236}">
                <a16:creationId xmlns:a16="http://schemas.microsoft.com/office/drawing/2014/main" id="{AB61C527-BCD3-42E1-8735-11AC62583EC0}"/>
              </a:ext>
            </a:extLst>
          </p:cNvPr>
          <p:cNvGraphicFramePr>
            <a:graphicFrameLocks noGrp="1"/>
          </p:cNvGraphicFramePr>
          <p:nvPr>
            <p:extLst>
              <p:ext uri="{D42A27DB-BD31-4B8C-83A1-F6EECF244321}">
                <p14:modId xmlns:p14="http://schemas.microsoft.com/office/powerpoint/2010/main" val="1984700362"/>
              </p:ext>
            </p:extLst>
          </p:nvPr>
        </p:nvGraphicFramePr>
        <p:xfrm>
          <a:off x="991974" y="2111017"/>
          <a:ext cx="6896100" cy="1595120"/>
        </p:xfrm>
        <a:graphic>
          <a:graphicData uri="http://schemas.openxmlformats.org/drawingml/2006/table">
            <a:tbl>
              <a:tblPr firstRow="1" bandRow="1">
                <a:tableStyleId>{5C22544A-7EE6-4342-B048-85BDC9FD1C3A}</a:tableStyleId>
              </a:tblPr>
              <a:tblGrid>
                <a:gridCol w="1103376">
                  <a:extLst>
                    <a:ext uri="{9D8B030D-6E8A-4147-A177-3AD203B41FA5}">
                      <a16:colId xmlns:a16="http://schemas.microsoft.com/office/drawing/2014/main" val="401309278"/>
                    </a:ext>
                  </a:extLst>
                </a:gridCol>
                <a:gridCol w="1215438">
                  <a:extLst>
                    <a:ext uri="{9D8B030D-6E8A-4147-A177-3AD203B41FA5}">
                      <a16:colId xmlns:a16="http://schemas.microsoft.com/office/drawing/2014/main" val="1282189193"/>
                    </a:ext>
                  </a:extLst>
                </a:gridCol>
                <a:gridCol w="3473910">
                  <a:extLst>
                    <a:ext uri="{9D8B030D-6E8A-4147-A177-3AD203B41FA5}">
                      <a16:colId xmlns:a16="http://schemas.microsoft.com/office/drawing/2014/main" val="2307218981"/>
                    </a:ext>
                  </a:extLst>
                </a:gridCol>
                <a:gridCol w="1103376">
                  <a:extLst>
                    <a:ext uri="{9D8B030D-6E8A-4147-A177-3AD203B41FA5}">
                      <a16:colId xmlns:a16="http://schemas.microsoft.com/office/drawing/2014/main" val="1338141003"/>
                    </a:ext>
                  </a:extLst>
                </a:gridCol>
              </a:tblGrid>
              <a:tr h="370840">
                <a:tc>
                  <a:txBody>
                    <a:bodyPr/>
                    <a:lstStyle/>
                    <a:p>
                      <a:pPr algn="l" rtl="0" fontAlgn="ctr"/>
                      <a:r>
                        <a:rPr lang="ru-RU" sz="1100" b="1">
                          <a:effectLst/>
                        </a:rPr>
                        <a:t>Длина префикса</a:t>
                      </a:r>
                    </a:p>
                  </a:txBody>
                  <a:tcPr marL="31750" marR="31750" marT="31750" marB="31750" anchor="ctr"/>
                </a:tc>
                <a:tc>
                  <a:txBody>
                    <a:bodyPr/>
                    <a:lstStyle/>
                    <a:p>
                      <a:pPr algn="l" rtl="0" fontAlgn="ctr"/>
                      <a:r>
                        <a:rPr lang="ru-RU" sz="1100" b="1">
                          <a:effectLst/>
                        </a:rPr>
                        <a:t>Маска подсети</a:t>
                      </a:r>
                    </a:p>
                  </a:txBody>
                  <a:tcPr marL="31750" marR="31750" marT="31750" marB="31750" anchor="ctr"/>
                </a:tc>
                <a:tc>
                  <a:txBody>
                    <a:bodyPr/>
                    <a:lstStyle/>
                    <a:p>
                      <a:pPr algn="l" rtl="0" fontAlgn="ctr"/>
                      <a:r>
                        <a:rPr lang="ru-RU" sz="1100" b="1">
                          <a:effectLst/>
                        </a:rPr>
                        <a:t>Маска подсети в двоичной системе (n = сеть, h = хост)</a:t>
                      </a:r>
                    </a:p>
                  </a:txBody>
                  <a:tcPr marL="31750" marR="31750" marT="31750" marB="31750" anchor="ctr"/>
                </a:tc>
                <a:tc>
                  <a:txBody>
                    <a:bodyPr/>
                    <a:lstStyle/>
                    <a:p>
                      <a:pPr algn="l" rtl="0" fontAlgn="ctr"/>
                      <a:r>
                        <a:rPr lang="ru-RU" sz="1100" b="1">
                          <a:effectLst/>
                        </a:rPr>
                        <a:t>Количество узлов</a:t>
                      </a:r>
                    </a:p>
                  </a:txBody>
                  <a:tcPr marL="31750" marR="31750" marT="31750" marB="31750" anchor="ctr"/>
                </a:tc>
                <a:extLst>
                  <a:ext uri="{0D108BD9-81ED-4DB2-BD59-A6C34878D82A}">
                    <a16:rowId xmlns:a16="http://schemas.microsoft.com/office/drawing/2014/main" val="400614944"/>
                  </a:ext>
                </a:extLst>
              </a:tr>
              <a:tr h="370840">
                <a:tc>
                  <a:txBody>
                    <a:bodyPr/>
                    <a:lstStyle/>
                    <a:p>
                      <a:pPr rtl="0" fontAlgn="ctr"/>
                      <a:r>
                        <a:rPr lang="ru-RU" sz="1100" b="1">
                          <a:effectLst/>
                        </a:rPr>
                        <a:t>/8</a:t>
                      </a:r>
                    </a:p>
                  </a:txBody>
                  <a:tcPr marL="31750" marR="31750" marT="31750" marB="31750" anchor="ctr"/>
                </a:tc>
                <a:tc>
                  <a:txBody>
                    <a:bodyPr/>
                    <a:lstStyle/>
                    <a:p>
                      <a:pPr rtl="0" fontAlgn="ctr"/>
                      <a:r>
                        <a:rPr lang="ru-RU" sz="1100" b="1">
                          <a:effectLst/>
                        </a:rPr>
                        <a:t>255</a:t>
                      </a:r>
                      <a:r>
                        <a:rPr lang="ru-RU" sz="1100" b="0">
                          <a:effectLst/>
                        </a:rPr>
                        <a:t>.0.0.0</a:t>
                      </a:r>
                    </a:p>
                  </a:txBody>
                  <a:tcPr marL="31750" marR="31750" marT="31750" marB="31750" anchor="ctr"/>
                </a:tc>
                <a:tc>
                  <a:txBody>
                    <a:bodyPr/>
                    <a:lstStyle/>
                    <a:p>
                      <a:pPr rtl="0" fontAlgn="ctr"/>
                      <a:r>
                        <a:rPr lang="ru-RU" sz="1100" b="1">
                          <a:effectLst/>
                          <a:latin typeface="Courier New" panose="02070309020205020404" pitchFamily="49" charset="0"/>
                          <a:cs typeface="Courier New" panose="02070309020205020404" pitchFamily="49" charset="0"/>
                        </a:rPr>
                        <a:t>nnnnnnnn</a:t>
                      </a:r>
                      <a:r>
                        <a:rPr lang="ru-RU" sz="1100" b="0">
                          <a:effectLst/>
                          <a:latin typeface="Courier New" panose="02070309020205020404" pitchFamily="49" charset="0"/>
                          <a:cs typeface="Courier New" panose="02070309020205020404" pitchFamily="49" charset="0"/>
                        </a:rPr>
                        <a:t>.hhhhhhhh.hhhhhhhh.hhhhhhhh </a:t>
                      </a:r>
                      <a:br>
                        <a:rPr lang="en-CA" sz="1100" b="0" dirty="0">
                          <a:effectLst/>
                          <a:latin typeface="Courier New" panose="02070309020205020404" pitchFamily="49" charset="0"/>
                          <a:cs typeface="Courier New" panose="02070309020205020404" pitchFamily="49" charset="0"/>
                        </a:rPr>
                      </a:br>
                      <a:r>
                        <a:rPr lang="ru-RU" sz="1100" b="1">
                          <a:effectLst/>
                          <a:latin typeface="Courier New" panose="02070309020205020404" pitchFamily="49" charset="0"/>
                          <a:cs typeface="Courier New" panose="02070309020205020404" pitchFamily="49" charset="0"/>
                        </a:rPr>
                        <a:t>11111111</a:t>
                      </a:r>
                      <a:r>
                        <a:rPr lang="ru-RU" sz="1100" b="0">
                          <a:effectLst/>
                          <a:latin typeface="Courier New" panose="02070309020205020404" pitchFamily="49" charset="0"/>
                          <a:cs typeface="Courier New" panose="02070309020205020404" pitchFamily="49" charset="0"/>
                        </a:rPr>
                        <a:t>.00000000.00000000.00000000</a:t>
                      </a:r>
                      <a:r>
                        <a:rPr lang="ru-RU" sz="1100" b="1">
                          <a:effectLst/>
                          <a:latin typeface="Courier New" panose="02070309020205020404" pitchFamily="49" charset="0"/>
                          <a:cs typeface="Courier New" panose="02070309020205020404" pitchFamily="49" charset="0"/>
                        </a:rPr>
                        <a:t> </a:t>
                      </a:r>
                    </a:p>
                  </a:txBody>
                  <a:tcPr marL="31750" marR="31750" marT="31750" marB="31750" anchor="ctr"/>
                </a:tc>
                <a:tc>
                  <a:txBody>
                    <a:bodyPr/>
                    <a:lstStyle/>
                    <a:p>
                      <a:pPr rtl="0" fontAlgn="ctr"/>
                      <a:r>
                        <a:rPr lang="ru-RU" sz="1000" b="0">
                          <a:effectLst/>
                        </a:rPr>
                        <a:t>16 777 214</a:t>
                      </a:r>
                    </a:p>
                  </a:txBody>
                  <a:tcPr marL="31750" marR="31750" marT="31750" marB="31750" anchor="ctr"/>
                </a:tc>
                <a:extLst>
                  <a:ext uri="{0D108BD9-81ED-4DB2-BD59-A6C34878D82A}">
                    <a16:rowId xmlns:a16="http://schemas.microsoft.com/office/drawing/2014/main" val="2637917206"/>
                  </a:ext>
                </a:extLst>
              </a:tr>
              <a:tr h="370840">
                <a:tc>
                  <a:txBody>
                    <a:bodyPr/>
                    <a:lstStyle/>
                    <a:p>
                      <a:pPr rtl="0" fontAlgn="ctr"/>
                      <a:r>
                        <a:rPr lang="ru-RU" sz="1100" b="1">
                          <a:effectLst/>
                        </a:rPr>
                        <a:t>/16</a:t>
                      </a:r>
                    </a:p>
                  </a:txBody>
                  <a:tcPr marL="31750" marR="31750" marT="31750" marB="31750" anchor="ctr"/>
                </a:tc>
                <a:tc>
                  <a:txBody>
                    <a:bodyPr/>
                    <a:lstStyle/>
                    <a:p>
                      <a:pPr rtl="0" fontAlgn="ctr"/>
                      <a:r>
                        <a:rPr lang="ru-RU" sz="1100" b="1">
                          <a:effectLst/>
                        </a:rPr>
                        <a:t>255.255</a:t>
                      </a:r>
                      <a:r>
                        <a:rPr lang="ru-RU" sz="1100" b="0">
                          <a:effectLst/>
                        </a:rPr>
                        <a:t>.0.0</a:t>
                      </a:r>
                    </a:p>
                  </a:txBody>
                  <a:tcPr marL="31750" marR="31750" marT="31750" marB="31750" anchor="ctr"/>
                </a:tc>
                <a:tc>
                  <a:txBody>
                    <a:bodyPr/>
                    <a:lstStyle/>
                    <a:p>
                      <a:pPr rtl="0" fontAlgn="ctr"/>
                      <a:r>
                        <a:rPr lang="ru-RU" sz="1100" b="1">
                          <a:effectLst/>
                          <a:latin typeface="Courier New" panose="02070309020205020404" pitchFamily="49" charset="0"/>
                          <a:cs typeface="Courier New" panose="02070309020205020404" pitchFamily="49" charset="0"/>
                        </a:rPr>
                        <a:t>nnnnnnnn.nnnnnnnn</a:t>
                      </a:r>
                      <a:r>
                        <a:rPr lang="ru-RU" sz="1100" b="0">
                          <a:effectLst/>
                          <a:latin typeface="Courier New" panose="02070309020205020404" pitchFamily="49" charset="0"/>
                          <a:cs typeface="Courier New" panose="02070309020205020404" pitchFamily="49" charset="0"/>
                        </a:rPr>
                        <a:t>.hhhhhhhh.hhhhhhhh </a:t>
                      </a:r>
                      <a:br>
                        <a:rPr lang="en-CA" sz="1100" b="0" dirty="0">
                          <a:effectLst/>
                          <a:latin typeface="Courier New" panose="02070309020205020404" pitchFamily="49" charset="0"/>
                          <a:cs typeface="Courier New" panose="02070309020205020404" pitchFamily="49" charset="0"/>
                        </a:rPr>
                      </a:br>
                      <a:r>
                        <a:rPr lang="ru-RU" sz="1100" b="1">
                          <a:effectLst/>
                          <a:latin typeface="Courier New" panose="02070309020205020404" pitchFamily="49" charset="0"/>
                          <a:cs typeface="Courier New" panose="02070309020205020404" pitchFamily="49" charset="0"/>
                        </a:rPr>
                        <a:t>11111111.11111111</a:t>
                      </a:r>
                      <a:r>
                        <a:rPr lang="ru-RU" sz="1100" b="0">
                          <a:effectLst/>
                          <a:latin typeface="Courier New" panose="02070309020205020404" pitchFamily="49" charset="0"/>
                          <a:cs typeface="Courier New" panose="02070309020205020404" pitchFamily="49" charset="0"/>
                        </a:rPr>
                        <a:t>.00000000.00000000</a:t>
                      </a:r>
                      <a:r>
                        <a:rPr lang="ru-RU" sz="1100" b="1">
                          <a:effectLst/>
                          <a:latin typeface="Courier New" panose="02070309020205020404" pitchFamily="49" charset="0"/>
                          <a:cs typeface="Courier New" panose="02070309020205020404" pitchFamily="49" charset="0"/>
                        </a:rPr>
                        <a:t> </a:t>
                      </a:r>
                    </a:p>
                  </a:txBody>
                  <a:tcPr marL="31750" marR="31750" marT="31750" marB="31750" anchor="ctr"/>
                </a:tc>
                <a:tc>
                  <a:txBody>
                    <a:bodyPr/>
                    <a:lstStyle/>
                    <a:p>
                      <a:pPr rtl="0" fontAlgn="ctr"/>
                      <a:r>
                        <a:rPr lang="ru-RU" sz="1000" b="0">
                          <a:effectLst/>
                        </a:rPr>
                        <a:t>65 534</a:t>
                      </a:r>
                    </a:p>
                  </a:txBody>
                  <a:tcPr marL="31750" marR="31750" marT="31750" marB="31750" anchor="ctr"/>
                </a:tc>
                <a:extLst>
                  <a:ext uri="{0D108BD9-81ED-4DB2-BD59-A6C34878D82A}">
                    <a16:rowId xmlns:a16="http://schemas.microsoft.com/office/drawing/2014/main" val="1750285378"/>
                  </a:ext>
                </a:extLst>
              </a:tr>
              <a:tr h="370840">
                <a:tc>
                  <a:txBody>
                    <a:bodyPr/>
                    <a:lstStyle/>
                    <a:p>
                      <a:pPr rtl="0" fontAlgn="ctr"/>
                      <a:r>
                        <a:rPr lang="ru-RU" sz="1100" b="1">
                          <a:effectLst/>
                        </a:rPr>
                        <a:t>/24</a:t>
                      </a:r>
                    </a:p>
                  </a:txBody>
                  <a:tcPr marL="31750" marR="31750" marT="31750" marB="31750" anchor="ctr"/>
                </a:tc>
                <a:tc>
                  <a:txBody>
                    <a:bodyPr/>
                    <a:lstStyle/>
                    <a:p>
                      <a:pPr rtl="0" fontAlgn="ctr"/>
                      <a:r>
                        <a:rPr lang="ru-RU" sz="1100" b="1">
                          <a:effectLst/>
                        </a:rPr>
                        <a:t>255.255.255</a:t>
                      </a:r>
                      <a:r>
                        <a:rPr lang="ru-RU" sz="1100" b="0">
                          <a:effectLst/>
                        </a:rPr>
                        <a:t>.0</a:t>
                      </a:r>
                    </a:p>
                  </a:txBody>
                  <a:tcPr marL="31750" marR="31750" marT="31750" marB="31750" anchor="ctr"/>
                </a:tc>
                <a:tc>
                  <a:txBody>
                    <a:bodyPr/>
                    <a:lstStyle/>
                    <a:p>
                      <a:pPr rtl="0" fontAlgn="ctr"/>
                      <a:r>
                        <a:rPr lang="ru-RU" sz="1100" b="1">
                          <a:effectLst/>
                          <a:latin typeface="Courier New" panose="02070309020205020404" pitchFamily="49" charset="0"/>
                          <a:cs typeface="Courier New" panose="02070309020205020404" pitchFamily="49" charset="0"/>
                        </a:rPr>
                        <a:t>nnnnnnnn.nnnnnnnn</a:t>
                      </a:r>
                      <a:r>
                        <a:rPr lang="ru-RU" sz="1100" b="0">
                          <a:effectLst/>
                          <a:latin typeface="Courier New" panose="02070309020205020404" pitchFamily="49" charset="0"/>
                          <a:cs typeface="Courier New" panose="02070309020205020404" pitchFamily="49" charset="0"/>
                        </a:rPr>
                        <a:t>.</a:t>
                      </a:r>
                      <a:r>
                        <a:rPr lang="ru-RU" sz="1100" b="1">
                          <a:effectLst/>
                          <a:latin typeface="Courier New" panose="02070309020205020404" pitchFamily="49" charset="0"/>
                          <a:cs typeface="Courier New" panose="02070309020205020404" pitchFamily="49" charset="0"/>
                        </a:rPr>
                        <a:t>nnnnnnnn</a:t>
                      </a:r>
                      <a:r>
                        <a:rPr lang="ru-RU" sz="1100" b="0">
                          <a:effectLst/>
                          <a:latin typeface="Courier New" panose="02070309020205020404" pitchFamily="49" charset="0"/>
                          <a:cs typeface="Courier New" panose="02070309020205020404" pitchFamily="49" charset="0"/>
                        </a:rPr>
                        <a:t>.hhhhhhhh </a:t>
                      </a:r>
                      <a:br>
                        <a:rPr lang="en-CA" sz="1100" b="0" dirty="0">
                          <a:effectLst/>
                          <a:latin typeface="Courier New" panose="02070309020205020404" pitchFamily="49" charset="0"/>
                          <a:cs typeface="Courier New" panose="02070309020205020404" pitchFamily="49" charset="0"/>
                        </a:rPr>
                      </a:br>
                      <a:r>
                        <a:rPr lang="ru-RU" sz="1100" b="1">
                          <a:effectLst/>
                          <a:latin typeface="Courier New" panose="02070309020205020404" pitchFamily="49" charset="0"/>
                          <a:cs typeface="Courier New" panose="02070309020205020404" pitchFamily="49" charset="0"/>
                        </a:rPr>
                        <a:t>11111111.11111111.11111111</a:t>
                      </a:r>
                      <a:r>
                        <a:rPr lang="ru-RU" sz="1100" b="0">
                          <a:effectLst/>
                          <a:latin typeface="Courier New" panose="02070309020205020404" pitchFamily="49" charset="0"/>
                          <a:cs typeface="Courier New" panose="02070309020205020404" pitchFamily="49" charset="0"/>
                        </a:rPr>
                        <a:t>.00000000</a:t>
                      </a:r>
                      <a:r>
                        <a:rPr lang="ru-RU" sz="1100" b="1">
                          <a:effectLst/>
                          <a:latin typeface="Courier New" panose="02070309020205020404" pitchFamily="49" charset="0"/>
                          <a:cs typeface="Courier New" panose="02070309020205020404" pitchFamily="49" charset="0"/>
                        </a:rPr>
                        <a:t> </a:t>
                      </a:r>
                    </a:p>
                  </a:txBody>
                  <a:tcPr marL="31750" marR="31750" marT="31750" marB="31750" anchor="ctr"/>
                </a:tc>
                <a:tc>
                  <a:txBody>
                    <a:bodyPr/>
                    <a:lstStyle/>
                    <a:p>
                      <a:pPr rtl="0" fontAlgn="ctr"/>
                      <a:r>
                        <a:rPr lang="ru-RU" sz="1000" b="0">
                          <a:effectLst/>
                        </a:rPr>
                        <a:t>254</a:t>
                      </a:r>
                    </a:p>
                  </a:txBody>
                  <a:tcPr marL="31750" marR="31750" marT="31750" marB="31750" anchor="ctr"/>
                </a:tc>
                <a:extLst>
                  <a:ext uri="{0D108BD9-81ED-4DB2-BD59-A6C34878D82A}">
                    <a16:rowId xmlns:a16="http://schemas.microsoft.com/office/drawing/2014/main" val="2444667633"/>
                  </a:ext>
                </a:extLst>
              </a:tr>
            </a:tbl>
          </a:graphicData>
        </a:graphic>
      </p:graphicFrame>
    </p:spTree>
    <p:extLst>
      <p:ext uri="{BB962C8B-B14F-4D97-AF65-F5344CB8AC3E}">
        <p14:creationId xmlns:p14="http://schemas.microsoft.com/office/powerpoint/2010/main" val="382037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IPv4-сети</a:t>
            </a:r>
            <a:br>
              <a:rPr lang="en-US" dirty="0"/>
            </a:br>
            <a:r>
              <a:rPr lang="ru-RU" sz="2400"/>
              <a:t> Разделение на подсети на границе октетов (продолжение)</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0" y="731838"/>
            <a:ext cx="9144000" cy="438442"/>
          </a:xfrm>
        </p:spPr>
        <p:txBody>
          <a:bodyPr/>
          <a:lstStyle/>
          <a:p>
            <a:pPr marL="342900" indent="-342900" algn="l" rtl="0">
              <a:buFont typeface="Arial" panose="020B0604020202020204" pitchFamily="34" charset="0"/>
              <a:buChar char="•"/>
            </a:pPr>
            <a:r>
              <a:rPr lang="ru-RU" sz="1600" dirty="0">
                <a:solidFill>
                  <a:srgbClr val="000000"/>
                </a:solidFill>
              </a:rPr>
              <a:t>В первой таблице 10.0.0.0/8 подсети используется /16, а во второй таблице - маска /24.</a:t>
            </a:r>
          </a:p>
        </p:txBody>
      </p:sp>
      <p:graphicFrame>
        <p:nvGraphicFramePr>
          <p:cNvPr id="2" name="Table 1">
            <a:extLst>
              <a:ext uri="{FF2B5EF4-FFF2-40B4-BE49-F238E27FC236}">
                <a16:creationId xmlns:a16="http://schemas.microsoft.com/office/drawing/2014/main" id="{61270C55-FA5F-44D6-BE83-71DEA8A80121}"/>
              </a:ext>
            </a:extLst>
          </p:cNvPr>
          <p:cNvGraphicFramePr>
            <a:graphicFrameLocks noGrp="1"/>
          </p:cNvGraphicFramePr>
          <p:nvPr>
            <p:extLst>
              <p:ext uri="{D42A27DB-BD31-4B8C-83A1-F6EECF244321}">
                <p14:modId xmlns:p14="http://schemas.microsoft.com/office/powerpoint/2010/main" val="440006946"/>
              </p:ext>
            </p:extLst>
          </p:nvPr>
        </p:nvGraphicFramePr>
        <p:xfrm>
          <a:off x="457200" y="1246211"/>
          <a:ext cx="3870960" cy="3435080"/>
        </p:xfrm>
        <a:graphic>
          <a:graphicData uri="http://schemas.openxmlformats.org/drawingml/2006/table">
            <a:tbl>
              <a:tblPr firstRow="1" bandRow="1">
                <a:tableStyleId>{5C22544A-7EE6-4342-B048-85BDC9FD1C3A}</a:tableStyleId>
              </a:tblPr>
              <a:tblGrid>
                <a:gridCol w="1116314">
                  <a:extLst>
                    <a:ext uri="{9D8B030D-6E8A-4147-A177-3AD203B41FA5}">
                      <a16:colId xmlns:a16="http://schemas.microsoft.com/office/drawing/2014/main" val="1832368472"/>
                    </a:ext>
                  </a:extLst>
                </a:gridCol>
                <a:gridCol w="1741186">
                  <a:extLst>
                    <a:ext uri="{9D8B030D-6E8A-4147-A177-3AD203B41FA5}">
                      <a16:colId xmlns:a16="http://schemas.microsoft.com/office/drawing/2014/main" val="3133033927"/>
                    </a:ext>
                  </a:extLst>
                </a:gridCol>
                <a:gridCol w="1013460">
                  <a:extLst>
                    <a:ext uri="{9D8B030D-6E8A-4147-A177-3AD203B41FA5}">
                      <a16:colId xmlns:a16="http://schemas.microsoft.com/office/drawing/2014/main" val="1854765229"/>
                    </a:ext>
                  </a:extLst>
                </a:gridCol>
              </a:tblGrid>
              <a:tr h="409211">
                <a:tc>
                  <a:txBody>
                    <a:bodyPr/>
                    <a:lstStyle/>
                    <a:p>
                      <a:pPr algn="l" rtl="0" fontAlgn="ctr"/>
                      <a:r>
                        <a:rPr lang="ru-RU" sz="1000" b="1">
                          <a:effectLst/>
                        </a:rPr>
                        <a:t>Адрес подсети </a:t>
                      </a:r>
                      <a:br>
                        <a:rPr lang="en-CA" sz="1000" b="1" dirty="0">
                          <a:effectLst/>
                        </a:rPr>
                      </a:br>
                      <a:r>
                        <a:rPr lang="ru-RU" sz="1000" b="0">
                          <a:effectLst/>
                        </a:rPr>
                        <a:t>(256 возможных подсетей)</a:t>
                      </a:r>
                    </a:p>
                  </a:txBody>
                  <a:tcPr marL="31750" marR="31750" marT="31750" marB="31750" anchor="ctr"/>
                </a:tc>
                <a:tc>
                  <a:txBody>
                    <a:bodyPr/>
                    <a:lstStyle/>
                    <a:p>
                      <a:pPr algn="l" rtl="0" fontAlgn="ctr"/>
                      <a:r>
                        <a:rPr lang="ru-RU" sz="1000" b="1">
                          <a:effectLst/>
                        </a:rPr>
                        <a:t>Диапазон хостов </a:t>
                      </a:r>
                      <a:br>
                        <a:rPr lang="en-CA" sz="1000" b="1" dirty="0">
                          <a:effectLst/>
                        </a:rPr>
                      </a:br>
                      <a:r>
                        <a:rPr lang="ru-RU" sz="1000" b="0">
                          <a:effectLst/>
                        </a:rPr>
                        <a:t>(65 534 возможных хоста в каждой подсети)</a:t>
                      </a:r>
                    </a:p>
                  </a:txBody>
                  <a:tcPr marL="31750" marR="31750" marT="31750" marB="31750" anchor="ctr"/>
                </a:tc>
                <a:tc>
                  <a:txBody>
                    <a:bodyPr/>
                    <a:lstStyle/>
                    <a:p>
                      <a:pPr algn="l" rtl="0" fontAlgn="ctr"/>
                      <a:r>
                        <a:rPr lang="ru-RU" sz="1000" b="1">
                          <a:effectLst/>
                        </a:rPr>
                        <a:t>Широковещательная рассылка</a:t>
                      </a:r>
                    </a:p>
                  </a:txBody>
                  <a:tcPr marL="31750" marR="31750" marT="31750" marB="31750" anchor="ctr"/>
                </a:tc>
                <a:extLst>
                  <a:ext uri="{0D108BD9-81ED-4DB2-BD59-A6C34878D82A}">
                    <a16:rowId xmlns:a16="http://schemas.microsoft.com/office/drawing/2014/main" val="3621925027"/>
                  </a:ext>
                </a:extLst>
              </a:tr>
              <a:tr h="291438">
                <a:tc>
                  <a:txBody>
                    <a:bodyPr/>
                    <a:lstStyle/>
                    <a:p>
                      <a:pPr rtl="0" fontAlgn="ctr"/>
                      <a:r>
                        <a:rPr lang="ru-RU" sz="1000" b="1">
                          <a:effectLst/>
                        </a:rPr>
                        <a:t>10,0</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10,0</a:t>
                      </a:r>
                      <a:r>
                        <a:rPr lang="ru-RU" sz="1000" b="0">
                          <a:effectLst/>
                        </a:rPr>
                        <a:t>.0.1 - </a:t>
                      </a:r>
                      <a:r>
                        <a:rPr lang="ru-RU" sz="1000" b="1">
                          <a:effectLst/>
                        </a:rPr>
                        <a:t>10,0</a:t>
                      </a:r>
                      <a:r>
                        <a:rPr lang="ru-RU" sz="1000" b="0">
                          <a:effectLst/>
                        </a:rPr>
                        <a:t>.255,254 </a:t>
                      </a:r>
                    </a:p>
                  </a:txBody>
                  <a:tcPr marL="31750" marR="31750" marT="31750" marB="31750" anchor="ctr"/>
                </a:tc>
                <a:tc>
                  <a:txBody>
                    <a:bodyPr/>
                    <a:lstStyle/>
                    <a:p>
                      <a:pPr rtl="0" fontAlgn="ctr"/>
                      <a:r>
                        <a:rPr lang="ru-RU" sz="1000" b="1">
                          <a:effectLst/>
                        </a:rPr>
                        <a:t>10,0</a:t>
                      </a:r>
                      <a:r>
                        <a:rPr lang="ru-RU" sz="1000" b="0">
                          <a:effectLst/>
                        </a:rPr>
                        <a:t>.255,255</a:t>
                      </a:r>
                    </a:p>
                  </a:txBody>
                  <a:tcPr marL="31750" marR="31750" marT="31750" marB="31750" anchor="ctr"/>
                </a:tc>
                <a:extLst>
                  <a:ext uri="{0D108BD9-81ED-4DB2-BD59-A6C34878D82A}">
                    <a16:rowId xmlns:a16="http://schemas.microsoft.com/office/drawing/2014/main" val="2643493669"/>
                  </a:ext>
                </a:extLst>
              </a:tr>
              <a:tr h="291438">
                <a:tc>
                  <a:txBody>
                    <a:bodyPr/>
                    <a:lstStyle/>
                    <a:p>
                      <a:pPr rtl="0" fontAlgn="ctr"/>
                      <a:r>
                        <a:rPr lang="ru-RU" sz="1000" b="1">
                          <a:effectLst/>
                        </a:rPr>
                        <a:t>10.1.</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10.1</a:t>
                      </a:r>
                      <a:r>
                        <a:rPr lang="ru-RU" sz="1000" b="0">
                          <a:effectLst/>
                        </a:rPr>
                        <a:t>.0.1 - </a:t>
                      </a:r>
                      <a:r>
                        <a:rPr lang="ru-RU" sz="1000" b="1">
                          <a:effectLst/>
                        </a:rPr>
                        <a:t>10,1</a:t>
                      </a:r>
                      <a:r>
                        <a:rPr lang="ru-RU" sz="1000" b="0">
                          <a:effectLst/>
                        </a:rPr>
                        <a:t>.255,254 </a:t>
                      </a:r>
                    </a:p>
                  </a:txBody>
                  <a:tcPr marL="31750" marR="31750" marT="31750" marB="31750" anchor="ctr"/>
                </a:tc>
                <a:tc>
                  <a:txBody>
                    <a:bodyPr/>
                    <a:lstStyle/>
                    <a:p>
                      <a:pPr rtl="0" fontAlgn="ctr"/>
                      <a:r>
                        <a:rPr lang="ru-RU" sz="1000" b="1">
                          <a:effectLst/>
                        </a:rPr>
                        <a:t>10.1</a:t>
                      </a:r>
                      <a:r>
                        <a:rPr lang="ru-RU" sz="1000" b="0">
                          <a:effectLst/>
                        </a:rPr>
                        <a:t>.255,255</a:t>
                      </a:r>
                    </a:p>
                  </a:txBody>
                  <a:tcPr marL="31750" marR="31750" marT="31750" marB="31750" anchor="ctr"/>
                </a:tc>
                <a:extLst>
                  <a:ext uri="{0D108BD9-81ED-4DB2-BD59-A6C34878D82A}">
                    <a16:rowId xmlns:a16="http://schemas.microsoft.com/office/drawing/2014/main" val="1459356146"/>
                  </a:ext>
                </a:extLst>
              </a:tr>
              <a:tr h="291438">
                <a:tc>
                  <a:txBody>
                    <a:bodyPr/>
                    <a:lstStyle/>
                    <a:p>
                      <a:pPr rtl="0" fontAlgn="ctr"/>
                      <a:r>
                        <a:rPr lang="ru-RU" sz="1000" b="1">
                          <a:effectLst/>
                        </a:rPr>
                        <a:t>10,2</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10,2</a:t>
                      </a:r>
                      <a:r>
                        <a:rPr lang="ru-RU" sz="1000" b="0">
                          <a:effectLst/>
                        </a:rPr>
                        <a:t>.0.1 - </a:t>
                      </a:r>
                      <a:r>
                        <a:rPr lang="ru-RU" sz="1000" b="1">
                          <a:effectLst/>
                        </a:rPr>
                        <a:t>10,2</a:t>
                      </a:r>
                      <a:r>
                        <a:rPr lang="ru-RU" sz="1000" b="0">
                          <a:effectLst/>
                        </a:rPr>
                        <a:t>.255,254 </a:t>
                      </a:r>
                    </a:p>
                  </a:txBody>
                  <a:tcPr marL="31750" marR="31750" marT="31750" marB="31750" anchor="ctr"/>
                </a:tc>
                <a:tc>
                  <a:txBody>
                    <a:bodyPr/>
                    <a:lstStyle/>
                    <a:p>
                      <a:pPr rtl="0" fontAlgn="ctr"/>
                      <a:r>
                        <a:rPr lang="ru-RU" sz="1000" b="1">
                          <a:effectLst/>
                        </a:rPr>
                        <a:t>10,2</a:t>
                      </a:r>
                      <a:r>
                        <a:rPr lang="ru-RU" sz="1000" b="0">
                          <a:effectLst/>
                        </a:rPr>
                        <a:t>.255,255</a:t>
                      </a:r>
                    </a:p>
                  </a:txBody>
                  <a:tcPr marL="31750" marR="31750" marT="31750" marB="31750" anchor="ctr"/>
                </a:tc>
                <a:extLst>
                  <a:ext uri="{0D108BD9-81ED-4DB2-BD59-A6C34878D82A}">
                    <a16:rowId xmlns:a16="http://schemas.microsoft.com/office/drawing/2014/main" val="417579166"/>
                  </a:ext>
                </a:extLst>
              </a:tr>
              <a:tr h="291438">
                <a:tc>
                  <a:txBody>
                    <a:bodyPr/>
                    <a:lstStyle/>
                    <a:p>
                      <a:pPr rtl="0" fontAlgn="ctr"/>
                      <a:r>
                        <a:rPr lang="ru-RU" sz="1000" b="1">
                          <a:effectLst/>
                        </a:rPr>
                        <a:t>10,3</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10.3</a:t>
                      </a:r>
                      <a:r>
                        <a:rPr lang="ru-RU" sz="1000" b="0">
                          <a:effectLst/>
                        </a:rPr>
                        <a:t>.0.1 - </a:t>
                      </a:r>
                      <a:r>
                        <a:rPr lang="ru-RU" sz="1000" b="1">
                          <a:effectLst/>
                        </a:rPr>
                        <a:t>10.3</a:t>
                      </a:r>
                      <a:r>
                        <a:rPr lang="ru-RU" sz="1000" b="0">
                          <a:effectLst/>
                        </a:rPr>
                        <a:t>.255.254 </a:t>
                      </a:r>
                    </a:p>
                  </a:txBody>
                  <a:tcPr marL="31750" marR="31750" marT="31750" marB="31750" anchor="ctr"/>
                </a:tc>
                <a:tc>
                  <a:txBody>
                    <a:bodyPr/>
                    <a:lstStyle/>
                    <a:p>
                      <a:pPr rtl="0" fontAlgn="ctr"/>
                      <a:r>
                        <a:rPr lang="ru-RU" sz="1000" b="1">
                          <a:effectLst/>
                        </a:rPr>
                        <a:t>10.3</a:t>
                      </a:r>
                      <a:r>
                        <a:rPr lang="ru-RU" sz="1000" b="0">
                          <a:effectLst/>
                        </a:rPr>
                        <a:t>.255.255</a:t>
                      </a:r>
                      <a:r>
                        <a:rPr lang="ru-RU" sz="1000" b="1">
                          <a:effectLst/>
                        </a:rPr>
                        <a:t>.</a:t>
                      </a:r>
                    </a:p>
                  </a:txBody>
                  <a:tcPr marL="31750" marR="31750" marT="31750" marB="31750" anchor="ctr"/>
                </a:tc>
                <a:extLst>
                  <a:ext uri="{0D108BD9-81ED-4DB2-BD59-A6C34878D82A}">
                    <a16:rowId xmlns:a16="http://schemas.microsoft.com/office/drawing/2014/main" val="1246693201"/>
                  </a:ext>
                </a:extLst>
              </a:tr>
              <a:tr h="291438">
                <a:tc>
                  <a:txBody>
                    <a:bodyPr/>
                    <a:lstStyle/>
                    <a:p>
                      <a:pPr rtl="0" fontAlgn="ctr"/>
                      <a:r>
                        <a:rPr lang="ru-RU" sz="1000" b="1">
                          <a:effectLst/>
                        </a:rPr>
                        <a:t>10.4</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10.4</a:t>
                      </a:r>
                      <a:r>
                        <a:rPr lang="ru-RU" sz="1000" b="0">
                          <a:effectLst/>
                        </a:rPr>
                        <a:t>.0.1 - </a:t>
                      </a:r>
                      <a:r>
                        <a:rPr lang="ru-RU" sz="1000" b="1">
                          <a:effectLst/>
                        </a:rPr>
                        <a:t>10,4</a:t>
                      </a:r>
                      <a:r>
                        <a:rPr lang="ru-RU" sz="1000" b="0">
                          <a:effectLst/>
                        </a:rPr>
                        <a:t>.255.254 </a:t>
                      </a:r>
                    </a:p>
                  </a:txBody>
                  <a:tcPr marL="31750" marR="31750" marT="31750" marB="31750" anchor="ctr"/>
                </a:tc>
                <a:tc>
                  <a:txBody>
                    <a:bodyPr/>
                    <a:lstStyle/>
                    <a:p>
                      <a:pPr rtl="0" fontAlgn="ctr"/>
                      <a:r>
                        <a:rPr lang="ru-RU" sz="1000" b="1">
                          <a:effectLst/>
                        </a:rPr>
                        <a:t>10.4</a:t>
                      </a:r>
                      <a:r>
                        <a:rPr lang="ru-RU" sz="1000" b="0">
                          <a:effectLst/>
                        </a:rPr>
                        <a:t>.255.255</a:t>
                      </a:r>
                    </a:p>
                  </a:txBody>
                  <a:tcPr marL="31750" marR="31750" marT="31750" marB="31750" anchor="ctr"/>
                </a:tc>
                <a:extLst>
                  <a:ext uri="{0D108BD9-81ED-4DB2-BD59-A6C34878D82A}">
                    <a16:rowId xmlns:a16="http://schemas.microsoft.com/office/drawing/2014/main" val="1260802008"/>
                  </a:ext>
                </a:extLst>
              </a:tr>
              <a:tr h="291438">
                <a:tc>
                  <a:txBody>
                    <a:bodyPr/>
                    <a:lstStyle/>
                    <a:p>
                      <a:pPr rtl="0" fontAlgn="ctr"/>
                      <a:r>
                        <a:rPr lang="ru-RU" sz="1000" b="1">
                          <a:effectLst/>
                        </a:rPr>
                        <a:t>10.5</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10.5</a:t>
                      </a:r>
                      <a:r>
                        <a:rPr lang="ru-RU" sz="1000" b="0">
                          <a:effectLst/>
                        </a:rPr>
                        <a:t>.0.1 - </a:t>
                      </a:r>
                      <a:r>
                        <a:rPr lang="ru-RU" sz="1000" b="1">
                          <a:effectLst/>
                        </a:rPr>
                        <a:t>10.5</a:t>
                      </a:r>
                      <a:r>
                        <a:rPr lang="ru-RU" sz="1000" b="0">
                          <a:effectLst/>
                        </a:rPr>
                        <a:t>.255.254 </a:t>
                      </a:r>
                    </a:p>
                  </a:txBody>
                  <a:tcPr marL="31750" marR="31750" marT="31750" marB="31750" anchor="ctr"/>
                </a:tc>
                <a:tc>
                  <a:txBody>
                    <a:bodyPr/>
                    <a:lstStyle/>
                    <a:p>
                      <a:pPr rtl="0" fontAlgn="ctr"/>
                      <a:r>
                        <a:rPr lang="ru-RU" sz="1000" b="1">
                          <a:effectLst/>
                        </a:rPr>
                        <a:t>10.5</a:t>
                      </a:r>
                      <a:r>
                        <a:rPr lang="ru-RU" sz="1000" b="0">
                          <a:effectLst/>
                        </a:rPr>
                        <a:t>.255.255</a:t>
                      </a:r>
                    </a:p>
                  </a:txBody>
                  <a:tcPr marL="31750" marR="31750" marT="31750" marB="31750" anchor="ctr"/>
                </a:tc>
                <a:extLst>
                  <a:ext uri="{0D108BD9-81ED-4DB2-BD59-A6C34878D82A}">
                    <a16:rowId xmlns:a16="http://schemas.microsoft.com/office/drawing/2014/main" val="1140251696"/>
                  </a:ext>
                </a:extLst>
              </a:tr>
              <a:tr h="291438">
                <a:tc>
                  <a:txBody>
                    <a:bodyPr/>
                    <a:lstStyle/>
                    <a:p>
                      <a:pPr rtl="0" fontAlgn="ctr"/>
                      <a:r>
                        <a:rPr lang="ru-RU" sz="1000" b="1">
                          <a:effectLst/>
                        </a:rPr>
                        <a:t>10.6</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10.6</a:t>
                      </a:r>
                      <a:r>
                        <a:rPr lang="ru-RU" sz="1000" b="0">
                          <a:effectLst/>
                        </a:rPr>
                        <a:t>.0.1 - </a:t>
                      </a:r>
                      <a:r>
                        <a:rPr lang="ru-RU" sz="1000" b="1">
                          <a:effectLst/>
                        </a:rPr>
                        <a:t>10.6</a:t>
                      </a:r>
                      <a:r>
                        <a:rPr lang="ru-RU" sz="1000" b="0">
                          <a:effectLst/>
                        </a:rPr>
                        <a:t>.255.254 </a:t>
                      </a:r>
                    </a:p>
                  </a:txBody>
                  <a:tcPr marL="31750" marR="31750" marT="31750" marB="31750" anchor="ctr"/>
                </a:tc>
                <a:tc>
                  <a:txBody>
                    <a:bodyPr/>
                    <a:lstStyle/>
                    <a:p>
                      <a:pPr rtl="0" fontAlgn="ctr"/>
                      <a:r>
                        <a:rPr lang="ru-RU" sz="1000" b="1">
                          <a:effectLst/>
                        </a:rPr>
                        <a:t>10.6</a:t>
                      </a:r>
                      <a:r>
                        <a:rPr lang="ru-RU" sz="1000" b="0">
                          <a:effectLst/>
                        </a:rPr>
                        <a:t>.255.255</a:t>
                      </a:r>
                    </a:p>
                  </a:txBody>
                  <a:tcPr marL="31750" marR="31750" marT="31750" marB="31750" anchor="ctr"/>
                </a:tc>
                <a:extLst>
                  <a:ext uri="{0D108BD9-81ED-4DB2-BD59-A6C34878D82A}">
                    <a16:rowId xmlns:a16="http://schemas.microsoft.com/office/drawing/2014/main" val="1579384603"/>
                  </a:ext>
                </a:extLst>
              </a:tr>
              <a:tr h="291438">
                <a:tc>
                  <a:txBody>
                    <a:bodyPr/>
                    <a:lstStyle/>
                    <a:p>
                      <a:pPr rtl="0" fontAlgn="ctr"/>
                      <a:r>
                        <a:rPr lang="ru-RU" sz="1000" b="1">
                          <a:effectLst/>
                        </a:rPr>
                        <a:t>10.7</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107</a:t>
                      </a:r>
                      <a:r>
                        <a:rPr lang="ru-RU" sz="1000" b="0">
                          <a:effectLst/>
                        </a:rPr>
                        <a:t>.0.1 - </a:t>
                      </a:r>
                      <a:r>
                        <a:rPr lang="ru-RU" sz="1000" b="1">
                          <a:effectLst/>
                        </a:rPr>
                        <a:t>10.7</a:t>
                      </a:r>
                      <a:r>
                        <a:rPr lang="ru-RU" sz="1000" b="0">
                          <a:effectLst/>
                        </a:rPr>
                        <a:t>.255.254 </a:t>
                      </a:r>
                    </a:p>
                  </a:txBody>
                  <a:tcPr marL="31750" marR="31750" marT="31750" marB="31750" anchor="ctr"/>
                </a:tc>
                <a:tc>
                  <a:txBody>
                    <a:bodyPr/>
                    <a:lstStyle/>
                    <a:p>
                      <a:pPr rtl="0" fontAlgn="ctr"/>
                      <a:r>
                        <a:rPr lang="ru-RU" sz="1000" b="1">
                          <a:effectLst/>
                        </a:rPr>
                        <a:t>10.7</a:t>
                      </a:r>
                      <a:r>
                        <a:rPr lang="ru-RU" sz="1000" b="0">
                          <a:effectLst/>
                        </a:rPr>
                        <a:t>.255.255</a:t>
                      </a:r>
                    </a:p>
                  </a:txBody>
                  <a:tcPr marL="31750" marR="31750" marT="31750" marB="31750" anchor="ctr"/>
                </a:tc>
                <a:extLst>
                  <a:ext uri="{0D108BD9-81ED-4DB2-BD59-A6C34878D82A}">
                    <a16:rowId xmlns:a16="http://schemas.microsoft.com/office/drawing/2014/main" val="1319694656"/>
                  </a:ext>
                </a:extLst>
              </a:tr>
              <a:tr h="291438">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extLst>
                  <a:ext uri="{0D108BD9-81ED-4DB2-BD59-A6C34878D82A}">
                    <a16:rowId xmlns:a16="http://schemas.microsoft.com/office/drawing/2014/main" val="3511108504"/>
                  </a:ext>
                </a:extLst>
              </a:tr>
              <a:tr h="291438">
                <a:tc>
                  <a:txBody>
                    <a:bodyPr/>
                    <a:lstStyle/>
                    <a:p>
                      <a:pPr rtl="0" fontAlgn="ctr"/>
                      <a:r>
                        <a:rPr lang="ru-RU" sz="1000" b="1">
                          <a:effectLst/>
                        </a:rPr>
                        <a:t>10.255</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10.255</a:t>
                      </a:r>
                      <a:r>
                        <a:rPr lang="ru-RU" sz="1000" b="0">
                          <a:effectLst/>
                        </a:rPr>
                        <a:t>.0.1 - </a:t>
                      </a:r>
                      <a:r>
                        <a:rPr lang="ru-RU" sz="1000" b="1">
                          <a:effectLst/>
                        </a:rPr>
                        <a:t>10.255</a:t>
                      </a:r>
                      <a:r>
                        <a:rPr lang="ru-RU" sz="1000" b="0">
                          <a:effectLst/>
                        </a:rPr>
                        <a:t>.255.254</a:t>
                      </a:r>
                    </a:p>
                  </a:txBody>
                  <a:tcPr marL="31750" marR="31750" marT="31750" marB="31750" anchor="ctr"/>
                </a:tc>
                <a:tc>
                  <a:txBody>
                    <a:bodyPr/>
                    <a:lstStyle/>
                    <a:p>
                      <a:pPr rtl="0" fontAlgn="ctr"/>
                      <a:r>
                        <a:rPr lang="ru-RU" sz="1000" b="1">
                          <a:effectLst/>
                        </a:rPr>
                        <a:t>10.255</a:t>
                      </a:r>
                      <a:r>
                        <a:rPr lang="ru-RU" sz="1000" b="0">
                          <a:effectLst/>
                        </a:rPr>
                        <a:t>.255.255</a:t>
                      </a:r>
                    </a:p>
                  </a:txBody>
                  <a:tcPr marL="31750" marR="31750" marT="31750" marB="31750" anchor="ctr"/>
                </a:tc>
                <a:extLst>
                  <a:ext uri="{0D108BD9-81ED-4DB2-BD59-A6C34878D82A}">
                    <a16:rowId xmlns:a16="http://schemas.microsoft.com/office/drawing/2014/main" val="336941723"/>
                  </a:ext>
                </a:extLst>
              </a:tr>
            </a:tbl>
          </a:graphicData>
        </a:graphic>
      </p:graphicFrame>
      <p:graphicFrame>
        <p:nvGraphicFramePr>
          <p:cNvPr id="7" name="Table 6">
            <a:extLst>
              <a:ext uri="{FF2B5EF4-FFF2-40B4-BE49-F238E27FC236}">
                <a16:creationId xmlns:a16="http://schemas.microsoft.com/office/drawing/2014/main" id="{1A119983-4ED6-4A9F-ABB0-451D571C31AD}"/>
              </a:ext>
            </a:extLst>
          </p:cNvPr>
          <p:cNvGraphicFramePr>
            <a:graphicFrameLocks noGrp="1"/>
          </p:cNvGraphicFramePr>
          <p:nvPr>
            <p:extLst>
              <p:ext uri="{D42A27DB-BD31-4B8C-83A1-F6EECF244321}">
                <p14:modId xmlns:p14="http://schemas.microsoft.com/office/powerpoint/2010/main" val="425671318"/>
              </p:ext>
            </p:extLst>
          </p:nvPr>
        </p:nvGraphicFramePr>
        <p:xfrm>
          <a:off x="4671059" y="1246212"/>
          <a:ext cx="4152901" cy="3435608"/>
        </p:xfrm>
        <a:graphic>
          <a:graphicData uri="http://schemas.openxmlformats.org/drawingml/2006/table">
            <a:tbl>
              <a:tblPr firstRow="1" bandRow="1">
                <a:tableStyleId>{5C22544A-7EE6-4342-B048-85BDC9FD1C3A}</a:tableStyleId>
              </a:tblPr>
              <a:tblGrid>
                <a:gridCol w="1197621">
                  <a:extLst>
                    <a:ext uri="{9D8B030D-6E8A-4147-A177-3AD203B41FA5}">
                      <a16:colId xmlns:a16="http://schemas.microsoft.com/office/drawing/2014/main" val="1832368472"/>
                    </a:ext>
                  </a:extLst>
                </a:gridCol>
                <a:gridCol w="1998805">
                  <a:extLst>
                    <a:ext uri="{9D8B030D-6E8A-4147-A177-3AD203B41FA5}">
                      <a16:colId xmlns:a16="http://schemas.microsoft.com/office/drawing/2014/main" val="3133033927"/>
                    </a:ext>
                  </a:extLst>
                </a:gridCol>
                <a:gridCol w="956475">
                  <a:extLst>
                    <a:ext uri="{9D8B030D-6E8A-4147-A177-3AD203B41FA5}">
                      <a16:colId xmlns:a16="http://schemas.microsoft.com/office/drawing/2014/main" val="1854765229"/>
                    </a:ext>
                  </a:extLst>
                </a:gridCol>
              </a:tblGrid>
              <a:tr h="520177">
                <a:tc>
                  <a:txBody>
                    <a:bodyPr/>
                    <a:lstStyle/>
                    <a:p>
                      <a:pPr algn="l" rtl="0" fontAlgn="ctr"/>
                      <a:r>
                        <a:rPr lang="ru-RU" sz="1000" b="1">
                          <a:effectLst/>
                        </a:rPr>
                        <a:t>Адрес подсети </a:t>
                      </a:r>
                      <a:br>
                        <a:rPr lang="en-CA" sz="1000" b="1" dirty="0">
                          <a:effectLst/>
                        </a:rPr>
                      </a:br>
                      <a:r>
                        <a:rPr lang="ru-RU" sz="1000" b="0">
                          <a:effectLst/>
                        </a:rPr>
                        <a:t>(65,536 возможных подсетей)</a:t>
                      </a:r>
                    </a:p>
                  </a:txBody>
                  <a:tcPr marL="31750" marR="31750" marT="31750" marB="31750" anchor="ctr"/>
                </a:tc>
                <a:tc>
                  <a:txBody>
                    <a:bodyPr/>
                    <a:lstStyle/>
                    <a:p>
                      <a:pPr algn="l" rtl="0" fontAlgn="ctr"/>
                      <a:r>
                        <a:rPr lang="ru-RU" sz="1000" b="1">
                          <a:effectLst/>
                        </a:rPr>
                        <a:t>Диапазон узлов </a:t>
                      </a:r>
                      <a:br>
                        <a:rPr lang="en-CA" sz="1000" b="1" dirty="0">
                          <a:effectLst/>
                        </a:rPr>
                      </a:br>
                      <a:r>
                        <a:rPr lang="ru-RU" sz="1000" b="0">
                          <a:effectLst/>
                        </a:rPr>
                        <a:t>(254 возможных узла в каждой подсети)</a:t>
                      </a:r>
                    </a:p>
                  </a:txBody>
                  <a:tcPr marL="31750" marR="31750" marT="31750" marB="31750" anchor="ctr"/>
                </a:tc>
                <a:tc>
                  <a:txBody>
                    <a:bodyPr/>
                    <a:lstStyle/>
                    <a:p>
                      <a:pPr algn="l" rtl="0" fontAlgn="ctr"/>
                      <a:r>
                        <a:rPr lang="ru-RU" sz="1000" b="1">
                          <a:effectLst/>
                        </a:rPr>
                        <a:t>Широковещательная рассылка</a:t>
                      </a:r>
                    </a:p>
                  </a:txBody>
                  <a:tcPr marL="31750" marR="31750" marT="31750" marB="31750" anchor="ctr"/>
                </a:tc>
                <a:extLst>
                  <a:ext uri="{0D108BD9-81ED-4DB2-BD59-A6C34878D82A}">
                    <a16:rowId xmlns:a16="http://schemas.microsoft.com/office/drawing/2014/main" val="3621925027"/>
                  </a:ext>
                </a:extLst>
              </a:tr>
              <a:tr h="242909">
                <a:tc>
                  <a:txBody>
                    <a:bodyPr/>
                    <a:lstStyle/>
                    <a:p>
                      <a:pPr rtl="0" fontAlgn="ctr"/>
                      <a:r>
                        <a:rPr lang="ru-RU" sz="1000" b="1">
                          <a:effectLst/>
                        </a:rPr>
                        <a:t>10.0.0</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10.0.0</a:t>
                      </a:r>
                      <a:r>
                        <a:rPr lang="ru-RU" sz="1000" b="0">
                          <a:effectLst/>
                        </a:rPr>
                        <a:t>.1 - </a:t>
                      </a:r>
                      <a:r>
                        <a:rPr lang="ru-RU" sz="1000" b="1">
                          <a:effectLst/>
                        </a:rPr>
                        <a:t>10.0.0</a:t>
                      </a:r>
                      <a:r>
                        <a:rPr lang="ru-RU" sz="1000" b="0">
                          <a:effectLst/>
                        </a:rPr>
                        <a:t>.254</a:t>
                      </a:r>
                    </a:p>
                  </a:txBody>
                  <a:tcPr marL="31750" marR="31750" marT="31750" marB="31750" anchor="ctr"/>
                </a:tc>
                <a:tc>
                  <a:txBody>
                    <a:bodyPr/>
                    <a:lstStyle/>
                    <a:p>
                      <a:pPr rtl="0" fontAlgn="ctr"/>
                      <a:r>
                        <a:rPr lang="ru-RU" sz="1000" b="1">
                          <a:effectLst/>
                        </a:rPr>
                        <a:t>10.0.0</a:t>
                      </a:r>
                      <a:r>
                        <a:rPr lang="ru-RU" sz="1000" b="0">
                          <a:effectLst/>
                        </a:rPr>
                        <a:t>.255</a:t>
                      </a:r>
                    </a:p>
                  </a:txBody>
                  <a:tcPr marL="31750" marR="31750" marT="31750" marB="31750" anchor="ctr"/>
                </a:tc>
                <a:extLst>
                  <a:ext uri="{0D108BD9-81ED-4DB2-BD59-A6C34878D82A}">
                    <a16:rowId xmlns:a16="http://schemas.microsoft.com/office/drawing/2014/main" val="1648350670"/>
                  </a:ext>
                </a:extLst>
              </a:tr>
              <a:tr h="242909">
                <a:tc>
                  <a:txBody>
                    <a:bodyPr/>
                    <a:lstStyle/>
                    <a:p>
                      <a:pPr rtl="0" fontAlgn="ctr"/>
                      <a:r>
                        <a:rPr lang="ru-RU" sz="1000" b="1">
                          <a:effectLst/>
                        </a:rPr>
                        <a:t>10.0.1</a:t>
                      </a:r>
                      <a:r>
                        <a:rPr lang="ru-RU" sz="1000" b="0">
                          <a:effectLst/>
                        </a:rPr>
                        <a:t>.0</a:t>
                      </a:r>
                      <a:r>
                        <a:rPr lang="ru-RU" sz="1000" b="1">
                          <a:effectLst/>
                        </a:rPr>
                        <a:t>/24</a:t>
                      </a:r>
                    </a:p>
                  </a:txBody>
                  <a:tcPr marL="31750" marR="31750" marT="31750" marB="31750" anchor="ctr"/>
                </a:tc>
                <a:tc>
                  <a:txBody>
                    <a:bodyPr/>
                    <a:lstStyle/>
                    <a:p>
                      <a:pPr rtl="0" fontAlgn="ctr"/>
                      <a:r>
                        <a:rPr lang="ru-RU" sz="1000" b="0">
                          <a:effectLst/>
                        </a:rPr>
                        <a:t>10.0.1 - </a:t>
                      </a:r>
                      <a:r>
                        <a:rPr lang="ru-RU" sz="1000" b="1">
                          <a:effectLst/>
                        </a:rPr>
                        <a:t>10.0.1</a:t>
                      </a:r>
                      <a:r>
                        <a:rPr lang="ru-RU" sz="1000" b="0">
                          <a:effectLst/>
                        </a:rPr>
                        <a:t>.254 </a:t>
                      </a:r>
                    </a:p>
                  </a:txBody>
                  <a:tcPr marL="31750" marR="31750" marT="31750" marB="31750" anchor="ctr"/>
                </a:tc>
                <a:tc>
                  <a:txBody>
                    <a:bodyPr/>
                    <a:lstStyle/>
                    <a:p>
                      <a:pPr rtl="0" fontAlgn="ctr"/>
                      <a:r>
                        <a:rPr lang="ru-RU" sz="1000" b="1">
                          <a:effectLst/>
                        </a:rPr>
                        <a:t>10.0.1</a:t>
                      </a:r>
                      <a:r>
                        <a:rPr lang="ru-RU" sz="1000" b="0">
                          <a:effectLst/>
                        </a:rPr>
                        <a:t>.255</a:t>
                      </a:r>
                    </a:p>
                  </a:txBody>
                  <a:tcPr marL="31750" marR="31750" marT="31750" marB="31750" anchor="ctr"/>
                </a:tc>
                <a:extLst>
                  <a:ext uri="{0D108BD9-81ED-4DB2-BD59-A6C34878D82A}">
                    <a16:rowId xmlns:a16="http://schemas.microsoft.com/office/drawing/2014/main" val="2838933585"/>
                  </a:ext>
                </a:extLst>
              </a:tr>
              <a:tr h="242909">
                <a:tc>
                  <a:txBody>
                    <a:bodyPr/>
                    <a:lstStyle/>
                    <a:p>
                      <a:pPr rtl="0" fontAlgn="ctr"/>
                      <a:r>
                        <a:rPr lang="ru-RU" sz="1000" b="1">
                          <a:effectLst/>
                        </a:rPr>
                        <a:t>10.0.2</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10.0.2</a:t>
                      </a:r>
                      <a:r>
                        <a:rPr lang="ru-RU" sz="1000" b="0">
                          <a:effectLst/>
                        </a:rPr>
                        <a:t>.1 - </a:t>
                      </a:r>
                      <a:r>
                        <a:rPr lang="ru-RU" sz="1000" b="1">
                          <a:effectLst/>
                        </a:rPr>
                        <a:t>10.0.2</a:t>
                      </a:r>
                      <a:r>
                        <a:rPr lang="ru-RU" sz="1000" b="0">
                          <a:effectLst/>
                        </a:rPr>
                        <a:t>.254 </a:t>
                      </a:r>
                    </a:p>
                  </a:txBody>
                  <a:tcPr marL="31750" marR="31750" marT="31750" marB="31750" anchor="ctr"/>
                </a:tc>
                <a:tc>
                  <a:txBody>
                    <a:bodyPr/>
                    <a:lstStyle/>
                    <a:p>
                      <a:pPr rtl="0" fontAlgn="ctr"/>
                      <a:r>
                        <a:rPr lang="ru-RU" sz="1000" b="1">
                          <a:effectLst/>
                        </a:rPr>
                        <a:t>10.0.2</a:t>
                      </a:r>
                      <a:r>
                        <a:rPr lang="ru-RU" sz="1000" b="0">
                          <a:effectLst/>
                        </a:rPr>
                        <a:t>.255</a:t>
                      </a:r>
                    </a:p>
                  </a:txBody>
                  <a:tcPr marL="31750" marR="31750" marT="31750" marB="31750" anchor="ctr"/>
                </a:tc>
                <a:extLst>
                  <a:ext uri="{0D108BD9-81ED-4DB2-BD59-A6C34878D82A}">
                    <a16:rowId xmlns:a16="http://schemas.microsoft.com/office/drawing/2014/main" val="2643493669"/>
                  </a:ext>
                </a:extLst>
              </a:tr>
              <a:tr h="242909">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extLst>
                  <a:ext uri="{0D108BD9-81ED-4DB2-BD59-A6C34878D82A}">
                    <a16:rowId xmlns:a16="http://schemas.microsoft.com/office/drawing/2014/main" val="1459356146"/>
                  </a:ext>
                </a:extLst>
              </a:tr>
              <a:tr h="242909">
                <a:tc>
                  <a:txBody>
                    <a:bodyPr/>
                    <a:lstStyle/>
                    <a:p>
                      <a:pPr rtl="0" fontAlgn="ctr"/>
                      <a:r>
                        <a:rPr lang="ru-RU" sz="1000" b="1">
                          <a:effectLst/>
                        </a:rPr>
                        <a:t>10.0.255</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10.0.255</a:t>
                      </a:r>
                      <a:r>
                        <a:rPr lang="ru-RU" sz="1000" b="0">
                          <a:effectLst/>
                        </a:rPr>
                        <a:t>.1 - </a:t>
                      </a:r>
                      <a:r>
                        <a:rPr lang="ru-RU" sz="1000" b="1">
                          <a:effectLst/>
                        </a:rPr>
                        <a:t>10.0.255</a:t>
                      </a:r>
                      <a:r>
                        <a:rPr lang="ru-RU" sz="1000" b="0">
                          <a:effectLst/>
                        </a:rPr>
                        <a:t>.254 </a:t>
                      </a:r>
                    </a:p>
                  </a:txBody>
                  <a:tcPr marL="31750" marR="31750" marT="31750" marB="31750" anchor="ctr"/>
                </a:tc>
                <a:tc>
                  <a:txBody>
                    <a:bodyPr/>
                    <a:lstStyle/>
                    <a:p>
                      <a:pPr rtl="0" fontAlgn="ctr"/>
                      <a:r>
                        <a:rPr lang="ru-RU" sz="1000" b="1">
                          <a:effectLst/>
                        </a:rPr>
                        <a:t>10.0.255</a:t>
                      </a:r>
                      <a:r>
                        <a:rPr lang="ru-RU" sz="1000" b="0">
                          <a:effectLst/>
                        </a:rPr>
                        <a:t>.255</a:t>
                      </a:r>
                    </a:p>
                  </a:txBody>
                  <a:tcPr marL="31750" marR="31750" marT="31750" marB="31750" anchor="ctr"/>
                </a:tc>
                <a:extLst>
                  <a:ext uri="{0D108BD9-81ED-4DB2-BD59-A6C34878D82A}">
                    <a16:rowId xmlns:a16="http://schemas.microsoft.com/office/drawing/2014/main" val="417579166"/>
                  </a:ext>
                </a:extLst>
              </a:tr>
              <a:tr h="242909">
                <a:tc>
                  <a:txBody>
                    <a:bodyPr/>
                    <a:lstStyle/>
                    <a:p>
                      <a:pPr rtl="0" fontAlgn="ctr"/>
                      <a:r>
                        <a:rPr lang="ru-RU" sz="1000" b="0">
                          <a:effectLst/>
                        </a:rPr>
                        <a:t>10.1.0.0</a:t>
                      </a:r>
                      <a:r>
                        <a:rPr lang="ru-RU" sz="1000" b="1">
                          <a:effectLst/>
                        </a:rPr>
                        <a:t>/24</a:t>
                      </a:r>
                    </a:p>
                  </a:txBody>
                  <a:tcPr marL="31750" marR="31750" marT="31750" marB="31750" anchor="ctr"/>
                </a:tc>
                <a:tc>
                  <a:txBody>
                    <a:bodyPr/>
                    <a:lstStyle/>
                    <a:p>
                      <a:pPr rtl="0" fontAlgn="ctr"/>
                      <a:r>
                        <a:rPr lang="ru-RU" sz="1000" b="1">
                          <a:effectLst/>
                        </a:rPr>
                        <a:t>10.1.0</a:t>
                      </a:r>
                      <a:r>
                        <a:rPr lang="ru-RU" sz="1000" b="0">
                          <a:effectLst/>
                        </a:rPr>
                        <a:t>.1 - </a:t>
                      </a:r>
                      <a:r>
                        <a:rPr lang="ru-RU" sz="1000" b="1">
                          <a:effectLst/>
                        </a:rPr>
                        <a:t>10.1.0</a:t>
                      </a:r>
                      <a:r>
                        <a:rPr lang="ru-RU" sz="1000" b="0">
                          <a:effectLst/>
                        </a:rPr>
                        <a:t>.254 </a:t>
                      </a:r>
                    </a:p>
                  </a:txBody>
                  <a:tcPr marL="31750" marR="31750" marT="31750" marB="31750" anchor="ctr"/>
                </a:tc>
                <a:tc>
                  <a:txBody>
                    <a:bodyPr/>
                    <a:lstStyle/>
                    <a:p>
                      <a:pPr rtl="0" fontAlgn="ctr"/>
                      <a:r>
                        <a:rPr lang="ru-RU" sz="1000" b="1">
                          <a:effectLst/>
                        </a:rPr>
                        <a:t>10.1.0</a:t>
                      </a:r>
                      <a:r>
                        <a:rPr lang="ru-RU" sz="1000" b="0">
                          <a:effectLst/>
                        </a:rPr>
                        <a:t>.255</a:t>
                      </a:r>
                    </a:p>
                  </a:txBody>
                  <a:tcPr marL="31750" marR="31750" marT="31750" marB="31750" anchor="ctr"/>
                </a:tc>
                <a:extLst>
                  <a:ext uri="{0D108BD9-81ED-4DB2-BD59-A6C34878D82A}">
                    <a16:rowId xmlns:a16="http://schemas.microsoft.com/office/drawing/2014/main" val="1246693201"/>
                  </a:ext>
                </a:extLst>
              </a:tr>
              <a:tr h="242909">
                <a:tc>
                  <a:txBody>
                    <a:bodyPr/>
                    <a:lstStyle/>
                    <a:p>
                      <a:pPr rtl="0" fontAlgn="ctr"/>
                      <a:r>
                        <a:rPr lang="ru-RU" sz="1000" b="1">
                          <a:effectLst/>
                        </a:rPr>
                        <a:t>10.1.1</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10.1.1</a:t>
                      </a:r>
                      <a:r>
                        <a:rPr lang="ru-RU" sz="1000" b="0">
                          <a:effectLst/>
                        </a:rPr>
                        <a:t>.1 - </a:t>
                      </a:r>
                      <a:r>
                        <a:rPr lang="ru-RU" sz="1000" b="1">
                          <a:effectLst/>
                        </a:rPr>
                        <a:t>10.1.1</a:t>
                      </a:r>
                      <a:r>
                        <a:rPr lang="ru-RU" sz="1000" b="0">
                          <a:effectLst/>
                        </a:rPr>
                        <a:t>.254 </a:t>
                      </a:r>
                    </a:p>
                  </a:txBody>
                  <a:tcPr marL="31750" marR="31750" marT="31750" marB="31750" anchor="ctr"/>
                </a:tc>
                <a:tc>
                  <a:txBody>
                    <a:bodyPr/>
                    <a:lstStyle/>
                    <a:p>
                      <a:pPr rtl="0" fontAlgn="ctr"/>
                      <a:r>
                        <a:rPr lang="ru-RU" sz="1000" b="1">
                          <a:effectLst/>
                        </a:rPr>
                        <a:t>10.1.1</a:t>
                      </a:r>
                      <a:r>
                        <a:rPr lang="ru-RU" sz="1000" b="0">
                          <a:effectLst/>
                        </a:rPr>
                        <a:t>.255</a:t>
                      </a:r>
                    </a:p>
                  </a:txBody>
                  <a:tcPr marL="31750" marR="31750" marT="31750" marB="31750" anchor="ctr"/>
                </a:tc>
                <a:extLst>
                  <a:ext uri="{0D108BD9-81ED-4DB2-BD59-A6C34878D82A}">
                    <a16:rowId xmlns:a16="http://schemas.microsoft.com/office/drawing/2014/main" val="1260802008"/>
                  </a:ext>
                </a:extLst>
              </a:tr>
              <a:tr h="242909">
                <a:tc>
                  <a:txBody>
                    <a:bodyPr/>
                    <a:lstStyle/>
                    <a:p>
                      <a:pPr rtl="0" fontAlgn="ctr"/>
                      <a:r>
                        <a:rPr lang="ru-RU" sz="1000" b="1">
                          <a:effectLst/>
                        </a:rPr>
                        <a:t>10.1.2</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10.1.2</a:t>
                      </a:r>
                      <a:r>
                        <a:rPr lang="ru-RU" sz="1000" b="0">
                          <a:effectLst/>
                        </a:rPr>
                        <a:t>.1 - </a:t>
                      </a:r>
                      <a:r>
                        <a:rPr lang="ru-RU" sz="1000" b="1">
                          <a:effectLst/>
                        </a:rPr>
                        <a:t>10.1.2</a:t>
                      </a:r>
                      <a:r>
                        <a:rPr lang="ru-RU" sz="1000" b="0">
                          <a:effectLst/>
                        </a:rPr>
                        <a:t>.254 </a:t>
                      </a:r>
                    </a:p>
                  </a:txBody>
                  <a:tcPr marL="31750" marR="31750" marT="31750" marB="31750" anchor="ctr"/>
                </a:tc>
                <a:tc>
                  <a:txBody>
                    <a:bodyPr/>
                    <a:lstStyle/>
                    <a:p>
                      <a:pPr rtl="0" fontAlgn="ctr"/>
                      <a:r>
                        <a:rPr lang="ru-RU" sz="1000" b="1">
                          <a:effectLst/>
                        </a:rPr>
                        <a:t>10.1.2</a:t>
                      </a:r>
                      <a:r>
                        <a:rPr lang="ru-RU" sz="1000" b="0">
                          <a:effectLst/>
                        </a:rPr>
                        <a:t>.255</a:t>
                      </a:r>
                    </a:p>
                  </a:txBody>
                  <a:tcPr marL="31750" marR="31750" marT="31750" marB="31750" anchor="ctr"/>
                </a:tc>
                <a:extLst>
                  <a:ext uri="{0D108BD9-81ED-4DB2-BD59-A6C34878D82A}">
                    <a16:rowId xmlns:a16="http://schemas.microsoft.com/office/drawing/2014/main" val="1140251696"/>
                  </a:ext>
                </a:extLst>
              </a:tr>
              <a:tr h="242909">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extLst>
                  <a:ext uri="{0D108BD9-81ED-4DB2-BD59-A6C34878D82A}">
                    <a16:rowId xmlns:a16="http://schemas.microsoft.com/office/drawing/2014/main" val="1579384603"/>
                  </a:ext>
                </a:extLst>
              </a:tr>
              <a:tr h="242909">
                <a:tc>
                  <a:txBody>
                    <a:bodyPr/>
                    <a:lstStyle/>
                    <a:p>
                      <a:pPr rtl="0" fontAlgn="ctr"/>
                      <a:r>
                        <a:rPr lang="ru-RU" sz="1000" b="1">
                          <a:effectLst/>
                        </a:rPr>
                        <a:t>10.100.0</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10.100.0</a:t>
                      </a:r>
                      <a:r>
                        <a:rPr lang="ru-RU" sz="1000" b="0">
                          <a:effectLst/>
                        </a:rPr>
                        <a:t>.1 - </a:t>
                      </a:r>
                      <a:r>
                        <a:rPr lang="ru-RU" sz="1000" b="1">
                          <a:effectLst/>
                        </a:rPr>
                        <a:t>10.100.0</a:t>
                      </a:r>
                      <a:r>
                        <a:rPr lang="ru-RU" sz="1000" b="0">
                          <a:effectLst/>
                        </a:rPr>
                        <a:t>.254 </a:t>
                      </a:r>
                    </a:p>
                  </a:txBody>
                  <a:tcPr marL="31750" marR="31750" marT="31750" marB="31750" anchor="ctr"/>
                </a:tc>
                <a:tc>
                  <a:txBody>
                    <a:bodyPr/>
                    <a:lstStyle/>
                    <a:p>
                      <a:pPr rtl="0" fontAlgn="ctr"/>
                      <a:r>
                        <a:rPr lang="ru-RU" sz="1000" b="1">
                          <a:effectLst/>
                        </a:rPr>
                        <a:t>10.100.0</a:t>
                      </a:r>
                      <a:r>
                        <a:rPr lang="ru-RU" sz="1000" b="0">
                          <a:effectLst/>
                        </a:rPr>
                        <a:t>.255</a:t>
                      </a:r>
                    </a:p>
                  </a:txBody>
                  <a:tcPr marL="31750" marR="31750" marT="31750" marB="31750" anchor="ctr"/>
                </a:tc>
                <a:extLst>
                  <a:ext uri="{0D108BD9-81ED-4DB2-BD59-A6C34878D82A}">
                    <a16:rowId xmlns:a16="http://schemas.microsoft.com/office/drawing/2014/main" val="1319694656"/>
                  </a:ext>
                </a:extLst>
              </a:tr>
              <a:tr h="242909">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extLst>
                  <a:ext uri="{0D108BD9-81ED-4DB2-BD59-A6C34878D82A}">
                    <a16:rowId xmlns:a16="http://schemas.microsoft.com/office/drawing/2014/main" val="3511108504"/>
                  </a:ext>
                </a:extLst>
              </a:tr>
              <a:tr h="242909">
                <a:tc>
                  <a:txBody>
                    <a:bodyPr/>
                    <a:lstStyle/>
                    <a:p>
                      <a:pPr rtl="0" fontAlgn="ctr"/>
                      <a:r>
                        <a:rPr lang="ru-RU" sz="1000" b="1">
                          <a:effectLst/>
                        </a:rPr>
                        <a:t>10.255.255</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10.255.255</a:t>
                      </a:r>
                      <a:r>
                        <a:rPr lang="ru-RU" sz="1000" b="0">
                          <a:effectLst/>
                        </a:rPr>
                        <a:t>.1 - </a:t>
                      </a:r>
                      <a:r>
                        <a:rPr lang="ru-RU" sz="1000" b="1">
                          <a:effectLst/>
                        </a:rPr>
                        <a:t>10.2255.255</a:t>
                      </a:r>
                      <a:r>
                        <a:rPr lang="ru-RU" sz="1000" b="0">
                          <a:effectLst/>
                        </a:rPr>
                        <a:t>.254 </a:t>
                      </a:r>
                    </a:p>
                  </a:txBody>
                  <a:tcPr marL="31750" marR="31750" marT="31750" marB="31750" anchor="ctr"/>
                </a:tc>
                <a:tc>
                  <a:txBody>
                    <a:bodyPr/>
                    <a:lstStyle/>
                    <a:p>
                      <a:pPr rtl="0" fontAlgn="ctr"/>
                      <a:r>
                        <a:rPr lang="ru-RU" sz="1000" b="1">
                          <a:effectLst/>
                        </a:rPr>
                        <a:t>10.255.255</a:t>
                      </a:r>
                      <a:r>
                        <a:rPr lang="ru-RU" sz="1000" b="0">
                          <a:effectLst/>
                        </a:rPr>
                        <a:t>.255</a:t>
                      </a:r>
                    </a:p>
                  </a:txBody>
                  <a:tcPr marL="31750" marR="31750" marT="31750" marB="31750" anchor="ctr"/>
                </a:tc>
                <a:extLst>
                  <a:ext uri="{0D108BD9-81ED-4DB2-BD59-A6C34878D82A}">
                    <a16:rowId xmlns:a16="http://schemas.microsoft.com/office/drawing/2014/main" val="336941723"/>
                  </a:ext>
                </a:extLst>
              </a:tr>
            </a:tbl>
          </a:graphicData>
        </a:graphic>
      </p:graphicFrame>
    </p:spTree>
    <p:extLst>
      <p:ext uri="{BB962C8B-B14F-4D97-AF65-F5344CB8AC3E}">
        <p14:creationId xmlns:p14="http://schemas.microsoft.com/office/powerpoint/2010/main" val="391854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IPv4-сети</a:t>
            </a:r>
            <a:br>
              <a:rPr lang="en-US" dirty="0"/>
            </a:br>
            <a:r>
              <a:rPr lang="ru-RU" sz="2400"/>
              <a:t> Разделение на подсети на границе октетов</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464334"/>
          </a:xfrm>
        </p:spPr>
        <p:txBody>
          <a:bodyPr/>
          <a:lstStyle/>
          <a:p>
            <a:pPr marL="342900" indent="-342900" algn="l" rtl="0">
              <a:buFont typeface="Arial" panose="020B0604020202020204" pitchFamily="34" charset="0"/>
              <a:buChar char="•"/>
            </a:pPr>
            <a:r>
              <a:rPr lang="ru-RU" sz="1600">
                <a:solidFill>
                  <a:srgbClr val="000000"/>
                </a:solidFill>
              </a:rPr>
              <a:t>См. таблицу, чтобы увидеть шесть способов подсети сети /24.</a:t>
            </a:r>
          </a:p>
        </p:txBody>
      </p:sp>
      <p:graphicFrame>
        <p:nvGraphicFramePr>
          <p:cNvPr id="5" name="Table 4">
            <a:extLst>
              <a:ext uri="{FF2B5EF4-FFF2-40B4-BE49-F238E27FC236}">
                <a16:creationId xmlns:a16="http://schemas.microsoft.com/office/drawing/2014/main" id="{3EE5DF15-7779-4ED6-8960-EFEFE4B7C5F0}"/>
              </a:ext>
            </a:extLst>
          </p:cNvPr>
          <p:cNvGraphicFramePr>
            <a:graphicFrameLocks noGrp="1"/>
          </p:cNvGraphicFramePr>
          <p:nvPr>
            <p:extLst>
              <p:ext uri="{D42A27DB-BD31-4B8C-83A1-F6EECF244321}">
                <p14:modId xmlns:p14="http://schemas.microsoft.com/office/powerpoint/2010/main" val="2088557391"/>
              </p:ext>
            </p:extLst>
          </p:nvPr>
        </p:nvGraphicFramePr>
        <p:xfrm>
          <a:off x="1207769" y="1457067"/>
          <a:ext cx="6728460" cy="274574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3173678455"/>
                    </a:ext>
                  </a:extLst>
                </a:gridCol>
                <a:gridCol w="1203960">
                  <a:extLst>
                    <a:ext uri="{9D8B030D-6E8A-4147-A177-3AD203B41FA5}">
                      <a16:colId xmlns:a16="http://schemas.microsoft.com/office/drawing/2014/main" val="1538934761"/>
                    </a:ext>
                  </a:extLst>
                </a:gridCol>
                <a:gridCol w="3092530">
                  <a:extLst>
                    <a:ext uri="{9D8B030D-6E8A-4147-A177-3AD203B41FA5}">
                      <a16:colId xmlns:a16="http://schemas.microsoft.com/office/drawing/2014/main" val="1045760004"/>
                    </a:ext>
                  </a:extLst>
                </a:gridCol>
                <a:gridCol w="747950">
                  <a:extLst>
                    <a:ext uri="{9D8B030D-6E8A-4147-A177-3AD203B41FA5}">
                      <a16:colId xmlns:a16="http://schemas.microsoft.com/office/drawing/2014/main" val="2485496051"/>
                    </a:ext>
                  </a:extLst>
                </a:gridCol>
                <a:gridCol w="723900">
                  <a:extLst>
                    <a:ext uri="{9D8B030D-6E8A-4147-A177-3AD203B41FA5}">
                      <a16:colId xmlns:a16="http://schemas.microsoft.com/office/drawing/2014/main" val="660007875"/>
                    </a:ext>
                  </a:extLst>
                </a:gridCol>
              </a:tblGrid>
              <a:tr h="370840">
                <a:tc>
                  <a:txBody>
                    <a:bodyPr/>
                    <a:lstStyle/>
                    <a:p>
                      <a:pPr algn="l" rtl="0" fontAlgn="ctr"/>
                      <a:r>
                        <a:rPr lang="ru-RU" sz="1000" b="1">
                          <a:effectLst/>
                        </a:rPr>
                        <a:t>Длина префикса</a:t>
                      </a:r>
                    </a:p>
                  </a:txBody>
                  <a:tcPr marL="31750" marR="31750" marT="31750" marB="31750" anchor="ctr"/>
                </a:tc>
                <a:tc>
                  <a:txBody>
                    <a:bodyPr/>
                    <a:lstStyle/>
                    <a:p>
                      <a:pPr algn="l" rtl="0" fontAlgn="ctr"/>
                      <a:r>
                        <a:rPr lang="ru-RU" sz="1000" b="1">
                          <a:effectLst/>
                        </a:rPr>
                        <a:t>Маска подсети</a:t>
                      </a:r>
                    </a:p>
                  </a:txBody>
                  <a:tcPr marL="31750" marR="31750" marT="31750" marB="31750" anchor="ctr"/>
                </a:tc>
                <a:tc>
                  <a:txBody>
                    <a:bodyPr/>
                    <a:lstStyle/>
                    <a:p>
                      <a:pPr algn="l" rtl="0" fontAlgn="ctr"/>
                      <a:r>
                        <a:rPr lang="ru-RU" sz="1000" b="1">
                          <a:effectLst/>
                        </a:rPr>
                        <a:t>Маска подсети в двоичной системе</a:t>
                      </a:r>
                      <a:br>
                        <a:rPr lang="en-CA" sz="1000" b="1" dirty="0">
                          <a:effectLst/>
                        </a:rPr>
                      </a:br>
                      <a:r>
                        <a:rPr lang="ru-RU" sz="1000" b="1">
                          <a:effectLst/>
                        </a:rPr>
                        <a:t>(с = сеть, у = узел)</a:t>
                      </a:r>
                    </a:p>
                  </a:txBody>
                  <a:tcPr marL="31750" marR="31750" marT="31750" marB="31750" anchor="ctr"/>
                </a:tc>
                <a:tc>
                  <a:txBody>
                    <a:bodyPr/>
                    <a:lstStyle/>
                    <a:p>
                      <a:pPr algn="l" rtl="0" fontAlgn="ctr"/>
                      <a:r>
                        <a:rPr lang="ru-RU" sz="1000" b="1">
                          <a:effectLst/>
                        </a:rPr>
                        <a:t>Количество подсетей</a:t>
                      </a:r>
                    </a:p>
                  </a:txBody>
                  <a:tcPr marL="31750" marR="31750" marT="31750" marB="31750" anchor="ctr"/>
                </a:tc>
                <a:tc>
                  <a:txBody>
                    <a:bodyPr/>
                    <a:lstStyle/>
                    <a:p>
                      <a:pPr algn="l" rtl="0" fontAlgn="ctr"/>
                      <a:r>
                        <a:rPr lang="ru-RU" sz="1000" b="1">
                          <a:effectLst/>
                        </a:rPr>
                        <a:t>Количество узлов</a:t>
                      </a:r>
                    </a:p>
                  </a:txBody>
                  <a:tcPr marL="31750" marR="31750" marT="31750" marB="31750" anchor="ctr"/>
                </a:tc>
                <a:extLst>
                  <a:ext uri="{0D108BD9-81ED-4DB2-BD59-A6C34878D82A}">
                    <a16:rowId xmlns:a16="http://schemas.microsoft.com/office/drawing/2014/main" val="2275849055"/>
                  </a:ext>
                </a:extLst>
              </a:tr>
              <a:tr h="370840">
                <a:tc>
                  <a:txBody>
                    <a:bodyPr/>
                    <a:lstStyle/>
                    <a:p>
                      <a:pPr rtl="0" fontAlgn="ctr"/>
                      <a:r>
                        <a:rPr lang="ru-RU" sz="1000" b="0">
                          <a:effectLst/>
                        </a:rPr>
                        <a:t>/25</a:t>
                      </a:r>
                    </a:p>
                  </a:txBody>
                  <a:tcPr marL="31750" marR="31750" marT="31750" marB="31750" anchor="ctr"/>
                </a:tc>
                <a:tc>
                  <a:txBody>
                    <a:bodyPr/>
                    <a:lstStyle/>
                    <a:p>
                      <a:pPr rtl="0" fontAlgn="ctr"/>
                      <a:r>
                        <a:rPr lang="ru-RU" sz="1000" b="0">
                          <a:effectLst/>
                        </a:rPr>
                        <a:t>255.255.255.128</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a:t>
                      </a:r>
                      <a:r>
                        <a:rPr lang="ru-RU" sz="1000" b="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a:t>
                      </a:r>
                      <a:r>
                        <a:rPr lang="ru-RU" sz="1000" b="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rtl="0" fontAlgn="ctr"/>
                      <a:r>
                        <a:rPr lang="ru-RU" sz="1000" b="1">
                          <a:effectLst/>
                        </a:rPr>
                        <a:t>2</a:t>
                      </a:r>
                    </a:p>
                  </a:txBody>
                  <a:tcPr marL="31750" marR="31750" marT="31750" marB="31750" anchor="ctr"/>
                </a:tc>
                <a:tc>
                  <a:txBody>
                    <a:bodyPr/>
                    <a:lstStyle/>
                    <a:p>
                      <a:pPr rtl="0" fontAlgn="ctr"/>
                      <a:r>
                        <a:rPr lang="ru-RU" sz="1000" b="0">
                          <a:effectLst/>
                        </a:rPr>
                        <a:t>126</a:t>
                      </a:r>
                    </a:p>
                  </a:txBody>
                  <a:tcPr marL="31750" marR="31750" marT="31750" marB="31750" anchor="ctr"/>
                </a:tc>
                <a:extLst>
                  <a:ext uri="{0D108BD9-81ED-4DB2-BD59-A6C34878D82A}">
                    <a16:rowId xmlns:a16="http://schemas.microsoft.com/office/drawing/2014/main" val="1601271128"/>
                  </a:ext>
                </a:extLst>
              </a:tr>
              <a:tr h="370840">
                <a:tc>
                  <a:txBody>
                    <a:bodyPr/>
                    <a:lstStyle/>
                    <a:p>
                      <a:pPr rtl="0" fontAlgn="ctr"/>
                      <a:r>
                        <a:rPr lang="ru-RU" sz="1000" b="0">
                          <a:effectLst/>
                        </a:rPr>
                        <a:t>/26</a:t>
                      </a:r>
                    </a:p>
                  </a:txBody>
                  <a:tcPr marL="31750" marR="31750" marT="31750" marB="31750" anchor="ctr"/>
                </a:tc>
                <a:tc>
                  <a:txBody>
                    <a:bodyPr/>
                    <a:lstStyle/>
                    <a:p>
                      <a:pPr rtl="0" fontAlgn="ctr"/>
                      <a:r>
                        <a:rPr lang="ru-RU" sz="1000" b="0">
                          <a:effectLst/>
                        </a:rPr>
                        <a:t>255.255.255.192</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a:t>
                      </a:r>
                      <a:r>
                        <a:rPr lang="ru-RU" sz="1000" b="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a:t>
                      </a:r>
                      <a:r>
                        <a:rPr lang="ru-RU" sz="1000" b="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rtl="0" fontAlgn="ctr"/>
                      <a:r>
                        <a:rPr lang="ru-RU" sz="1000" b="1">
                          <a:effectLst/>
                        </a:rPr>
                        <a:t>4</a:t>
                      </a:r>
                    </a:p>
                  </a:txBody>
                  <a:tcPr marL="31750" marR="31750" marT="31750" marB="31750" anchor="ctr"/>
                </a:tc>
                <a:tc>
                  <a:txBody>
                    <a:bodyPr/>
                    <a:lstStyle/>
                    <a:p>
                      <a:pPr rtl="0" fontAlgn="ctr"/>
                      <a:r>
                        <a:rPr lang="ru-RU" sz="1000" b="0">
                          <a:effectLst/>
                        </a:rPr>
                        <a:t>62</a:t>
                      </a:r>
                    </a:p>
                  </a:txBody>
                  <a:tcPr marL="31750" marR="31750" marT="31750" marB="31750" anchor="ctr"/>
                </a:tc>
                <a:extLst>
                  <a:ext uri="{0D108BD9-81ED-4DB2-BD59-A6C34878D82A}">
                    <a16:rowId xmlns:a16="http://schemas.microsoft.com/office/drawing/2014/main" val="1999121572"/>
                  </a:ext>
                </a:extLst>
              </a:tr>
              <a:tr h="370840">
                <a:tc>
                  <a:txBody>
                    <a:bodyPr/>
                    <a:lstStyle/>
                    <a:p>
                      <a:pPr rtl="0" fontAlgn="ctr"/>
                      <a:r>
                        <a:rPr lang="ru-RU" sz="1000" b="0">
                          <a:effectLst/>
                        </a:rPr>
                        <a:t>/27</a:t>
                      </a:r>
                    </a:p>
                  </a:txBody>
                  <a:tcPr marL="31750" marR="31750" marT="31750" marB="31750" anchor="ctr"/>
                </a:tc>
                <a:tc>
                  <a:txBody>
                    <a:bodyPr/>
                    <a:lstStyle/>
                    <a:p>
                      <a:pPr rtl="0" fontAlgn="ctr"/>
                      <a:r>
                        <a:rPr lang="ru-RU" sz="1000" b="0">
                          <a:effectLst/>
                        </a:rPr>
                        <a:t>255.255.255.224</a:t>
                      </a:r>
                    </a:p>
                  </a:txBody>
                  <a:tcPr marL="31750" marR="31750" marT="31750" marB="31750" anchor="ctr"/>
                </a:tc>
                <a:tc>
                  <a:txBody>
                    <a:bodyPr/>
                    <a:lstStyle/>
                    <a:p>
                      <a:pPr rtl="0" fontAlgn="ctr"/>
                      <a:r>
                        <a:rPr lang="ru-RU" sz="1000" b="0" dirty="0" err="1">
                          <a:effectLst/>
                          <a:latin typeface="Courier New" panose="02070309020205020404" pitchFamily="49" charset="0"/>
                          <a:cs typeface="Courier New" panose="02070309020205020404" pitchFamily="49" charset="0"/>
                        </a:rPr>
                        <a:t>nnnnnnnn.nnnnnnnn.nnnnnnnn.</a:t>
                      </a:r>
                      <a:r>
                        <a:rPr lang="ru-RU" sz="1000" b="1" dirty="0" err="1">
                          <a:effectLst/>
                          <a:latin typeface="Courier New" panose="02070309020205020404" pitchFamily="49" charset="0"/>
                          <a:cs typeface="Courier New" panose="02070309020205020404" pitchFamily="49" charset="0"/>
                        </a:rPr>
                        <a:t>nnn</a:t>
                      </a:r>
                      <a:r>
                        <a:rPr lang="ru-RU" sz="1000" b="0" dirty="0" err="1">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ru-RU" sz="1000" b="0" dirty="0">
                          <a:effectLst/>
                          <a:latin typeface="Courier New" panose="02070309020205020404" pitchFamily="49" charset="0"/>
                          <a:cs typeface="Courier New" panose="02070309020205020404" pitchFamily="49" charset="0"/>
                        </a:rPr>
                        <a:t>11111111.11111111.11111111. </a:t>
                      </a:r>
                      <a:r>
                        <a:rPr lang="ru-RU" sz="1000" b="1" dirty="0">
                          <a:effectLst/>
                          <a:latin typeface="Courier New" panose="02070309020205020404" pitchFamily="49" charset="0"/>
                          <a:cs typeface="Courier New" panose="02070309020205020404" pitchFamily="49" charset="0"/>
                        </a:rPr>
                        <a:t>111</a:t>
                      </a:r>
                      <a:r>
                        <a:rPr lang="ru-RU" sz="10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rtl="0" fontAlgn="ctr"/>
                      <a:r>
                        <a:rPr lang="ru-RU" sz="1000" b="1">
                          <a:effectLst/>
                        </a:rPr>
                        <a:t>8</a:t>
                      </a:r>
                    </a:p>
                  </a:txBody>
                  <a:tcPr marL="31750" marR="31750" marT="31750" marB="31750" anchor="ctr"/>
                </a:tc>
                <a:tc>
                  <a:txBody>
                    <a:bodyPr/>
                    <a:lstStyle/>
                    <a:p>
                      <a:pPr rtl="0" fontAlgn="ctr"/>
                      <a:r>
                        <a:rPr lang="ru-RU" sz="1000" b="0">
                          <a:effectLst/>
                        </a:rPr>
                        <a:t>30</a:t>
                      </a:r>
                    </a:p>
                  </a:txBody>
                  <a:tcPr marL="31750" marR="31750" marT="31750" marB="31750" anchor="ctr"/>
                </a:tc>
                <a:extLst>
                  <a:ext uri="{0D108BD9-81ED-4DB2-BD59-A6C34878D82A}">
                    <a16:rowId xmlns:a16="http://schemas.microsoft.com/office/drawing/2014/main" val="346473952"/>
                  </a:ext>
                </a:extLst>
              </a:tr>
              <a:tr h="370840">
                <a:tc>
                  <a:txBody>
                    <a:bodyPr/>
                    <a:lstStyle/>
                    <a:p>
                      <a:pPr rtl="0" fontAlgn="ctr"/>
                      <a:r>
                        <a:rPr lang="ru-RU" sz="1000" b="0">
                          <a:effectLst/>
                        </a:rPr>
                        <a:t>/28</a:t>
                      </a:r>
                    </a:p>
                  </a:txBody>
                  <a:tcPr marL="31750" marR="31750" marT="31750" marB="31750" anchor="ctr"/>
                </a:tc>
                <a:tc>
                  <a:txBody>
                    <a:bodyPr/>
                    <a:lstStyle/>
                    <a:p>
                      <a:pPr rtl="0" fontAlgn="ctr"/>
                      <a:r>
                        <a:rPr lang="ru-RU" sz="1000" b="0">
                          <a:effectLst/>
                        </a:rPr>
                        <a:t>255.255.255.240</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a:t>
                      </a:r>
                      <a:r>
                        <a:rPr lang="ru-RU" sz="1000" b="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a:t>
                      </a:r>
                      <a:r>
                        <a:rPr lang="ru-RU" sz="1000" b="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rtl="0" fontAlgn="ctr"/>
                      <a:r>
                        <a:rPr lang="ru-RU" sz="1000" b="1">
                          <a:effectLst/>
                        </a:rPr>
                        <a:t>16</a:t>
                      </a:r>
                    </a:p>
                  </a:txBody>
                  <a:tcPr marL="31750" marR="31750" marT="31750" marB="31750" anchor="ctr"/>
                </a:tc>
                <a:tc>
                  <a:txBody>
                    <a:bodyPr/>
                    <a:lstStyle/>
                    <a:p>
                      <a:pPr rtl="0" fontAlgn="ctr"/>
                      <a:r>
                        <a:rPr lang="ru-RU" sz="1000" b="0">
                          <a:effectLst/>
                        </a:rPr>
                        <a:t>14</a:t>
                      </a:r>
                    </a:p>
                  </a:txBody>
                  <a:tcPr marL="31750" marR="31750" marT="31750" marB="31750" anchor="ctr"/>
                </a:tc>
                <a:extLst>
                  <a:ext uri="{0D108BD9-81ED-4DB2-BD59-A6C34878D82A}">
                    <a16:rowId xmlns:a16="http://schemas.microsoft.com/office/drawing/2014/main" val="1694683452"/>
                  </a:ext>
                </a:extLst>
              </a:tr>
              <a:tr h="370840">
                <a:tc>
                  <a:txBody>
                    <a:bodyPr/>
                    <a:lstStyle/>
                    <a:p>
                      <a:pPr rtl="0" fontAlgn="ctr"/>
                      <a:r>
                        <a:rPr lang="ru-RU" sz="1000" b="0">
                          <a:effectLst/>
                        </a:rPr>
                        <a:t>/29</a:t>
                      </a:r>
                    </a:p>
                  </a:txBody>
                  <a:tcPr marL="31750" marR="31750" marT="31750" marB="31750" anchor="ctr"/>
                </a:tc>
                <a:tc>
                  <a:txBody>
                    <a:bodyPr/>
                    <a:lstStyle/>
                    <a:p>
                      <a:pPr rtl="0" fontAlgn="ctr"/>
                      <a:r>
                        <a:rPr lang="ru-RU" sz="1000" b="0">
                          <a:effectLst/>
                        </a:rPr>
                        <a:t>255.255.255.248</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nnnnn</a:t>
                      </a:r>
                      <a:r>
                        <a:rPr lang="ru-RU" sz="1000" b="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11111</a:t>
                      </a:r>
                      <a:r>
                        <a:rPr lang="ru-RU" sz="1000" b="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rtl="0" fontAlgn="ctr"/>
                      <a:r>
                        <a:rPr lang="ru-RU" sz="1000" b="1">
                          <a:effectLst/>
                        </a:rPr>
                        <a:t>32</a:t>
                      </a:r>
                    </a:p>
                  </a:txBody>
                  <a:tcPr marL="31750" marR="31750" marT="31750" marB="31750" anchor="ctr"/>
                </a:tc>
                <a:tc>
                  <a:txBody>
                    <a:bodyPr/>
                    <a:lstStyle/>
                    <a:p>
                      <a:pPr rtl="0" fontAlgn="ctr"/>
                      <a:r>
                        <a:rPr lang="ru-RU" sz="1000" b="0">
                          <a:effectLst/>
                        </a:rPr>
                        <a:t>6</a:t>
                      </a:r>
                    </a:p>
                  </a:txBody>
                  <a:tcPr marL="31750" marR="31750" marT="31750" marB="31750" anchor="ctr"/>
                </a:tc>
                <a:extLst>
                  <a:ext uri="{0D108BD9-81ED-4DB2-BD59-A6C34878D82A}">
                    <a16:rowId xmlns:a16="http://schemas.microsoft.com/office/drawing/2014/main" val="2090259769"/>
                  </a:ext>
                </a:extLst>
              </a:tr>
              <a:tr h="370840">
                <a:tc>
                  <a:txBody>
                    <a:bodyPr/>
                    <a:lstStyle/>
                    <a:p>
                      <a:pPr rtl="0" fontAlgn="ctr"/>
                      <a:r>
                        <a:rPr lang="ru-RU" sz="1000" b="0">
                          <a:effectLst/>
                        </a:rPr>
                        <a:t>/30</a:t>
                      </a:r>
                    </a:p>
                  </a:txBody>
                  <a:tcPr marL="31750" marR="31750" marT="31750" marB="31750" anchor="ctr"/>
                </a:tc>
                <a:tc>
                  <a:txBody>
                    <a:bodyPr/>
                    <a:lstStyle/>
                    <a:p>
                      <a:pPr rtl="0" fontAlgn="ctr"/>
                      <a:r>
                        <a:rPr lang="ru-RU" sz="1000" b="0">
                          <a:effectLst/>
                        </a:rPr>
                        <a:t>255.255.255.252</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nnnnnn</a:t>
                      </a:r>
                      <a:r>
                        <a:rPr lang="ru-RU" sz="1000" b="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111111</a:t>
                      </a:r>
                      <a:r>
                        <a:rPr lang="ru-RU" sz="1000" b="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rtl="0" fontAlgn="ctr"/>
                      <a:r>
                        <a:rPr lang="ru-RU" sz="1000" b="1">
                          <a:effectLst/>
                        </a:rPr>
                        <a:t>64</a:t>
                      </a:r>
                    </a:p>
                  </a:txBody>
                  <a:tcPr marL="31750" marR="31750" marT="31750" marB="31750" anchor="ctr"/>
                </a:tc>
                <a:tc>
                  <a:txBody>
                    <a:bodyPr/>
                    <a:lstStyle/>
                    <a:p>
                      <a:pPr rtl="0" fontAlgn="ctr"/>
                      <a:r>
                        <a:rPr lang="ru-RU" sz="1000" b="0" dirty="0">
                          <a:effectLst/>
                        </a:rPr>
                        <a:t>2</a:t>
                      </a:r>
                    </a:p>
                  </a:txBody>
                  <a:tcPr marL="31750" marR="31750" marT="31750" marB="31750" anchor="ctr"/>
                </a:tc>
                <a:extLst>
                  <a:ext uri="{0D108BD9-81ED-4DB2-BD59-A6C34878D82A}">
                    <a16:rowId xmlns:a16="http://schemas.microsoft.com/office/drawing/2014/main" val="4211026032"/>
                  </a:ext>
                </a:extLst>
              </a:tr>
            </a:tbl>
          </a:graphicData>
        </a:graphic>
      </p:graphicFrame>
    </p:spTree>
    <p:extLst>
      <p:ext uri="{BB962C8B-B14F-4D97-AF65-F5344CB8AC3E}">
        <p14:creationId xmlns:p14="http://schemas.microsoft.com/office/powerpoint/2010/main" val="318695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IPv4-сети </a:t>
            </a:r>
            <a:br>
              <a:rPr lang="en-US" dirty="0"/>
            </a:br>
            <a:r>
              <a:rPr lang="ru-RU" sz="2400"/>
              <a:t>Видео-  Маска подсети</a:t>
            </a:r>
          </a:p>
        </p:txBody>
      </p:sp>
      <p:sp>
        <p:nvSpPr>
          <p:cNvPr id="4" name="Content Placeholder 3">
            <a:extLst>
              <a:ext uri="{FF2B5EF4-FFF2-40B4-BE49-F238E27FC236}">
                <a16:creationId xmlns:a16="http://schemas.microsoft.com/office/drawing/2014/main" id="{C9D46F16-EEA0-4615-BEC6-329F2EA79979}"/>
              </a:ext>
            </a:extLst>
          </p:cNvPr>
          <p:cNvSpPr>
            <a:spLocks noGrp="1"/>
          </p:cNvSpPr>
          <p:nvPr>
            <p:ph idx="1"/>
          </p:nvPr>
        </p:nvSpPr>
        <p:spPr>
          <a:xfrm>
            <a:off x="431971" y="855419"/>
            <a:ext cx="8280057" cy="3073946"/>
          </a:xfrm>
        </p:spPr>
        <p:txBody>
          <a:bodyPr/>
          <a:lstStyle/>
          <a:p>
            <a:pPr marL="342900" indent="-342900" algn="l" rtl="0">
              <a:buFont typeface="Arial" panose="020B0604020202020204" pitchFamily="34" charset="0"/>
              <a:buChar char="•"/>
            </a:pPr>
            <a:r>
              <a:rPr lang="ru-RU" sz="1600">
                <a:solidFill>
                  <a:srgbClr val="000000"/>
                </a:solidFill>
              </a:rPr>
              <a:t>Это видео продемонстрирует процесс создания подсетей.</a:t>
            </a:r>
          </a:p>
        </p:txBody>
      </p:sp>
    </p:spTree>
    <p:extLst>
      <p:ext uri="{BB962C8B-B14F-4D97-AF65-F5344CB8AC3E}">
        <p14:creationId xmlns:p14="http://schemas.microsoft.com/office/powerpoint/2010/main" val="875352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IPv4-сети</a:t>
            </a:r>
            <a:br>
              <a:rPr lang="en-US" dirty="0"/>
            </a:br>
            <a:r>
              <a:rPr lang="ru-RU" sz="2400"/>
              <a:t> Демонстрационный видеоролик. Разделение на подсети с помощью магического числа</a:t>
            </a:r>
          </a:p>
        </p:txBody>
      </p:sp>
      <p:sp>
        <p:nvSpPr>
          <p:cNvPr id="4" name="Content Placeholder 3">
            <a:extLst>
              <a:ext uri="{FF2B5EF4-FFF2-40B4-BE49-F238E27FC236}">
                <a16:creationId xmlns:a16="http://schemas.microsoft.com/office/drawing/2014/main" id="{462DA5F1-C9EC-4870-AFDB-E640F921A2A8}"/>
              </a:ext>
            </a:extLst>
          </p:cNvPr>
          <p:cNvSpPr>
            <a:spLocks noGrp="1"/>
          </p:cNvSpPr>
          <p:nvPr>
            <p:ph idx="1"/>
          </p:nvPr>
        </p:nvSpPr>
        <p:spPr>
          <a:xfrm>
            <a:off x="431971" y="855419"/>
            <a:ext cx="8280057" cy="3073946"/>
          </a:xfrm>
        </p:spPr>
        <p:txBody>
          <a:bodyPr/>
          <a:lstStyle/>
          <a:p>
            <a:pPr marL="342900" indent="-342900" algn="l" rtl="0">
              <a:buFont typeface="Arial" panose="020B0604020202020204" pitchFamily="34" charset="0"/>
              <a:buChar char="•"/>
            </a:pPr>
            <a:r>
              <a:rPr lang="ru-RU" sz="1600">
                <a:solidFill>
                  <a:srgbClr val="000000"/>
                </a:solidFill>
              </a:rPr>
              <a:t>Видео. Разделение на подсети с помощью «магического числа»</a:t>
            </a:r>
          </a:p>
        </p:txBody>
      </p:sp>
    </p:spTree>
    <p:extLst>
      <p:ext uri="{BB962C8B-B14F-4D97-AF65-F5344CB8AC3E}">
        <p14:creationId xmlns:p14="http://schemas.microsoft.com/office/powerpoint/2010/main" val="783810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сети IPv4 на подсети</a:t>
            </a:r>
            <a:br>
              <a:rPr lang="en-US" dirty="0"/>
            </a:br>
            <a:r>
              <a:rPr lang="ru-RU" sz="1600"/>
              <a:t> </a:t>
            </a:r>
            <a:r>
              <a:rPr lang="ru-RU" sz="2400"/>
              <a:t>Packet Tracer — Разделение IPv4-сети на подсети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spcBef>
                <a:spcPts val="0"/>
              </a:spcBef>
            </a:pPr>
            <a:r>
              <a:rPr lang="ru-RU" sz="1600">
                <a:solidFill>
                  <a:srgbClr val="000000"/>
                </a:solidFill>
              </a:rPr>
              <a:t>В этом задании Packet Tracer вы будете делать следующее:</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Разработка схемы разделения сети на подсети</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Настройка устройств</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Проверка сети и устранение неполадок</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042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11.6 Подсеть: /16 и /8</a:t>
            </a:r>
          </a:p>
        </p:txBody>
      </p:sp>
    </p:spTree>
    <p:custDataLst>
      <p:tags r:id="rId1"/>
    </p:custDataLst>
    <p:extLst>
      <p:ext uri="{BB962C8B-B14F-4D97-AF65-F5344CB8AC3E}">
        <p14:creationId xmlns:p14="http://schemas.microsoft.com/office/powerpoint/2010/main" val="1804441035"/>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/16 и префиксом /8</a:t>
            </a:r>
            <a:br>
              <a:rPr lang="en-US" dirty="0"/>
            </a:br>
            <a:r>
              <a:rPr lang="ru-RU" sz="2400"/>
              <a:t>Создание подсетей с префиксом /16</a:t>
            </a:r>
          </a:p>
        </p:txBody>
      </p:sp>
      <p:sp>
        <p:nvSpPr>
          <p:cNvPr id="7" name="Content Placeholder 3">
            <a:extLst>
              <a:ext uri="{FF2B5EF4-FFF2-40B4-BE49-F238E27FC236}">
                <a16:creationId xmlns:a16="http://schemas.microsoft.com/office/drawing/2014/main" id="{A92F2256-EB3D-415D-8AD3-8D728E435B5E}"/>
              </a:ext>
            </a:extLst>
          </p:cNvPr>
          <p:cNvSpPr>
            <a:spLocks noGrp="1"/>
          </p:cNvSpPr>
          <p:nvPr>
            <p:ph idx="1"/>
          </p:nvPr>
        </p:nvSpPr>
        <p:spPr>
          <a:xfrm>
            <a:off x="0" y="855419"/>
            <a:ext cx="3222237" cy="3073946"/>
          </a:xfrm>
        </p:spPr>
        <p:txBody>
          <a:bodyPr/>
          <a:lstStyle/>
          <a:p>
            <a:pPr marL="0" indent="0" algn="l" rtl="0"/>
            <a:r>
              <a:rPr lang="ru-RU" sz="1600" dirty="0">
                <a:solidFill>
                  <a:srgbClr val="000000"/>
                </a:solidFill>
              </a:rPr>
              <a:t>В таблице на рисунке представлены все возможные сценарии разделения на подсети с префиксом /16.</a:t>
            </a:r>
          </a:p>
        </p:txBody>
      </p:sp>
      <p:graphicFrame>
        <p:nvGraphicFramePr>
          <p:cNvPr id="2" name="Table 1">
            <a:extLst>
              <a:ext uri="{FF2B5EF4-FFF2-40B4-BE49-F238E27FC236}">
                <a16:creationId xmlns:a16="http://schemas.microsoft.com/office/drawing/2014/main" id="{CDE0FA95-43CC-4153-B365-8C3E8D1B3BEC}"/>
              </a:ext>
            </a:extLst>
          </p:cNvPr>
          <p:cNvGraphicFramePr>
            <a:graphicFrameLocks noGrp="1"/>
          </p:cNvGraphicFramePr>
          <p:nvPr>
            <p:extLst>
              <p:ext uri="{D42A27DB-BD31-4B8C-83A1-F6EECF244321}">
                <p14:modId xmlns:p14="http://schemas.microsoft.com/office/powerpoint/2010/main" val="3845819510"/>
              </p:ext>
            </p:extLst>
          </p:nvPr>
        </p:nvGraphicFramePr>
        <p:xfrm>
          <a:off x="2898648" y="617507"/>
          <a:ext cx="6198217" cy="4610100"/>
        </p:xfrm>
        <a:graphic>
          <a:graphicData uri="http://schemas.openxmlformats.org/drawingml/2006/table">
            <a:tbl>
              <a:tblPr firstRow="1" bandRow="1">
                <a:tableStyleId>{5C22544A-7EE6-4342-B048-85BDC9FD1C3A}</a:tableStyleId>
              </a:tblPr>
              <a:tblGrid>
                <a:gridCol w="1065614">
                  <a:extLst>
                    <a:ext uri="{9D8B030D-6E8A-4147-A177-3AD203B41FA5}">
                      <a16:colId xmlns:a16="http://schemas.microsoft.com/office/drawing/2014/main" val="3400914921"/>
                    </a:ext>
                  </a:extLst>
                </a:gridCol>
                <a:gridCol w="1097141">
                  <a:extLst>
                    <a:ext uri="{9D8B030D-6E8A-4147-A177-3AD203B41FA5}">
                      <a16:colId xmlns:a16="http://schemas.microsoft.com/office/drawing/2014/main" val="2755569675"/>
                    </a:ext>
                  </a:extLst>
                </a:gridCol>
                <a:gridCol w="2559996">
                  <a:extLst>
                    <a:ext uri="{9D8B030D-6E8A-4147-A177-3AD203B41FA5}">
                      <a16:colId xmlns:a16="http://schemas.microsoft.com/office/drawing/2014/main" val="2977755399"/>
                    </a:ext>
                  </a:extLst>
                </a:gridCol>
                <a:gridCol w="770418">
                  <a:extLst>
                    <a:ext uri="{9D8B030D-6E8A-4147-A177-3AD203B41FA5}">
                      <a16:colId xmlns:a16="http://schemas.microsoft.com/office/drawing/2014/main" val="1257793725"/>
                    </a:ext>
                  </a:extLst>
                </a:gridCol>
                <a:gridCol w="705048">
                  <a:extLst>
                    <a:ext uri="{9D8B030D-6E8A-4147-A177-3AD203B41FA5}">
                      <a16:colId xmlns:a16="http://schemas.microsoft.com/office/drawing/2014/main" val="859093634"/>
                    </a:ext>
                  </a:extLst>
                </a:gridCol>
              </a:tblGrid>
              <a:tr h="294722">
                <a:tc>
                  <a:txBody>
                    <a:bodyPr/>
                    <a:lstStyle/>
                    <a:p>
                      <a:pPr algn="l" rtl="0" fontAlgn="ctr"/>
                      <a:r>
                        <a:rPr lang="ru-RU" sz="800" b="1">
                          <a:effectLst/>
                        </a:rPr>
                        <a:t>Длина префикса</a:t>
                      </a:r>
                    </a:p>
                  </a:txBody>
                  <a:tcPr marL="31750" marR="31750" marT="31750" marB="31750" anchor="ctr"/>
                </a:tc>
                <a:tc>
                  <a:txBody>
                    <a:bodyPr/>
                    <a:lstStyle/>
                    <a:p>
                      <a:pPr algn="l" rtl="0" fontAlgn="ctr"/>
                      <a:r>
                        <a:rPr lang="ru-RU" sz="800" b="1">
                          <a:effectLst/>
                        </a:rPr>
                        <a:t>Маска подсети</a:t>
                      </a:r>
                    </a:p>
                  </a:txBody>
                  <a:tcPr marL="31750" marR="31750" marT="31750" marB="31750" anchor="ctr"/>
                </a:tc>
                <a:tc>
                  <a:txBody>
                    <a:bodyPr/>
                    <a:lstStyle/>
                    <a:p>
                      <a:pPr algn="l" rtl="0" fontAlgn="ctr"/>
                      <a:r>
                        <a:rPr lang="ru-RU" sz="800" b="1">
                          <a:effectLst/>
                        </a:rPr>
                        <a:t>Сетевой адрес (с = сеть, х = хост)</a:t>
                      </a:r>
                    </a:p>
                  </a:txBody>
                  <a:tcPr marL="31750" marR="31750" marT="31750" marB="31750" anchor="ctr"/>
                </a:tc>
                <a:tc>
                  <a:txBody>
                    <a:bodyPr/>
                    <a:lstStyle/>
                    <a:p>
                      <a:pPr algn="l" rtl="0" fontAlgn="ctr"/>
                      <a:r>
                        <a:rPr lang="ru-RU" sz="800" b="1">
                          <a:effectLst/>
                        </a:rPr>
                        <a:t>Количество подсетей</a:t>
                      </a:r>
                    </a:p>
                  </a:txBody>
                  <a:tcPr marL="31750" marR="31750" marT="31750" marB="31750" anchor="ctr"/>
                </a:tc>
                <a:tc>
                  <a:txBody>
                    <a:bodyPr/>
                    <a:lstStyle/>
                    <a:p>
                      <a:pPr algn="l" rtl="0" fontAlgn="ctr"/>
                      <a:r>
                        <a:rPr lang="ru-RU" sz="800" b="1">
                          <a:effectLst/>
                        </a:rPr>
                        <a:t>Количество узлов</a:t>
                      </a:r>
                    </a:p>
                  </a:txBody>
                  <a:tcPr marL="31750" marR="31750" marT="31750" marB="31750" anchor="ctr"/>
                </a:tc>
                <a:extLst>
                  <a:ext uri="{0D108BD9-81ED-4DB2-BD59-A6C34878D82A}">
                    <a16:rowId xmlns:a16="http://schemas.microsoft.com/office/drawing/2014/main" val="334953287"/>
                  </a:ext>
                </a:extLst>
              </a:tr>
              <a:tr h="294722">
                <a:tc>
                  <a:txBody>
                    <a:bodyPr/>
                    <a:lstStyle/>
                    <a:p>
                      <a:pPr rtl="0" fontAlgn="ctr"/>
                      <a:r>
                        <a:rPr lang="ru-RU" sz="800" b="0">
                          <a:effectLst/>
                        </a:rPr>
                        <a:t>/17</a:t>
                      </a:r>
                    </a:p>
                  </a:txBody>
                  <a:tcPr marL="31750" marR="31750" marT="31750" marB="31750" anchor="ctr"/>
                </a:tc>
                <a:tc>
                  <a:txBody>
                    <a:bodyPr/>
                    <a:lstStyle/>
                    <a:p>
                      <a:pPr rtl="0" fontAlgn="ctr"/>
                      <a:r>
                        <a:rPr lang="ru-RU" sz="800" b="0">
                          <a:effectLst/>
                        </a:rPr>
                        <a:t>255.255.</a:t>
                      </a:r>
                      <a:r>
                        <a:rPr lang="ru-RU" sz="800" b="1">
                          <a:effectLst/>
                        </a:rPr>
                        <a:t>128</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a:t>
                      </a:r>
                      <a:r>
                        <a:rPr lang="ru-RU" sz="800" b="0">
                          <a:effectLst/>
                          <a:latin typeface="Courier New" panose="02070309020205020404" pitchFamily="49" charset="0"/>
                          <a:cs typeface="Courier New" panose="02070309020205020404" pitchFamily="49" charset="0"/>
                        </a:rPr>
                        <a:t>hhhhhhh.hhhhhhhh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a:t>
                      </a:r>
                      <a:r>
                        <a:rPr lang="ru-RU" sz="800" b="0">
                          <a:effectLst/>
                          <a:latin typeface="Courier New" panose="02070309020205020404" pitchFamily="49" charset="0"/>
                          <a:cs typeface="Courier New" panose="02070309020205020404" pitchFamily="49" charset="0"/>
                        </a:rPr>
                        <a:t>00000000000000</a:t>
                      </a:r>
                    </a:p>
                  </a:txBody>
                  <a:tcPr marL="31750" marR="31750" marT="31750" marB="31750" anchor="ctr"/>
                </a:tc>
                <a:tc>
                  <a:txBody>
                    <a:bodyPr/>
                    <a:lstStyle/>
                    <a:p>
                      <a:pPr rtl="0" fontAlgn="ctr"/>
                      <a:r>
                        <a:rPr lang="ru-RU" sz="800" b="1">
                          <a:effectLst/>
                        </a:rPr>
                        <a:t>2</a:t>
                      </a:r>
                    </a:p>
                  </a:txBody>
                  <a:tcPr marL="31750" marR="31750" marT="31750" marB="31750" anchor="ctr"/>
                </a:tc>
                <a:tc>
                  <a:txBody>
                    <a:bodyPr/>
                    <a:lstStyle/>
                    <a:p>
                      <a:pPr rtl="0" fontAlgn="ctr"/>
                      <a:r>
                        <a:rPr lang="ru-RU" sz="800" b="0">
                          <a:effectLst/>
                        </a:rPr>
                        <a:t>32766</a:t>
                      </a:r>
                    </a:p>
                  </a:txBody>
                  <a:tcPr marL="31750" marR="31750" marT="31750" marB="31750" anchor="ctr"/>
                </a:tc>
                <a:extLst>
                  <a:ext uri="{0D108BD9-81ED-4DB2-BD59-A6C34878D82A}">
                    <a16:rowId xmlns:a16="http://schemas.microsoft.com/office/drawing/2014/main" val="1543777364"/>
                  </a:ext>
                </a:extLst>
              </a:tr>
              <a:tr h="294722">
                <a:tc>
                  <a:txBody>
                    <a:bodyPr/>
                    <a:lstStyle/>
                    <a:p>
                      <a:pPr rtl="0" fontAlgn="ctr"/>
                      <a:r>
                        <a:rPr lang="ru-RU" sz="800" b="0">
                          <a:effectLst/>
                        </a:rPr>
                        <a:t>/18</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192</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a:t>
                      </a:r>
                      <a:r>
                        <a:rPr lang="ru-RU" sz="800" b="0">
                          <a:effectLst/>
                          <a:latin typeface="Courier New" panose="02070309020205020404" pitchFamily="49" charset="0"/>
                          <a:cs typeface="Courier New" panose="02070309020205020404" pitchFamily="49" charset="0"/>
                        </a:rPr>
                        <a:t>hhhhhh.hhhhhhhh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a:t>
                      </a:r>
                      <a:r>
                        <a:rPr lang="ru-RU" sz="800" b="0">
                          <a:effectLst/>
                          <a:latin typeface="Courier New" panose="02070309020205020404" pitchFamily="49" charset="0"/>
                          <a:cs typeface="Courier New" panose="02070309020205020404" pitchFamily="49" charset="0"/>
                        </a:rPr>
                        <a:t>00000000000000 </a:t>
                      </a:r>
                    </a:p>
                  </a:txBody>
                  <a:tcPr marL="31750" marR="31750" marT="31750" marB="31750" anchor="ctr"/>
                </a:tc>
                <a:tc>
                  <a:txBody>
                    <a:bodyPr/>
                    <a:lstStyle/>
                    <a:p>
                      <a:pPr rtl="0" fontAlgn="ctr"/>
                      <a:r>
                        <a:rPr lang="ru-RU" sz="800" b="1">
                          <a:effectLst/>
                        </a:rPr>
                        <a:t>4</a:t>
                      </a:r>
                    </a:p>
                  </a:txBody>
                  <a:tcPr marL="31750" marR="31750" marT="31750" marB="31750" anchor="ctr"/>
                </a:tc>
                <a:tc>
                  <a:txBody>
                    <a:bodyPr/>
                    <a:lstStyle/>
                    <a:p>
                      <a:pPr rtl="0" fontAlgn="ctr"/>
                      <a:r>
                        <a:rPr lang="ru-RU" sz="800" b="0">
                          <a:effectLst/>
                        </a:rPr>
                        <a:t>16382</a:t>
                      </a:r>
                    </a:p>
                  </a:txBody>
                  <a:tcPr marL="31750" marR="31750" marT="31750" marB="31750" anchor="ctr"/>
                </a:tc>
                <a:extLst>
                  <a:ext uri="{0D108BD9-81ED-4DB2-BD59-A6C34878D82A}">
                    <a16:rowId xmlns:a16="http://schemas.microsoft.com/office/drawing/2014/main" val="507666450"/>
                  </a:ext>
                </a:extLst>
              </a:tr>
              <a:tr h="294722">
                <a:tc>
                  <a:txBody>
                    <a:bodyPr/>
                    <a:lstStyle/>
                    <a:p>
                      <a:pPr rtl="0" fontAlgn="ctr"/>
                      <a:r>
                        <a:rPr lang="ru-RU" sz="800" b="0">
                          <a:effectLst/>
                        </a:rPr>
                        <a:t>/19</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224</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nnn</a:t>
                      </a:r>
                      <a:r>
                        <a:rPr lang="ru-RU" sz="800" b="0">
                          <a:effectLst/>
                          <a:latin typeface="Courier New" panose="02070309020205020404" pitchFamily="49" charset="0"/>
                          <a:cs typeface="Courier New" panose="02070309020205020404" pitchFamily="49" charset="0"/>
                        </a:rPr>
                        <a:t>hhhhh.hhhhhhhh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a:t>
                      </a:r>
                      <a:r>
                        <a:rPr lang="ru-RU" sz="800" b="0">
                          <a:effectLst/>
                          <a:latin typeface="Courier New" panose="02070309020205020404" pitchFamily="49" charset="0"/>
                          <a:cs typeface="Courier New" panose="02070309020205020404" pitchFamily="49" charset="0"/>
                        </a:rPr>
                        <a:t>000000000000 </a:t>
                      </a:r>
                    </a:p>
                  </a:txBody>
                  <a:tcPr marL="31750" marR="31750" marT="31750" marB="31750" anchor="ctr"/>
                </a:tc>
                <a:tc>
                  <a:txBody>
                    <a:bodyPr/>
                    <a:lstStyle/>
                    <a:p>
                      <a:pPr rtl="0" fontAlgn="ctr"/>
                      <a:r>
                        <a:rPr lang="ru-RU" sz="800" b="1">
                          <a:effectLst/>
                        </a:rPr>
                        <a:t>8</a:t>
                      </a:r>
                    </a:p>
                  </a:txBody>
                  <a:tcPr marL="31750" marR="31750" marT="31750" marB="31750" anchor="ctr"/>
                </a:tc>
                <a:tc>
                  <a:txBody>
                    <a:bodyPr/>
                    <a:lstStyle/>
                    <a:p>
                      <a:pPr rtl="0" fontAlgn="ctr"/>
                      <a:r>
                        <a:rPr lang="ru-RU" sz="800" b="0">
                          <a:effectLst/>
                        </a:rPr>
                        <a:t>8 190</a:t>
                      </a:r>
                    </a:p>
                  </a:txBody>
                  <a:tcPr marL="31750" marR="31750" marT="31750" marB="31750" anchor="ctr"/>
                </a:tc>
                <a:extLst>
                  <a:ext uri="{0D108BD9-81ED-4DB2-BD59-A6C34878D82A}">
                    <a16:rowId xmlns:a16="http://schemas.microsoft.com/office/drawing/2014/main" val="895088631"/>
                  </a:ext>
                </a:extLst>
              </a:tr>
              <a:tr h="294722">
                <a:tc>
                  <a:txBody>
                    <a:bodyPr/>
                    <a:lstStyle/>
                    <a:p>
                      <a:pPr rtl="0" fontAlgn="ctr"/>
                      <a:r>
                        <a:rPr lang="ru-RU" sz="800" b="0">
                          <a:effectLst/>
                        </a:rPr>
                        <a:t>/20</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240</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nnnn</a:t>
                      </a:r>
                      <a:r>
                        <a:rPr lang="ru-RU" sz="800" b="0">
                          <a:effectLst/>
                          <a:latin typeface="Courier New" panose="02070309020205020404" pitchFamily="49" charset="0"/>
                          <a:cs typeface="Courier New" panose="02070309020205020404" pitchFamily="49" charset="0"/>
                        </a:rPr>
                        <a:t>hhhh.hhhhhhhh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a:t>
                      </a:r>
                      <a:r>
                        <a:rPr lang="ru-RU" sz="800" b="0">
                          <a:effectLst/>
                          <a:latin typeface="Courier New" panose="02070309020205020404" pitchFamily="49" charset="0"/>
                          <a:cs typeface="Courier New" panose="02070309020205020404" pitchFamily="49" charset="0"/>
                        </a:rPr>
                        <a:t>000000000000</a:t>
                      </a:r>
                    </a:p>
                  </a:txBody>
                  <a:tcPr marL="31750" marR="31750" marT="31750" marB="31750" anchor="ctr"/>
                </a:tc>
                <a:tc>
                  <a:txBody>
                    <a:bodyPr/>
                    <a:lstStyle/>
                    <a:p>
                      <a:pPr rtl="0" fontAlgn="ctr"/>
                      <a:r>
                        <a:rPr lang="ru-RU" sz="800" b="1">
                          <a:effectLst/>
                        </a:rPr>
                        <a:t>16</a:t>
                      </a:r>
                    </a:p>
                  </a:txBody>
                  <a:tcPr marL="31750" marR="31750" marT="31750" marB="31750" anchor="ctr"/>
                </a:tc>
                <a:tc>
                  <a:txBody>
                    <a:bodyPr/>
                    <a:lstStyle/>
                    <a:p>
                      <a:pPr rtl="0" fontAlgn="ctr"/>
                      <a:r>
                        <a:rPr lang="ru-RU" sz="800" b="0">
                          <a:effectLst/>
                        </a:rPr>
                        <a:t>4 094</a:t>
                      </a:r>
                    </a:p>
                  </a:txBody>
                  <a:tcPr marL="31750" marR="31750" marT="31750" marB="31750" anchor="ctr"/>
                </a:tc>
                <a:extLst>
                  <a:ext uri="{0D108BD9-81ED-4DB2-BD59-A6C34878D82A}">
                    <a16:rowId xmlns:a16="http://schemas.microsoft.com/office/drawing/2014/main" val="3687745671"/>
                  </a:ext>
                </a:extLst>
              </a:tr>
              <a:tr h="294722">
                <a:tc>
                  <a:txBody>
                    <a:bodyPr/>
                    <a:lstStyle/>
                    <a:p>
                      <a:pPr rtl="0" fontAlgn="ctr"/>
                      <a:r>
                        <a:rPr lang="ru-RU" sz="800" b="0">
                          <a:effectLst/>
                        </a:rPr>
                        <a:t>/21</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248</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nnnnn</a:t>
                      </a:r>
                      <a:r>
                        <a:rPr lang="ru-RU" sz="800" b="0">
                          <a:effectLst/>
                          <a:latin typeface="Courier New" panose="02070309020205020404" pitchFamily="49" charset="0"/>
                          <a:cs typeface="Courier New" panose="02070309020205020404" pitchFamily="49" charset="0"/>
                        </a:rPr>
                        <a:t>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a:t>
                      </a:r>
                      <a:r>
                        <a:rPr lang="ru-RU" sz="800" b="0">
                          <a:effectLst/>
                          <a:latin typeface="Courier New" panose="02070309020205020404" pitchFamily="49" charset="0"/>
                          <a:cs typeface="Courier New" panose="02070309020205020404" pitchFamily="49" charset="0"/>
                        </a:rPr>
                        <a:t>000,00000000</a:t>
                      </a:r>
                    </a:p>
                  </a:txBody>
                  <a:tcPr marL="31750" marR="31750" marT="31750" marB="31750" anchor="ctr"/>
                </a:tc>
                <a:tc>
                  <a:txBody>
                    <a:bodyPr/>
                    <a:lstStyle/>
                    <a:p>
                      <a:pPr rtl="0" fontAlgn="ctr"/>
                      <a:r>
                        <a:rPr lang="ru-RU" sz="800" b="1">
                          <a:effectLst/>
                        </a:rPr>
                        <a:t>32</a:t>
                      </a:r>
                    </a:p>
                  </a:txBody>
                  <a:tcPr marL="31750" marR="31750" marT="31750" marB="31750" anchor="ctr"/>
                </a:tc>
                <a:tc>
                  <a:txBody>
                    <a:bodyPr/>
                    <a:lstStyle/>
                    <a:p>
                      <a:pPr rtl="0" fontAlgn="ctr"/>
                      <a:r>
                        <a:rPr lang="ru-RU" sz="800" b="0">
                          <a:effectLst/>
                        </a:rPr>
                        <a:t>2 046</a:t>
                      </a:r>
                    </a:p>
                  </a:txBody>
                  <a:tcPr marL="31750" marR="31750" marT="31750" marB="31750" anchor="ctr"/>
                </a:tc>
                <a:extLst>
                  <a:ext uri="{0D108BD9-81ED-4DB2-BD59-A6C34878D82A}">
                    <a16:rowId xmlns:a16="http://schemas.microsoft.com/office/drawing/2014/main" val="1717418088"/>
                  </a:ext>
                </a:extLst>
              </a:tr>
              <a:tr h="294722">
                <a:tc>
                  <a:txBody>
                    <a:bodyPr/>
                    <a:lstStyle/>
                    <a:p>
                      <a:pPr rtl="0" fontAlgn="ctr"/>
                      <a:r>
                        <a:rPr lang="ru-RU" sz="800" b="0">
                          <a:effectLst/>
                        </a:rPr>
                        <a:t>/22</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252</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a:t>
                      </a:r>
                      <a:r>
                        <a:rPr lang="ru-RU" sz="800" b="0">
                          <a:effectLst/>
                          <a:latin typeface="Courier New" panose="02070309020205020404" pitchFamily="49" charset="0"/>
                          <a:cs typeface="Courier New" panose="02070309020205020404" pitchFamily="49" charset="0"/>
                        </a:rPr>
                        <a:t>ххххххххххх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a:t>
                      </a:r>
                      <a:r>
                        <a:rPr lang="ru-RU" sz="800" b="1">
                          <a:effectLst/>
                          <a:latin typeface="Courier New" panose="02070309020205020404" pitchFamily="49" charset="0"/>
                          <a:cs typeface="Courier New" panose="02070309020205020404" pitchFamily="49" charset="0"/>
                        </a:rPr>
                        <a:t>111111</a:t>
                      </a:r>
                      <a:r>
                        <a:rPr lang="ru-RU" sz="800" b="0">
                          <a:effectLst/>
                          <a:latin typeface="Courier New" panose="02070309020205020404" pitchFamily="49" charset="0"/>
                          <a:cs typeface="Courier New" panose="02070309020205020404" pitchFamily="49" charset="0"/>
                        </a:rPr>
                        <a:t>00.00000000 </a:t>
                      </a:r>
                    </a:p>
                  </a:txBody>
                  <a:tcPr marL="31750" marR="31750" marT="31750" marB="31750" anchor="ctr"/>
                </a:tc>
                <a:tc>
                  <a:txBody>
                    <a:bodyPr/>
                    <a:lstStyle/>
                    <a:p>
                      <a:pPr rtl="0" fontAlgn="ctr"/>
                      <a:r>
                        <a:rPr lang="ru-RU" sz="800" b="1">
                          <a:effectLst/>
                        </a:rPr>
                        <a:t>64</a:t>
                      </a:r>
                    </a:p>
                  </a:txBody>
                  <a:tcPr marL="31750" marR="31750" marT="31750" marB="31750" anchor="ctr"/>
                </a:tc>
                <a:tc>
                  <a:txBody>
                    <a:bodyPr/>
                    <a:lstStyle/>
                    <a:p>
                      <a:pPr rtl="0" fontAlgn="ctr"/>
                      <a:r>
                        <a:rPr lang="ru-RU" sz="800" b="0">
                          <a:effectLst/>
                        </a:rPr>
                        <a:t>1 022</a:t>
                      </a:r>
                    </a:p>
                  </a:txBody>
                  <a:tcPr marL="31750" marR="31750" marT="31750" marB="31750" anchor="ctr"/>
                </a:tc>
                <a:extLst>
                  <a:ext uri="{0D108BD9-81ED-4DB2-BD59-A6C34878D82A}">
                    <a16:rowId xmlns:a16="http://schemas.microsoft.com/office/drawing/2014/main" val="2297882614"/>
                  </a:ext>
                </a:extLst>
              </a:tr>
              <a:tr h="294722">
                <a:tc>
                  <a:txBody>
                    <a:bodyPr/>
                    <a:lstStyle/>
                    <a:p>
                      <a:pPr rtl="0" fontAlgn="ctr"/>
                      <a:r>
                        <a:rPr lang="ru-RU" sz="800" b="0">
                          <a:effectLst/>
                        </a:rPr>
                        <a:t>/23</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254</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a:t>
                      </a:r>
                      <a:r>
                        <a:rPr lang="ru-RU" sz="800" b="0">
                          <a:effectLst/>
                          <a:latin typeface="Courier New" panose="02070309020205020404" pitchFamily="49" charset="0"/>
                          <a:cs typeface="Courier New" panose="02070309020205020404" pitchFamily="49" charset="0"/>
                        </a:rPr>
                        <a:t>х.хххххххх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 </a:t>
                      </a:r>
                      <a:r>
                        <a:rPr lang="ru-RU" sz="800" b="1">
                          <a:effectLst/>
                          <a:latin typeface="Courier New" panose="02070309020205020404" pitchFamily="49" charset="0"/>
                          <a:cs typeface="Courier New" panose="02070309020205020404" pitchFamily="49" charset="0"/>
                        </a:rPr>
                        <a:t>1111111</a:t>
                      </a:r>
                      <a:r>
                        <a:rPr lang="ru-RU" sz="800" b="0">
                          <a:effectLst/>
                          <a:latin typeface="Courier New" panose="02070309020205020404" pitchFamily="49" charset="0"/>
                          <a:cs typeface="Courier New" panose="02070309020205020404" pitchFamily="49" charset="0"/>
                        </a:rPr>
                        <a:t>0,00000000 </a:t>
                      </a:r>
                    </a:p>
                  </a:txBody>
                  <a:tcPr marL="31750" marR="31750" marT="31750" marB="31750" anchor="ctr"/>
                </a:tc>
                <a:tc>
                  <a:txBody>
                    <a:bodyPr/>
                    <a:lstStyle/>
                    <a:p>
                      <a:pPr rtl="0" fontAlgn="ctr"/>
                      <a:r>
                        <a:rPr lang="ru-RU" sz="800" b="1">
                          <a:effectLst/>
                        </a:rPr>
                        <a:t>128</a:t>
                      </a:r>
                    </a:p>
                  </a:txBody>
                  <a:tcPr marL="31750" marR="31750" marT="31750" marB="31750" anchor="ctr"/>
                </a:tc>
                <a:tc>
                  <a:txBody>
                    <a:bodyPr/>
                    <a:lstStyle/>
                    <a:p>
                      <a:pPr rtl="0" fontAlgn="ctr"/>
                      <a:r>
                        <a:rPr lang="ru-RU" sz="800" b="0">
                          <a:effectLst/>
                        </a:rPr>
                        <a:t>510</a:t>
                      </a:r>
                    </a:p>
                  </a:txBody>
                  <a:tcPr marL="31750" marR="31750" marT="31750" marB="31750" anchor="ctr"/>
                </a:tc>
                <a:extLst>
                  <a:ext uri="{0D108BD9-81ED-4DB2-BD59-A6C34878D82A}">
                    <a16:rowId xmlns:a16="http://schemas.microsoft.com/office/drawing/2014/main" val="4013125813"/>
                  </a:ext>
                </a:extLst>
              </a:tr>
              <a:tr h="294722">
                <a:tc>
                  <a:txBody>
                    <a:bodyPr/>
                    <a:lstStyle/>
                    <a:p>
                      <a:pPr rtl="0" fontAlgn="ctr"/>
                      <a:r>
                        <a:rPr lang="ru-RU" sz="800" b="0">
                          <a:effectLst/>
                        </a:rPr>
                        <a:t>/24</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a:t>
                      </a:r>
                      <a:r>
                        <a:rPr lang="ru-RU" sz="800" b="0">
                          <a:effectLst/>
                          <a:latin typeface="Courier New" panose="02070309020205020404" pitchFamily="49" charset="0"/>
                          <a:cs typeface="Courier New" panose="02070309020205020404" pitchFamily="49" charset="0"/>
                        </a:rPr>
                        <a:t>.хххххх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1111111111.00000000</a:t>
                      </a:r>
                    </a:p>
                  </a:txBody>
                  <a:tcPr marL="31750" marR="31750" marT="31750" marB="31750" anchor="ctr"/>
                </a:tc>
                <a:tc>
                  <a:txBody>
                    <a:bodyPr/>
                    <a:lstStyle/>
                    <a:p>
                      <a:pPr rtl="0" fontAlgn="ctr"/>
                      <a:r>
                        <a:rPr lang="ru-RU" sz="800" b="1">
                          <a:effectLst/>
                        </a:rPr>
                        <a:t>256</a:t>
                      </a:r>
                    </a:p>
                  </a:txBody>
                  <a:tcPr marL="31750" marR="31750" marT="31750" marB="31750" anchor="ctr"/>
                </a:tc>
                <a:tc>
                  <a:txBody>
                    <a:bodyPr/>
                    <a:lstStyle/>
                    <a:p>
                      <a:pPr rtl="0" fontAlgn="ctr"/>
                      <a:r>
                        <a:rPr lang="ru-RU" sz="800" b="0">
                          <a:effectLst/>
                        </a:rPr>
                        <a:t>254</a:t>
                      </a:r>
                    </a:p>
                  </a:txBody>
                  <a:tcPr marL="31750" marR="31750" marT="31750" marB="31750" anchor="ctr"/>
                </a:tc>
                <a:extLst>
                  <a:ext uri="{0D108BD9-81ED-4DB2-BD59-A6C34878D82A}">
                    <a16:rowId xmlns:a16="http://schemas.microsoft.com/office/drawing/2014/main" val="2556719010"/>
                  </a:ext>
                </a:extLst>
              </a:tr>
              <a:tr h="294722">
                <a:tc>
                  <a:txBody>
                    <a:bodyPr/>
                    <a:lstStyle/>
                    <a:p>
                      <a:pPr rtl="0" fontAlgn="ctr"/>
                      <a:r>
                        <a:rPr lang="ru-RU" sz="800" b="0">
                          <a:effectLst/>
                        </a:rPr>
                        <a:t>/25</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128</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a:t>
                      </a:r>
                      <a:r>
                        <a:rPr lang="ru-RU" sz="800" b="0">
                          <a:effectLst/>
                          <a:latin typeface="Courier New" panose="02070309020205020404" pitchFamily="49" charset="0"/>
                          <a:cs typeface="Courier New" panose="02070309020205020404" pitchFamily="49" charset="0"/>
                        </a:rPr>
                        <a:t>хххххх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a:t>
                      </a:r>
                      <a:r>
                        <a:rPr lang="ru-RU" sz="800" b="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rtl="0" fontAlgn="ctr"/>
                      <a:r>
                        <a:rPr lang="ru-RU" sz="800" b="1">
                          <a:effectLst/>
                        </a:rPr>
                        <a:t>512</a:t>
                      </a:r>
                    </a:p>
                  </a:txBody>
                  <a:tcPr marL="31750" marR="31750" marT="31750" marB="31750" anchor="ctr"/>
                </a:tc>
                <a:tc>
                  <a:txBody>
                    <a:bodyPr/>
                    <a:lstStyle/>
                    <a:p>
                      <a:pPr rtl="0" fontAlgn="ctr"/>
                      <a:r>
                        <a:rPr lang="ru-RU" sz="800" b="0">
                          <a:effectLst/>
                        </a:rPr>
                        <a:t>126</a:t>
                      </a:r>
                    </a:p>
                  </a:txBody>
                  <a:tcPr marL="31750" marR="31750" marT="31750" marB="31750" anchor="ctr"/>
                </a:tc>
                <a:extLst>
                  <a:ext uri="{0D108BD9-81ED-4DB2-BD59-A6C34878D82A}">
                    <a16:rowId xmlns:a16="http://schemas.microsoft.com/office/drawing/2014/main" val="857005324"/>
                  </a:ext>
                </a:extLst>
              </a:tr>
              <a:tr h="294722">
                <a:tc>
                  <a:txBody>
                    <a:bodyPr/>
                    <a:lstStyle/>
                    <a:p>
                      <a:pPr rtl="0" fontAlgn="ctr"/>
                      <a:r>
                        <a:rPr lang="ru-RU" sz="800" b="0">
                          <a:effectLst/>
                        </a:rPr>
                        <a:t>/26</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192</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nnnnnnnn.nn</a:t>
                      </a:r>
                      <a:r>
                        <a:rPr lang="ru-RU" sz="800" b="0">
                          <a:effectLst/>
                          <a:latin typeface="Courier New" panose="02070309020205020404" pitchFamily="49" charset="0"/>
                          <a:cs typeface="Courier New" panose="02070309020205020404" pitchFamily="49" charset="0"/>
                        </a:rPr>
                        <a:t>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a:t>
                      </a:r>
                      <a:r>
                        <a:rPr lang="ru-RU" sz="800" b="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rtl="0" fontAlgn="ctr"/>
                      <a:r>
                        <a:rPr lang="ru-RU" sz="800" b="1">
                          <a:effectLst/>
                        </a:rPr>
                        <a:t>1024</a:t>
                      </a:r>
                    </a:p>
                  </a:txBody>
                  <a:tcPr marL="31750" marR="31750" marT="31750" marB="31750" anchor="ctr"/>
                </a:tc>
                <a:tc>
                  <a:txBody>
                    <a:bodyPr/>
                    <a:lstStyle/>
                    <a:p>
                      <a:pPr rtl="0" fontAlgn="ctr"/>
                      <a:r>
                        <a:rPr lang="ru-RU" sz="800" b="0">
                          <a:effectLst/>
                        </a:rPr>
                        <a:t>62</a:t>
                      </a:r>
                    </a:p>
                  </a:txBody>
                  <a:tcPr marL="31750" marR="31750" marT="31750" marB="31750" anchor="ctr"/>
                </a:tc>
                <a:extLst>
                  <a:ext uri="{0D108BD9-81ED-4DB2-BD59-A6C34878D82A}">
                    <a16:rowId xmlns:a16="http://schemas.microsoft.com/office/drawing/2014/main" val="884378750"/>
                  </a:ext>
                </a:extLst>
              </a:tr>
              <a:tr h="294722">
                <a:tc>
                  <a:txBody>
                    <a:bodyPr/>
                    <a:lstStyle/>
                    <a:p>
                      <a:pPr rtl="0" fontAlgn="ctr"/>
                      <a:r>
                        <a:rPr lang="ru-RU" sz="800" b="0">
                          <a:effectLst/>
                        </a:rPr>
                        <a:t>/27</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224</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a:t>
                      </a:r>
                      <a:r>
                        <a:rPr lang="ru-RU" sz="800" b="0">
                          <a:effectLst/>
                          <a:latin typeface="Courier New" panose="02070309020205020404" pitchFamily="49" charset="0"/>
                          <a:cs typeface="Courier New" panose="02070309020205020404" pitchFamily="49" charset="0"/>
                        </a:rPr>
                        <a:t>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11111111.111</a:t>
                      </a:r>
                      <a:r>
                        <a:rPr lang="ru-RU" sz="800" b="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rtl="0" fontAlgn="ctr"/>
                      <a:r>
                        <a:rPr lang="ru-RU" sz="800" b="1">
                          <a:effectLst/>
                        </a:rPr>
                        <a:t>2048</a:t>
                      </a:r>
                    </a:p>
                  </a:txBody>
                  <a:tcPr marL="31750" marR="31750" marT="31750" marB="31750" anchor="ctr"/>
                </a:tc>
                <a:tc>
                  <a:txBody>
                    <a:bodyPr/>
                    <a:lstStyle/>
                    <a:p>
                      <a:pPr rtl="0" fontAlgn="ctr"/>
                      <a:r>
                        <a:rPr lang="ru-RU" sz="800" b="0">
                          <a:effectLst/>
                        </a:rPr>
                        <a:t>30</a:t>
                      </a:r>
                    </a:p>
                  </a:txBody>
                  <a:tcPr marL="31750" marR="31750" marT="31750" marB="31750" anchor="ctr"/>
                </a:tc>
                <a:extLst>
                  <a:ext uri="{0D108BD9-81ED-4DB2-BD59-A6C34878D82A}">
                    <a16:rowId xmlns:a16="http://schemas.microsoft.com/office/drawing/2014/main" val="3662949982"/>
                  </a:ext>
                </a:extLst>
              </a:tr>
              <a:tr h="294722">
                <a:tc>
                  <a:txBody>
                    <a:bodyPr/>
                    <a:lstStyle/>
                    <a:p>
                      <a:pPr rtl="0" fontAlgn="ctr"/>
                      <a:r>
                        <a:rPr lang="ru-RU" sz="800" b="0">
                          <a:effectLst/>
                        </a:rPr>
                        <a:t>/28</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 </a:t>
                      </a:r>
                      <a:r>
                        <a:rPr lang="ru-RU" sz="800" b="1">
                          <a:effectLst/>
                        </a:rPr>
                        <a:t>240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нннннннннннн</a:t>
                      </a:r>
                      <a:r>
                        <a:rPr lang="ru-RU" sz="800" b="0">
                          <a:effectLst/>
                          <a:latin typeface="Courier New" panose="02070309020205020404" pitchFamily="49" charset="0"/>
                          <a:cs typeface="Courier New" panose="02070309020205020404" pitchFamily="49" charset="0"/>
                        </a:rPr>
                        <a:t>чччх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11111111.1111</a:t>
                      </a:r>
                      <a:r>
                        <a:rPr lang="ru-RU" sz="800" b="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rtl="0" fontAlgn="ctr"/>
                      <a:r>
                        <a:rPr lang="ru-RU" sz="800" b="1">
                          <a:effectLst/>
                        </a:rPr>
                        <a:t>4 096</a:t>
                      </a:r>
                    </a:p>
                  </a:txBody>
                  <a:tcPr marL="31750" marR="31750" marT="31750" marB="31750" anchor="ctr"/>
                </a:tc>
                <a:tc>
                  <a:txBody>
                    <a:bodyPr/>
                    <a:lstStyle/>
                    <a:p>
                      <a:pPr rtl="0" fontAlgn="ctr"/>
                      <a:r>
                        <a:rPr lang="ru-RU" sz="800" b="0">
                          <a:effectLst/>
                        </a:rPr>
                        <a:t>14</a:t>
                      </a:r>
                    </a:p>
                  </a:txBody>
                  <a:tcPr marL="31750" marR="31750" marT="31750" marB="31750" anchor="ctr"/>
                </a:tc>
                <a:extLst>
                  <a:ext uri="{0D108BD9-81ED-4DB2-BD59-A6C34878D82A}">
                    <a16:rowId xmlns:a16="http://schemas.microsoft.com/office/drawing/2014/main" val="247945818"/>
                  </a:ext>
                </a:extLst>
              </a:tr>
              <a:tr h="294722">
                <a:tc>
                  <a:txBody>
                    <a:bodyPr/>
                    <a:lstStyle/>
                    <a:p>
                      <a:pPr rtl="0" fontAlgn="ctr"/>
                      <a:r>
                        <a:rPr lang="ru-RU" sz="800" b="0">
                          <a:effectLst/>
                        </a:rPr>
                        <a:t>/29</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248</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нннннннннннн</a:t>
                      </a:r>
                      <a:r>
                        <a:rPr lang="ru-RU" sz="800" b="0">
                          <a:effectLst/>
                          <a:latin typeface="Courier New" panose="02070309020205020404" pitchFamily="49" charset="0"/>
                          <a:cs typeface="Courier New" panose="02070309020205020404" pitchFamily="49" charset="0"/>
                        </a:rPr>
                        <a:t>чччч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11111111.11111</a:t>
                      </a:r>
                      <a:r>
                        <a:rPr lang="ru-RU" sz="800" b="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rtl="0" fontAlgn="ctr"/>
                      <a:r>
                        <a:rPr lang="ru-RU" sz="800" b="1">
                          <a:effectLst/>
                        </a:rPr>
                        <a:t>8 192</a:t>
                      </a:r>
                    </a:p>
                  </a:txBody>
                  <a:tcPr marL="31750" marR="31750" marT="31750" marB="31750" anchor="ctr"/>
                </a:tc>
                <a:tc>
                  <a:txBody>
                    <a:bodyPr/>
                    <a:lstStyle/>
                    <a:p>
                      <a:pPr rtl="0" fontAlgn="ctr"/>
                      <a:r>
                        <a:rPr lang="ru-RU" sz="800" b="0">
                          <a:effectLst/>
                        </a:rPr>
                        <a:t>6</a:t>
                      </a:r>
                    </a:p>
                  </a:txBody>
                  <a:tcPr marL="31750" marR="31750" marT="31750" marB="31750" anchor="ctr"/>
                </a:tc>
                <a:extLst>
                  <a:ext uri="{0D108BD9-81ED-4DB2-BD59-A6C34878D82A}">
                    <a16:rowId xmlns:a16="http://schemas.microsoft.com/office/drawing/2014/main" val="2719294433"/>
                  </a:ext>
                </a:extLst>
              </a:tr>
              <a:tr h="294722">
                <a:tc>
                  <a:txBody>
                    <a:bodyPr/>
                    <a:lstStyle/>
                    <a:p>
                      <a:pPr rtl="0" fontAlgn="ctr"/>
                      <a:r>
                        <a:rPr lang="ru-RU" sz="800" b="0">
                          <a:effectLst/>
                        </a:rPr>
                        <a:t>/30</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1">
                          <a:effectLst/>
                        </a:rPr>
                        <a:t>252</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ннннннннннннн</a:t>
                      </a:r>
                      <a:r>
                        <a:rPr lang="ru-RU" sz="800" b="0">
                          <a:effectLst/>
                          <a:latin typeface="Courier New" panose="02070309020205020404" pitchFamily="49" charset="0"/>
                          <a:cs typeface="Courier New" panose="02070309020205020404" pitchFamily="49" charset="0"/>
                        </a:rPr>
                        <a:t>ч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1111111111.11111111. </a:t>
                      </a:r>
                      <a:r>
                        <a:rPr lang="ru-RU" sz="800" b="1">
                          <a:effectLst/>
                          <a:latin typeface="Courier New" panose="02070309020205020404" pitchFamily="49" charset="0"/>
                          <a:cs typeface="Courier New" panose="02070309020205020404" pitchFamily="49" charset="0"/>
                        </a:rPr>
                        <a:t>11111111.1111</a:t>
                      </a:r>
                      <a:r>
                        <a:rPr lang="ru-RU" sz="800" b="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rtl="0" fontAlgn="ctr"/>
                      <a:r>
                        <a:rPr lang="ru-RU" sz="800" b="1">
                          <a:effectLst/>
                        </a:rPr>
                        <a:t>16 384</a:t>
                      </a:r>
                    </a:p>
                  </a:txBody>
                  <a:tcPr marL="31750" marR="31750" marT="31750" marB="31750" anchor="ctr"/>
                </a:tc>
                <a:tc>
                  <a:txBody>
                    <a:bodyPr/>
                    <a:lstStyle/>
                    <a:p>
                      <a:pPr rtl="0" fontAlgn="ctr"/>
                      <a:r>
                        <a:rPr lang="ru-RU" sz="800" b="0" dirty="0">
                          <a:effectLst/>
                        </a:rPr>
                        <a:t>2</a:t>
                      </a:r>
                    </a:p>
                  </a:txBody>
                  <a:tcPr marL="31750" marR="31750" marT="31750" marB="31750" anchor="ctr"/>
                </a:tc>
                <a:extLst>
                  <a:ext uri="{0D108BD9-81ED-4DB2-BD59-A6C34878D82A}">
                    <a16:rowId xmlns:a16="http://schemas.microsoft.com/office/drawing/2014/main" val="1088457338"/>
                  </a:ext>
                </a:extLst>
              </a:tr>
            </a:tbl>
          </a:graphicData>
        </a:graphic>
      </p:graphicFrame>
    </p:spTree>
    <p:extLst>
      <p:ext uri="{BB962C8B-B14F-4D97-AF65-F5344CB8AC3E}">
        <p14:creationId xmlns:p14="http://schemas.microsoft.com/office/powerpoint/2010/main" val="74349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/16 и префиксом /8</a:t>
            </a:r>
            <a:br>
              <a:rPr lang="en-US" dirty="0"/>
            </a:br>
            <a:r>
              <a:rPr lang="ru-RU" sz="2400"/>
              <a:t>Создание подсетей с префиксом /16</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82297" y="864845"/>
            <a:ext cx="5752896" cy="3669447"/>
          </a:xfrm>
        </p:spPr>
        <p:txBody>
          <a:bodyPr/>
          <a:lstStyle/>
          <a:p>
            <a:pPr marL="0" indent="0" algn="l" rtl="0"/>
            <a:r>
              <a:rPr lang="ru-RU" sz="1600" dirty="0">
                <a:solidFill>
                  <a:srgbClr val="000000"/>
                </a:solidFill>
              </a:rPr>
              <a:t>Рассмотрим крупное предприятие, которому необходимо хотя бы 100 подсетей, и которое выбрало частный адрес 172.16.0.0/16 в качестве адреса внутренней сети.</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На рисунке показано количество подсетей, которое может быть создано при заимствовании бит из третьего и четвертого октетов. </a:t>
            </a:r>
          </a:p>
          <a:p>
            <a:pPr marL="342900" indent="-342900" algn="l" rtl="0">
              <a:buFont typeface="Arial" panose="020B0604020202020204" pitchFamily="34" charset="0"/>
              <a:buChar char="•"/>
            </a:pPr>
            <a:r>
              <a:rPr lang="ru-RU" sz="1600" dirty="0">
                <a:solidFill>
                  <a:srgbClr val="000000"/>
                </a:solidFill>
              </a:rPr>
              <a:t>Обратите внимание, что теперь есть до 14 битов хоста, которые могут быть заимствованы (то есть, последние два бита не могут быть заимствованы).</a:t>
            </a:r>
          </a:p>
          <a:p>
            <a:pPr marL="342900" indent="-342900" algn="l">
              <a:buFont typeface="Arial" panose="020B0604020202020204" pitchFamily="34" charset="0"/>
              <a:buChar char="•"/>
            </a:pPr>
            <a:endParaRPr lang="en-CA" sz="1600" dirty="0">
              <a:solidFill>
                <a:srgbClr val="000000"/>
              </a:solidFill>
            </a:endParaRPr>
          </a:p>
          <a:p>
            <a:pPr marL="0" indent="0" algn="l" rtl="0"/>
            <a:r>
              <a:rPr lang="ru-RU" sz="1600" dirty="0">
                <a:solidFill>
                  <a:srgbClr val="000000"/>
                </a:solidFill>
              </a:rPr>
              <a:t>Чтобы удовлетворить потребности предприятия, потребуется заимствовать 7 бит (то есть 2</a:t>
            </a:r>
            <a:r>
              <a:rPr lang="ru-RU" sz="1600" baseline="30000" dirty="0">
                <a:solidFill>
                  <a:srgbClr val="000000"/>
                </a:solidFill>
              </a:rPr>
              <a:t>7</a:t>
            </a:r>
            <a:r>
              <a:rPr lang="ru-RU" sz="1600" dirty="0">
                <a:solidFill>
                  <a:srgbClr val="000000"/>
                </a:solidFill>
              </a:rPr>
              <a:t> = 128 подсетей), как показано на рисунке.</a:t>
            </a:r>
          </a:p>
        </p:txBody>
      </p:sp>
      <p:pic>
        <p:nvPicPr>
          <p:cNvPr id="2" name="Picture 1">
            <a:extLst>
              <a:ext uri="{FF2B5EF4-FFF2-40B4-BE49-F238E27FC236}">
                <a16:creationId xmlns:a16="http://schemas.microsoft.com/office/drawing/2014/main" id="{7D912EB9-9234-4648-AF24-14759A57CE1E}"/>
              </a:ext>
            </a:extLst>
          </p:cNvPr>
          <p:cNvPicPr>
            <a:picLocks noChangeAspect="1"/>
          </p:cNvPicPr>
          <p:nvPr/>
        </p:nvPicPr>
        <p:blipFill>
          <a:blip r:embed="rId3"/>
          <a:stretch>
            <a:fillRect/>
          </a:stretch>
        </p:blipFill>
        <p:spPr>
          <a:xfrm>
            <a:off x="6102029" y="855419"/>
            <a:ext cx="2914800" cy="2806844"/>
          </a:xfrm>
          <a:prstGeom prst="rect">
            <a:avLst/>
          </a:prstGeom>
        </p:spPr>
      </p:pic>
    </p:spTree>
    <p:extLst>
      <p:ext uri="{BB962C8B-B14F-4D97-AF65-F5344CB8AC3E}">
        <p14:creationId xmlns:p14="http://schemas.microsoft.com/office/powerpoint/2010/main" val="117726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/16 и префиксом /8</a:t>
            </a:r>
            <a:br>
              <a:rPr lang="en-US" dirty="0"/>
            </a:br>
            <a:r>
              <a:rPr lang="ru-RU" sz="2400"/>
              <a:t>Создание подсетей с префиксом /16</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37161" y="855419"/>
            <a:ext cx="5158740" cy="3073946"/>
          </a:xfrm>
        </p:spPr>
        <p:txBody>
          <a:bodyPr/>
          <a:lstStyle/>
          <a:p>
            <a:pPr marL="0" indent="0" algn="l" rtl="0"/>
            <a:r>
              <a:rPr lang="ru-RU" sz="1600" dirty="0">
                <a:solidFill>
                  <a:srgbClr val="000000"/>
                </a:solidFill>
              </a:rPr>
              <a:t>Рассмотрим небольшой </a:t>
            </a:r>
            <a:r>
              <a:rPr lang="ru-RU" sz="1600" dirty="0" err="1">
                <a:solidFill>
                  <a:srgbClr val="000000"/>
                </a:solidFill>
              </a:rPr>
              <a:t>интернет-провайдер</a:t>
            </a:r>
            <a:r>
              <a:rPr lang="ru-RU" sz="1600" dirty="0">
                <a:solidFill>
                  <a:srgbClr val="000000"/>
                </a:solidFill>
              </a:rPr>
              <a:t>, который требует 1000 подсетей для своих клиентов, использующих сетевой адрес 10.0.0.0/8, что означает, что в сетевой части есть 8 бит и 24 бита узла доступны для заимствования для подсетей. </a:t>
            </a:r>
          </a:p>
          <a:p>
            <a:pPr marL="342900" indent="-342900" algn="l" rtl="0">
              <a:buFont typeface="Arial" panose="020B0604020202020204" pitchFamily="34" charset="0"/>
              <a:buChar char="•"/>
            </a:pPr>
            <a:r>
              <a:rPr lang="ru-RU" sz="1400" dirty="0">
                <a:solidFill>
                  <a:srgbClr val="000000"/>
                </a:solidFill>
              </a:rPr>
              <a:t>На рисунке показано количество подсетей, которое может быть создано при заимствовании бит из третьего и четвертого октетов. </a:t>
            </a:r>
          </a:p>
          <a:p>
            <a:pPr marL="342900" indent="-342900" algn="l" rtl="0">
              <a:buFont typeface="Arial" panose="020B0604020202020204" pitchFamily="34" charset="0"/>
              <a:buChar char="•"/>
            </a:pPr>
            <a:r>
              <a:rPr lang="ru-RU" sz="1400" dirty="0">
                <a:solidFill>
                  <a:srgbClr val="000000"/>
                </a:solidFill>
              </a:rPr>
              <a:t>Обратите внимание, что теперь есть до 22 битов хоста, которые могут быть заимствованы (то есть, последние два бита не могут быть заимствованы).</a:t>
            </a:r>
          </a:p>
          <a:p>
            <a:pPr marL="342900" indent="-342900" algn="l">
              <a:buFont typeface="Arial" panose="020B0604020202020204" pitchFamily="34" charset="0"/>
              <a:buChar char="•"/>
            </a:pPr>
            <a:endParaRPr lang="en-CA" sz="1600" dirty="0">
              <a:solidFill>
                <a:srgbClr val="000000"/>
              </a:solidFill>
            </a:endParaRPr>
          </a:p>
          <a:p>
            <a:pPr marL="0" indent="0" algn="l" rtl="0"/>
            <a:r>
              <a:rPr lang="ru-RU" sz="1600" dirty="0">
                <a:solidFill>
                  <a:srgbClr val="000000"/>
                </a:solidFill>
              </a:rPr>
              <a:t>Для выполнения требования 1000 подсетей для предприятия необходимо заимствовать 10 бит (т.е. 2</a:t>
            </a:r>
            <a:r>
              <a:rPr lang="ru-RU" sz="1600" baseline="30000" dirty="0">
                <a:solidFill>
                  <a:srgbClr val="000000"/>
                </a:solidFill>
              </a:rPr>
              <a:t>10</a:t>
            </a:r>
            <a:r>
              <a:rPr lang="ru-RU" sz="1600" dirty="0">
                <a:solidFill>
                  <a:srgbClr val="000000"/>
                </a:solidFill>
              </a:rPr>
              <a:t>= 1024 подсетей) (в общей сложности 128 подсетей)</a:t>
            </a:r>
          </a:p>
        </p:txBody>
      </p:sp>
      <p:pic>
        <p:nvPicPr>
          <p:cNvPr id="6" name="Picture 5">
            <a:extLst>
              <a:ext uri="{FF2B5EF4-FFF2-40B4-BE49-F238E27FC236}">
                <a16:creationId xmlns:a16="http://schemas.microsoft.com/office/drawing/2014/main" id="{750D50AE-022A-4CE2-A161-C94FE631C328}"/>
              </a:ext>
            </a:extLst>
          </p:cNvPr>
          <p:cNvPicPr>
            <a:picLocks noChangeAspect="1"/>
          </p:cNvPicPr>
          <p:nvPr/>
        </p:nvPicPr>
        <p:blipFill>
          <a:blip r:embed="rId3"/>
          <a:stretch>
            <a:fillRect/>
          </a:stretch>
        </p:blipFill>
        <p:spPr>
          <a:xfrm>
            <a:off x="5399726" y="826108"/>
            <a:ext cx="3648229" cy="2424738"/>
          </a:xfrm>
          <a:prstGeom prst="rect">
            <a:avLst/>
          </a:prstGeom>
        </p:spPr>
      </p:pic>
    </p:spTree>
    <p:extLst>
      <p:ext uri="{BB962C8B-B14F-4D97-AF65-F5344CB8AC3E}">
        <p14:creationId xmlns:p14="http://schemas.microsoft.com/office/powerpoint/2010/main" val="57086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/16 и /8 </a:t>
            </a:r>
            <a:br>
              <a:rPr lang="en-US" dirty="0"/>
            </a:br>
            <a:r>
              <a:rPr lang="ru-RU" sz="2400"/>
              <a:t>Видео — подсеть по нескольким октетам</a:t>
            </a:r>
          </a:p>
        </p:txBody>
      </p:sp>
      <p:sp>
        <p:nvSpPr>
          <p:cNvPr id="7" name="Content Placeholder 3">
            <a:extLst>
              <a:ext uri="{FF2B5EF4-FFF2-40B4-BE49-F238E27FC236}">
                <a16:creationId xmlns:a16="http://schemas.microsoft.com/office/drawing/2014/main" id="{8F956245-A45E-4456-B4A9-43F254AE2811}"/>
              </a:ext>
            </a:extLst>
          </p:cNvPr>
          <p:cNvSpPr txBox="1">
            <a:spLocks/>
          </p:cNvSpPr>
          <p:nvPr/>
        </p:nvSpPr>
        <p:spPr>
          <a:xfrm>
            <a:off x="431971" y="855419"/>
            <a:ext cx="8345488"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ru-RU" sz="1600">
                <a:solidFill>
                  <a:srgbClr val="000000"/>
                </a:solidFill>
              </a:rPr>
              <a:t>В этом видео демонстрируется создание подсетей по нескольким октетам.</a:t>
            </a:r>
          </a:p>
        </p:txBody>
      </p:sp>
    </p:spTree>
    <p:extLst>
      <p:ext uri="{BB962C8B-B14F-4D97-AF65-F5344CB8AC3E}">
        <p14:creationId xmlns:p14="http://schemas.microsoft.com/office/powerpoint/2010/main" val="3742440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/16 и /8 </a:t>
            </a:r>
            <a:br>
              <a:rPr lang="en-US" dirty="0"/>
            </a:br>
            <a:r>
              <a:rPr lang="ru-RU" sz="2400"/>
              <a:t>Лабораторная работа — Вычисление подсетей IPv4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ru-RU" sz="1600">
                <a:solidFill>
                  <a:srgbClr val="000000"/>
                </a:solidFill>
              </a:rPr>
              <a:t>В этой лабораторной работе вы выполните следующие задачи.</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Часть 1. Определение подсетей по IPv4-адресу</a:t>
            </a:r>
          </a:p>
          <a:p>
            <a:pPr marL="342900" indent="-342900" algn="l" rtl="0">
              <a:buFont typeface="Arial" panose="020B0604020202020204" pitchFamily="34" charset="0"/>
              <a:buChar char="•"/>
            </a:pPr>
            <a:r>
              <a:rPr lang="ru-RU" sz="1600">
                <a:solidFill>
                  <a:srgbClr val="000000"/>
                </a:solidFill>
              </a:rPr>
              <a:t>Часть 2. Расчет подсетей по IPv4-адресу</a:t>
            </a:r>
          </a:p>
        </p:txBody>
      </p:sp>
    </p:spTree>
    <p:extLst>
      <p:ext uri="{BB962C8B-B14F-4D97-AF65-F5344CB8AC3E}">
        <p14:creationId xmlns:p14="http://schemas.microsoft.com/office/powerpoint/2010/main" val="349735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096" y="1769872"/>
            <a:ext cx="8791584" cy="929640"/>
          </a:xfrm>
        </p:spPr>
        <p:txBody>
          <a:bodyPr/>
          <a:lstStyle/>
          <a:p>
            <a:pPr rtl="0"/>
            <a:r>
              <a:rPr lang="ru-RU" dirty="0">
                <a:solidFill>
                  <a:schemeClr val="accent5">
                    <a:lumMod val="40000"/>
                    <a:lumOff val="60000"/>
                  </a:schemeClr>
                </a:solidFill>
              </a:rPr>
              <a:t>11.7 Разделение на подсети для соответствия требованиям</a:t>
            </a:r>
          </a:p>
        </p:txBody>
      </p:sp>
    </p:spTree>
    <p:custDataLst>
      <p:tags r:id="rId1"/>
    </p:custDataLst>
    <p:extLst>
      <p:ext uri="{BB962C8B-B14F-4D97-AF65-F5344CB8AC3E}">
        <p14:creationId xmlns:p14="http://schemas.microsoft.com/office/powerpoint/2010/main" val="1599129250"/>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079992" cy="731837"/>
          </a:xfrm>
        </p:spPr>
        <p:txBody>
          <a:bodyPr/>
          <a:lstStyle/>
          <a:p>
            <a:r>
              <a:rPr lang="ru-RU" sz="1600" dirty="0"/>
              <a:t>Разделение на подсети для соответствия требованиям</a:t>
            </a:r>
            <a:br>
              <a:rPr lang="ru-RU" sz="1600" dirty="0"/>
            </a:br>
            <a:r>
              <a:rPr lang="ru-RU" sz="2400" dirty="0"/>
              <a:t>Частное и публичное адресное пространство IPv4 подсети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985849" cy="3073946"/>
          </a:xfrm>
        </p:spPr>
        <p:txBody>
          <a:bodyPr/>
          <a:lstStyle/>
          <a:p>
            <a:pPr marL="0" indent="0" algn="l" rtl="0"/>
            <a:r>
              <a:rPr lang="ru-RU" sz="1600">
                <a:solidFill>
                  <a:srgbClr val="000000"/>
                </a:solidFill>
              </a:rPr>
              <a:t>Корпоративные сети</a:t>
            </a:r>
          </a:p>
          <a:p>
            <a:pPr marL="342900" indent="-342900" algn="l" rtl="0">
              <a:buFont typeface="Arial" panose="020B0604020202020204" pitchFamily="34" charset="0"/>
              <a:buChar char="•"/>
            </a:pPr>
            <a:r>
              <a:rPr lang="ru-RU" sz="1600">
                <a:solidFill>
                  <a:srgbClr val="000000"/>
                </a:solidFill>
              </a:rPr>
              <a:t>Интрасеть - внутренняя сеть компании обычно использует частные адреса IPv4.</a:t>
            </a:r>
          </a:p>
          <a:p>
            <a:pPr marL="342900" indent="-342900" algn="l" rtl="0">
              <a:buFont typeface="Arial" panose="020B0604020202020204" pitchFamily="34" charset="0"/>
              <a:buChar char="•"/>
            </a:pPr>
            <a:r>
              <a:rPr lang="ru-RU" sz="1600">
                <a:solidFill>
                  <a:srgbClr val="000000"/>
                </a:solidFill>
              </a:rPr>
              <a:t>DMZ — компании, обращенные к Интернету серверы. Устройства в DMZ используют общедоступные адреса IPv4.</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Компания может использовать 10.0.0.0/8 и подсеть на границе сети /16 или /24.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Устройства DMZ должны быть настроены с общедоступными IP-адресами.</a:t>
            </a:r>
          </a:p>
        </p:txBody>
      </p:sp>
      <p:pic>
        <p:nvPicPr>
          <p:cNvPr id="2" name="Picture 1">
            <a:extLst>
              <a:ext uri="{FF2B5EF4-FFF2-40B4-BE49-F238E27FC236}">
                <a16:creationId xmlns:a16="http://schemas.microsoft.com/office/drawing/2014/main" id="{32D669F9-6546-4D50-B5D4-ED794ADFFF31}"/>
              </a:ext>
            </a:extLst>
          </p:cNvPr>
          <p:cNvPicPr>
            <a:picLocks noChangeAspect="1"/>
          </p:cNvPicPr>
          <p:nvPr/>
        </p:nvPicPr>
        <p:blipFill>
          <a:blip r:embed="rId3"/>
          <a:stretch>
            <a:fillRect/>
          </a:stretch>
        </p:blipFill>
        <p:spPr>
          <a:xfrm>
            <a:off x="5374134" y="1118336"/>
            <a:ext cx="3581835" cy="2392363"/>
          </a:xfrm>
          <a:prstGeom prst="rect">
            <a:avLst/>
          </a:prstGeom>
        </p:spPr>
      </p:pic>
    </p:spTree>
    <p:extLst>
      <p:ext uri="{BB962C8B-B14F-4D97-AF65-F5344CB8AC3E}">
        <p14:creationId xmlns:p14="http://schemas.microsoft.com/office/powerpoint/2010/main" val="180448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dirty="0"/>
              <a:t>Подсеть, удовлетворяющая требованиям</a:t>
            </a:r>
            <a:br>
              <a:rPr lang="en-US" dirty="0"/>
            </a:br>
            <a:r>
              <a:rPr lang="ru-RU" sz="2000" dirty="0"/>
              <a:t>Минимизация неиспользуемых адресов IPv4 узлов и максимизация подсетей</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853" y="817477"/>
            <a:ext cx="8538292" cy="973381"/>
          </a:xfrm>
        </p:spPr>
        <p:txBody>
          <a:bodyPr/>
          <a:lstStyle/>
          <a:p>
            <a:pPr marL="0" indent="0" algn="l" rtl="0"/>
            <a:r>
              <a:rPr lang="ru-RU" sz="1600" dirty="0">
                <a:solidFill>
                  <a:srgbClr val="000000"/>
                </a:solidFill>
              </a:rPr>
              <a:t>При планировании подсетей нужно учесть два параметра. </a:t>
            </a:r>
          </a:p>
          <a:p>
            <a:pPr marL="342900" indent="-342900" algn="l" rtl="0">
              <a:buFont typeface="Arial" panose="020B0604020202020204" pitchFamily="34" charset="0"/>
              <a:buChar char="•"/>
            </a:pPr>
            <a:r>
              <a:rPr lang="ru-RU" sz="1600" dirty="0">
                <a:solidFill>
                  <a:srgbClr val="000000"/>
                </a:solidFill>
              </a:rPr>
              <a:t>Необходимое количество адресов узлов в каждой сети </a:t>
            </a:r>
          </a:p>
          <a:p>
            <a:pPr marL="342900" indent="-342900" algn="l" rtl="0">
              <a:buFont typeface="Arial" panose="020B0604020202020204" pitchFamily="34" charset="0"/>
              <a:buChar char="•"/>
            </a:pPr>
            <a:r>
              <a:rPr lang="ru-RU" sz="1600" dirty="0">
                <a:solidFill>
                  <a:srgbClr val="000000"/>
                </a:solidFill>
              </a:rPr>
              <a:t>Необходимое количество подсетей</a:t>
            </a:r>
          </a:p>
          <a:p>
            <a:pPr marL="342900" indent="-342900" algn="l">
              <a:buFont typeface="Arial" panose="020B0604020202020204" pitchFamily="34" charset="0"/>
              <a:buChar char="•"/>
            </a:pPr>
            <a:endParaRPr lang="en-US" sz="1600" dirty="0">
              <a:solidFill>
                <a:srgbClr val="000000"/>
              </a:solidFill>
            </a:endParaRPr>
          </a:p>
        </p:txBody>
      </p:sp>
      <p:graphicFrame>
        <p:nvGraphicFramePr>
          <p:cNvPr id="6" name="Table 5">
            <a:extLst>
              <a:ext uri="{FF2B5EF4-FFF2-40B4-BE49-F238E27FC236}">
                <a16:creationId xmlns:a16="http://schemas.microsoft.com/office/drawing/2014/main" id="{2FCC84FF-7C82-4B7C-A9C2-37AE1AC6A2DC}"/>
              </a:ext>
            </a:extLst>
          </p:cNvPr>
          <p:cNvGraphicFramePr>
            <a:graphicFrameLocks noGrp="1"/>
          </p:cNvGraphicFramePr>
          <p:nvPr>
            <p:extLst>
              <p:ext uri="{D42A27DB-BD31-4B8C-83A1-F6EECF244321}">
                <p14:modId xmlns:p14="http://schemas.microsoft.com/office/powerpoint/2010/main" val="3854510119"/>
              </p:ext>
            </p:extLst>
          </p:nvPr>
        </p:nvGraphicFramePr>
        <p:xfrm>
          <a:off x="1207769" y="1944355"/>
          <a:ext cx="6728460" cy="274574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3173678455"/>
                    </a:ext>
                  </a:extLst>
                </a:gridCol>
                <a:gridCol w="1203960">
                  <a:extLst>
                    <a:ext uri="{9D8B030D-6E8A-4147-A177-3AD203B41FA5}">
                      <a16:colId xmlns:a16="http://schemas.microsoft.com/office/drawing/2014/main" val="1538934761"/>
                    </a:ext>
                  </a:extLst>
                </a:gridCol>
                <a:gridCol w="3092530">
                  <a:extLst>
                    <a:ext uri="{9D8B030D-6E8A-4147-A177-3AD203B41FA5}">
                      <a16:colId xmlns:a16="http://schemas.microsoft.com/office/drawing/2014/main" val="1045760004"/>
                    </a:ext>
                  </a:extLst>
                </a:gridCol>
                <a:gridCol w="747950">
                  <a:extLst>
                    <a:ext uri="{9D8B030D-6E8A-4147-A177-3AD203B41FA5}">
                      <a16:colId xmlns:a16="http://schemas.microsoft.com/office/drawing/2014/main" val="2485496051"/>
                    </a:ext>
                  </a:extLst>
                </a:gridCol>
                <a:gridCol w="723900">
                  <a:extLst>
                    <a:ext uri="{9D8B030D-6E8A-4147-A177-3AD203B41FA5}">
                      <a16:colId xmlns:a16="http://schemas.microsoft.com/office/drawing/2014/main" val="660007875"/>
                    </a:ext>
                  </a:extLst>
                </a:gridCol>
              </a:tblGrid>
              <a:tr h="370840">
                <a:tc>
                  <a:txBody>
                    <a:bodyPr/>
                    <a:lstStyle/>
                    <a:p>
                      <a:pPr algn="l" rtl="0" fontAlgn="ctr"/>
                      <a:r>
                        <a:rPr lang="ru-RU" sz="1000" b="1">
                          <a:effectLst/>
                        </a:rPr>
                        <a:t>Длина префикса</a:t>
                      </a:r>
                    </a:p>
                  </a:txBody>
                  <a:tcPr marL="31750" marR="31750" marT="31750" marB="31750" anchor="ctr"/>
                </a:tc>
                <a:tc>
                  <a:txBody>
                    <a:bodyPr/>
                    <a:lstStyle/>
                    <a:p>
                      <a:pPr algn="l" rtl="0" fontAlgn="ctr"/>
                      <a:r>
                        <a:rPr lang="ru-RU" sz="1000" b="1">
                          <a:effectLst/>
                        </a:rPr>
                        <a:t>Маска подсети</a:t>
                      </a:r>
                    </a:p>
                  </a:txBody>
                  <a:tcPr marL="31750" marR="31750" marT="31750" marB="31750" anchor="ctr"/>
                </a:tc>
                <a:tc>
                  <a:txBody>
                    <a:bodyPr/>
                    <a:lstStyle/>
                    <a:p>
                      <a:pPr algn="l" rtl="0" fontAlgn="ctr"/>
                      <a:r>
                        <a:rPr lang="ru-RU" sz="1000" b="1">
                          <a:effectLst/>
                        </a:rPr>
                        <a:t>Маска подсети в двоичной системе</a:t>
                      </a:r>
                      <a:br>
                        <a:rPr lang="en-CA" sz="1000" b="1" dirty="0">
                          <a:effectLst/>
                        </a:rPr>
                      </a:br>
                      <a:r>
                        <a:rPr lang="ru-RU" sz="1000" b="1">
                          <a:effectLst/>
                        </a:rPr>
                        <a:t>(с = сеть, у = узел)</a:t>
                      </a:r>
                    </a:p>
                  </a:txBody>
                  <a:tcPr marL="31750" marR="31750" marT="31750" marB="31750" anchor="ctr"/>
                </a:tc>
                <a:tc>
                  <a:txBody>
                    <a:bodyPr/>
                    <a:lstStyle/>
                    <a:p>
                      <a:pPr algn="l" rtl="0" fontAlgn="ctr"/>
                      <a:r>
                        <a:rPr lang="ru-RU" sz="1000" b="1">
                          <a:effectLst/>
                        </a:rPr>
                        <a:t>Количество подсетей</a:t>
                      </a:r>
                    </a:p>
                  </a:txBody>
                  <a:tcPr marL="31750" marR="31750" marT="31750" marB="31750" anchor="ctr"/>
                </a:tc>
                <a:tc>
                  <a:txBody>
                    <a:bodyPr/>
                    <a:lstStyle/>
                    <a:p>
                      <a:pPr algn="l" rtl="0" fontAlgn="ctr"/>
                      <a:r>
                        <a:rPr lang="ru-RU" sz="1000" b="1">
                          <a:effectLst/>
                        </a:rPr>
                        <a:t>Количество узлов</a:t>
                      </a:r>
                    </a:p>
                  </a:txBody>
                  <a:tcPr marL="31750" marR="31750" marT="31750" marB="31750" anchor="ctr"/>
                </a:tc>
                <a:extLst>
                  <a:ext uri="{0D108BD9-81ED-4DB2-BD59-A6C34878D82A}">
                    <a16:rowId xmlns:a16="http://schemas.microsoft.com/office/drawing/2014/main" val="2275849055"/>
                  </a:ext>
                </a:extLst>
              </a:tr>
              <a:tr h="370840">
                <a:tc>
                  <a:txBody>
                    <a:bodyPr/>
                    <a:lstStyle/>
                    <a:p>
                      <a:pPr rtl="0" fontAlgn="ctr"/>
                      <a:r>
                        <a:rPr lang="ru-RU" sz="1000" b="0">
                          <a:effectLst/>
                        </a:rPr>
                        <a:t>/25</a:t>
                      </a:r>
                    </a:p>
                  </a:txBody>
                  <a:tcPr marL="31750" marR="31750" marT="31750" marB="31750" anchor="ctr"/>
                </a:tc>
                <a:tc>
                  <a:txBody>
                    <a:bodyPr/>
                    <a:lstStyle/>
                    <a:p>
                      <a:pPr rtl="0" fontAlgn="ctr"/>
                      <a:r>
                        <a:rPr lang="ru-RU" sz="1000" b="0">
                          <a:effectLst/>
                        </a:rPr>
                        <a:t>255.255.255.128</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a:t>
                      </a:r>
                      <a:r>
                        <a:rPr lang="ru-RU" sz="1000" b="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a:t>
                      </a:r>
                      <a:r>
                        <a:rPr lang="ru-RU" sz="1000" b="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rtl="0" fontAlgn="ctr"/>
                      <a:r>
                        <a:rPr lang="ru-RU" sz="1000" b="1">
                          <a:effectLst/>
                        </a:rPr>
                        <a:t>2</a:t>
                      </a:r>
                    </a:p>
                  </a:txBody>
                  <a:tcPr marL="31750" marR="31750" marT="31750" marB="31750" anchor="ctr"/>
                </a:tc>
                <a:tc>
                  <a:txBody>
                    <a:bodyPr/>
                    <a:lstStyle/>
                    <a:p>
                      <a:pPr rtl="0" fontAlgn="ctr"/>
                      <a:r>
                        <a:rPr lang="ru-RU" sz="1000" b="0">
                          <a:effectLst/>
                        </a:rPr>
                        <a:t>126</a:t>
                      </a:r>
                    </a:p>
                  </a:txBody>
                  <a:tcPr marL="31750" marR="31750" marT="31750" marB="31750" anchor="ctr"/>
                </a:tc>
                <a:extLst>
                  <a:ext uri="{0D108BD9-81ED-4DB2-BD59-A6C34878D82A}">
                    <a16:rowId xmlns:a16="http://schemas.microsoft.com/office/drawing/2014/main" val="1601271128"/>
                  </a:ext>
                </a:extLst>
              </a:tr>
              <a:tr h="370840">
                <a:tc>
                  <a:txBody>
                    <a:bodyPr/>
                    <a:lstStyle/>
                    <a:p>
                      <a:pPr rtl="0" fontAlgn="ctr"/>
                      <a:r>
                        <a:rPr lang="ru-RU" sz="1000" b="0">
                          <a:effectLst/>
                        </a:rPr>
                        <a:t>/26</a:t>
                      </a:r>
                    </a:p>
                  </a:txBody>
                  <a:tcPr marL="31750" marR="31750" marT="31750" marB="31750" anchor="ctr"/>
                </a:tc>
                <a:tc>
                  <a:txBody>
                    <a:bodyPr/>
                    <a:lstStyle/>
                    <a:p>
                      <a:pPr rtl="0" fontAlgn="ctr"/>
                      <a:r>
                        <a:rPr lang="ru-RU" sz="1000" b="0">
                          <a:effectLst/>
                        </a:rPr>
                        <a:t>255.255.255.192</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a:t>
                      </a:r>
                      <a:r>
                        <a:rPr lang="ru-RU" sz="1000" b="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a:t>
                      </a:r>
                      <a:r>
                        <a:rPr lang="ru-RU" sz="1000" b="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rtl="0" fontAlgn="ctr"/>
                      <a:r>
                        <a:rPr lang="ru-RU" sz="1000" b="1">
                          <a:effectLst/>
                        </a:rPr>
                        <a:t>4</a:t>
                      </a:r>
                    </a:p>
                  </a:txBody>
                  <a:tcPr marL="31750" marR="31750" marT="31750" marB="31750" anchor="ctr"/>
                </a:tc>
                <a:tc>
                  <a:txBody>
                    <a:bodyPr/>
                    <a:lstStyle/>
                    <a:p>
                      <a:pPr rtl="0" fontAlgn="ctr"/>
                      <a:r>
                        <a:rPr lang="ru-RU" sz="1000" b="0">
                          <a:effectLst/>
                        </a:rPr>
                        <a:t>62</a:t>
                      </a:r>
                    </a:p>
                  </a:txBody>
                  <a:tcPr marL="31750" marR="31750" marT="31750" marB="31750" anchor="ctr"/>
                </a:tc>
                <a:extLst>
                  <a:ext uri="{0D108BD9-81ED-4DB2-BD59-A6C34878D82A}">
                    <a16:rowId xmlns:a16="http://schemas.microsoft.com/office/drawing/2014/main" val="1999121572"/>
                  </a:ext>
                </a:extLst>
              </a:tr>
              <a:tr h="370840">
                <a:tc>
                  <a:txBody>
                    <a:bodyPr/>
                    <a:lstStyle/>
                    <a:p>
                      <a:pPr rtl="0" fontAlgn="ctr"/>
                      <a:r>
                        <a:rPr lang="ru-RU" sz="1000" b="0">
                          <a:effectLst/>
                        </a:rPr>
                        <a:t>/27</a:t>
                      </a:r>
                    </a:p>
                  </a:txBody>
                  <a:tcPr marL="31750" marR="31750" marT="31750" marB="31750" anchor="ctr"/>
                </a:tc>
                <a:tc>
                  <a:txBody>
                    <a:bodyPr/>
                    <a:lstStyle/>
                    <a:p>
                      <a:pPr rtl="0" fontAlgn="ctr"/>
                      <a:r>
                        <a:rPr lang="ru-RU" sz="1000" b="0">
                          <a:effectLst/>
                        </a:rPr>
                        <a:t>255.255.255.224</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a:t>
                      </a:r>
                      <a:r>
                        <a:rPr lang="ru-RU" sz="1000" b="0">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a:t>
                      </a:r>
                      <a:r>
                        <a:rPr lang="ru-RU" sz="1000" b="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rtl="0" fontAlgn="ctr"/>
                      <a:r>
                        <a:rPr lang="ru-RU" sz="1000" b="1">
                          <a:effectLst/>
                        </a:rPr>
                        <a:t>8</a:t>
                      </a:r>
                    </a:p>
                  </a:txBody>
                  <a:tcPr marL="31750" marR="31750" marT="31750" marB="31750" anchor="ctr"/>
                </a:tc>
                <a:tc>
                  <a:txBody>
                    <a:bodyPr/>
                    <a:lstStyle/>
                    <a:p>
                      <a:pPr rtl="0" fontAlgn="ctr"/>
                      <a:r>
                        <a:rPr lang="ru-RU" sz="1000" b="0">
                          <a:effectLst/>
                        </a:rPr>
                        <a:t>30</a:t>
                      </a:r>
                    </a:p>
                  </a:txBody>
                  <a:tcPr marL="31750" marR="31750" marT="31750" marB="31750" anchor="ctr"/>
                </a:tc>
                <a:extLst>
                  <a:ext uri="{0D108BD9-81ED-4DB2-BD59-A6C34878D82A}">
                    <a16:rowId xmlns:a16="http://schemas.microsoft.com/office/drawing/2014/main" val="346473952"/>
                  </a:ext>
                </a:extLst>
              </a:tr>
              <a:tr h="370840">
                <a:tc>
                  <a:txBody>
                    <a:bodyPr/>
                    <a:lstStyle/>
                    <a:p>
                      <a:pPr rtl="0" fontAlgn="ctr"/>
                      <a:r>
                        <a:rPr lang="ru-RU" sz="1000" b="0">
                          <a:effectLst/>
                        </a:rPr>
                        <a:t>/28</a:t>
                      </a:r>
                    </a:p>
                  </a:txBody>
                  <a:tcPr marL="31750" marR="31750" marT="31750" marB="31750" anchor="ctr"/>
                </a:tc>
                <a:tc>
                  <a:txBody>
                    <a:bodyPr/>
                    <a:lstStyle/>
                    <a:p>
                      <a:pPr rtl="0" fontAlgn="ctr"/>
                      <a:r>
                        <a:rPr lang="ru-RU" sz="1000" b="0">
                          <a:effectLst/>
                        </a:rPr>
                        <a:t>255.255.255.240</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a:t>
                      </a:r>
                      <a:r>
                        <a:rPr lang="ru-RU" sz="1000" b="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a:t>
                      </a:r>
                      <a:r>
                        <a:rPr lang="ru-RU" sz="1000" b="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rtl="0" fontAlgn="ctr"/>
                      <a:r>
                        <a:rPr lang="ru-RU" sz="1000" b="1">
                          <a:effectLst/>
                        </a:rPr>
                        <a:t>16</a:t>
                      </a:r>
                    </a:p>
                  </a:txBody>
                  <a:tcPr marL="31750" marR="31750" marT="31750" marB="31750" anchor="ctr"/>
                </a:tc>
                <a:tc>
                  <a:txBody>
                    <a:bodyPr/>
                    <a:lstStyle/>
                    <a:p>
                      <a:pPr rtl="0" fontAlgn="ctr"/>
                      <a:r>
                        <a:rPr lang="ru-RU" sz="1000" b="0">
                          <a:effectLst/>
                        </a:rPr>
                        <a:t>14</a:t>
                      </a:r>
                    </a:p>
                  </a:txBody>
                  <a:tcPr marL="31750" marR="31750" marT="31750" marB="31750" anchor="ctr"/>
                </a:tc>
                <a:extLst>
                  <a:ext uri="{0D108BD9-81ED-4DB2-BD59-A6C34878D82A}">
                    <a16:rowId xmlns:a16="http://schemas.microsoft.com/office/drawing/2014/main" val="1694683452"/>
                  </a:ext>
                </a:extLst>
              </a:tr>
              <a:tr h="370840">
                <a:tc>
                  <a:txBody>
                    <a:bodyPr/>
                    <a:lstStyle/>
                    <a:p>
                      <a:pPr rtl="0" fontAlgn="ctr"/>
                      <a:r>
                        <a:rPr lang="ru-RU" sz="1000" b="0">
                          <a:effectLst/>
                        </a:rPr>
                        <a:t>/29</a:t>
                      </a:r>
                    </a:p>
                  </a:txBody>
                  <a:tcPr marL="31750" marR="31750" marT="31750" marB="31750" anchor="ctr"/>
                </a:tc>
                <a:tc>
                  <a:txBody>
                    <a:bodyPr/>
                    <a:lstStyle/>
                    <a:p>
                      <a:pPr rtl="0" fontAlgn="ctr"/>
                      <a:r>
                        <a:rPr lang="ru-RU" sz="1000" b="0">
                          <a:effectLst/>
                        </a:rPr>
                        <a:t>255.255.255.248</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nnnnn</a:t>
                      </a:r>
                      <a:r>
                        <a:rPr lang="ru-RU" sz="1000" b="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11111</a:t>
                      </a:r>
                      <a:r>
                        <a:rPr lang="ru-RU" sz="1000" b="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rtl="0" fontAlgn="ctr"/>
                      <a:r>
                        <a:rPr lang="ru-RU" sz="1000" b="1">
                          <a:effectLst/>
                        </a:rPr>
                        <a:t>32</a:t>
                      </a:r>
                    </a:p>
                  </a:txBody>
                  <a:tcPr marL="31750" marR="31750" marT="31750" marB="31750" anchor="ctr"/>
                </a:tc>
                <a:tc>
                  <a:txBody>
                    <a:bodyPr/>
                    <a:lstStyle/>
                    <a:p>
                      <a:pPr rtl="0" fontAlgn="ctr"/>
                      <a:r>
                        <a:rPr lang="ru-RU" sz="1000" b="0">
                          <a:effectLst/>
                        </a:rPr>
                        <a:t>6</a:t>
                      </a:r>
                    </a:p>
                  </a:txBody>
                  <a:tcPr marL="31750" marR="31750" marT="31750" marB="31750" anchor="ctr"/>
                </a:tc>
                <a:extLst>
                  <a:ext uri="{0D108BD9-81ED-4DB2-BD59-A6C34878D82A}">
                    <a16:rowId xmlns:a16="http://schemas.microsoft.com/office/drawing/2014/main" val="2090259769"/>
                  </a:ext>
                </a:extLst>
              </a:tr>
              <a:tr h="370840">
                <a:tc>
                  <a:txBody>
                    <a:bodyPr/>
                    <a:lstStyle/>
                    <a:p>
                      <a:pPr rtl="0" fontAlgn="ctr"/>
                      <a:r>
                        <a:rPr lang="ru-RU" sz="1000" b="0">
                          <a:effectLst/>
                        </a:rPr>
                        <a:t>/30</a:t>
                      </a:r>
                    </a:p>
                  </a:txBody>
                  <a:tcPr marL="31750" marR="31750" marT="31750" marB="31750" anchor="ctr"/>
                </a:tc>
                <a:tc>
                  <a:txBody>
                    <a:bodyPr/>
                    <a:lstStyle/>
                    <a:p>
                      <a:pPr rtl="0" fontAlgn="ctr"/>
                      <a:r>
                        <a:rPr lang="ru-RU" sz="1000" b="0">
                          <a:effectLst/>
                        </a:rPr>
                        <a:t>255.255.255.252</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nnnnnn</a:t>
                      </a:r>
                      <a:r>
                        <a:rPr lang="ru-RU" sz="1000" b="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111111</a:t>
                      </a:r>
                      <a:r>
                        <a:rPr lang="ru-RU" sz="1000" b="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rtl="0" fontAlgn="ctr"/>
                      <a:r>
                        <a:rPr lang="ru-RU" sz="1000" b="1">
                          <a:effectLst/>
                        </a:rPr>
                        <a:t>64</a:t>
                      </a:r>
                    </a:p>
                  </a:txBody>
                  <a:tcPr marL="31750" marR="31750" marT="31750" marB="31750" anchor="ctr"/>
                </a:tc>
                <a:tc>
                  <a:txBody>
                    <a:bodyPr/>
                    <a:lstStyle/>
                    <a:p>
                      <a:pPr rtl="0" fontAlgn="ctr"/>
                      <a:r>
                        <a:rPr lang="ru-RU" sz="1000" b="0">
                          <a:effectLst/>
                        </a:rPr>
                        <a:t>2</a:t>
                      </a:r>
                    </a:p>
                  </a:txBody>
                  <a:tcPr marL="31750" marR="31750" marT="31750" marB="31750" anchor="ctr"/>
                </a:tc>
                <a:extLst>
                  <a:ext uri="{0D108BD9-81ED-4DB2-BD59-A6C34878D82A}">
                    <a16:rowId xmlns:a16="http://schemas.microsoft.com/office/drawing/2014/main" val="4211026032"/>
                  </a:ext>
                </a:extLst>
              </a:tr>
            </a:tbl>
          </a:graphicData>
        </a:graphic>
      </p:graphicFrame>
      <p:cxnSp>
        <p:nvCxnSpPr>
          <p:cNvPr id="10" name="Connector: Elbow 9">
            <a:extLst>
              <a:ext uri="{FF2B5EF4-FFF2-40B4-BE49-F238E27FC236}">
                <a16:creationId xmlns:a16="http://schemas.microsoft.com/office/drawing/2014/main" id="{52049570-73E8-4725-BB39-4CAE9ED89E03}"/>
              </a:ext>
            </a:extLst>
          </p:cNvPr>
          <p:cNvCxnSpPr>
            <a:cxnSpLocks/>
          </p:cNvCxnSpPr>
          <p:nvPr/>
        </p:nvCxnSpPr>
        <p:spPr>
          <a:xfrm>
            <a:off x="6019800" y="1304168"/>
            <a:ext cx="1516380" cy="602479"/>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FFFCA02D-B099-4C7E-83CA-8A71906FCE6C}"/>
              </a:ext>
            </a:extLst>
          </p:cNvPr>
          <p:cNvCxnSpPr>
            <a:cxnSpLocks/>
          </p:cNvCxnSpPr>
          <p:nvPr/>
        </p:nvCxnSpPr>
        <p:spPr>
          <a:xfrm>
            <a:off x="4709160" y="1605407"/>
            <a:ext cx="2119081" cy="301240"/>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078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удовлетворяющая требованиям</a:t>
            </a:r>
            <a:br>
              <a:rPr lang="en-US" dirty="0"/>
            </a:br>
            <a:r>
              <a:rPr lang="ru-RU" sz="2400"/>
              <a:t>Пример: эффективное разделение на подсети сети IPv4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00584" y="855419"/>
            <a:ext cx="5040668" cy="3073946"/>
          </a:xfrm>
        </p:spPr>
        <p:txBody>
          <a:bodyPr/>
          <a:lstStyle/>
          <a:p>
            <a:pPr marL="342900" indent="-342900" algn="l" rtl="0">
              <a:buFont typeface="Arial" panose="020B0604020202020204" pitchFamily="34" charset="0"/>
              <a:buChar char="•"/>
            </a:pPr>
            <a:r>
              <a:rPr lang="ru-RU" sz="1600" dirty="0">
                <a:solidFill>
                  <a:srgbClr val="000000"/>
                </a:solidFill>
              </a:rPr>
              <a:t>В этом примере штаб-квартира оператора связи выделила адрес частной сети 172.16.0.0/22 (10 бит в узловой части) для филиала.</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Существует пять сайтов, и поэтому пять </a:t>
            </a:r>
            <a:r>
              <a:rPr lang="ru-RU" sz="1600" dirty="0" err="1">
                <a:solidFill>
                  <a:srgbClr val="000000"/>
                </a:solidFill>
              </a:rPr>
              <a:t>интернет-соединений</a:t>
            </a:r>
            <a:r>
              <a:rPr lang="ru-RU" sz="1600" dirty="0">
                <a:solidFill>
                  <a:srgbClr val="000000"/>
                </a:solidFill>
              </a:rPr>
              <a:t>, что означает, что организация требует 10 подсетей с самой большой подсетью требует 40 адресов.</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Он выделил 10 подсетей с маской подсети /26 (т. е. 255.255.255.192).</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E326F2B6-A5EE-4BC1-9196-BEEE11210114}"/>
              </a:ext>
            </a:extLst>
          </p:cNvPr>
          <p:cNvPicPr>
            <a:picLocks noChangeAspect="1"/>
          </p:cNvPicPr>
          <p:nvPr/>
        </p:nvPicPr>
        <p:blipFill>
          <a:blip r:embed="rId3"/>
          <a:stretch>
            <a:fillRect/>
          </a:stretch>
        </p:blipFill>
        <p:spPr>
          <a:xfrm>
            <a:off x="5600700" y="925762"/>
            <a:ext cx="3031600" cy="1088497"/>
          </a:xfrm>
          <a:prstGeom prst="rect">
            <a:avLst/>
          </a:prstGeom>
        </p:spPr>
      </p:pic>
      <p:pic>
        <p:nvPicPr>
          <p:cNvPr id="5" name="Picture 4">
            <a:extLst>
              <a:ext uri="{FF2B5EF4-FFF2-40B4-BE49-F238E27FC236}">
                <a16:creationId xmlns:a16="http://schemas.microsoft.com/office/drawing/2014/main" id="{A4D967D5-2BEE-4CAF-BF74-C8F6AFDA0F51}"/>
              </a:ext>
            </a:extLst>
          </p:cNvPr>
          <p:cNvPicPr>
            <a:picLocks noChangeAspect="1"/>
          </p:cNvPicPr>
          <p:nvPr/>
        </p:nvPicPr>
        <p:blipFill>
          <a:blip r:embed="rId4"/>
          <a:stretch>
            <a:fillRect/>
          </a:stretch>
        </p:blipFill>
        <p:spPr>
          <a:xfrm>
            <a:off x="5273229" y="2208184"/>
            <a:ext cx="3616498" cy="2406479"/>
          </a:xfrm>
          <a:prstGeom prst="rect">
            <a:avLst/>
          </a:prstGeom>
        </p:spPr>
      </p:pic>
    </p:spTree>
    <p:extLst>
      <p:ext uri="{BB962C8B-B14F-4D97-AF65-F5344CB8AC3E}">
        <p14:creationId xmlns:p14="http://schemas.microsoft.com/office/powerpoint/2010/main" val="208820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на основе требований </a:t>
            </a:r>
            <a:br>
              <a:rPr lang="en-US" dirty="0"/>
            </a:br>
            <a:r>
              <a:rPr lang="ru-RU" sz="2400"/>
              <a:t>Packet Tracer. Разделение на подсети. Сценарий</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spcBef>
                <a:spcPts val="0"/>
              </a:spcBef>
            </a:pPr>
            <a:r>
              <a:rPr lang="ru-RU" sz="1600">
                <a:solidFill>
                  <a:srgbClr val="000000"/>
                </a:solidFill>
              </a:rPr>
              <a:t>В этом задании Packet Tracer вы будете делать следующее:</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Разработка схемы IP-адресации</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Назначение IP-адресов сетевым устройствам и проверка подключения</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898786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11.8 VLSM</a:t>
            </a:r>
            <a:br>
              <a:rPr lang="en-CA" dirty="0">
                <a:solidFill>
                  <a:schemeClr val="accent5">
                    <a:lumMod val="40000"/>
                    <a:lumOff val="60000"/>
                  </a:schemeClr>
                </a:solidFill>
              </a:rPr>
            </a:br>
            <a:endParaRPr lang="en-CA"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16898405"/>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VLSM </a:t>
            </a:r>
            <a:br>
              <a:rPr lang="en-US" dirty="0"/>
            </a:br>
            <a:r>
              <a:rPr lang="ru-RU" sz="2400"/>
              <a:t>Видео — Основы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342900" indent="-342900" algn="l" rtl="0">
              <a:buFont typeface="Arial" panose="020B0604020202020204" pitchFamily="34" charset="0"/>
              <a:buChar char="•"/>
            </a:pPr>
            <a:r>
              <a:rPr lang="ru-RU" sz="1600">
                <a:solidFill>
                  <a:srgbClr val="000000"/>
                </a:solidFill>
              </a:rPr>
              <a:t>Это видео объясняет основы VLSM.</a:t>
            </a:r>
          </a:p>
        </p:txBody>
      </p:sp>
    </p:spTree>
    <p:extLst>
      <p:ext uri="{BB962C8B-B14F-4D97-AF65-F5344CB8AC3E}">
        <p14:creationId xmlns:p14="http://schemas.microsoft.com/office/powerpoint/2010/main" val="635394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VLSM</a:t>
            </a:r>
            <a:br>
              <a:rPr lang="en-US" dirty="0"/>
            </a:br>
            <a:r>
              <a:rPr lang="ru-RU" sz="2400"/>
              <a:t>Видео - Пример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342900" indent="-342900" algn="l" rtl="0">
              <a:buFont typeface="Arial" panose="020B0604020202020204" pitchFamily="34" charset="0"/>
              <a:buChar char="•"/>
            </a:pPr>
            <a:r>
              <a:rPr lang="ru-RU" sz="1600">
                <a:solidFill>
                  <a:srgbClr val="000000"/>
                </a:solidFill>
              </a:rPr>
              <a:t>В этом видео демонстрируется создание подсетей, специфичных для нужд сети.</a:t>
            </a:r>
          </a:p>
        </p:txBody>
      </p:sp>
    </p:spTree>
    <p:extLst>
      <p:ext uri="{BB962C8B-B14F-4D97-AF65-F5344CB8AC3E}">
        <p14:creationId xmlns:p14="http://schemas.microsoft.com/office/powerpoint/2010/main" val="185747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VLSM </a:t>
            </a:r>
            <a:br>
              <a:rPr lang="en-US" dirty="0"/>
            </a:br>
            <a:r>
              <a:rPr lang="ru-RU" sz="2400"/>
              <a:t>Сохранение адресов IPv4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510709"/>
          </a:xfrm>
        </p:spPr>
        <p:txBody>
          <a:bodyPr/>
          <a:lstStyle/>
          <a:p>
            <a:pPr marL="0" indent="0" algn="l" rtl="0"/>
            <a:r>
              <a:rPr lang="ru-RU" sz="1600">
                <a:solidFill>
                  <a:srgbClr val="000000"/>
                </a:solidFill>
              </a:rPr>
              <a:t>Учитывая топологию, требуется 7 подсетей (то есть четыре локальных сети и три канала WAN), и наибольшее число узлов находится в здании D с 28 узлами.</a:t>
            </a:r>
          </a:p>
          <a:p>
            <a:pPr marL="342900" indent="-342900" algn="l">
              <a:buFont typeface="Arial" panose="020B0604020202020204" pitchFamily="34" charset="0"/>
              <a:buChar char="•"/>
            </a:pPr>
            <a:endParaRPr lang="en-US" sz="1600" dirty="0">
              <a:solidFill>
                <a:srgbClr val="000000"/>
              </a:solidFill>
            </a:endParaRPr>
          </a:p>
          <a:p>
            <a:pPr marL="342900" indent="-342900" algn="l" rtl="0">
              <a:buFont typeface="Arial" panose="020B0604020202020204" pitchFamily="34" charset="0"/>
              <a:buChar char="•"/>
            </a:pPr>
            <a:r>
              <a:rPr lang="ru-RU" sz="1600">
                <a:solidFill>
                  <a:srgbClr val="000000"/>
                </a:solidFill>
              </a:rPr>
              <a:t>Маска /27 предоставляет 8 подсетей по 30 IP-адресам узлов и, следовательно, поддерживает эту топологию.</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3D6B421B-63BE-47B3-B5D3-2A12580CC07D}"/>
              </a:ext>
            </a:extLst>
          </p:cNvPr>
          <p:cNvPicPr>
            <a:picLocks noChangeAspect="1"/>
          </p:cNvPicPr>
          <p:nvPr/>
        </p:nvPicPr>
        <p:blipFill>
          <a:blip r:embed="rId3"/>
          <a:stretch>
            <a:fillRect/>
          </a:stretch>
        </p:blipFill>
        <p:spPr>
          <a:xfrm>
            <a:off x="1730096" y="2771225"/>
            <a:ext cx="5683805" cy="1542972"/>
          </a:xfrm>
          <a:prstGeom prst="rect">
            <a:avLst/>
          </a:prstGeom>
        </p:spPr>
      </p:pic>
    </p:spTree>
    <p:extLst>
      <p:ext uri="{BB962C8B-B14F-4D97-AF65-F5344CB8AC3E}">
        <p14:creationId xmlns:p14="http://schemas.microsoft.com/office/powerpoint/2010/main" val="3774275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VLSM</a:t>
            </a:r>
            <a:br>
              <a:rPr lang="en-US" dirty="0"/>
            </a:br>
            <a:r>
              <a:rPr lang="ru-RU" sz="1600"/>
              <a:t> </a:t>
            </a:r>
            <a:r>
              <a:rPr lang="ru-RU" sz="2400"/>
              <a:t>Сохранение адресов IPv4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6091377" cy="944845"/>
          </a:xfrm>
        </p:spPr>
        <p:txBody>
          <a:bodyPr/>
          <a:lstStyle/>
          <a:p>
            <a:pPr marL="0" indent="0" algn="l" rtl="0"/>
            <a:r>
              <a:rPr lang="ru-RU" sz="1600">
                <a:solidFill>
                  <a:srgbClr val="000000"/>
                </a:solidFill>
              </a:rPr>
              <a:t>Однако для связи WAN «точка-точка» требуется только два адреса и поэтому теряют по 28 адресов каждый из них в общей сложности 84 неиспользуемых адреса.</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3739215E-8970-45B2-8162-265CF46FAA0E}"/>
              </a:ext>
            </a:extLst>
          </p:cNvPr>
          <p:cNvPicPr>
            <a:picLocks noChangeAspect="1"/>
          </p:cNvPicPr>
          <p:nvPr/>
        </p:nvPicPr>
        <p:blipFill>
          <a:blip r:embed="rId3"/>
          <a:stretch>
            <a:fillRect/>
          </a:stretch>
        </p:blipFill>
        <p:spPr>
          <a:xfrm>
            <a:off x="6632093" y="731837"/>
            <a:ext cx="2221789" cy="944845"/>
          </a:xfrm>
          <a:prstGeom prst="rect">
            <a:avLst/>
          </a:prstGeom>
        </p:spPr>
      </p:pic>
      <p:pic>
        <p:nvPicPr>
          <p:cNvPr id="2" name="Picture 1">
            <a:extLst>
              <a:ext uri="{FF2B5EF4-FFF2-40B4-BE49-F238E27FC236}">
                <a16:creationId xmlns:a16="http://schemas.microsoft.com/office/drawing/2014/main" id="{3D6B421B-63BE-47B3-B5D3-2A12580CC07D}"/>
              </a:ext>
            </a:extLst>
          </p:cNvPr>
          <p:cNvPicPr>
            <a:picLocks noChangeAspect="1"/>
          </p:cNvPicPr>
          <p:nvPr/>
        </p:nvPicPr>
        <p:blipFill>
          <a:blip r:embed="rId4"/>
          <a:stretch>
            <a:fillRect/>
          </a:stretch>
        </p:blipFill>
        <p:spPr>
          <a:xfrm>
            <a:off x="1730097" y="1800264"/>
            <a:ext cx="5683805" cy="1542972"/>
          </a:xfrm>
          <a:prstGeom prst="rect">
            <a:avLst/>
          </a:prstGeom>
        </p:spPr>
      </p:pic>
      <p:sp>
        <p:nvSpPr>
          <p:cNvPr id="6" name="Content Placeholder 3">
            <a:extLst>
              <a:ext uri="{FF2B5EF4-FFF2-40B4-BE49-F238E27FC236}">
                <a16:creationId xmlns:a16="http://schemas.microsoft.com/office/drawing/2014/main" id="{C9D0A209-0C20-474A-8988-82BCE662C636}"/>
              </a:ext>
            </a:extLst>
          </p:cNvPr>
          <p:cNvSpPr txBox="1">
            <a:spLocks/>
          </p:cNvSpPr>
          <p:nvPr/>
        </p:nvSpPr>
        <p:spPr>
          <a:xfrm>
            <a:off x="431971" y="3343237"/>
            <a:ext cx="8280058" cy="13049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a:solidFill>
                  <a:srgbClr val="000000"/>
                </a:solidFill>
              </a:rPr>
              <a:t>Применение традиционной схемы разделения на подсети по такому сценарию не является эффективным и подразумевает нецелесообразное расходование ресурсов.</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VLSM был разработан, чтобы избежать потери адресов, позволяя нам делить подсеть на подсети.</a:t>
            </a:r>
          </a:p>
        </p:txBody>
      </p:sp>
    </p:spTree>
    <p:extLst>
      <p:ext uri="{BB962C8B-B14F-4D97-AF65-F5344CB8AC3E}">
        <p14:creationId xmlns:p14="http://schemas.microsoft.com/office/powerpoint/2010/main" val="201712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745AD4C-7A7F-4FE5-B2F2-0DE8D4398B37}"/>
              </a:ext>
            </a:extLst>
          </p:cNvPr>
          <p:cNvPicPr>
            <a:picLocks noChangeAspect="1"/>
          </p:cNvPicPr>
          <p:nvPr/>
        </p:nvPicPr>
        <p:blipFill>
          <a:blip r:embed="rId3"/>
          <a:stretch>
            <a:fillRect/>
          </a:stretch>
        </p:blipFill>
        <p:spPr>
          <a:xfrm>
            <a:off x="4632308" y="3313944"/>
            <a:ext cx="4484235" cy="1438970"/>
          </a:xfrm>
          <a:prstGeom prst="rect">
            <a:avLst/>
          </a:prstGeom>
        </p:spPr>
      </p:pic>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VLSM</a:t>
            </a:r>
            <a:br>
              <a:rPr lang="en-US" dirty="0"/>
            </a:br>
            <a:r>
              <a:rPr lang="ru-RU" sz="2400"/>
              <a:t>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00584" y="731837"/>
            <a:ext cx="5633819" cy="2534973"/>
          </a:xfrm>
        </p:spPr>
        <p:txBody>
          <a:bodyPr/>
          <a:lstStyle/>
          <a:p>
            <a:pPr marL="342900" indent="-342900" algn="l" rtl="0">
              <a:buFont typeface="Arial" panose="020B0604020202020204" pitchFamily="34" charset="0"/>
              <a:buChar char="•"/>
            </a:pPr>
            <a:r>
              <a:rPr lang="ru-RU" sz="1600" dirty="0">
                <a:solidFill>
                  <a:srgbClr val="000000"/>
                </a:solidFill>
              </a:rPr>
              <a:t>Левая сторона отображает традиционную схему подсетей (т.е. ту же маску подсети), а правая сторона показывает, как VLSM можно использовать для разделения на подсети одной из подсетей.</a:t>
            </a:r>
          </a:p>
          <a:p>
            <a:pPr marL="342900" indent="-342900" algn="l" rtl="0">
              <a:buFont typeface="Arial" panose="020B0604020202020204" pitchFamily="34" charset="0"/>
              <a:buChar char="•"/>
            </a:pPr>
            <a:r>
              <a:rPr lang="ru-RU" sz="1600" dirty="0">
                <a:solidFill>
                  <a:srgbClr val="000000"/>
                </a:solidFill>
              </a:rPr>
              <a:t>При использовании VLSM всегда начинайте с удовлетворения требований к узлу самой большой подсети и продолжайте создание подсетей до тех пор, пока не будут удовлетворены требования к узлу самой маленькой подсети.</a:t>
            </a:r>
          </a:p>
          <a:p>
            <a:pPr marL="342900" indent="-342900" algn="l" rtl="0">
              <a:buFont typeface="Arial" panose="020B0604020202020204" pitchFamily="34" charset="0"/>
              <a:buChar char="•"/>
            </a:pPr>
            <a:r>
              <a:rPr lang="ru-RU" sz="1600" dirty="0">
                <a:solidFill>
                  <a:srgbClr val="000000"/>
                </a:solidFill>
              </a:rPr>
              <a:t>Полученная топология с  применением VLSM.</a:t>
            </a:r>
          </a:p>
        </p:txBody>
      </p:sp>
      <p:pic>
        <p:nvPicPr>
          <p:cNvPr id="9" name="Picture 8">
            <a:extLst>
              <a:ext uri="{FF2B5EF4-FFF2-40B4-BE49-F238E27FC236}">
                <a16:creationId xmlns:a16="http://schemas.microsoft.com/office/drawing/2014/main" id="{1C165FDB-636B-41FC-BD50-01D67FA8F4AC}"/>
              </a:ext>
            </a:extLst>
          </p:cNvPr>
          <p:cNvPicPr>
            <a:picLocks noChangeAspect="1"/>
          </p:cNvPicPr>
          <p:nvPr/>
        </p:nvPicPr>
        <p:blipFill>
          <a:blip r:embed="rId4"/>
          <a:stretch>
            <a:fillRect/>
          </a:stretch>
        </p:blipFill>
        <p:spPr>
          <a:xfrm>
            <a:off x="5884531" y="941078"/>
            <a:ext cx="3199159" cy="1960964"/>
          </a:xfrm>
          <a:prstGeom prst="rect">
            <a:avLst/>
          </a:prstGeom>
        </p:spPr>
      </p:pic>
    </p:spTree>
    <p:extLst>
      <p:ext uri="{BB962C8B-B14F-4D97-AF65-F5344CB8AC3E}">
        <p14:creationId xmlns:p14="http://schemas.microsoft.com/office/powerpoint/2010/main" val="31086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dirty="0"/>
              <a:t>VLSM </a:t>
            </a:r>
            <a:br>
              <a:rPr lang="en-US" dirty="0"/>
            </a:br>
            <a:r>
              <a:rPr lang="ru-RU" sz="2400" dirty="0"/>
              <a:t>Назначение адресов топологии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88446"/>
          </a:xfrm>
        </p:spPr>
        <p:txBody>
          <a:bodyPr/>
          <a:lstStyle/>
          <a:p>
            <a:pPr marL="342900" indent="-342900" algn="l" rtl="0">
              <a:buFont typeface="Arial" panose="020B0604020202020204" pitchFamily="34" charset="0"/>
              <a:buChar char="•"/>
            </a:pPr>
            <a:r>
              <a:rPr lang="ru-RU" sz="1600" dirty="0">
                <a:solidFill>
                  <a:srgbClr val="000000"/>
                </a:solidFill>
              </a:rPr>
              <a:t>Используя подсети VLSM, адресация сетей для  локальных сетей и каналов связи между маршрутизаторами может быть создана без лишних потерь, как показано на схеме логической топологии.</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682F67DF-F387-422D-A1F1-5FB6AE72223B}"/>
              </a:ext>
            </a:extLst>
          </p:cNvPr>
          <p:cNvPicPr>
            <a:picLocks noChangeAspect="1"/>
          </p:cNvPicPr>
          <p:nvPr/>
        </p:nvPicPr>
        <p:blipFill>
          <a:blip r:embed="rId3"/>
          <a:stretch>
            <a:fillRect/>
          </a:stretch>
        </p:blipFill>
        <p:spPr>
          <a:xfrm>
            <a:off x="984799" y="1700427"/>
            <a:ext cx="7174401" cy="2753604"/>
          </a:xfrm>
          <a:prstGeom prst="rect">
            <a:avLst/>
          </a:prstGeom>
        </p:spPr>
      </p:pic>
    </p:spTree>
    <p:extLst>
      <p:ext uri="{BB962C8B-B14F-4D97-AF65-F5344CB8AC3E}">
        <p14:creationId xmlns:p14="http://schemas.microsoft.com/office/powerpoint/2010/main" val="109721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11.9. Структурированное проектирование</a:t>
            </a:r>
            <a:br>
              <a:rPr lang="en-CA" dirty="0">
                <a:solidFill>
                  <a:schemeClr val="accent5">
                    <a:lumMod val="40000"/>
                    <a:lumOff val="60000"/>
                  </a:schemeClr>
                </a:solidFill>
              </a:rPr>
            </a:br>
            <a:endParaRPr lang="en-CA"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214535095"/>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Структурированное проектирование </a:t>
            </a:r>
            <a:br>
              <a:rPr lang="en-US" dirty="0"/>
            </a:br>
            <a:r>
              <a:rPr lang="ru-RU" sz="2400"/>
              <a:t>Планирование адресации 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ru-RU" sz="1600" dirty="0">
                <a:solidFill>
                  <a:srgbClr val="000000"/>
                </a:solidFill>
              </a:rPr>
              <a:t>Планирование IP-сетей имеет решающее значение для разработки масштабируемого решения для корпоративной сети. </a:t>
            </a:r>
          </a:p>
          <a:p>
            <a:pPr marL="342900" indent="-342900" algn="l" rtl="0">
              <a:buFont typeface="Arial" panose="020B0604020202020204" pitchFamily="34" charset="0"/>
              <a:buChar char="•"/>
            </a:pPr>
            <a:r>
              <a:rPr lang="ru-RU" sz="1400" dirty="0">
                <a:solidFill>
                  <a:srgbClr val="000000"/>
                </a:solidFill>
              </a:rPr>
              <a:t>Чтобы разработать схему адресации для сети IPv4, нужно знать, сколько подсетей необходимо, сколько узлов требуется для конкретной подсети, какие устройства являются частью подсети, какие сети используют частные адреса, какие используют общедоступные и многие другие определяющие факторы. </a:t>
            </a:r>
          </a:p>
          <a:p>
            <a:pPr marL="342900" indent="-342900" algn="l">
              <a:buFont typeface="Arial" panose="020B0604020202020204" pitchFamily="34" charset="0"/>
              <a:buChar char="•"/>
            </a:pPr>
            <a:endParaRPr lang="en-CA" sz="1400" dirty="0">
              <a:solidFill>
                <a:srgbClr val="000000"/>
              </a:solidFill>
            </a:endParaRPr>
          </a:p>
          <a:p>
            <a:pPr marL="0" indent="0" algn="l" rtl="0"/>
            <a:r>
              <a:rPr lang="ru-RU" sz="1600" dirty="0">
                <a:solidFill>
                  <a:srgbClr val="000000"/>
                </a:solidFill>
              </a:rPr>
              <a:t>При планировании подсетей необходимо учитывать требования организации к использованию сети и предполагаемую структуру подсетей. </a:t>
            </a:r>
          </a:p>
          <a:p>
            <a:pPr marL="342900" indent="-342900" algn="l" rtl="0">
              <a:buFont typeface="Arial" panose="020B0604020202020204" pitchFamily="34" charset="0"/>
              <a:buChar char="•"/>
            </a:pPr>
            <a:r>
              <a:rPr lang="ru-RU" sz="1400" dirty="0">
                <a:solidFill>
                  <a:srgbClr val="000000"/>
                </a:solidFill>
              </a:rPr>
              <a:t>Выполните исследование требований к сети, изучив всю сеть, чтобы определить, как каждая область будет сегментирована. </a:t>
            </a:r>
          </a:p>
          <a:p>
            <a:pPr marL="342900" indent="-342900" algn="l" rtl="0">
              <a:buFont typeface="Arial" panose="020B0604020202020204" pitchFamily="34" charset="0"/>
              <a:buChar char="•"/>
            </a:pPr>
            <a:r>
              <a:rPr lang="ru-RU" sz="1400" dirty="0">
                <a:solidFill>
                  <a:srgbClr val="000000"/>
                </a:solidFill>
              </a:rPr>
              <a:t>Определите количество доступных адресов узлов и количество необходимых подсетей. </a:t>
            </a:r>
          </a:p>
          <a:p>
            <a:pPr marL="342900" indent="-342900" algn="l" rtl="0">
              <a:buFont typeface="Arial" panose="020B0604020202020204" pitchFamily="34" charset="0"/>
              <a:buChar char="•"/>
            </a:pPr>
            <a:r>
              <a:rPr lang="ru-RU" sz="1400" dirty="0">
                <a:solidFill>
                  <a:srgbClr val="000000"/>
                </a:solidFill>
              </a:rPr>
              <a:t>Определите пулы адресов DHCP и пулы VLAN.</a:t>
            </a:r>
          </a:p>
        </p:txBody>
      </p:sp>
    </p:spTree>
    <p:extLst>
      <p:ext uri="{BB962C8B-B14F-4D97-AF65-F5344CB8AC3E}">
        <p14:creationId xmlns:p14="http://schemas.microsoft.com/office/powerpoint/2010/main" val="267447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dirty="0"/>
              <a:t>Структурированное проектирование</a:t>
            </a:r>
            <a:br>
              <a:rPr lang="en-US" dirty="0"/>
            </a:br>
            <a:r>
              <a:rPr lang="ru-RU" sz="1600" dirty="0"/>
              <a:t> </a:t>
            </a:r>
            <a:r>
              <a:rPr lang="ru-RU" sz="2400" dirty="0"/>
              <a:t>Назначение адресов устройств</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ru-RU" sz="1600" dirty="0">
                <a:solidFill>
                  <a:srgbClr val="000000"/>
                </a:solidFill>
              </a:rPr>
              <a:t>В сети существуют устройства различных типов, которым нужны адреса, включая следующие:</a:t>
            </a:r>
          </a:p>
          <a:p>
            <a:pPr marL="342900" indent="-342900" algn="l" rtl="0">
              <a:buFont typeface="Arial" panose="020B0604020202020204" pitchFamily="34" charset="0"/>
              <a:buChar char="•"/>
            </a:pPr>
            <a:r>
              <a:rPr lang="ru-RU" sz="1400" b="1" dirty="0">
                <a:solidFill>
                  <a:srgbClr val="000000"/>
                </a:solidFill>
              </a:rPr>
              <a:t>Конечные пользователи </a:t>
            </a:r>
            <a:r>
              <a:rPr lang="ru-RU" sz="1400" dirty="0">
                <a:solidFill>
                  <a:srgbClr val="000000"/>
                </a:solidFill>
              </a:rPr>
              <a:t>— большинство из них используют DHCP для уменьшения количества ошибок и нагрузки на персонал службы поддержки сети. Клиенты IPv6 могут получить сведения об адресе с помощью DHCPv6 или SLAAC.</a:t>
            </a:r>
          </a:p>
          <a:p>
            <a:pPr marL="342900" indent="-342900" algn="l" rtl="0">
              <a:buFont typeface="Arial" panose="020B0604020202020204" pitchFamily="34" charset="0"/>
              <a:buChar char="•"/>
            </a:pPr>
            <a:r>
              <a:rPr lang="ru-RU" sz="1400" b="1" dirty="0">
                <a:solidFill>
                  <a:srgbClr val="000000"/>
                </a:solidFill>
              </a:rPr>
              <a:t>Серверы и периферийные устройства</a:t>
            </a:r>
            <a:r>
              <a:rPr lang="ru-RU" sz="1400" dirty="0">
                <a:solidFill>
                  <a:srgbClr val="000000"/>
                </a:solidFill>
              </a:rPr>
              <a:t> - Они должны иметь предсказуемый статический IP-адрес.</a:t>
            </a:r>
            <a:r>
              <a:rPr lang="ru-RU" sz="1400" b="1" dirty="0">
                <a:solidFill>
                  <a:srgbClr val="000000"/>
                </a:solidFill>
              </a:rPr>
              <a:t> </a:t>
            </a:r>
          </a:p>
          <a:p>
            <a:pPr marL="342900" indent="-342900" algn="l" rtl="0">
              <a:buFont typeface="Arial" panose="020B0604020202020204" pitchFamily="34" charset="0"/>
              <a:buChar char="•"/>
            </a:pPr>
            <a:r>
              <a:rPr lang="ru-RU" sz="1400" b="1" dirty="0">
                <a:solidFill>
                  <a:srgbClr val="000000"/>
                </a:solidFill>
              </a:rPr>
              <a:t>Серверы, доступные из Интернета </a:t>
            </a:r>
            <a:r>
              <a:rPr lang="ru-RU" sz="1400" dirty="0">
                <a:solidFill>
                  <a:srgbClr val="000000"/>
                </a:solidFill>
              </a:rPr>
              <a:t>— Серверы должны иметь публичный IPv4 адрес, к которому чаще всего обращаются с помощью NAT. </a:t>
            </a:r>
            <a:r>
              <a:rPr lang="ru-RU" sz="1400" b="1" dirty="0">
                <a:solidFill>
                  <a:srgbClr val="000000"/>
                </a:solidFill>
              </a:rPr>
              <a:t> </a:t>
            </a:r>
          </a:p>
          <a:p>
            <a:pPr marL="342900" indent="-342900" algn="l" rtl="0">
              <a:buFont typeface="Arial" panose="020B0604020202020204" pitchFamily="34" charset="0"/>
              <a:buChar char="•"/>
            </a:pPr>
            <a:r>
              <a:rPr lang="ru-RU" sz="1400" b="1" dirty="0">
                <a:solidFill>
                  <a:srgbClr val="000000"/>
                </a:solidFill>
              </a:rPr>
              <a:t>Промежуточные устройства - </a:t>
            </a:r>
            <a:r>
              <a:rPr lang="ru-RU" sz="1400" dirty="0">
                <a:solidFill>
                  <a:srgbClr val="000000"/>
                </a:solidFill>
              </a:rPr>
              <a:t>Таким устройствам адреса назначаются для управления сетью, ее мониторинга и обеспечения безопасности.</a:t>
            </a:r>
            <a:r>
              <a:rPr lang="ru-RU" sz="1400" b="1" dirty="0">
                <a:solidFill>
                  <a:srgbClr val="000000"/>
                </a:solidFill>
              </a:rPr>
              <a:t> </a:t>
            </a:r>
          </a:p>
          <a:p>
            <a:pPr marL="342900" indent="-342900" algn="l" rtl="0">
              <a:buFont typeface="Arial" panose="020B0604020202020204" pitchFamily="34" charset="0"/>
              <a:buChar char="•"/>
            </a:pPr>
            <a:r>
              <a:rPr lang="ru-RU" sz="1400" b="1" dirty="0">
                <a:solidFill>
                  <a:srgbClr val="000000"/>
                </a:solidFill>
              </a:rPr>
              <a:t>Шлюз -</a:t>
            </a:r>
            <a:r>
              <a:rPr lang="ru-RU" sz="1400" dirty="0">
                <a:solidFill>
                  <a:srgbClr val="000000"/>
                </a:solidFill>
              </a:rPr>
              <a:t> Маршрутизаторы и устройства брандмауэра являются шлюзом для узлов в этой сети. </a:t>
            </a:r>
          </a:p>
          <a:p>
            <a:pPr marL="342900" indent="-342900" algn="l">
              <a:buFont typeface="Arial" panose="020B0604020202020204" pitchFamily="34" charset="0"/>
              <a:buChar char="•"/>
            </a:pPr>
            <a:endParaRPr lang="en-CA" sz="1600" dirty="0">
              <a:solidFill>
                <a:srgbClr val="000000"/>
              </a:solidFill>
            </a:endParaRPr>
          </a:p>
          <a:p>
            <a:pPr marL="0" indent="0" algn="l" rtl="0"/>
            <a:r>
              <a:rPr lang="ru-RU" sz="1600" dirty="0">
                <a:solidFill>
                  <a:srgbClr val="000000"/>
                </a:solidFill>
              </a:rPr>
              <a:t>При проектировании схемы IP-адресации обычно рекомендуется использовать готовый шаблон назначения адресов каждому типу устройств. </a:t>
            </a:r>
          </a:p>
        </p:txBody>
      </p:sp>
    </p:spTree>
    <p:extLst>
      <p:ext uri="{BB962C8B-B14F-4D97-AF65-F5344CB8AC3E}">
        <p14:creationId xmlns:p14="http://schemas.microsoft.com/office/powerpoint/2010/main" val="51032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Структурированный дизайн</a:t>
            </a:r>
            <a:br>
              <a:rPr lang="en-US" dirty="0"/>
            </a:br>
            <a:r>
              <a:rPr lang="ru-RU" sz="2400"/>
              <a:t>Packet Tracer — практика проектирования и внедрения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spcBef>
                <a:spcPts val="0"/>
              </a:spcBef>
            </a:pPr>
            <a:r>
              <a:rPr lang="ru-RU" sz="1600">
                <a:solidFill>
                  <a:srgbClr val="000000"/>
                </a:solidFill>
              </a:rPr>
              <a:t>В этом задании Packet Tracer вы будете делать следующее:</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Изучение требований к сети</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Разработка схемы адресации VLSM</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Назначение IP-адресов устройствам и проверка подключения</a:t>
            </a:r>
          </a:p>
          <a:p>
            <a:pPr marL="342900" indent="-342900" algn="l">
              <a:buFont typeface="Arial" panose="020B0604020202020204" pitchFamily="34" charset="0"/>
              <a:buChar char="•"/>
            </a:pPr>
            <a:endParaRPr lang="en-CA" sz="1600" dirty="0">
              <a:solidFill>
                <a:srgbClr val="000000"/>
              </a:solidFill>
            </a:endParaRPr>
          </a:p>
        </p:txBody>
      </p:sp>
    </p:spTree>
    <p:extLst>
      <p:ext uri="{BB962C8B-B14F-4D97-AF65-F5344CB8AC3E}">
        <p14:creationId xmlns:p14="http://schemas.microsoft.com/office/powerpoint/2010/main" val="318658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ru-RU">
                <a:solidFill>
                  <a:schemeClr val="accent5">
                    <a:lumMod val="40000"/>
                    <a:lumOff val="60000"/>
                  </a:schemeClr>
                </a:solidFill>
              </a:rPr>
              <a:t>11.10 Практика и контрольная работа модуля</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144000" cy="731837"/>
          </a:xfrm>
        </p:spPr>
        <p:txBody>
          <a:bodyPr/>
          <a:lstStyle/>
          <a:p>
            <a:pPr rtl="0"/>
            <a:r>
              <a:rPr lang="ru-RU" sz="1600"/>
              <a:t>Структурированное проектирование </a:t>
            </a:r>
            <a:br>
              <a:rPr lang="en-US" dirty="0"/>
            </a:br>
            <a:r>
              <a:rPr lang="ru-RU" sz="2300"/>
              <a:t> Packet Tracer. Разработка и реализация схемы адресации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spcBef>
                <a:spcPts val="0"/>
              </a:spcBef>
            </a:pPr>
            <a:r>
              <a:rPr lang="ru-RU" sz="1600">
                <a:solidFill>
                  <a:srgbClr val="000000"/>
                </a:solidFill>
              </a:rPr>
              <a:t>В этом задании Packet Tracer вы будете делать следующее:</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Разработка схемы IP-адресации VLSM с учетом требований</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Настройка адресации на сетевых устройствах и узлах</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Проверка IP-подключения</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Поиск и устранение неполадок подключения</a:t>
            </a:r>
          </a:p>
        </p:txBody>
      </p:sp>
    </p:spTree>
    <p:extLst>
      <p:ext uri="{BB962C8B-B14F-4D97-AF65-F5344CB8AC3E}">
        <p14:creationId xmlns:p14="http://schemas.microsoft.com/office/powerpoint/2010/main" val="255643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Структурированное проектирование </a:t>
            </a:r>
            <a:br>
              <a:rPr lang="en-US" dirty="0"/>
            </a:br>
            <a:r>
              <a:rPr lang="ru-RU" sz="2400"/>
              <a:t>Лабораторная работа. Разработка и реализация схемы адресации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ru-RU" sz="1600">
                <a:solidFill>
                  <a:srgbClr val="000000"/>
                </a:solidFill>
              </a:rPr>
              <a:t>В этой лабораторной работе вы выполните следующие задачи.</a:t>
            </a:r>
          </a:p>
          <a:p>
            <a:pPr marL="0" indent="0" algn="l"/>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Изучение требований к сети</a:t>
            </a:r>
          </a:p>
          <a:p>
            <a:pPr marL="342900" indent="-342900" algn="l" rtl="0">
              <a:buFont typeface="Arial" panose="020B0604020202020204" pitchFamily="34" charset="0"/>
              <a:buChar char="•"/>
            </a:pPr>
            <a:r>
              <a:rPr lang="ru-RU" sz="1600">
                <a:solidFill>
                  <a:srgbClr val="000000"/>
                </a:solidFill>
              </a:rPr>
              <a:t>Разработка схемы адресации VLSM</a:t>
            </a:r>
          </a:p>
          <a:p>
            <a:pPr marL="342900" indent="-342900" algn="l" rtl="0">
              <a:buFont typeface="Arial" panose="020B0604020202020204" pitchFamily="34" charset="0"/>
              <a:buChar char="•"/>
            </a:pPr>
            <a:r>
              <a:rPr lang="ru-RU" sz="1600">
                <a:solidFill>
                  <a:srgbClr val="000000"/>
                </a:solidFill>
              </a:rPr>
              <a:t>Подключение и настройка IPv4-сети</a:t>
            </a:r>
          </a:p>
        </p:txBody>
      </p:sp>
    </p:spTree>
    <p:extLst>
      <p:ext uri="{BB962C8B-B14F-4D97-AF65-F5344CB8AC3E}">
        <p14:creationId xmlns:p14="http://schemas.microsoft.com/office/powerpoint/2010/main" val="1575232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ru-RU" sz="1400">
                <a:latin typeface="Arial" charset="0"/>
              </a:rPr>
              <a:t>Практика и контрольная работа модуля </a:t>
            </a:r>
            <a:br>
              <a:rPr lang="en-US" dirty="0">
                <a:latin typeface="Arial" charset="0"/>
              </a:rPr>
            </a:br>
            <a:r>
              <a:rPr lang="ru-RU">
                <a:latin typeface="Arial" charset="0"/>
              </a:rPr>
              <a:t>Что я изучил в этом модуле?</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rtl="0">
              <a:spcBef>
                <a:spcPts val="300"/>
              </a:spcBef>
              <a:spcAft>
                <a:spcPts val="300"/>
              </a:spcAft>
              <a:buFont typeface="Arial" panose="020B0604020202020204" pitchFamily="34" charset="0"/>
              <a:buChar char="•"/>
            </a:pPr>
            <a:r>
              <a:rPr lang="ru-RU" sz="1600" dirty="0"/>
              <a:t>Структура IP-адресации состоит из 32-разрядного иерархического сетевого адреса, который идентифицирует сеть и часть узла. </a:t>
            </a:r>
          </a:p>
          <a:p>
            <a:pPr marL="182563" indent="-166688" rtl="0">
              <a:spcBef>
                <a:spcPts val="300"/>
              </a:spcBef>
              <a:spcAft>
                <a:spcPts val="300"/>
              </a:spcAft>
              <a:buFont typeface="Arial" panose="020B0604020202020204" pitchFamily="34" charset="0"/>
              <a:buChar char="•"/>
            </a:pPr>
            <a:r>
              <a:rPr lang="ru-RU" sz="1600" dirty="0"/>
              <a:t>Пакеты IPv4 назначения могут быть одноадресными, широковещательными и многоадресными.</a:t>
            </a:r>
          </a:p>
          <a:p>
            <a:pPr marL="182563" indent="-166688" rtl="0">
              <a:spcBef>
                <a:spcPts val="300"/>
              </a:spcBef>
              <a:spcAft>
                <a:spcPts val="300"/>
              </a:spcAft>
              <a:buFont typeface="Arial" panose="020B0604020202020204" pitchFamily="34" charset="0"/>
              <a:buChar char="•"/>
            </a:pPr>
            <a:r>
              <a:rPr lang="ru-RU" sz="1600" dirty="0"/>
              <a:t>Существуют глобальные маршрутизируемые IP-адреса, назначенные IANA, и есть три диапазона адресов частных IP-сетей, которые не могут быть маршрутизированы глобально, но могут использоваться во всех внутренних частных сетях.</a:t>
            </a:r>
          </a:p>
          <a:p>
            <a:pPr marL="182563" indent="-166688" rtl="0">
              <a:spcBef>
                <a:spcPts val="300"/>
              </a:spcBef>
              <a:spcAft>
                <a:spcPts val="300"/>
              </a:spcAft>
              <a:buFont typeface="Arial" panose="020B0604020202020204" pitchFamily="34" charset="0"/>
              <a:buChar char="•"/>
            </a:pPr>
            <a:r>
              <a:rPr lang="ru-RU" sz="1600" dirty="0"/>
              <a:t>Сокращение крупных широковещательных доменов с помощью подсетей для создания меньших широковещательных доменов, уменьшения общего сетевого трафика и повышения производительности сети. </a:t>
            </a:r>
          </a:p>
          <a:p>
            <a:pPr marL="182563" indent="-166688" rtl="0">
              <a:spcBef>
                <a:spcPts val="300"/>
              </a:spcBef>
              <a:spcAft>
                <a:spcPts val="300"/>
              </a:spcAft>
              <a:buFont typeface="Arial" panose="020B0604020202020204" pitchFamily="34" charset="0"/>
              <a:buChar char="•"/>
            </a:pPr>
            <a:r>
              <a:rPr lang="ru-RU" sz="1600" dirty="0"/>
              <a:t>Для создания IPv4-подсетей мы задействуем один или несколько бит из узловой части в качестве бит сетевой части. </a:t>
            </a:r>
          </a:p>
          <a:p>
            <a:pPr marL="182563" indent="-166688" rtl="0">
              <a:spcBef>
                <a:spcPts val="300"/>
              </a:spcBef>
              <a:spcAft>
                <a:spcPts val="300"/>
              </a:spcAft>
              <a:buFont typeface="Arial" panose="020B0604020202020204" pitchFamily="34" charset="0"/>
              <a:buChar char="•"/>
            </a:pPr>
            <a:r>
              <a:rPr lang="ru-RU" sz="1600" dirty="0"/>
              <a:t>Используйте VLSM для уменьшения количества неиспользуемых адресов узлов в подсети.</a:t>
            </a:r>
          </a:p>
          <a:p>
            <a:pPr marL="173037" indent="-342900">
              <a:spcBef>
                <a:spcPts val="300"/>
              </a:spcBef>
              <a:spcAft>
                <a:spcPts val="30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ru-RU" sz="1400">
                <a:latin typeface="Arial" charset="0"/>
              </a:rPr>
              <a:t>Практика и контрольная работа модуля </a:t>
            </a:r>
            <a:br>
              <a:rPr lang="en-US" dirty="0">
                <a:latin typeface="Arial" charset="0"/>
              </a:rPr>
            </a:br>
            <a:r>
              <a:rPr lang="ru-RU">
                <a:latin typeface="Arial" charset="0"/>
              </a:rPr>
              <a:t> Что я изучил в этом модуле? (продолжение)</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rtl="0">
              <a:spcBef>
                <a:spcPts val="300"/>
              </a:spcBef>
              <a:spcAft>
                <a:spcPts val="300"/>
              </a:spcAft>
              <a:buFont typeface="Arial" panose="020B0604020202020204" pitchFamily="34" charset="0"/>
              <a:buChar char="•"/>
            </a:pPr>
            <a:r>
              <a:rPr lang="ru-RU" sz="1600"/>
              <a:t>VLSM позволяет разделить пространство сети на неравные части. Всегда начинайте с обеспечения соответствия требованиям к узлам в крупнейших подсетях. Продолжайте разбиение до тех пор, пока не будут удовлетворены требования к узлам в наименьшей подсети. </a:t>
            </a:r>
          </a:p>
          <a:p>
            <a:pPr marL="182563" indent="-166688" rtl="0">
              <a:spcBef>
                <a:spcPts val="300"/>
              </a:spcBef>
              <a:spcAft>
                <a:spcPts val="300"/>
              </a:spcAft>
              <a:buFont typeface="Arial" panose="020B0604020202020204" pitchFamily="34" charset="0"/>
              <a:buChar char="•"/>
            </a:pPr>
            <a:r>
              <a:rPr lang="ru-RU" sz="1600"/>
              <a:t>При разработке схемы сетевой адресации учитывайте внутренние, DMZ и внешние требования. Используйте согласованную внутреннюю схему IP-адресации с заданным шаблоном распределения адресов для каждого типа устройств.</a:t>
            </a:r>
          </a:p>
        </p:txBody>
      </p:sp>
    </p:spTree>
    <p:custDataLst>
      <p:tags r:id="rId1"/>
    </p:custDataLst>
    <p:extLst>
      <p:ext uri="{BB962C8B-B14F-4D97-AF65-F5344CB8AC3E}">
        <p14:creationId xmlns:p14="http://schemas.microsoft.com/office/powerpoint/2010/main" val="3916308058"/>
      </p:ext>
    </p:extLst>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r>
              <a:rPr lang="ru-RU" sz="1400" dirty="0">
                <a:latin typeface="Arial" charset="0"/>
              </a:rPr>
              <a:t>Модуль 11: Адресация </a:t>
            </a:r>
            <a:r>
              <a:rPr lang="en-US" sz="1400" dirty="0">
                <a:latin typeface="Arial" charset="0"/>
              </a:rPr>
              <a:t>IPv4</a:t>
            </a:r>
            <a:br>
              <a:rPr lang="en-US" dirty="0">
                <a:latin typeface="Arial" charset="0"/>
              </a:rPr>
            </a:br>
            <a:r>
              <a:rPr lang="ru-RU" dirty="0">
                <a:latin typeface="Arial" charset="0"/>
              </a:rPr>
              <a:t>Новые термины и команды</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3603603940"/>
              </p:ext>
            </p:extLst>
          </p:nvPr>
        </p:nvGraphicFramePr>
        <p:xfrm>
          <a:off x="144463" y="798513"/>
          <a:ext cx="8853486" cy="307848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0840">
                <a:tc>
                  <a:txBody>
                    <a:bodyPr/>
                    <a:lstStyle/>
                    <a:p>
                      <a:pPr marL="285750" indent="-285750" rtl="0">
                        <a:buFont typeface="Arial" panose="020B0604020202020204" pitchFamily="34" charset="0"/>
                        <a:buChar char="•"/>
                      </a:pPr>
                      <a:r>
                        <a:rPr lang="ru-RU" b="0">
                          <a:solidFill>
                            <a:srgbClr val="000000"/>
                          </a:solidFill>
                        </a:rPr>
                        <a:t>prefix length</a:t>
                      </a:r>
                    </a:p>
                    <a:p>
                      <a:pPr marL="285750" indent="-285750" rtl="0">
                        <a:buFont typeface="Arial" panose="020B0604020202020204" pitchFamily="34" charset="0"/>
                        <a:buChar char="•"/>
                      </a:pPr>
                      <a:r>
                        <a:rPr lang="ru-RU" b="0">
                          <a:solidFill>
                            <a:srgbClr val="000000"/>
                          </a:solidFill>
                        </a:rPr>
                        <a:t>logical AND</a:t>
                      </a:r>
                    </a:p>
                    <a:p>
                      <a:pPr marL="285750" indent="-285750" rtl="0">
                        <a:buFont typeface="Arial" panose="020B0604020202020204" pitchFamily="34" charset="0"/>
                        <a:buChar char="•"/>
                      </a:pPr>
                      <a:r>
                        <a:rPr lang="ru-RU" b="0">
                          <a:solidFill>
                            <a:srgbClr val="000000"/>
                          </a:solidFill>
                        </a:rPr>
                        <a:t>network address</a:t>
                      </a:r>
                    </a:p>
                    <a:p>
                      <a:pPr marL="285750" indent="-285750" rtl="0">
                        <a:buFont typeface="Arial" panose="020B0604020202020204" pitchFamily="34" charset="0"/>
                        <a:buChar char="•"/>
                      </a:pPr>
                      <a:r>
                        <a:rPr lang="ru-RU" b="0">
                          <a:solidFill>
                            <a:srgbClr val="000000"/>
                          </a:solidFill>
                        </a:rPr>
                        <a:t>broadcast address</a:t>
                      </a:r>
                    </a:p>
                    <a:p>
                      <a:pPr marL="285750" indent="-285750" rtl="0">
                        <a:buFont typeface="Arial" panose="020B0604020202020204" pitchFamily="34" charset="0"/>
                        <a:buChar char="•"/>
                      </a:pPr>
                      <a:r>
                        <a:rPr lang="ru-RU" b="0">
                          <a:solidFill>
                            <a:srgbClr val="000000"/>
                          </a:solidFill>
                        </a:rPr>
                        <a:t>first usable address</a:t>
                      </a:r>
                    </a:p>
                    <a:p>
                      <a:pPr marL="285750" indent="-285750" rtl="0">
                        <a:buFont typeface="Arial" panose="020B0604020202020204" pitchFamily="34" charset="0"/>
                        <a:buChar char="•"/>
                      </a:pPr>
                      <a:r>
                        <a:rPr lang="ru-RU" b="0">
                          <a:solidFill>
                            <a:srgbClr val="000000"/>
                          </a:solidFill>
                        </a:rPr>
                        <a:t>last usable address</a:t>
                      </a:r>
                    </a:p>
                    <a:p>
                      <a:pPr marL="285750" indent="-285750" rtl="0">
                        <a:buFont typeface="Arial" panose="020B0604020202020204" pitchFamily="34" charset="0"/>
                        <a:buChar char="•"/>
                      </a:pPr>
                      <a:r>
                        <a:rPr lang="ru-RU" b="0">
                          <a:solidFill>
                            <a:srgbClr val="000000"/>
                          </a:solidFill>
                        </a:rPr>
                        <a:t>unicast, broadcast, and multicast transmissions</a:t>
                      </a:r>
                    </a:p>
                    <a:p>
                      <a:pPr marL="285750" indent="-285750" rtl="0">
                        <a:buFont typeface="Arial" panose="020B0604020202020204" pitchFamily="34" charset="0"/>
                        <a:buChar char="•"/>
                      </a:pPr>
                      <a:r>
                        <a:rPr lang="ru-RU" b="0">
                          <a:solidFill>
                            <a:srgbClr val="000000"/>
                          </a:solidFill>
                        </a:rPr>
                        <a:t>private addresses</a:t>
                      </a:r>
                    </a:p>
                    <a:p>
                      <a:pPr marL="285750" indent="-285750" rtl="0">
                        <a:buFont typeface="Arial" panose="020B0604020202020204" pitchFamily="34" charset="0"/>
                        <a:buChar char="•"/>
                      </a:pPr>
                      <a:r>
                        <a:rPr lang="ru-RU" b="0">
                          <a:solidFill>
                            <a:srgbClr val="000000"/>
                          </a:solidFill>
                        </a:rPr>
                        <a:t>public addresses</a:t>
                      </a:r>
                    </a:p>
                    <a:p>
                      <a:pPr marL="285750" indent="-285750" rtl="0">
                        <a:buFont typeface="Arial" panose="020B0604020202020204" pitchFamily="34" charset="0"/>
                        <a:buChar char="•"/>
                      </a:pPr>
                      <a:r>
                        <a:rPr lang="ru-RU" b="0">
                          <a:solidFill>
                            <a:srgbClr val="000000"/>
                          </a:solidFill>
                        </a:rPr>
                        <a:t>Network Address Translation (NAT)</a:t>
                      </a:r>
                    </a:p>
                    <a:p>
                      <a:pPr marL="285750" indent="-285750" rtl="0">
                        <a:buFont typeface="Arial" panose="020B0604020202020204" pitchFamily="34" charset="0"/>
                        <a:buChar char="•"/>
                      </a:pPr>
                      <a:r>
                        <a:rPr lang="ru-RU" b="0">
                          <a:solidFill>
                            <a:srgbClr val="000000"/>
                          </a:solidFill>
                        </a:rPr>
                        <a:t>loopback addresses</a:t>
                      </a:r>
                    </a:p>
                    <a:p>
                      <a:pPr marL="285750" indent="-285750" rtl="0">
                        <a:buFont typeface="Arial" panose="020B0604020202020204" pitchFamily="34" charset="0"/>
                        <a:buChar char="•"/>
                      </a:pPr>
                      <a:r>
                        <a:rPr lang="ru-RU" b="0">
                          <a:solidFill>
                            <a:srgbClr val="000000"/>
                          </a:solidFill>
                        </a:rPr>
                        <a:t>Automatic Private IP Addressing (APIPA) addresses</a:t>
                      </a:r>
                    </a:p>
                    <a:p>
                      <a:pPr marL="285750" indent="-285750" rtl="0">
                        <a:buFont typeface="Arial" panose="020B0604020202020204" pitchFamily="34" charset="0"/>
                        <a:buChar char="•"/>
                      </a:pPr>
                      <a:r>
                        <a:rPr lang="ru-RU" b="0">
                          <a:solidFill>
                            <a:srgbClr val="000000"/>
                          </a:solidFill>
                        </a:rPr>
                        <a:t>classful addressing (Class A, B, C, D, and 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ru-RU" b="0" dirty="0" err="1">
                          <a:solidFill>
                            <a:srgbClr val="000000"/>
                          </a:solidFill>
                        </a:rPr>
                        <a:t>Internet</a:t>
                      </a:r>
                      <a:r>
                        <a:rPr lang="ru-RU" b="0" dirty="0">
                          <a:solidFill>
                            <a:srgbClr val="000000"/>
                          </a:solidFill>
                        </a:rPr>
                        <a:t> </a:t>
                      </a:r>
                      <a:r>
                        <a:rPr lang="ru-RU" b="0" dirty="0" err="1">
                          <a:solidFill>
                            <a:srgbClr val="000000"/>
                          </a:solidFill>
                        </a:rPr>
                        <a:t>Assigned</a:t>
                      </a:r>
                      <a:r>
                        <a:rPr lang="ru-RU" b="0" dirty="0">
                          <a:solidFill>
                            <a:srgbClr val="000000"/>
                          </a:solidFill>
                        </a:rPr>
                        <a:t> </a:t>
                      </a:r>
                      <a:r>
                        <a:rPr lang="ru-RU" b="0" dirty="0" err="1">
                          <a:solidFill>
                            <a:srgbClr val="000000"/>
                          </a:solidFill>
                        </a:rPr>
                        <a:t>Numbers</a:t>
                      </a:r>
                      <a:r>
                        <a:rPr lang="ru-RU" b="0" dirty="0">
                          <a:solidFill>
                            <a:srgbClr val="000000"/>
                          </a:solidFill>
                        </a:rPr>
                        <a:t> </a:t>
                      </a:r>
                      <a:r>
                        <a:rPr lang="ru-RU" b="0" dirty="0" err="1">
                          <a:solidFill>
                            <a:srgbClr val="000000"/>
                          </a:solidFill>
                        </a:rPr>
                        <a:t>Authority</a:t>
                      </a:r>
                      <a:r>
                        <a:rPr lang="ru-RU" b="0" dirty="0">
                          <a:solidFill>
                            <a:srgbClr val="000000"/>
                          </a:solidFill>
                        </a:rPr>
                        <a:t> (IANA)</a:t>
                      </a:r>
                    </a:p>
                    <a:p>
                      <a:pPr rtl="0"/>
                      <a:r>
                        <a:rPr lang="ru-RU" b="0" dirty="0" err="1">
                          <a:solidFill>
                            <a:srgbClr val="000000"/>
                          </a:solidFill>
                        </a:rPr>
                        <a:t>Regional</a:t>
                      </a:r>
                      <a:r>
                        <a:rPr lang="ru-RU" b="0" dirty="0">
                          <a:solidFill>
                            <a:srgbClr val="000000"/>
                          </a:solidFill>
                        </a:rPr>
                        <a:t> </a:t>
                      </a:r>
                      <a:r>
                        <a:rPr lang="ru-RU" b="0" dirty="0" err="1">
                          <a:solidFill>
                            <a:srgbClr val="000000"/>
                          </a:solidFill>
                        </a:rPr>
                        <a:t>Internet</a:t>
                      </a:r>
                      <a:r>
                        <a:rPr lang="ru-RU" b="0" dirty="0">
                          <a:solidFill>
                            <a:srgbClr val="000000"/>
                          </a:solidFill>
                        </a:rPr>
                        <a:t> </a:t>
                      </a:r>
                      <a:r>
                        <a:rPr lang="ru-RU" b="0" dirty="0" err="1">
                          <a:solidFill>
                            <a:srgbClr val="000000"/>
                          </a:solidFill>
                        </a:rPr>
                        <a:t>Registries</a:t>
                      </a:r>
                      <a:r>
                        <a:rPr lang="ru-RU" b="0" dirty="0">
                          <a:solidFill>
                            <a:srgbClr val="000000"/>
                          </a:solidFill>
                        </a:rPr>
                        <a:t> (</a:t>
                      </a:r>
                      <a:r>
                        <a:rPr lang="ru-RU" b="0" dirty="0" err="1">
                          <a:solidFill>
                            <a:srgbClr val="000000"/>
                          </a:solidFill>
                        </a:rPr>
                        <a:t>RIRs</a:t>
                      </a:r>
                      <a:r>
                        <a:rPr lang="ru-RU" b="0" dirty="0">
                          <a:solidFill>
                            <a:srgbClr val="000000"/>
                          </a:solidFill>
                        </a:rPr>
                        <a:t>)</a:t>
                      </a:r>
                    </a:p>
                    <a:p>
                      <a:pPr rtl="0"/>
                      <a:r>
                        <a:rPr lang="ru-RU" b="0" dirty="0" err="1">
                          <a:solidFill>
                            <a:srgbClr val="000000"/>
                          </a:solidFill>
                        </a:rPr>
                        <a:t>AfriNIC</a:t>
                      </a:r>
                      <a:r>
                        <a:rPr lang="ru-RU" b="0" dirty="0">
                          <a:solidFill>
                            <a:srgbClr val="000000"/>
                          </a:solidFill>
                        </a:rPr>
                        <a:t>, APNIC, ARIN, LACNIC, </a:t>
                      </a:r>
                      <a:r>
                        <a:rPr lang="ru-RU" b="0" dirty="0" err="1">
                          <a:solidFill>
                            <a:srgbClr val="000000"/>
                          </a:solidFill>
                        </a:rPr>
                        <a:t>and</a:t>
                      </a:r>
                      <a:r>
                        <a:rPr lang="ru-RU" b="0" dirty="0">
                          <a:solidFill>
                            <a:srgbClr val="000000"/>
                          </a:solidFill>
                        </a:rPr>
                        <a:t> RIPE NCC </a:t>
                      </a:r>
                    </a:p>
                    <a:p>
                      <a:pPr rtl="0"/>
                      <a:r>
                        <a:rPr lang="ru-RU" b="0" dirty="0" err="1">
                          <a:solidFill>
                            <a:srgbClr val="000000"/>
                          </a:solidFill>
                        </a:rPr>
                        <a:t>broadcast</a:t>
                      </a:r>
                      <a:r>
                        <a:rPr lang="ru-RU" b="0" dirty="0">
                          <a:solidFill>
                            <a:srgbClr val="000000"/>
                          </a:solidFill>
                        </a:rPr>
                        <a:t> </a:t>
                      </a:r>
                      <a:r>
                        <a:rPr lang="ru-RU" b="0" dirty="0" err="1">
                          <a:solidFill>
                            <a:srgbClr val="000000"/>
                          </a:solidFill>
                        </a:rPr>
                        <a:t>domains</a:t>
                      </a:r>
                      <a:endParaRPr lang="ru-RU" b="0" dirty="0">
                        <a:solidFill>
                          <a:srgbClr val="000000"/>
                        </a:solidFill>
                      </a:endParaRPr>
                    </a:p>
                    <a:p>
                      <a:pPr rtl="0"/>
                      <a:r>
                        <a:rPr lang="ru-RU" b="0" dirty="0" err="1">
                          <a:solidFill>
                            <a:srgbClr val="000000"/>
                          </a:solidFill>
                        </a:rPr>
                        <a:t>subnets</a:t>
                      </a:r>
                      <a:endParaRPr lang="ru-RU" b="0" dirty="0">
                        <a:solidFill>
                          <a:srgbClr val="000000"/>
                        </a:solidFill>
                      </a:endParaRPr>
                    </a:p>
                    <a:p>
                      <a:pPr rtl="0"/>
                      <a:r>
                        <a:rPr lang="ru-RU" b="0" dirty="0" err="1">
                          <a:solidFill>
                            <a:srgbClr val="000000"/>
                          </a:solidFill>
                        </a:rPr>
                        <a:t>octet</a:t>
                      </a:r>
                      <a:r>
                        <a:rPr lang="ru-RU" b="0" dirty="0">
                          <a:solidFill>
                            <a:srgbClr val="000000"/>
                          </a:solidFill>
                        </a:rPr>
                        <a:t> </a:t>
                      </a:r>
                      <a:r>
                        <a:rPr lang="ru-RU" b="0" dirty="0" err="1">
                          <a:solidFill>
                            <a:srgbClr val="000000"/>
                          </a:solidFill>
                        </a:rPr>
                        <a:t>boundary</a:t>
                      </a:r>
                      <a:endParaRPr lang="ru-RU" b="0" dirty="0">
                        <a:solidFill>
                          <a:srgbClr val="000000"/>
                        </a:solidFill>
                      </a:endParaRPr>
                    </a:p>
                    <a:p>
                      <a:pPr rtl="0"/>
                      <a:r>
                        <a:rPr lang="ru-RU" b="0" dirty="0" err="1">
                          <a:solidFill>
                            <a:srgbClr val="000000"/>
                          </a:solidFill>
                        </a:rPr>
                        <a:t>variable-length</a:t>
                      </a:r>
                      <a:r>
                        <a:rPr lang="ru-RU" b="0" dirty="0">
                          <a:solidFill>
                            <a:srgbClr val="000000"/>
                          </a:solidFill>
                        </a:rPr>
                        <a:t> </a:t>
                      </a:r>
                      <a:r>
                        <a:rPr lang="ru-RU" b="0" dirty="0" err="1">
                          <a:solidFill>
                            <a:srgbClr val="000000"/>
                          </a:solidFill>
                        </a:rPr>
                        <a:t>subnet</a:t>
                      </a:r>
                      <a:r>
                        <a:rPr lang="ru-RU" b="0" dirty="0">
                          <a:solidFill>
                            <a:srgbClr val="000000"/>
                          </a:solidFill>
                        </a:rPr>
                        <a:t> </a:t>
                      </a:r>
                      <a:r>
                        <a:rPr lang="ru-RU" b="0" dirty="0" err="1">
                          <a:solidFill>
                            <a:srgbClr val="000000"/>
                          </a:solidFill>
                        </a:rPr>
                        <a:t>mask</a:t>
                      </a:r>
                      <a:r>
                        <a:rPr lang="ru-RU" b="0" dirty="0">
                          <a:solidFill>
                            <a:srgbClr val="000000"/>
                          </a:solidFill>
                        </a:rPr>
                        <a:t> (VLSM) </a:t>
                      </a:r>
                    </a:p>
                    <a:p>
                      <a:endParaRPr lang="en-US" b="0"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11032</TotalTime>
  <Words>5700</Words>
  <Application>Microsoft Office PowerPoint</Application>
  <PresentationFormat>Экран (16:9)</PresentationFormat>
  <Paragraphs>1037</Paragraphs>
  <Slides>72</Slides>
  <Notes>70</Notes>
  <HiddenSlides>13</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72</vt:i4>
      </vt:variant>
    </vt:vector>
  </HeadingPairs>
  <TitlesOfParts>
    <vt:vector size="79" baseType="lpstr">
      <vt:lpstr>ＭＳ Ｐゴシック</vt:lpstr>
      <vt:lpstr>Arial</vt:lpstr>
      <vt:lpstr>Calibri</vt:lpstr>
      <vt:lpstr>CiscoSans ExtraLight</vt:lpstr>
      <vt:lpstr>Courier New</vt:lpstr>
      <vt:lpstr>Wingdings</vt:lpstr>
      <vt:lpstr>Default Theme</vt:lpstr>
      <vt:lpstr>Модуль 11: Адресация IPv4</vt:lpstr>
      <vt:lpstr>Материалы для инструкторов. Модуль 11. Руководство по планированию</vt:lpstr>
      <vt:lpstr>В этом модуле</vt:lpstr>
      <vt:lpstr>В этом модуле (продолжение)</vt:lpstr>
      <vt:lpstr>«Проверьте свое понимание темы»</vt:lpstr>
      <vt:lpstr>Модуль 11: Задания</vt:lpstr>
      <vt:lpstr>Модуль 11: Задания (Продолжение)</vt:lpstr>
      <vt:lpstr>Модуль 11: Задания (Продолжение)</vt:lpstr>
      <vt:lpstr>Модуль 11: Рекомендации</vt:lpstr>
      <vt:lpstr>Модуль 11: Рекомендации (Продолжение)</vt:lpstr>
      <vt:lpstr>Модуль 11: Рекомендации (Продолжение)</vt:lpstr>
      <vt:lpstr>Модуль 11: Рекомендации (Продолжение)</vt:lpstr>
      <vt:lpstr>Модуль 11: Рекомендации (Продолжение)</vt:lpstr>
      <vt:lpstr>Модуль 11: Адресация IPv4</vt:lpstr>
      <vt:lpstr>Задачи модуля</vt:lpstr>
      <vt:lpstr>11.1 Структура адреса IPv4 </vt:lpstr>
      <vt:lpstr> Структура адреса IPv4   Сетевая и хостовая часть</vt:lpstr>
      <vt:lpstr>Структура адреса IPv4  Маска подсети</vt:lpstr>
      <vt:lpstr>Структура адреса IPv4   Длина префикса</vt:lpstr>
      <vt:lpstr>Структура адресов IPv4 Определение сети: логическое И</vt:lpstr>
      <vt:lpstr>Структура адреса IPv4  Видео.  Сетевой адрес, адрес хоста и широковещательный адрес</vt:lpstr>
      <vt:lpstr>Структура адреса IPv4  Видео.  Сетевой адрес, адрес хоста и широковещательный адрес</vt:lpstr>
      <vt:lpstr>11.2 Одноадресная, широковещательная и многоадресная рассылка IPv4</vt:lpstr>
      <vt:lpstr>Одноадресная, широковещательная и многоадресная рассылка IPv4  Одноадресная передача</vt:lpstr>
      <vt:lpstr>Одноадресная, широковещательная и многоадресная рассылка IPv4  Широковещательная передача</vt:lpstr>
      <vt:lpstr>Одноадресная, широковещательная и многоадресная рассылка IPv4  Многоадресная передача</vt:lpstr>
      <vt:lpstr>11.3 Типы IPv4 адресов</vt:lpstr>
      <vt:lpstr>Типы IPv4-адресов  Публичные и частные IPv4-адреса</vt:lpstr>
      <vt:lpstr>Типы IPv4 Адреса Маршрутизация в Интернет</vt:lpstr>
      <vt:lpstr>Типы IPv4-адресов  IPv4-адреса специального назначения</vt:lpstr>
      <vt:lpstr>Типы адресов IPv4  Традиционная классовая адресация</vt:lpstr>
      <vt:lpstr>Типы адресов IPv4  Назначение IP-адресов</vt:lpstr>
      <vt:lpstr>11.4 Сегментация сети</vt:lpstr>
      <vt:lpstr>Сегментация сети  Сегментация сети Домены широковещательной рассылки</vt:lpstr>
      <vt:lpstr>Сегментация сети Проблемы с крупными доменами широковещательной рассылки</vt:lpstr>
      <vt:lpstr>Сегментация сети  Причины для разделения на подсети</vt:lpstr>
      <vt:lpstr>11.5 Подсеть сети IPv4</vt:lpstr>
      <vt:lpstr>Разделение на подсети IPv4-сети  Разделение на подсети на границе октетов</vt:lpstr>
      <vt:lpstr>Разделение на подсети IPv4-сети  Разделение на подсети на границе октетов (продолжение)</vt:lpstr>
      <vt:lpstr>Разделение на подсети IPv4-сети  Разделение на подсети на границе октетов</vt:lpstr>
      <vt:lpstr>Разделение на подсети IPv4-сети  Видео-  Маска подсети</vt:lpstr>
      <vt:lpstr>Разделение на подсети IPv4-сети  Демонстрационный видеоролик. Разделение на подсети с помощью магического числа</vt:lpstr>
      <vt:lpstr>Разделение сети IPv4 на подсети  Packet Tracer — Разделение IPv4-сети на подсети</vt:lpstr>
      <vt:lpstr>11.6 Подсеть: /16 и /8</vt:lpstr>
      <vt:lpstr>Подсеть /16 и префиксом /8 Создание подсетей с префиксом /16</vt:lpstr>
      <vt:lpstr>Подсеть /16 и префиксом /8 Создание подсетей с префиксом /16</vt:lpstr>
      <vt:lpstr>Подсеть /16 и префиксом /8 Создание подсетей с префиксом /16</vt:lpstr>
      <vt:lpstr>Подсеть: /16 и /8  Видео — подсеть по нескольким октетам</vt:lpstr>
      <vt:lpstr>Подсеть: /16 и /8  Лабораторная работа — Вычисление подсетей IPv4</vt:lpstr>
      <vt:lpstr>11.7 Разделение на подсети для соответствия требованиям</vt:lpstr>
      <vt:lpstr>Разделение на подсети для соответствия требованиям Частное и публичное адресное пространство IPv4 подсети</vt:lpstr>
      <vt:lpstr>Подсеть, удовлетворяющая требованиям Минимизация неиспользуемых адресов IPv4 узлов и максимизация подсетей</vt:lpstr>
      <vt:lpstr>Подсеть, удовлетворяющая требованиям Пример: эффективное разделение на подсети сети IPv4</vt:lpstr>
      <vt:lpstr>Разделение на подсети на основе требований  Packet Tracer. Разделение на подсети. Сценарий</vt:lpstr>
      <vt:lpstr>11.8 VLSM </vt:lpstr>
      <vt:lpstr>VLSM  Видео — Основы VLSM</vt:lpstr>
      <vt:lpstr>VLSM Видео - Пример VLSM</vt:lpstr>
      <vt:lpstr>VLSM  Сохранение адресов IPv4</vt:lpstr>
      <vt:lpstr>VLSM  Сохранение адресов IPv4</vt:lpstr>
      <vt:lpstr>VLSM VLSM</vt:lpstr>
      <vt:lpstr>VLSM  Назначение адресов топологии VLSM</vt:lpstr>
      <vt:lpstr>11.9. Структурированное проектирование </vt:lpstr>
      <vt:lpstr>Структурированное проектирование  Планирование адресации сети</vt:lpstr>
      <vt:lpstr>Структурированное проектирование  Назначение адресов устройств</vt:lpstr>
      <vt:lpstr>Структурированный дизайн Packet Tracer — практика проектирования и внедрения VLSM</vt:lpstr>
      <vt:lpstr>11.10 Практика и контрольная работа модуля</vt:lpstr>
      <vt:lpstr>Структурированное проектирование   Packet Tracer. Разработка и реализация схемы адресации VLSM</vt:lpstr>
      <vt:lpstr>Структурированное проектирование  Лабораторная работа. Разработка и реализация схемы адресации VLSM</vt:lpstr>
      <vt:lpstr>Практика и контрольная работа модуля  Что я изучил в этом модуле?</vt:lpstr>
      <vt:lpstr>Практика и контрольная работа модуля   Что я изучил в этом модуле? (продолжение)</vt:lpstr>
      <vt:lpstr>Модуль 11: Адресация IPv4 Новые термины и команды</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Артём</cp:lastModifiedBy>
  <cp:revision>309</cp:revision>
  <dcterms:created xsi:type="dcterms:W3CDTF">2019-10-18T06:21:22Z</dcterms:created>
  <dcterms:modified xsi:type="dcterms:W3CDTF">2024-12-03T20:16:01Z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