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-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Средний стиль 1 -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Средний стиль 1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Средний стиль 1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Светлый стиль 3 -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E25E649-3F16-4E02-A733-19D2CDBF48F0}" styleName="Средний стиль 3 -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ru-RU" smtClean="0"/>
              <a:pPr/>
              <a:t>05.01.2011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ru-RU" smtClean="0"/>
              <a:pPr/>
              <a:t>05.01.2011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ru-RU" smtClean="0"/>
              <a:pPr/>
              <a:t>05.01.2011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ru-RU" smtClean="0"/>
              <a:pPr/>
              <a:t>05.01.2011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ru-RU" smtClean="0"/>
              <a:pPr/>
              <a:t>05.01.2011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ru-RU" smtClean="0"/>
              <a:pPr/>
              <a:t>05.01.2011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ru-RU" smtClean="0"/>
              <a:pPr/>
              <a:t>05.01.2011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ru-RU" smtClean="0"/>
              <a:pPr/>
              <a:t>05.01.2011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ru-RU" smtClean="0"/>
              <a:pPr/>
              <a:t>05.01.2011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ru-RU" smtClean="0"/>
              <a:pPr/>
              <a:t>05.01.2011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ru-RU" smtClean="0"/>
              <a:pPr/>
              <a:t>05.01.2011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ru-RU" smtClean="0"/>
              <a:pPr/>
              <a:t>05.01.2011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3" r:id="rId1"/>
    <p:sldLayoutId id="2147484514" r:id="rId2"/>
    <p:sldLayoutId id="2147484515" r:id="rId3"/>
    <p:sldLayoutId id="2147484516" r:id="rId4"/>
    <p:sldLayoutId id="2147484517" r:id="rId5"/>
    <p:sldLayoutId id="2147484518" r:id="rId6"/>
    <p:sldLayoutId id="2147484519" r:id="rId7"/>
    <p:sldLayoutId id="2147484520" r:id="rId8"/>
    <p:sldLayoutId id="2147484521" r:id="rId9"/>
    <p:sldLayoutId id="2147484522" r:id="rId10"/>
    <p:sldLayoutId id="214748452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362200"/>
            <a:ext cx="7772400" cy="1220162"/>
          </a:xfrm>
        </p:spPr>
        <p:txBody>
          <a:bodyPr/>
          <a:lstStyle/>
          <a:p>
            <a:r>
              <a:rPr smtClean="0">
                <a:effectLst/>
                <a:latin typeface="Arial" pitchFamily="34" charset="0"/>
                <a:cs typeface="Arial" pitchFamily="34" charset="0"/>
              </a:rPr>
              <a:t>Адресация в Интернете</a:t>
            </a:r>
            <a:endParaRPr lang="ru-RU" dirty="0"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smtClean="0">
              <a:latin typeface="Arial" pitchFamily="34" charset="0"/>
              <a:cs typeface="Arial" pitchFamily="34" charset="0"/>
            </a:endParaRPr>
          </a:p>
          <a:p>
            <a:r>
              <a:rPr smtClean="0">
                <a:latin typeface="Arial" pitchFamily="34" charset="0"/>
                <a:cs typeface="Arial" pitchFamily="34" charset="0"/>
              </a:rPr>
              <a:t>9 класс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8" name="Picture 4" descr="D:\Work\Для Информатики\Царевна\sitemap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0"/>
            <a:ext cx="1858894" cy="2514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2667000"/>
            <a:ext cx="8229600" cy="3429000"/>
          </a:xfrm>
        </p:spPr>
        <p:txBody>
          <a:bodyPr/>
          <a:lstStyle/>
          <a:p>
            <a:pPr algn="ctr">
              <a:buNone/>
            </a:pPr>
            <a:endParaRPr b="1" smtClean="0">
              <a:solidFill>
                <a:schemeClr val="hlink"/>
              </a:solidFill>
            </a:endParaRPr>
          </a:p>
          <a:p>
            <a:pPr algn="ctr">
              <a:buNone/>
            </a:pPr>
            <a:r>
              <a:rPr b="1" smtClean="0">
                <a:solidFill>
                  <a:schemeClr val="hlink"/>
                </a:solidFill>
              </a:rPr>
              <a:t>Каждый компьютер, подключенный к </a:t>
            </a:r>
            <a:r>
              <a:rPr lang="ru-RU" b="1" dirty="0" smtClean="0">
                <a:solidFill>
                  <a:schemeClr val="hlink"/>
                </a:solidFill>
              </a:rPr>
              <a:t>глобальной сети </a:t>
            </a:r>
            <a:r>
              <a:rPr b="1" smtClean="0">
                <a:solidFill>
                  <a:schemeClr val="hlink"/>
                </a:solidFill>
              </a:rPr>
              <a:t>Интернет, имеет свой </a:t>
            </a:r>
            <a:r>
              <a:rPr b="1" i="1" smtClean="0">
                <a:solidFill>
                  <a:schemeClr val="hlink"/>
                </a:solidFill>
              </a:rPr>
              <a:t>уникальный </a:t>
            </a:r>
            <a:r>
              <a:rPr b="1" smtClean="0">
                <a:solidFill>
                  <a:schemeClr val="hlink"/>
                </a:solidFill>
              </a:rPr>
              <a:t/>
            </a:r>
            <a:br>
              <a:rPr b="1" smtClean="0">
                <a:solidFill>
                  <a:schemeClr val="hlink"/>
                </a:solidFill>
              </a:rPr>
            </a:br>
            <a:r>
              <a:rPr b="1" smtClean="0">
                <a:solidFill>
                  <a:schemeClr val="hlink"/>
                </a:solidFill>
              </a:rPr>
              <a:t>32-битный (в двоичной системе) </a:t>
            </a:r>
            <a:r>
              <a:rPr lang="en-US" b="1" dirty="0" smtClean="0">
                <a:solidFill>
                  <a:schemeClr val="hlink"/>
                </a:solidFill>
              </a:rPr>
              <a:t>IP</a:t>
            </a:r>
            <a:r>
              <a:rPr b="1" smtClean="0">
                <a:solidFill>
                  <a:schemeClr val="hlink"/>
                </a:solidFill>
              </a:rPr>
              <a:t>-адрес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44762"/>
          </a:xfrm>
        </p:spPr>
        <p:txBody>
          <a:bodyPr>
            <a:normAutofit/>
          </a:bodyPr>
          <a:lstStyle/>
          <a:p>
            <a:pPr algn="ctr"/>
            <a:r>
              <a:rPr sz="28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Для того чтобы в процессе обмена информацией компьютеры могли найти друг друга, в Интернет существует единая система адресации, основанная на использовании </a:t>
            </a:r>
            <a:br>
              <a:rPr sz="28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lang="en-US" sz="2800" b="0" dirty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IP</a:t>
            </a:r>
            <a:r>
              <a:rPr sz="28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-адреса</a:t>
            </a:r>
            <a:endParaRPr lang="ru-RU" sz="2800" b="0" dirty="0"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 descr="D:\Work\Для Информатики\Презент!\Царевна\prodvizhenie-saiyta-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4794027"/>
            <a:ext cx="1993900" cy="206397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smtClean="0"/>
              <a:t> 	</a:t>
            </a:r>
            <a:endParaRPr lang="ru-RU" dirty="0" smtClean="0"/>
          </a:p>
          <a:p>
            <a:pPr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	</a:t>
            </a:r>
            <a:r>
              <a:rPr sz="2400" smtClean="0">
                <a:latin typeface="Arial" pitchFamily="34" charset="0"/>
                <a:cs typeface="Arial" pitchFamily="34" charset="0"/>
              </a:rPr>
              <a:t>Существует формула, связывающая между собой количество возможных информационных сообщений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400" smtClean="0">
                <a:latin typeface="Arial" pitchFamily="34" charset="0"/>
                <a:cs typeface="Arial" pitchFamily="34" charset="0"/>
              </a:rPr>
              <a:t>и количество информации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I</a:t>
            </a:r>
            <a:r>
              <a:rPr sz="2400" smtClean="0">
                <a:latin typeface="Arial" pitchFamily="34" charset="0"/>
                <a:cs typeface="Arial" pitchFamily="34" charset="0"/>
              </a:rPr>
              <a:t>, которое несет полученное сообщение: 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N=2</a:t>
            </a:r>
            <a:r>
              <a:rPr lang="en-US" sz="2400" b="1" baseline="30000" dirty="0" smtClean="0">
                <a:latin typeface="Arial" pitchFamily="34" charset="0"/>
                <a:cs typeface="Arial" pitchFamily="34" charset="0"/>
              </a:rPr>
              <a:t>I</a:t>
            </a:r>
            <a:endParaRPr lang="ru-RU" sz="2400" b="1" baseline="30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400" b="1" baseline="30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	</a:t>
            </a:r>
            <a:r>
              <a:rPr sz="2400" smtClean="0">
                <a:latin typeface="Arial" pitchFamily="34" charset="0"/>
                <a:cs typeface="Arial" pitchFamily="34" charset="0"/>
              </a:rPr>
              <a:t>Легко подсчитать, что общее </a:t>
            </a:r>
            <a:r>
              <a:rPr sz="240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количество различных </a:t>
            </a:r>
            <a:r>
              <a:rPr lang="en-US" sz="2400" dirty="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IP-</a:t>
            </a:r>
            <a:r>
              <a:rPr sz="240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адресов </a:t>
            </a:r>
            <a:r>
              <a:rPr sz="2400" smtClean="0">
                <a:latin typeface="Arial" pitchFamily="34" charset="0"/>
                <a:cs typeface="Arial" pitchFamily="34" charset="0"/>
              </a:rPr>
              <a:t>составляет более 4 миллиардов: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sz="3600" b="1" dirty="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N = 2</a:t>
            </a:r>
            <a:r>
              <a:rPr lang="en-US" sz="3600" b="1" baseline="50000" dirty="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32 </a:t>
            </a:r>
            <a:r>
              <a:rPr lang="en-US" sz="3600" b="1" dirty="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= 4 294 967 296</a:t>
            </a:r>
            <a:endParaRPr sz="3600" b="1" smtClean="0">
              <a:solidFill>
                <a:schemeClr val="hlink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Autofit/>
          </a:bodyPr>
          <a:lstStyle/>
          <a:p>
            <a:pPr algn="ctr"/>
            <a:r>
              <a:rPr lang="ru-RU" sz="3600" dirty="0" smtClean="0">
                <a:effectLst/>
                <a:latin typeface="Arial" pitchFamily="34" charset="0"/>
                <a:cs typeface="Arial" pitchFamily="34" charset="0"/>
              </a:rPr>
              <a:t>Количество </a:t>
            </a:r>
            <a:r>
              <a:rPr lang="en-US" sz="3600" dirty="0" smtClean="0">
                <a:effectLst/>
                <a:latin typeface="Arial" pitchFamily="34" charset="0"/>
                <a:cs typeface="Arial" pitchFamily="34" charset="0"/>
              </a:rPr>
              <a:t>IP-</a:t>
            </a:r>
            <a:r>
              <a:rPr lang="ru-RU" sz="3600" dirty="0" smtClean="0">
                <a:effectLst/>
                <a:latin typeface="Arial" pitchFamily="34" charset="0"/>
                <a:cs typeface="Arial" pitchFamily="34" charset="0"/>
              </a:rPr>
              <a:t>адресов в Интернет</a:t>
            </a:r>
            <a:endParaRPr lang="ru-RU" sz="3600" dirty="0"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600" y="1676399"/>
            <a:ext cx="8001000" cy="4267201"/>
          </a:xfrm>
        </p:spPr>
        <p:txBody>
          <a:bodyPr/>
          <a:lstStyle/>
          <a:p>
            <a:pPr>
              <a:buNone/>
            </a:pPr>
            <a:r>
              <a:rPr smtClean="0"/>
              <a:t> </a:t>
            </a:r>
            <a:r>
              <a:rPr sz="2800" smtClean="0"/>
              <a:t>	</a:t>
            </a:r>
            <a:r>
              <a:rPr sz="2800" smtClean="0">
                <a:latin typeface="Arial" pitchFamily="34" charset="0"/>
                <a:cs typeface="Arial" pitchFamily="34" charset="0"/>
              </a:rPr>
              <a:t>Для удобства восприятия двоичный 32-битовый Интернет-адрес разбивается на четыре части по 8 битов и каждую часть представляется в десятичной форме. Десятичный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sz="2800" smtClean="0">
                <a:latin typeface="Arial" pitchFamily="34" charset="0"/>
                <a:cs typeface="Arial" pitchFamily="34" charset="0"/>
              </a:rPr>
              <a:t>адрес состоит из 4 чисел в диапазаоне от 0 до 255, разделенных точками (например 215.168.34.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32</a:t>
            </a:r>
            <a:r>
              <a:rPr sz="280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>
              <a:lnSpc>
                <a:spcPct val="150000"/>
              </a:lnSpc>
              <a:buNone/>
            </a:pPr>
            <a:r>
              <a:rPr sz="2800" smtClean="0"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4000" smtClean="0">
                <a:effectLst/>
                <a:latin typeface="Arial" pitchFamily="34" charset="0"/>
                <a:cs typeface="Arial" pitchFamily="34" charset="0"/>
              </a:rPr>
              <a:t>Интернет-адрес в двоичной и десятичной форме</a:t>
            </a:r>
            <a:endParaRPr lang="ru-RU" sz="4000" dirty="0"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762000" y="5105400"/>
          <a:ext cx="7848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/>
                <a:gridCol w="1569720"/>
                <a:gridCol w="1569720"/>
                <a:gridCol w="1569720"/>
                <a:gridCol w="156972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Arial" pitchFamily="34" charset="0"/>
                          <a:cs typeface="Arial" pitchFamily="34" charset="0"/>
                        </a:rPr>
                        <a:t>Двоичный</a:t>
                      </a:r>
                      <a:r>
                        <a:rPr lang="ru-RU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Arial" pitchFamily="34" charset="0"/>
                          <a:cs typeface="Arial" pitchFamily="34" charset="0"/>
                        </a:rPr>
                        <a:t>11010111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Arial" pitchFamily="34" charset="0"/>
                          <a:cs typeface="Arial" pitchFamily="34" charset="0"/>
                        </a:rPr>
                        <a:t>10101000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Arial" pitchFamily="34" charset="0"/>
                          <a:cs typeface="Arial" pitchFamily="34" charset="0"/>
                        </a:rPr>
                        <a:t>00100010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latin typeface="Arial" pitchFamily="34" charset="0"/>
                          <a:cs typeface="Arial" pitchFamily="34" charset="0"/>
                        </a:rPr>
                        <a:t>00100000</a:t>
                      </a:r>
                    </a:p>
                    <a:p>
                      <a:pPr algn="ctr"/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Arial" pitchFamily="34" charset="0"/>
                          <a:cs typeface="Arial" pitchFamily="34" charset="0"/>
                        </a:rPr>
                        <a:t>Десятичный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Arial" pitchFamily="34" charset="0"/>
                          <a:cs typeface="Arial" pitchFamily="34" charset="0"/>
                        </a:rPr>
                        <a:t>215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Arial" pitchFamily="34" charset="0"/>
                          <a:cs typeface="Arial" pitchFamily="34" charset="0"/>
                        </a:rPr>
                        <a:t>168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Arial" pitchFamily="34" charset="0"/>
                          <a:cs typeface="Arial" pitchFamily="34" charset="0"/>
                        </a:rPr>
                        <a:t>34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latin typeface="Arial" pitchFamily="34" charset="0"/>
                          <a:cs typeface="Arial" pitchFamily="34" charset="0"/>
                        </a:rPr>
                        <a:t>32</a:t>
                      </a:r>
                    </a:p>
                    <a:p>
                      <a:pPr algn="ctr"/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54762"/>
          </a:xfrm>
        </p:spPr>
        <p:txBody>
          <a:bodyPr>
            <a:normAutofit fontScale="90000"/>
          </a:bodyPr>
          <a:lstStyle/>
          <a:p>
            <a:pPr algn="l">
              <a:spcBef>
                <a:spcPct val="50000"/>
              </a:spcBef>
            </a:pPr>
            <a:r>
              <a:rPr sz="27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Система </a:t>
            </a:r>
            <a:r>
              <a:rPr lang="en-US" sz="2700" b="0" dirty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IP-</a:t>
            </a:r>
            <a:r>
              <a:rPr sz="27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адресации учитывает структуру Интернет, т.е. то, что Интернет является сетью сетей, а не объединением отдельных компьютеров. </a:t>
            </a:r>
            <a:r>
              <a:rPr lang="en-US" sz="2700" b="0" dirty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IP-</a:t>
            </a:r>
            <a:r>
              <a:rPr sz="27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адрес состоит из двух частей, одна из которых является адресом сети, а другая адресом компьютера в сети.</a:t>
            </a:r>
            <a:br>
              <a:rPr sz="27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sz="27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br>
              <a:rPr sz="27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sz="27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Для обеспечения максимальной гибкости в процессе распределения</a:t>
            </a:r>
            <a:r>
              <a:rPr lang="en-US" sz="2700" b="0" dirty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IP</a:t>
            </a:r>
            <a:r>
              <a:rPr sz="27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-адресов, в зависимости от количества компьютеров в сети, адреса разделяются на три класса </a:t>
            </a:r>
            <a:r>
              <a:rPr lang="en-US" sz="2700" b="0" i="1" dirty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A, B, C.</a:t>
            </a:r>
            <a:r>
              <a:rPr sz="27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sz="27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sz="27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sz="27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sz="27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Первые биты адреса отводятся для идентификации класса, а остальные разделяются на адрес сети и адрес компьютера.</a:t>
            </a:r>
            <a:r>
              <a:rPr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lang="ru-RU" b="0" dirty="0"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smtClean="0"/>
              <a:t>	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324088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sz="3600" smtClean="0">
                <a:effectLst/>
                <a:latin typeface="Arial" pitchFamily="34" charset="0"/>
                <a:cs typeface="Arial" pitchFamily="34" charset="0"/>
              </a:rPr>
              <a:t>адресация</a:t>
            </a:r>
            <a:r>
              <a:rPr sz="3600" smtClean="0">
                <a:latin typeface="Arial" pitchFamily="34" charset="0"/>
                <a:cs typeface="Arial" pitchFamily="34" charset="0"/>
              </a:rPr>
              <a:t> в сетях различных классов</a:t>
            </a:r>
            <a:endParaRPr lang="ru-RU" sz="36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62000" y="1828801"/>
          <a:ext cx="7772398" cy="422477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96139"/>
                <a:gridCol w="524955"/>
                <a:gridCol w="572250"/>
                <a:gridCol w="572250"/>
                <a:gridCol w="2468631"/>
                <a:gridCol w="2138173"/>
              </a:tblGrid>
              <a:tr h="149216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Класс</a:t>
                      </a:r>
                      <a:r>
                        <a:rPr lang="ru-RU" sz="24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ru-RU" sz="2400" baseline="0" dirty="0" smtClean="0">
                          <a:latin typeface="Arial" pitchFamily="34" charset="0"/>
                          <a:cs typeface="Arial" pitchFamily="34" charset="0"/>
                        </a:rPr>
                        <a:t>А</a:t>
                      </a:r>
                      <a:endParaRPr lang="ru-RU" sz="240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/>
                      <a:endParaRPr lang="ru-RU" sz="240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/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Адрес</a:t>
                      </a:r>
                      <a:r>
                        <a:rPr lang="ru-RU" sz="2400" baseline="0" dirty="0" smtClean="0">
                          <a:latin typeface="Arial" pitchFamily="34" charset="0"/>
                          <a:cs typeface="Arial" pitchFamily="34" charset="0"/>
                        </a:rPr>
                        <a:t> сети (7 бит)</a:t>
                      </a:r>
                      <a:endParaRPr lang="ru-RU" sz="240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/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Адрес компьютера (24 бита)</a:t>
                      </a:r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481577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Класс </a:t>
                      </a:r>
                    </a:p>
                    <a:p>
                      <a:pPr algn="ctr"/>
                      <a:r>
                        <a:rPr lang="en-US" sz="2400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Адрес сети (14 бит)</a:t>
                      </a:r>
                    </a:p>
                    <a:p>
                      <a:pPr algn="ctr"/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Адрес компьютера (16</a:t>
                      </a:r>
                      <a:r>
                        <a:rPr lang="ru-RU" sz="2400" baseline="0" dirty="0" smtClean="0">
                          <a:latin typeface="Arial" pitchFamily="34" charset="0"/>
                          <a:cs typeface="Arial" pitchFamily="34" charset="0"/>
                        </a:rPr>
                        <a:t> бит</a:t>
                      </a:r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141063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Класс</a:t>
                      </a:r>
                      <a:r>
                        <a:rPr lang="ru-RU" sz="24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400" baseline="0" dirty="0" smtClean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Адрес</a:t>
                      </a:r>
                      <a:r>
                        <a:rPr lang="ru-RU" sz="2400" baseline="0" dirty="0" smtClean="0">
                          <a:latin typeface="Arial" pitchFamily="34" charset="0"/>
                          <a:cs typeface="Arial" pitchFamily="34" charset="0"/>
                        </a:rPr>
                        <a:t> сети (21 бит)</a:t>
                      </a:r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Arial" pitchFamily="34" charset="0"/>
                          <a:cs typeface="Arial" pitchFamily="34" charset="0"/>
                        </a:rPr>
                        <a:t>Адрес компьютера (8 бит)</a:t>
                      </a:r>
                      <a:endParaRPr lang="ru-RU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smtClean="0"/>
              <a:t>	Адрес сети класса А имеет только 7 бит для адреса сети и 24 бита для адреса компьютера, т.е. может существовать лишь </a:t>
            </a:r>
            <a:r>
              <a:rPr b="1" smtClean="0"/>
              <a:t>2</a:t>
            </a:r>
            <a:r>
              <a:rPr b="1" baseline="30000" smtClean="0"/>
              <a:t>8</a:t>
            </a:r>
            <a:r>
              <a:rPr b="1" smtClean="0"/>
              <a:t>=128 сетей этого класса</a:t>
            </a:r>
            <a:r>
              <a:rPr smtClean="0"/>
              <a:t>, зато в каждой сети может содержаться </a:t>
            </a:r>
            <a:br>
              <a:rPr smtClean="0"/>
            </a:br>
            <a:r>
              <a:rPr b="1" smtClean="0"/>
              <a:t>2</a:t>
            </a:r>
            <a:r>
              <a:rPr b="1" baseline="30000" smtClean="0"/>
              <a:t>24</a:t>
            </a:r>
            <a:r>
              <a:rPr b="1" smtClean="0"/>
              <a:t>=16 777 216 компьютеров</a:t>
            </a:r>
            <a:r>
              <a:rPr smtClean="0"/>
              <a:t>.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600" smtClean="0">
                <a:effectLst/>
                <a:latin typeface="Arial" pitchFamily="34" charset="0"/>
                <a:cs typeface="Arial" pitchFamily="34" charset="0"/>
              </a:rPr>
              <a:t>Например:</a:t>
            </a:r>
            <a:endParaRPr lang="ru-RU" sz="3600" dirty="0"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2" descr="D:\Work\Для Информатики\Царевна\other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4419600"/>
            <a:ext cx="2667000" cy="210624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114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  <a:buNone/>
            </a:pPr>
            <a:r>
              <a:rPr smtClean="0"/>
              <a:t>	</a:t>
            </a:r>
            <a:r>
              <a:rPr lang="en-US" sz="3000" dirty="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IP-</a:t>
            </a:r>
            <a:r>
              <a:rPr sz="300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адрес сервера МТУ-ИНФОРМ</a:t>
            </a:r>
            <a:r>
              <a:rPr sz="3000" smtClean="0">
                <a:latin typeface="Arial" pitchFamily="34" charset="0"/>
                <a:cs typeface="Arial" pitchFamily="34" charset="0"/>
              </a:rPr>
              <a:t> записывается как </a:t>
            </a:r>
            <a:r>
              <a:rPr sz="300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195.34.32.11</a:t>
            </a:r>
            <a:r>
              <a:rPr sz="3000" smtClean="0">
                <a:latin typeface="Arial" pitchFamily="34" charset="0"/>
                <a:cs typeface="Arial" pitchFamily="34" charset="0"/>
              </a:rPr>
              <a:t>.</a:t>
            </a:r>
            <a:endParaRPr lang="ru-RU" sz="3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sz="3000" smtClean="0">
                <a:latin typeface="Arial" pitchFamily="34" charset="0"/>
                <a:cs typeface="Arial" pitchFamily="34" charset="0"/>
              </a:rPr>
              <a:t/>
            </a:r>
            <a:br>
              <a:rPr sz="3000" smtClean="0">
                <a:latin typeface="Arial" pitchFamily="34" charset="0"/>
                <a:cs typeface="Arial" pitchFamily="34" charset="0"/>
              </a:rPr>
            </a:br>
            <a:r>
              <a:rPr sz="3100" smtClean="0">
                <a:latin typeface="Arial" pitchFamily="34" charset="0"/>
                <a:cs typeface="Arial" pitchFamily="34" charset="0"/>
              </a:rPr>
              <a:t>Достаточно определить по первому числу </a:t>
            </a:r>
            <a:r>
              <a:rPr lang="en-US" sz="31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sz="3100" smtClean="0">
                <a:latin typeface="Arial" pitchFamily="34" charset="0"/>
                <a:cs typeface="Arial" pitchFamily="34" charset="0"/>
              </a:rPr>
              <a:t>адреса компьютера, его принадлежность к сети того или иного класса:</a:t>
            </a:r>
            <a:r>
              <a:rPr sz="3000" smtClean="0">
                <a:latin typeface="Arial" pitchFamily="34" charset="0"/>
                <a:cs typeface="Arial" pitchFamily="34" charset="0"/>
              </a:rPr>
              <a:t/>
            </a:r>
            <a:br>
              <a:rPr sz="3000" smtClean="0">
                <a:latin typeface="Arial" pitchFamily="34" charset="0"/>
                <a:cs typeface="Arial" pitchFamily="34" charset="0"/>
              </a:rPr>
            </a:br>
            <a:endParaRPr sz="3000" smtClean="0">
              <a:latin typeface="Arial" pitchFamily="34" charset="0"/>
              <a:cs typeface="Arial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sz="3000" smtClean="0">
                <a:latin typeface="Arial" pitchFamily="34" charset="0"/>
                <a:cs typeface="Arial" pitchFamily="34" charset="0"/>
              </a:rPr>
              <a:t> </a:t>
            </a:r>
            <a:r>
              <a:rPr sz="300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адреса класса А – число от 0 до 127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sz="300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 адреса класса В – число от 128 до 191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sz="300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 адреса класса С – число от 192 до 255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ctr"/>
            <a:r>
              <a:rPr lang="ru-RU" sz="3600" dirty="0" smtClean="0">
                <a:effectLst/>
                <a:latin typeface="Arial" pitchFamily="34" charset="0"/>
                <a:cs typeface="Arial" pitchFamily="34" charset="0"/>
              </a:rPr>
              <a:t>Классы сетей </a:t>
            </a:r>
            <a:endParaRPr lang="ru-RU" sz="3600" dirty="0"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2" descr="D:\Work\Для Информатики\Презент!\Царевна\globax_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00800" y="3183726"/>
            <a:ext cx="2527300" cy="275987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/>
          <a:lstStyle/>
          <a:p>
            <a:pPr>
              <a:buNone/>
            </a:pPr>
            <a:r>
              <a:rPr smtClean="0"/>
              <a:t>	</a:t>
            </a:r>
          </a:p>
          <a:p>
            <a:pPr algn="ctr">
              <a:buNone/>
            </a:pPr>
            <a:r>
              <a:rPr smtClean="0"/>
              <a:t>	</a:t>
            </a:r>
            <a:r>
              <a:rPr sz="2800" smtClean="0">
                <a:latin typeface="Arial" pitchFamily="34" charset="0"/>
                <a:cs typeface="Arial" pitchFamily="34" charset="0"/>
              </a:rPr>
              <a:t>Сервер компании находится 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в</a:t>
            </a:r>
            <a:r>
              <a:rPr sz="2800" smtClean="0">
                <a:latin typeface="Arial" pitchFamily="34" charset="0"/>
                <a:cs typeface="Arial" pitchFamily="34" charset="0"/>
              </a:rPr>
              <a:t> сети класса С, адрес которой </a:t>
            </a:r>
            <a:r>
              <a:rPr sz="2800" b="1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195.34.32</a:t>
            </a:r>
            <a:r>
              <a:rPr sz="2800" smtClean="0">
                <a:latin typeface="Arial" pitchFamily="34" charset="0"/>
                <a:cs typeface="Arial" pitchFamily="34" charset="0"/>
              </a:rPr>
              <a:t>, </a:t>
            </a:r>
            <a:br>
              <a:rPr sz="2800" smtClean="0">
                <a:latin typeface="Arial" pitchFamily="34" charset="0"/>
                <a:cs typeface="Arial" pitchFamily="34" charset="0"/>
              </a:rPr>
            </a:br>
            <a:r>
              <a:rPr sz="2800" smtClean="0">
                <a:latin typeface="Arial" pitchFamily="34" charset="0"/>
                <a:cs typeface="Arial" pitchFamily="34" charset="0"/>
              </a:rPr>
              <a:t>а адрес компьютера в сети </a:t>
            </a:r>
            <a:r>
              <a:rPr sz="280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11</a:t>
            </a:r>
            <a:r>
              <a:rPr sz="2800" smtClean="0">
                <a:latin typeface="Arial" pitchFamily="34" charset="0"/>
                <a:cs typeface="Arial" pitchFamily="34" charset="0"/>
              </a:rPr>
              <a:t>.</a:t>
            </a:r>
            <a:endParaRPr sz="2800" smtClean="0">
              <a:solidFill>
                <a:schemeClr val="hlink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219200"/>
          </a:xfrm>
        </p:spPr>
        <p:txBody>
          <a:bodyPr>
            <a:normAutofit fontScale="90000"/>
          </a:bodyPr>
          <a:lstStyle/>
          <a:p>
            <a:pPr algn="ctr"/>
            <a:r>
              <a:rPr sz="3100" smtClean="0">
                <a:latin typeface="Arial" pitchFamily="34" charset="0"/>
                <a:cs typeface="Arial" pitchFamily="34" charset="0"/>
              </a:rPr>
              <a:t>	</a:t>
            </a:r>
            <a:br>
              <a:rPr sz="3100" smtClean="0">
                <a:latin typeface="Arial" pitchFamily="34" charset="0"/>
                <a:cs typeface="Arial" pitchFamily="34" charset="0"/>
              </a:rPr>
            </a:br>
            <a:r>
              <a:rPr sz="4000" smtClean="0">
                <a:effectLst/>
                <a:latin typeface="Arial" pitchFamily="34" charset="0"/>
                <a:cs typeface="Arial" pitchFamily="34" charset="0"/>
              </a:rPr>
              <a:t>Например, адрес компании МТУ-ИНФОРМ </a:t>
            </a:r>
            <a:r>
              <a:rPr sz="4000" smtClean="0">
                <a:solidFill>
                  <a:schemeClr val="hlink"/>
                </a:solidFill>
                <a:effectLst/>
                <a:latin typeface="Arial" pitchFamily="34" charset="0"/>
                <a:cs typeface="Arial" pitchFamily="34" charset="0"/>
              </a:rPr>
              <a:t>195.34.32.11</a:t>
            </a:r>
            <a:r>
              <a:rPr sz="6000" smtClean="0">
                <a:solidFill>
                  <a:schemeClr val="hlink"/>
                </a:solidFill>
              </a:rPr>
              <a:t/>
            </a:r>
            <a:br>
              <a:rPr sz="6000" smtClean="0">
                <a:solidFill>
                  <a:schemeClr val="hlink"/>
                </a:solidFill>
              </a:rPr>
            </a:br>
            <a:endParaRPr lang="ru-RU" dirty="0"/>
          </a:p>
        </p:txBody>
      </p:sp>
      <p:pic>
        <p:nvPicPr>
          <p:cNvPr id="4" name="Picture 3" descr="D:\Work\Для Информатики\Царевна\unviersal compute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4267200"/>
            <a:ext cx="2651878" cy="19859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smtClean="0"/>
              <a:t>	</a:t>
            </a:r>
          </a:p>
          <a:p>
            <a:pPr algn="ctr">
              <a:buNone/>
            </a:pPr>
            <a:r>
              <a:rPr sz="3600" smtClean="0">
                <a:solidFill>
                  <a:schemeClr val="hlink"/>
                </a:solidFill>
              </a:rPr>
              <a:t>Доменная система имен ставит в соответствие числовому </a:t>
            </a:r>
            <a:r>
              <a:rPr lang="en-US" sz="3600" dirty="0" smtClean="0">
                <a:solidFill>
                  <a:schemeClr val="hlink"/>
                </a:solidFill>
              </a:rPr>
              <a:t>IP</a:t>
            </a:r>
            <a:r>
              <a:rPr sz="3600" smtClean="0">
                <a:solidFill>
                  <a:schemeClr val="hlink"/>
                </a:solidFill>
              </a:rPr>
              <a:t>-адресу каждого компьютера уникальное доменное имя.</a:t>
            </a:r>
          </a:p>
          <a:p>
            <a:pPr algn="ctr">
              <a:buNone/>
            </a:pPr>
            <a:endParaRPr sz="3600" smtClean="0">
              <a:solidFill>
                <a:schemeClr val="hlink"/>
              </a:solidFill>
            </a:endParaRPr>
          </a:p>
          <a:p>
            <a:pPr algn="ctr">
              <a:buNone/>
            </a:pPr>
            <a:r>
              <a:rPr smtClean="0">
                <a:solidFill>
                  <a:schemeClr val="hlink"/>
                </a:solidFill>
              </a:rPr>
              <a:t>Домен</a:t>
            </a:r>
            <a:r>
              <a:rPr smtClean="0"/>
              <a:t> – зона, участок</a:t>
            </a:r>
          </a:p>
          <a:p>
            <a:pPr algn="ctr">
              <a:buNone/>
            </a:pPr>
            <a:endParaRPr lang="ru-RU" sz="36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82762"/>
          </a:xfrm>
        </p:spPr>
        <p:txBody>
          <a:bodyPr>
            <a:noAutofit/>
          </a:bodyPr>
          <a:lstStyle/>
          <a:p>
            <a:r>
              <a:rPr sz="24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Компьютеры могут легко найти друг друга по числовому </a:t>
            </a:r>
            <a:r>
              <a:rPr lang="en-US" sz="2400" b="0" dirty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IP</a:t>
            </a:r>
            <a:r>
              <a:rPr sz="24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-адресу, однако запомнить числовой адрес человеку трудно, и для удобства была введена </a:t>
            </a:r>
            <a:r>
              <a:rPr sz="2400" b="0" i="1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Доменная Система Имен</a:t>
            </a:r>
            <a:r>
              <a:rPr lang="ru-RU" sz="2400" b="0" i="1" dirty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(</a:t>
            </a:r>
            <a:r>
              <a:rPr lang="en-US" sz="2400" b="0" i="1" dirty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DNS</a:t>
            </a:r>
            <a:r>
              <a:rPr lang="ru-RU" sz="2400" b="0" i="1" dirty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</a:t>
            </a:r>
            <a:endParaRPr lang="ru-RU" sz="2400" b="0" dirty="0"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600" y="1481328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smtClean="0"/>
              <a:t> </a:t>
            </a:r>
            <a:r>
              <a:rPr smtClean="0">
                <a:solidFill>
                  <a:schemeClr val="hlink"/>
                </a:solidFill>
              </a:rPr>
              <a:t>Система д</a:t>
            </a:r>
            <a:r>
              <a:rPr smtClean="0">
                <a:solidFill>
                  <a:schemeClr val="accent3"/>
                </a:solidFill>
              </a:rPr>
              <a:t>оменн</a:t>
            </a:r>
            <a:r>
              <a:rPr smtClean="0">
                <a:solidFill>
                  <a:schemeClr val="hlink"/>
                </a:solidFill>
              </a:rPr>
              <a:t>ых имен построена по иерархическому принципу.</a:t>
            </a:r>
          </a:p>
          <a:p>
            <a:pPr>
              <a:lnSpc>
                <a:spcPct val="90000"/>
              </a:lnSpc>
            </a:pPr>
            <a:endParaRPr smtClean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smtClean="0">
                <a:solidFill>
                  <a:schemeClr val="hlink"/>
                </a:solidFill>
              </a:rPr>
              <a:t>Первый справа домен (его еще называют суффиксом) – домен верхнего уровня, за ним домен – второго уровня и т.д.</a:t>
            </a:r>
          </a:p>
          <a:p>
            <a:pPr>
              <a:lnSpc>
                <a:spcPct val="90000"/>
              </a:lnSpc>
              <a:buNone/>
            </a:pPr>
            <a:endParaRPr smtClean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smtClean="0">
                <a:solidFill>
                  <a:schemeClr val="hlink"/>
                </a:solidFill>
              </a:rPr>
              <a:t>Последний (первый слева) – имя компьютера.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 smtClean="0">
                <a:effectLst/>
                <a:latin typeface="Arial" pitchFamily="34" charset="0"/>
                <a:cs typeface="Arial" pitchFamily="34" charset="0"/>
              </a:rPr>
              <a:t>Принципы построения </a:t>
            </a:r>
            <a:r>
              <a:rPr lang="en-US" sz="3600" dirty="0" smtClean="0">
                <a:effectLst/>
                <a:latin typeface="Arial" pitchFamily="34" charset="0"/>
                <a:cs typeface="Arial" pitchFamily="34" charset="0"/>
              </a:rPr>
              <a:t>DNS</a:t>
            </a:r>
            <a:endParaRPr lang="ru-RU" sz="3600" dirty="0"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754562"/>
          </a:xfrm>
        </p:spPr>
        <p:txBody>
          <a:bodyPr>
            <a:normAutofit/>
          </a:bodyPr>
          <a:lstStyle/>
          <a:p>
            <a:pPr algn="ctr"/>
            <a:r>
              <a:rPr sz="36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Домены верхнего уровня бывают географическими (</a:t>
            </a:r>
            <a:r>
              <a:rPr sz="3600" b="0" smtClean="0">
                <a:solidFill>
                  <a:schemeClr val="accent3"/>
                </a:solidFill>
                <a:effectLst/>
                <a:latin typeface="Arial" pitchFamily="34" charset="0"/>
                <a:cs typeface="Arial" pitchFamily="34" charset="0"/>
              </a:rPr>
              <a:t>двухбуквенными</a:t>
            </a:r>
            <a:r>
              <a:rPr sz="36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 или административными (</a:t>
            </a:r>
            <a:r>
              <a:rPr sz="3600" b="0" smtClean="0">
                <a:solidFill>
                  <a:schemeClr val="accent3"/>
                </a:solidFill>
                <a:effectLst/>
                <a:latin typeface="Arial" pitchFamily="34" charset="0"/>
                <a:cs typeface="Arial" pitchFamily="34" charset="0"/>
              </a:rPr>
              <a:t>трехбуквенными</a:t>
            </a:r>
            <a:r>
              <a:rPr sz="3600" b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</a:t>
            </a:r>
            <a:endParaRPr lang="ru-RU" sz="3600" b="0" dirty="0"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2" descr="D:\Work\Для Информатики\Презент!\Царевна\logo_interne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6200" y="3962400"/>
            <a:ext cx="1800224" cy="27003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smtClean="0"/>
              <a:t>	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sz="3600" smtClean="0">
                <a:effectLst/>
                <a:latin typeface="Arial" pitchFamily="34" charset="0"/>
                <a:cs typeface="Arial" pitchFamily="34" charset="0"/>
              </a:rPr>
              <a:t>Некоторые имена доменов верхнего уровня</a:t>
            </a:r>
            <a:endParaRPr lang="ru-RU" sz="3600" dirty="0"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304800" y="1524003"/>
          <a:ext cx="8686800" cy="451391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79099"/>
                <a:gridCol w="2564585"/>
                <a:gridCol w="1742958"/>
                <a:gridCol w="2200158"/>
              </a:tblGrid>
              <a:tr h="682928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Arial" pitchFamily="34" charset="0"/>
                          <a:cs typeface="Arial" pitchFamily="34" charset="0"/>
                        </a:rPr>
                        <a:t>Административные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Arial" pitchFamily="34" charset="0"/>
                          <a:cs typeface="Arial" pitchFamily="34" charset="0"/>
                        </a:rPr>
                        <a:t>Тип организации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err="1" smtClean="0">
                          <a:latin typeface="Arial" pitchFamily="34" charset="0"/>
                          <a:cs typeface="Arial" pitchFamily="34" charset="0"/>
                        </a:rPr>
                        <a:t>Географиче</a:t>
                      </a:r>
                      <a:endParaRPr lang="en-US" sz="200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r>
                        <a:rPr lang="ru-RU" sz="2000" dirty="0" err="1" smtClean="0">
                          <a:latin typeface="Arial" pitchFamily="34" charset="0"/>
                          <a:cs typeface="Arial" pitchFamily="34" charset="0"/>
                        </a:rPr>
                        <a:t>ские</a:t>
                      </a:r>
                      <a:r>
                        <a:rPr lang="ru-R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Arial" pitchFamily="34" charset="0"/>
                          <a:cs typeface="Arial" pitchFamily="34" charset="0"/>
                        </a:rPr>
                        <a:t>Страна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53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int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Международная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ru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Россия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5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com, biz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Коммерческая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ca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Канада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67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edu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Образовательная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uk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Великобритания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67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net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Коммуникацион</a:t>
                      </a:r>
                      <a:endParaRPr lang="en-US" sz="2000" dirty="0" smtClean="0"/>
                    </a:p>
                    <a:p>
                      <a:r>
                        <a:rPr lang="ru-RU" sz="2000" dirty="0" err="1" smtClean="0"/>
                        <a:t>ная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de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Германия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50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org,</a:t>
                      </a:r>
                      <a:r>
                        <a:rPr lang="en-US" sz="2000" baseline="0" dirty="0" smtClean="0"/>
                        <a:t> pro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Некоммерческая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us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США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5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name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Персональная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jp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Япония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5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museum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Музей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au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Австралия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3840162"/>
          </a:xfrm>
        </p:spPr>
        <p:txBody>
          <a:bodyPr>
            <a:normAutofit/>
          </a:bodyPr>
          <a:lstStyle/>
          <a:p>
            <a:pPr algn="ctr"/>
            <a:r>
              <a:rPr sz="3600" smtClean="0">
                <a:effectLst/>
                <a:latin typeface="Arial" pitchFamily="34" charset="0"/>
                <a:cs typeface="Arial" pitchFamily="34" charset="0"/>
              </a:rPr>
              <a:t>Доменные имена второго уровня географического типа распределяют национальные центры</a:t>
            </a:r>
            <a:endParaRPr lang="ru-RU" sz="3600" dirty="0"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 descr="D:\Work\Для Информатики\Презент!\Царевна\Анимашки\hw08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4953000"/>
            <a:ext cx="2057400" cy="67298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1295400"/>
            <a:ext cx="85344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На том уроке мы узнали:</a:t>
            </a:r>
          </a:p>
          <a:p>
            <a:pPr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1. Каждый компьютер подключенный к глобальной сети Интернет имеет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адрес.</a:t>
            </a:r>
          </a:p>
          <a:p>
            <a:pPr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2.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 состоит из 4 байт или 32 бит.</a:t>
            </a:r>
          </a:p>
          <a:p>
            <a:pPr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3. В десятичной системе счисления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 состоит из четырех чисел разделенных точками (215.168.34.32).</a:t>
            </a:r>
          </a:p>
          <a:p>
            <a:pPr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4. Существует 3 больших класса компьютерных сетей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A,B,C.</a:t>
            </a:r>
          </a:p>
          <a:p>
            <a:pPr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5.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Доменная система имен (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DNS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)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6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. Домены верхнего уровня: географический и административный.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>
            <a:normAutofit/>
          </a:bodyPr>
          <a:lstStyle/>
          <a:p>
            <a:r>
              <a:rPr lang="ru-RU" sz="3600" dirty="0" smtClean="0">
                <a:effectLst/>
                <a:latin typeface="Arial" pitchFamily="34" charset="0"/>
                <a:cs typeface="Arial" pitchFamily="34" charset="0"/>
              </a:rPr>
              <a:t>Итоги урока</a:t>
            </a:r>
            <a:endParaRPr lang="ru-RU" sz="3600" dirty="0"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152</TotalTime>
  <Words>383</Words>
  <Application>Microsoft Office PowerPoint</Application>
  <PresentationFormat>Экран (4:3)</PresentationFormat>
  <Paragraphs>115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Открытая</vt:lpstr>
      <vt:lpstr>Адресация в Интернете</vt:lpstr>
      <vt:lpstr>Для того чтобы в процессе обмена информацией компьютеры могли найти друг друга, в Интернет существует единая система адресации, основанная на использовании  IP-адреса</vt:lpstr>
      <vt:lpstr>Количество IP-адресов в Интернет</vt:lpstr>
      <vt:lpstr>Интернет-адрес в двоичной и десятичной форме</vt:lpstr>
      <vt:lpstr>Система IP-адресации учитывает структуру Интернет, т.е. то, что Интернет является сетью сетей, а не объединением отдельных компьютеров. IP-адрес состоит из двух частей, одна из которых является адресом сети, а другая адресом компьютера в сети.   Для обеспечения максимальной гибкости в процессе распределения IP-адресов, в зависимости от количества компьютеров в сети, адреса разделяются на три класса A, B, C.  Первые биты адреса отводятся для идентификации класса, а остальные разделяются на адрес сети и адрес компьютера. </vt:lpstr>
      <vt:lpstr>IP-адресация в сетях различных классов</vt:lpstr>
      <vt:lpstr>Например:</vt:lpstr>
      <vt:lpstr>Классы сетей </vt:lpstr>
      <vt:lpstr>  Например, адрес компании МТУ-ИНФОРМ 195.34.32.11 </vt:lpstr>
      <vt:lpstr>Компьютеры могут легко найти друг друга по числовому IP-адресу, однако запомнить числовой адрес человеку трудно, и для удобства была введена Доменная Система Имен (DNS)</vt:lpstr>
      <vt:lpstr>Принципы построения DNS</vt:lpstr>
      <vt:lpstr>Домены верхнего уровня бывают географическими (двухбуквенными) или административными (трехбуквенными)</vt:lpstr>
      <vt:lpstr>Некоторые имена доменов верхнего уровня</vt:lpstr>
      <vt:lpstr>Доменные имена второго уровня географического типа распределяют национальные центры</vt:lpstr>
      <vt:lpstr>Итоги урока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Адресация в Интернете</dc:title>
  <dc:creator/>
  <cp:lastModifiedBy>Admin</cp:lastModifiedBy>
  <cp:revision>57</cp:revision>
  <dcterms:created xsi:type="dcterms:W3CDTF">2006-08-16T00:00:00Z</dcterms:created>
  <dcterms:modified xsi:type="dcterms:W3CDTF">2011-01-05T11:06:19Z</dcterms:modified>
</cp:coreProperties>
</file>