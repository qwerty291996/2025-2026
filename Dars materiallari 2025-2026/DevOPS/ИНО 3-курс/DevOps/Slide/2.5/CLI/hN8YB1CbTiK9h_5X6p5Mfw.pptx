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302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  <p:sldId id="349" r:id="rId45"/>
    <p:sldId id="348" r:id="rId4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Титул" id="{449E181A-3841-4075-AE70-B4CB86F1AC57}">
          <p14:sldIdLst>
            <p14:sldId id="256"/>
            <p14:sldId id="302"/>
          </p14:sldIdLst>
        </p14:section>
        <p14:section name="Настройка общих функций" id="{2DDC9D34-8B40-4126-8ADD-19C0647DDCD5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Шифрование паролей" id="{B146CD18-4097-4CFA-B629-3AA32BD7B05E}">
          <p14:sldIdLst>
            <p14:sldId id="324"/>
            <p14:sldId id="325"/>
            <p14:sldId id="326"/>
            <p14:sldId id="327"/>
            <p14:sldId id="328"/>
          </p14:sldIdLst>
        </p14:section>
        <p14:section name="Остальные команды" id="{D8F4E8A3-9A0A-4843-97CA-796F6F890E09}">
          <p14:sldIdLst>
            <p14:sldId id="329"/>
            <p14:sldId id="331"/>
          </p14:sldIdLst>
        </p14:section>
        <p14:section name="Настройка портов коммутатора" id="{CBA480ED-BE94-4295-A31E-3B3DD339676C}">
          <p14:sldIdLst>
            <p14:sldId id="332"/>
            <p14:sldId id="333"/>
            <p14:sldId id="334"/>
            <p14:sldId id="335"/>
            <p14:sldId id="336"/>
            <p14:sldId id="337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9"/>
          </p14:sldIdLst>
        </p14:section>
        <p14:section name="Окончание" id="{7D92F659-2E75-427C-82FE-B16F982CA64C}">
          <p14:sldIdLst>
            <p14:sldId id="348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273" autoAdjust="0"/>
  </p:normalViewPr>
  <p:slideViewPr>
    <p:cSldViewPr snapToGrid="0">
      <p:cViewPr varScale="1">
        <p:scale>
          <a:sx n="115" d="100"/>
          <a:sy n="115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6C902-8172-4E7B-9ED5-7CB4BD9E301E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5BF0B-385B-42C9-BC1B-28B4F8BDE87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6779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26532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0149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5203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9127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579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7521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2000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2084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4490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4308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9067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CD31D-B9B7-4AE5-AD7E-5A301AE9C080}" type="datetimeFigureOut">
              <a:rPr lang="ru-RU" smtClean="0"/>
              <a:pPr/>
              <a:t>08.10.2019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5368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Настройка коммутаторов </a:t>
            </a:r>
            <a:r>
              <a:rPr lang="en-US" dirty="0" smtClean="0"/>
              <a:t>Cisco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Глава 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42670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В рамках этой темы</a:t>
            </a:r>
            <a:r>
              <a:rPr lang="ru" u="sng" dirty="0" smtClean="0"/>
              <a:t>…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711" y="1690688"/>
            <a:ext cx="6000577" cy="504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3104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20110"/>
            <a:ext cx="10515600" cy="1325563"/>
          </a:xfrm>
        </p:spPr>
        <p:txBody>
          <a:bodyPr/>
          <a:lstStyle/>
          <a:p>
            <a:r>
              <a:rPr lang="ru-RU" u="sng" dirty="0" smtClean="0"/>
              <a:t>Защита доступа к командной строке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36865"/>
            <a:ext cx="11073938" cy="4421073"/>
          </a:xfrm>
        </p:spPr>
        <p:txBody>
          <a:bodyPr>
            <a:normAutofit/>
          </a:bodyPr>
          <a:lstStyle/>
          <a:p>
            <a:pPr algn="just"/>
            <a:r>
              <a:rPr lang="ru-RU" b="1" dirty="0"/>
              <a:t>Первый этап защиты коммутатора </a:t>
            </a:r>
            <a:r>
              <a:rPr lang="ru-RU" dirty="0"/>
              <a:t>- это защита доступа к </a:t>
            </a:r>
            <a:r>
              <a:rPr lang="ru-RU" dirty="0" smtClean="0"/>
              <a:t>интерфейсу CLI (пользовательскому и привилегированному режиму):</a:t>
            </a:r>
          </a:p>
          <a:p>
            <a:pPr algn="just"/>
            <a:endParaRPr lang="ru-RU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dirty="0"/>
              <a:t>Стандартная конфигурация консоли позволяют консольному пользователю </a:t>
            </a:r>
            <a:r>
              <a:rPr lang="ru-RU" dirty="0" smtClean="0"/>
              <a:t>перейти из </a:t>
            </a:r>
            <a:r>
              <a:rPr lang="ru-RU" dirty="0"/>
              <a:t>пользовательского режима в </a:t>
            </a:r>
            <a:r>
              <a:rPr lang="ru-RU" dirty="0" smtClean="0"/>
              <a:t>привилегированный, </a:t>
            </a:r>
            <a:r>
              <a:rPr lang="ru-RU" b="1" dirty="0"/>
              <a:t>не вводя </a:t>
            </a:r>
            <a:r>
              <a:rPr lang="ru-RU" b="1" dirty="0" smtClean="0"/>
              <a:t>пароль</a:t>
            </a:r>
            <a:r>
              <a:rPr lang="ru-RU" dirty="0" smtClean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ru-RU" dirty="0" smtClean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dirty="0"/>
              <a:t>стандартные параметры конфигурации коммутатора </a:t>
            </a:r>
            <a:r>
              <a:rPr lang="ru-RU" b="1" dirty="0"/>
              <a:t>не </a:t>
            </a:r>
            <a:r>
              <a:rPr lang="ru-RU" b="1" dirty="0" smtClean="0"/>
              <a:t>разрешают </a:t>
            </a:r>
            <a:r>
              <a:rPr lang="ru-RU" dirty="0" smtClean="0"/>
              <a:t>сеансы </a:t>
            </a:r>
            <a:r>
              <a:rPr lang="ru-RU" dirty="0" err="1"/>
              <a:t>vty</a:t>
            </a:r>
            <a:r>
              <a:rPr lang="ru-RU" dirty="0"/>
              <a:t> (</a:t>
            </a:r>
            <a:r>
              <a:rPr lang="ru-RU" dirty="0" err="1"/>
              <a:t>Telnet</a:t>
            </a:r>
            <a:r>
              <a:rPr lang="ru-RU" dirty="0"/>
              <a:t> или SSH) н и в пользовательском, ни в </a:t>
            </a:r>
            <a:r>
              <a:rPr lang="ru-RU" dirty="0" smtClean="0"/>
              <a:t>привилегированном режиме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80202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20110"/>
            <a:ext cx="10515600" cy="1325563"/>
          </a:xfrm>
        </p:spPr>
        <p:txBody>
          <a:bodyPr/>
          <a:lstStyle/>
          <a:p>
            <a:r>
              <a:rPr lang="ru-RU" u="sng" dirty="0" smtClean="0"/>
              <a:t>Защита простым паролем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36865"/>
            <a:ext cx="11073938" cy="4421073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Для пользователей </a:t>
            </a:r>
            <a:r>
              <a:rPr lang="ru-RU" dirty="0" err="1"/>
              <a:t>Telnet</a:t>
            </a:r>
            <a:r>
              <a:rPr lang="ru-RU" dirty="0"/>
              <a:t> и консоли коммутаторы </a:t>
            </a:r>
            <a:r>
              <a:rPr lang="ru-RU" dirty="0" err="1"/>
              <a:t>Cisco</a:t>
            </a:r>
            <a:r>
              <a:rPr lang="ru-RU" dirty="0"/>
              <a:t> способны </a:t>
            </a:r>
            <a:r>
              <a:rPr lang="ru-RU" dirty="0" smtClean="0"/>
              <a:t>защитить </a:t>
            </a:r>
            <a:r>
              <a:rPr lang="ru-RU" b="1" dirty="0" smtClean="0"/>
              <a:t>пользовательский </a:t>
            </a:r>
            <a:r>
              <a:rPr lang="ru-RU" b="1" dirty="0"/>
              <a:t>режим простым паролем </a:t>
            </a:r>
            <a:r>
              <a:rPr lang="ru-RU" dirty="0"/>
              <a:t>(без имени пользователя</a:t>
            </a:r>
            <a:r>
              <a:rPr lang="ru-RU" dirty="0" smtClean="0"/>
              <a:t>):</a:t>
            </a:r>
          </a:p>
          <a:p>
            <a:pPr algn="just"/>
            <a:endParaRPr lang="ru-RU" dirty="0"/>
          </a:p>
          <a:p>
            <a:pPr lvl="1" algn="just"/>
            <a:r>
              <a:rPr lang="ru-RU" b="1" dirty="0" smtClean="0"/>
              <a:t>пользователи консоли</a:t>
            </a:r>
            <a:r>
              <a:rPr lang="ru-RU" dirty="0" smtClean="0"/>
              <a:t> должны </a:t>
            </a:r>
            <a:r>
              <a:rPr lang="ru-RU" dirty="0"/>
              <a:t>ввести пароль консоли (</a:t>
            </a:r>
            <a:r>
              <a:rPr lang="ru-RU" dirty="0" err="1"/>
              <a:t>console</a:t>
            </a:r>
            <a:r>
              <a:rPr lang="ru-RU" dirty="0"/>
              <a:t> </a:t>
            </a:r>
            <a:r>
              <a:rPr lang="ru-RU" dirty="0" err="1"/>
              <a:t>password</a:t>
            </a:r>
            <a:r>
              <a:rPr lang="ru-RU" dirty="0"/>
              <a:t>), </a:t>
            </a:r>
            <a:r>
              <a:rPr lang="ru-RU" dirty="0" smtClean="0"/>
              <a:t>заданный </a:t>
            </a:r>
            <a:r>
              <a:rPr lang="ru-RU" dirty="0"/>
              <a:t>в режиме </a:t>
            </a:r>
            <a:r>
              <a:rPr lang="ru-RU" dirty="0" smtClean="0"/>
              <a:t>конфигурации линии консоли (</a:t>
            </a:r>
            <a:r>
              <a:rPr lang="en-US" dirty="0" smtClean="0"/>
              <a:t>line console 0</a:t>
            </a:r>
            <a:r>
              <a:rPr lang="ru-RU" dirty="0" smtClean="0"/>
              <a:t>).</a:t>
            </a:r>
          </a:p>
          <a:p>
            <a:pPr lvl="1" algn="just"/>
            <a:endParaRPr lang="ru-RU" dirty="0"/>
          </a:p>
          <a:p>
            <a:pPr lvl="1" algn="just"/>
            <a:r>
              <a:rPr lang="ru-RU" b="1" dirty="0" smtClean="0"/>
              <a:t>пользователи </a:t>
            </a:r>
            <a:r>
              <a:rPr lang="ru-RU" b="1" dirty="0" err="1"/>
              <a:t>Telnet</a:t>
            </a:r>
            <a:r>
              <a:rPr lang="ru-RU" b="1" dirty="0"/>
              <a:t> </a:t>
            </a:r>
            <a:r>
              <a:rPr lang="ru-RU" dirty="0"/>
              <a:t>должны вводить пароль </a:t>
            </a:r>
            <a:r>
              <a:rPr lang="ru-RU" dirty="0" err="1" smtClean="0"/>
              <a:t>Tel</a:t>
            </a:r>
            <a:r>
              <a:rPr lang="en-US" dirty="0" smtClean="0"/>
              <a:t>n</a:t>
            </a:r>
            <a:r>
              <a:rPr lang="ru-RU" dirty="0" err="1" smtClean="0"/>
              <a:t>et</a:t>
            </a:r>
            <a:r>
              <a:rPr lang="ru-RU" dirty="0" smtClean="0"/>
              <a:t> (</a:t>
            </a:r>
            <a:r>
              <a:rPr lang="ru-RU" dirty="0" err="1" smtClean="0"/>
              <a:t>Telnet</a:t>
            </a:r>
            <a:r>
              <a:rPr lang="ru-RU" dirty="0" smtClean="0"/>
              <a:t> </a:t>
            </a:r>
            <a:r>
              <a:rPr lang="ru-RU" dirty="0" err="1"/>
              <a:t>password</a:t>
            </a:r>
            <a:r>
              <a:rPr lang="ru-RU" dirty="0"/>
              <a:t>), называемый также паролем </a:t>
            </a:r>
            <a:r>
              <a:rPr lang="ru-RU" dirty="0" err="1"/>
              <a:t>vty</a:t>
            </a:r>
            <a:r>
              <a:rPr lang="ru-RU" dirty="0"/>
              <a:t> (</a:t>
            </a:r>
            <a:r>
              <a:rPr lang="ru-RU" dirty="0" err="1"/>
              <a:t>vty</a:t>
            </a:r>
            <a:r>
              <a:rPr lang="ru-RU" dirty="0"/>
              <a:t> </a:t>
            </a:r>
            <a:r>
              <a:rPr lang="ru-RU" dirty="0" err="1"/>
              <a:t>password</a:t>
            </a:r>
            <a:r>
              <a:rPr lang="ru-RU" dirty="0"/>
              <a:t>), поскольку его </a:t>
            </a:r>
            <a:r>
              <a:rPr lang="ru-RU" dirty="0" smtClean="0"/>
              <a:t>конфигурация находится </a:t>
            </a:r>
            <a:r>
              <a:rPr lang="ru-RU" dirty="0"/>
              <a:t>в режиме конфигурации </a:t>
            </a:r>
            <a:r>
              <a:rPr lang="ru-RU" dirty="0" smtClean="0"/>
              <a:t>линии </a:t>
            </a:r>
            <a:r>
              <a:rPr lang="ru-RU" dirty="0" err="1"/>
              <a:t>vty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778478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20110"/>
            <a:ext cx="10515600" cy="1325563"/>
          </a:xfrm>
        </p:spPr>
        <p:txBody>
          <a:bodyPr/>
          <a:lstStyle/>
          <a:p>
            <a:r>
              <a:rPr lang="ru-RU" u="sng" dirty="0" smtClean="0"/>
              <a:t>Защита простым паролем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36865"/>
            <a:ext cx="11073938" cy="4421073"/>
          </a:xfrm>
        </p:spPr>
        <p:txBody>
          <a:bodyPr>
            <a:normAutofit/>
          </a:bodyPr>
          <a:lstStyle/>
          <a:p>
            <a:r>
              <a:rPr lang="ru-RU" dirty="0"/>
              <a:t>Коммутаторы </a:t>
            </a:r>
            <a:r>
              <a:rPr lang="ru-RU" dirty="0" err="1"/>
              <a:t>Cisco</a:t>
            </a:r>
            <a:r>
              <a:rPr lang="ru-RU" dirty="0"/>
              <a:t> защищают </a:t>
            </a:r>
            <a:r>
              <a:rPr lang="ru-RU" b="1" dirty="0" smtClean="0"/>
              <a:t>привилегированный </a:t>
            </a:r>
            <a:r>
              <a:rPr lang="ru-RU" b="1" dirty="0"/>
              <a:t>режим </a:t>
            </a:r>
            <a:r>
              <a:rPr lang="ru-RU" dirty="0"/>
              <a:t>при помощи </a:t>
            </a:r>
            <a:r>
              <a:rPr lang="ru-RU" b="1" dirty="0" smtClean="0"/>
              <a:t>привилегированного пароля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 smtClean="0"/>
              <a:t>еnа</a:t>
            </a:r>
            <a:r>
              <a:rPr lang="en-US" dirty="0" err="1" smtClean="0"/>
              <a:t>bl</a:t>
            </a:r>
            <a:r>
              <a:rPr lang="ru-RU" dirty="0" smtClean="0"/>
              <a:t>е </a:t>
            </a:r>
            <a:r>
              <a:rPr lang="ru-RU" dirty="0" err="1"/>
              <a:t>password</a:t>
            </a:r>
            <a:r>
              <a:rPr lang="ru-RU" dirty="0" smtClean="0"/>
              <a:t>):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 smtClean="0"/>
              <a:t>пользователь </a:t>
            </a:r>
            <a:r>
              <a:rPr lang="ru-RU" b="1" dirty="0"/>
              <a:t>в пользовательском </a:t>
            </a:r>
            <a:r>
              <a:rPr lang="ru-RU" b="1" dirty="0" smtClean="0"/>
              <a:t>режиме </a:t>
            </a:r>
            <a:r>
              <a:rPr lang="ru-RU" dirty="0" smtClean="0"/>
              <a:t>вводит </a:t>
            </a:r>
            <a:r>
              <a:rPr lang="ru-RU" dirty="0"/>
              <a:t>команду </a:t>
            </a:r>
            <a:r>
              <a:rPr lang="ru-RU" dirty="0" err="1" smtClean="0"/>
              <a:t>еnа</a:t>
            </a:r>
            <a:r>
              <a:rPr lang="en-US" dirty="0" err="1" smtClean="0"/>
              <a:t>bl</a:t>
            </a:r>
            <a:r>
              <a:rPr lang="ru-RU" dirty="0" smtClean="0"/>
              <a:t>е, запрашивающую </a:t>
            </a:r>
            <a:r>
              <a:rPr lang="ru-RU" dirty="0"/>
              <a:t>привилегированный пароль;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246" y="3788092"/>
            <a:ext cx="9075507" cy="231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9163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20110"/>
            <a:ext cx="10515600" cy="1325563"/>
          </a:xfrm>
        </p:spPr>
        <p:txBody>
          <a:bodyPr/>
          <a:lstStyle/>
          <a:p>
            <a:r>
              <a:rPr lang="ru-RU" u="sng" dirty="0" smtClean="0"/>
              <a:t>Защита простым паролем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69869"/>
            <a:ext cx="11073938" cy="4421073"/>
          </a:xfrm>
        </p:spPr>
        <p:txBody>
          <a:bodyPr>
            <a:normAutofit/>
          </a:bodyPr>
          <a:lstStyle/>
          <a:p>
            <a:pPr algn="just"/>
            <a:r>
              <a:rPr lang="ru-RU" sz="3200" b="1" dirty="0"/>
              <a:t>Команда </a:t>
            </a:r>
            <a:r>
              <a:rPr lang="ru-RU" sz="3200" b="1" dirty="0" err="1" smtClean="0"/>
              <a:t>login</a:t>
            </a:r>
            <a:r>
              <a:rPr lang="ru-RU" sz="3200" b="1" dirty="0" smtClean="0"/>
              <a:t> </a:t>
            </a:r>
            <a:r>
              <a:rPr lang="ru-RU" sz="3200" dirty="0"/>
              <a:t>указывает операционной системе IOS использовать </a:t>
            </a:r>
            <a:r>
              <a:rPr lang="ru-RU" sz="3200" dirty="0" smtClean="0"/>
              <a:t>простой пароль</a:t>
            </a:r>
            <a:r>
              <a:rPr lang="ru-RU" sz="3200" dirty="0"/>
              <a:t>, а команда </a:t>
            </a:r>
            <a:r>
              <a:rPr lang="ru-RU" sz="3200" b="1" dirty="0" err="1" smtClean="0"/>
              <a:t>password</a:t>
            </a:r>
            <a:r>
              <a:rPr lang="ru-RU" sz="3200" b="1" dirty="0" smtClean="0"/>
              <a:t> </a:t>
            </a:r>
            <a:r>
              <a:rPr lang="ru-RU" sz="3200" b="1" dirty="0" err="1" smtClean="0"/>
              <a:t>пароль_значение</a:t>
            </a:r>
            <a:r>
              <a:rPr lang="ru-RU" sz="3200" b="1" dirty="0" smtClean="0"/>
              <a:t> </a:t>
            </a:r>
            <a:r>
              <a:rPr lang="ru-RU" sz="3200" dirty="0" smtClean="0"/>
              <a:t>задает пароль.</a:t>
            </a:r>
          </a:p>
          <a:p>
            <a:pPr algn="just"/>
            <a:endParaRPr lang="ru-RU" sz="3200" dirty="0"/>
          </a:p>
          <a:p>
            <a:pPr algn="just"/>
            <a:r>
              <a:rPr lang="ru-RU" sz="3200" dirty="0" smtClean="0"/>
              <a:t>Операционная система </a:t>
            </a:r>
            <a:r>
              <a:rPr lang="ru-RU" sz="3200" dirty="0"/>
              <a:t>IOS защищает привилегированный </a:t>
            </a:r>
            <a:r>
              <a:rPr lang="ru-RU" sz="3200" dirty="0" smtClean="0"/>
              <a:t>режим, </a:t>
            </a:r>
            <a:r>
              <a:rPr lang="ru-RU" sz="3200" dirty="0"/>
              <a:t>используя привилегированный </a:t>
            </a:r>
            <a:r>
              <a:rPr lang="ru-RU" sz="3200" dirty="0" smtClean="0"/>
              <a:t>пароль, заданный </a:t>
            </a:r>
            <a:r>
              <a:rPr lang="ru-RU" sz="3200" dirty="0"/>
              <a:t>глобальной </a:t>
            </a:r>
            <a:r>
              <a:rPr lang="ru-RU" sz="3200" b="1" dirty="0"/>
              <a:t>командой </a:t>
            </a:r>
            <a:r>
              <a:rPr lang="ru-RU" sz="3200" b="1" dirty="0" err="1" smtClean="0"/>
              <a:t>еnа</a:t>
            </a:r>
            <a:r>
              <a:rPr lang="en-US" sz="3200" b="1" dirty="0" err="1" smtClean="0"/>
              <a:t>bl</a:t>
            </a:r>
            <a:r>
              <a:rPr lang="ru-RU" sz="3200" b="1" dirty="0" smtClean="0"/>
              <a:t>е </a:t>
            </a:r>
            <a:r>
              <a:rPr lang="ru-RU" sz="3200" b="1" dirty="0" err="1"/>
              <a:t>secret</a:t>
            </a:r>
            <a:r>
              <a:rPr lang="ru-RU" sz="3200" b="1" dirty="0"/>
              <a:t> пароль_ </a:t>
            </a:r>
            <a:r>
              <a:rPr lang="ru-RU" sz="3200" b="1" dirty="0" smtClean="0"/>
              <a:t>значение</a:t>
            </a:r>
            <a:r>
              <a:rPr lang="ru-RU" sz="3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72784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Защита простым паролем</a:t>
            </a:r>
            <a:endParaRPr lang="ru-RU" u="sng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695" y="1234123"/>
            <a:ext cx="6423920" cy="542437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4" y="2864096"/>
            <a:ext cx="4117743" cy="21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796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Ввод команд в </a:t>
            </a:r>
            <a:r>
              <a:rPr lang="en-US" u="sng" dirty="0" smtClean="0"/>
              <a:t>CLI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9636"/>
            <a:ext cx="10515600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b="1" dirty="0" smtClean="0"/>
              <a:t>Первая </a:t>
            </a:r>
            <a:r>
              <a:rPr lang="ru-RU" b="1" dirty="0"/>
              <a:t>строка </a:t>
            </a:r>
            <a:r>
              <a:rPr lang="ru-RU" dirty="0" smtClean="0"/>
              <a:t>демонстрирует приглашение </a:t>
            </a:r>
            <a:r>
              <a:rPr lang="ru-RU" dirty="0"/>
              <a:t>к вводу команд коммутатора </a:t>
            </a:r>
            <a:r>
              <a:rPr lang="ru-RU" b="1" dirty="0" err="1" smtClean="0"/>
              <a:t>Switch</a:t>
            </a:r>
            <a:r>
              <a:rPr lang="ru-RU" b="1" dirty="0" smtClean="0"/>
              <a:t> </a:t>
            </a:r>
            <a:r>
              <a:rPr lang="ru-RU" b="1" dirty="0"/>
              <a:t>&gt;</a:t>
            </a:r>
            <a:r>
              <a:rPr lang="ru-RU" dirty="0"/>
              <a:t> (стандартное приглашение</a:t>
            </a:r>
            <a:r>
              <a:rPr lang="ru-RU" dirty="0" smtClean="0"/>
              <a:t>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b="1" dirty="0" smtClean="0"/>
              <a:t>Символ </a:t>
            </a:r>
            <a:r>
              <a:rPr lang="en-US" b="1" dirty="0" smtClean="0"/>
              <a:t>&gt;</a:t>
            </a:r>
            <a:r>
              <a:rPr lang="en-US" dirty="0" smtClean="0"/>
              <a:t> </a:t>
            </a:r>
            <a:r>
              <a:rPr lang="ru-RU" dirty="0" smtClean="0"/>
              <a:t>указывает на пользовательский режим;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пользователь ввел </a:t>
            </a:r>
            <a:r>
              <a:rPr lang="ru-RU" b="1" dirty="0"/>
              <a:t>команду </a:t>
            </a:r>
            <a:r>
              <a:rPr lang="en-US" b="1" dirty="0" smtClean="0"/>
              <a:t>enable</a:t>
            </a:r>
            <a:r>
              <a:rPr lang="ru-RU" dirty="0" smtClean="0"/>
              <a:t>, активирующую </a:t>
            </a:r>
            <a:r>
              <a:rPr lang="ru-RU" b="1" dirty="0" smtClean="0"/>
              <a:t>привилегированный режим </a:t>
            </a:r>
            <a:r>
              <a:rPr lang="ru-RU" dirty="0" smtClean="0"/>
              <a:t>(символ </a:t>
            </a:r>
            <a:r>
              <a:rPr lang="en-US" dirty="0" smtClean="0"/>
              <a:t>#</a:t>
            </a:r>
            <a:r>
              <a:rPr lang="ru-RU" dirty="0" smtClean="0"/>
              <a:t>);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42" y="4363490"/>
            <a:ext cx="7876916" cy="168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01903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Ввод команд в </a:t>
            </a:r>
            <a:r>
              <a:rPr lang="en-US" u="sng" dirty="0" smtClean="0"/>
              <a:t>CLI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/>
              <a:t>Пользователь переходит </a:t>
            </a:r>
            <a:r>
              <a:rPr lang="ru-RU" b="1" dirty="0" smtClean="0"/>
              <a:t>в </a:t>
            </a:r>
            <a:r>
              <a:rPr lang="ru-RU" b="1" dirty="0"/>
              <a:t>глобальный режим конфигурации </a:t>
            </a:r>
            <a:r>
              <a:rPr lang="ru-RU" dirty="0"/>
              <a:t>(команда </a:t>
            </a:r>
            <a:r>
              <a:rPr lang="ru-RU" b="1" dirty="0" err="1" smtClean="0"/>
              <a:t>configure</a:t>
            </a:r>
            <a:r>
              <a:rPr lang="ru-RU" b="1" dirty="0" smtClean="0"/>
              <a:t> </a:t>
            </a:r>
            <a:r>
              <a:rPr lang="ru-RU" b="1" dirty="0" err="1" smtClean="0"/>
              <a:t>terminal</a:t>
            </a:r>
            <a:r>
              <a:rPr lang="ru-RU" dirty="0" smtClean="0"/>
              <a:t>) </a:t>
            </a:r>
            <a:r>
              <a:rPr lang="ru-RU" dirty="0"/>
              <a:t>.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ü"/>
            </a:pPr>
            <a:endParaRPr lang="ru-RU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 smtClean="0"/>
              <a:t>Оказавшись в </a:t>
            </a:r>
            <a:r>
              <a:rPr lang="ru-RU" dirty="0"/>
              <a:t>глобальном режиме </a:t>
            </a:r>
            <a:r>
              <a:rPr lang="ru-RU" dirty="0" smtClean="0"/>
              <a:t>конфигурации, </a:t>
            </a:r>
            <a:r>
              <a:rPr lang="ru-RU" dirty="0"/>
              <a:t>пользователь вводит две </a:t>
            </a:r>
            <a:r>
              <a:rPr lang="ru-RU" dirty="0" smtClean="0"/>
              <a:t>команды (</a:t>
            </a:r>
            <a:r>
              <a:rPr lang="ru-RU" b="1" dirty="0" err="1" smtClean="0"/>
              <a:t>еnа</a:t>
            </a:r>
            <a:r>
              <a:rPr lang="en-US" b="1" dirty="0" err="1" smtClean="0"/>
              <a:t>bl</a:t>
            </a:r>
            <a:r>
              <a:rPr lang="ru-RU" b="1" dirty="0" smtClean="0"/>
              <a:t>е </a:t>
            </a:r>
            <a:r>
              <a:rPr lang="ru-RU" b="1" dirty="0" err="1" smtClean="0"/>
              <a:t>secret</a:t>
            </a:r>
            <a:r>
              <a:rPr lang="ru-RU" b="1" dirty="0" smtClean="0"/>
              <a:t> </a:t>
            </a:r>
            <a:r>
              <a:rPr lang="ru-RU" dirty="0"/>
              <a:t>и </a:t>
            </a:r>
            <a:r>
              <a:rPr lang="ru-RU" b="1" dirty="0" err="1" smtClean="0"/>
              <a:t>hostname</a:t>
            </a:r>
            <a:r>
              <a:rPr lang="ru-RU" dirty="0" smtClean="0"/>
              <a:t>), распространяющиеся </a:t>
            </a:r>
            <a:r>
              <a:rPr lang="ru-RU" dirty="0"/>
              <a:t>на весь коммутатор.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85" y="4227715"/>
            <a:ext cx="9657830" cy="232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66594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Ввод команд в </a:t>
            </a:r>
            <a:r>
              <a:rPr lang="en-US" u="sng" dirty="0" smtClean="0"/>
              <a:t>CLI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37715"/>
            <a:ext cx="10515600" cy="435133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sz="2400" dirty="0" smtClean="0"/>
              <a:t>используя </a:t>
            </a:r>
            <a:r>
              <a:rPr lang="ru-RU" sz="2400" b="1" dirty="0"/>
              <a:t>команду </a:t>
            </a:r>
            <a:r>
              <a:rPr lang="ru-RU" sz="2400" b="1" dirty="0" err="1" smtClean="0"/>
              <a:t>line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console</a:t>
            </a:r>
            <a:r>
              <a:rPr lang="ru-RU" sz="2400" b="1" dirty="0" smtClean="0"/>
              <a:t> 0</a:t>
            </a:r>
            <a:r>
              <a:rPr lang="ru-RU" sz="2400" dirty="0" smtClean="0"/>
              <a:t>, пользователь должен </a:t>
            </a:r>
            <a:r>
              <a:rPr lang="ru-RU" sz="2400" dirty="0"/>
              <a:t>войти в режим </a:t>
            </a:r>
            <a:r>
              <a:rPr lang="ru-RU" sz="2400" dirty="0" smtClean="0"/>
              <a:t>конфигурации </a:t>
            </a:r>
            <a:r>
              <a:rPr lang="ru-RU" sz="2400" dirty="0"/>
              <a:t>канала </a:t>
            </a:r>
            <a:r>
              <a:rPr lang="ru-RU" sz="2400" dirty="0" smtClean="0"/>
              <a:t>консоли.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400" b="1" dirty="0" smtClean="0"/>
              <a:t>команда </a:t>
            </a:r>
            <a:r>
              <a:rPr lang="ru-RU" sz="2400" b="1" dirty="0" err="1" smtClean="0"/>
              <a:t>password</a:t>
            </a:r>
            <a:r>
              <a:rPr lang="ru-RU" sz="2400" b="1" dirty="0" smtClean="0"/>
              <a:t> </a:t>
            </a:r>
            <a:r>
              <a:rPr lang="ru-RU" sz="2400" dirty="0" smtClean="0"/>
              <a:t>задает </a:t>
            </a:r>
            <a:r>
              <a:rPr lang="ru-RU" sz="2400" dirty="0"/>
              <a:t>простой </a:t>
            </a:r>
            <a:r>
              <a:rPr lang="ru-RU" sz="2400" dirty="0" smtClean="0"/>
              <a:t>текстовый </a:t>
            </a:r>
            <a:r>
              <a:rPr lang="ru-RU" sz="2400" dirty="0"/>
              <a:t>пароль </a:t>
            </a:r>
            <a:r>
              <a:rPr lang="ru-RU" sz="2400" dirty="0" smtClean="0"/>
              <a:t>(</a:t>
            </a:r>
            <a:r>
              <a:rPr lang="ru-RU" sz="2400" dirty="0" err="1" smtClean="0"/>
              <a:t>faith</a:t>
            </a:r>
            <a:r>
              <a:rPr lang="ru-RU" sz="2400" dirty="0"/>
              <a:t>), </a:t>
            </a:r>
            <a:r>
              <a:rPr lang="ru-RU" sz="2400" b="1" dirty="0"/>
              <a:t>а команда </a:t>
            </a:r>
            <a:r>
              <a:rPr lang="ru-RU" sz="2400" b="1" dirty="0" err="1" smtClean="0"/>
              <a:t>login</a:t>
            </a:r>
            <a:r>
              <a:rPr lang="ru-RU" sz="2400" dirty="0" smtClean="0"/>
              <a:t> </a:t>
            </a:r>
            <a:r>
              <a:rPr lang="ru-RU" sz="2400" dirty="0"/>
              <a:t>указывает </a:t>
            </a:r>
            <a:r>
              <a:rPr lang="ru-RU" sz="2400" dirty="0" smtClean="0"/>
              <a:t>коммутатору запрашивать его при входе.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400" b="1" dirty="0" smtClean="0"/>
              <a:t>командой </a:t>
            </a:r>
            <a:r>
              <a:rPr lang="en-US" sz="2400" b="1" dirty="0" smtClean="0"/>
              <a:t>exit </a:t>
            </a:r>
            <a:r>
              <a:rPr lang="ru-RU" sz="2400" dirty="0" smtClean="0"/>
              <a:t>пользователь выходит из режима настройки консоли;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59" y="3604824"/>
            <a:ext cx="8593109" cy="27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01890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Ввод команд в </a:t>
            </a:r>
            <a:r>
              <a:rPr lang="en-US" u="sng" dirty="0" smtClean="0"/>
              <a:t>CLI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3771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ru-RU" sz="2400" dirty="0" smtClean="0"/>
              <a:t>следующие </a:t>
            </a:r>
            <a:r>
              <a:rPr lang="ru-RU" sz="2400" dirty="0"/>
              <a:t>строки примера повторяют те же действия, но для всех </a:t>
            </a:r>
            <a:r>
              <a:rPr lang="ru-RU" sz="2400" b="1" dirty="0" smtClean="0"/>
              <a:t>16 каналов </a:t>
            </a:r>
            <a:r>
              <a:rPr lang="ru-RU" sz="2400" b="1" dirty="0" err="1" smtClean="0"/>
              <a:t>vty</a:t>
            </a:r>
            <a:r>
              <a:rPr lang="ru-RU" sz="2400" dirty="0" smtClean="0"/>
              <a:t> </a:t>
            </a:r>
            <a:r>
              <a:rPr lang="ru-RU" sz="2400" dirty="0"/>
              <a:t>(</a:t>
            </a:r>
            <a:r>
              <a:rPr lang="ru-RU" sz="2400" dirty="0" smtClean="0"/>
              <a:t>линии </a:t>
            </a:r>
            <a:r>
              <a:rPr lang="ru-RU" sz="2400" dirty="0" err="1"/>
              <a:t>vty</a:t>
            </a:r>
            <a:r>
              <a:rPr lang="ru-RU" sz="2400" dirty="0"/>
              <a:t> от </a:t>
            </a:r>
            <a:r>
              <a:rPr lang="ru-RU" sz="2400" dirty="0" smtClean="0"/>
              <a:t>0 </a:t>
            </a:r>
            <a:r>
              <a:rPr lang="ru-RU" sz="2400" dirty="0"/>
              <a:t>до </a:t>
            </a:r>
            <a:r>
              <a:rPr lang="ru-RU" sz="2400" dirty="0" smtClean="0"/>
              <a:t>15) </a:t>
            </a:r>
            <a:r>
              <a:rPr lang="ru-RU" sz="2400" dirty="0"/>
              <a:t>. </a:t>
            </a:r>
            <a:endParaRPr lang="ru-RU" sz="2400" dirty="0" smtClean="0"/>
          </a:p>
          <a:p>
            <a:pPr algn="just"/>
            <a:r>
              <a:rPr lang="ru-RU" sz="2400" dirty="0" smtClean="0"/>
              <a:t>16 </a:t>
            </a:r>
            <a:r>
              <a:rPr lang="ru-RU" sz="2400" dirty="0"/>
              <a:t>каналов </a:t>
            </a:r>
            <a:r>
              <a:rPr lang="ru-RU" sz="2400" dirty="0" err="1"/>
              <a:t>vty</a:t>
            </a:r>
            <a:r>
              <a:rPr lang="ru-RU" sz="2400" dirty="0"/>
              <a:t> означает, что коммутатор может </a:t>
            </a:r>
            <a:r>
              <a:rPr lang="ru-RU" sz="2400" dirty="0" smtClean="0"/>
              <a:t>принять</a:t>
            </a:r>
            <a:r>
              <a:rPr lang="ru-RU" sz="2400" b="1" dirty="0" smtClean="0"/>
              <a:t> 16 </a:t>
            </a:r>
            <a:r>
              <a:rPr lang="ru-RU" sz="2400" b="1" dirty="0"/>
              <a:t>параллельных подключений</a:t>
            </a:r>
            <a:r>
              <a:rPr lang="ru-RU" sz="2400" dirty="0"/>
              <a:t> </a:t>
            </a:r>
            <a:r>
              <a:rPr lang="ru-RU" sz="2400" dirty="0" err="1"/>
              <a:t>Telnet</a:t>
            </a:r>
            <a:r>
              <a:rPr lang="ru-RU" sz="2400" dirty="0"/>
              <a:t> к коммутатору</a:t>
            </a:r>
            <a:r>
              <a:rPr lang="ru-RU" sz="2400" dirty="0" smtClean="0"/>
              <a:t>.</a:t>
            </a:r>
          </a:p>
          <a:p>
            <a:pPr algn="just"/>
            <a:r>
              <a:rPr lang="ru-RU" sz="2400" b="1" dirty="0" smtClean="0"/>
              <a:t>команда </a:t>
            </a:r>
            <a:r>
              <a:rPr lang="ru-RU" sz="2400" b="1" dirty="0" err="1" smtClean="0"/>
              <a:t>end</a:t>
            </a:r>
            <a:r>
              <a:rPr lang="ru-RU" sz="2400" b="1" dirty="0" smtClean="0"/>
              <a:t> (</a:t>
            </a:r>
            <a:r>
              <a:rPr lang="en-US" sz="2400" b="1" dirty="0" smtClean="0"/>
              <a:t>exit</a:t>
            </a:r>
            <a:r>
              <a:rPr lang="ru-RU" sz="2400" b="1" dirty="0" smtClean="0"/>
              <a:t>) </a:t>
            </a:r>
            <a:r>
              <a:rPr lang="ru-RU" sz="2400" dirty="0"/>
              <a:t>возвращает </a:t>
            </a:r>
            <a:r>
              <a:rPr lang="ru-RU" sz="2400" dirty="0" smtClean="0"/>
              <a:t>пользователя </a:t>
            </a:r>
            <a:r>
              <a:rPr lang="ru-RU" sz="2400" dirty="0"/>
              <a:t>в </a:t>
            </a:r>
            <a:r>
              <a:rPr lang="ru-RU" sz="2400" dirty="0" smtClean="0"/>
              <a:t>привилегированный режим.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06" y="3601402"/>
            <a:ext cx="8418368" cy="29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8006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6007"/>
            <a:ext cx="10515600" cy="1325563"/>
          </a:xfrm>
        </p:spPr>
        <p:txBody>
          <a:bodyPr/>
          <a:lstStyle/>
          <a:p>
            <a:r>
              <a:rPr lang="ru-RU" u="sng" dirty="0" smtClean="0"/>
              <a:t>Результат ввода команд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57824"/>
            <a:ext cx="10515600" cy="4775979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/>
              <a:t>у пользователя консоли </a:t>
            </a:r>
            <a:r>
              <a:rPr lang="ru-RU" sz="2400" dirty="0"/>
              <a:t>будет </a:t>
            </a:r>
            <a:r>
              <a:rPr lang="ru-RU" sz="2400" dirty="0" smtClean="0"/>
              <a:t>запрашиваться пароль (без имени пользователя</a:t>
            </a:r>
            <a:r>
              <a:rPr lang="ru-RU" sz="2400" dirty="0"/>
              <a:t>) , и он должен ввести </a:t>
            </a:r>
            <a:r>
              <a:rPr lang="ru-RU" sz="2400" dirty="0" err="1"/>
              <a:t>hope</a:t>
            </a:r>
            <a:r>
              <a:rPr lang="ru-RU" sz="2400" dirty="0" smtClean="0"/>
              <a:t>.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b="1" dirty="0"/>
              <a:t>у </a:t>
            </a:r>
            <a:r>
              <a:rPr lang="ru-RU" sz="2400" b="1" dirty="0" smtClean="0"/>
              <a:t>пользователей </a:t>
            </a:r>
            <a:r>
              <a:rPr lang="ru-RU" sz="2400" b="1" dirty="0" err="1" smtClean="0"/>
              <a:t>Telnet</a:t>
            </a:r>
            <a:r>
              <a:rPr lang="ru-RU" sz="2400" b="1" dirty="0" smtClean="0"/>
              <a:t> </a:t>
            </a:r>
            <a:r>
              <a:rPr lang="ru-RU" sz="2400" dirty="0"/>
              <a:t>будет запрашиваться пароль (тоже без имени пользователя), и он должен </a:t>
            </a:r>
            <a:r>
              <a:rPr lang="ru-RU" sz="2400" dirty="0" smtClean="0"/>
              <a:t>будет ввести </a:t>
            </a:r>
            <a:r>
              <a:rPr lang="ru-RU" sz="2400" dirty="0" err="1" smtClean="0"/>
              <a:t>love</a:t>
            </a:r>
            <a:r>
              <a:rPr lang="ru-RU" sz="2400" dirty="0" smtClean="0"/>
              <a:t>.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b="1" dirty="0" smtClean="0"/>
              <a:t>для </a:t>
            </a:r>
            <a:r>
              <a:rPr lang="ru-RU" sz="2400" b="1" dirty="0"/>
              <a:t>перехода в </a:t>
            </a:r>
            <a:r>
              <a:rPr lang="ru-RU" sz="2400" b="1" dirty="0" smtClean="0"/>
              <a:t>привилегированный </a:t>
            </a:r>
            <a:r>
              <a:rPr lang="ru-RU" sz="2400" b="1" dirty="0"/>
              <a:t>режим </a:t>
            </a:r>
            <a:r>
              <a:rPr lang="ru-RU" sz="2400" dirty="0"/>
              <a:t>пользователи </a:t>
            </a:r>
            <a:r>
              <a:rPr lang="ru-RU" sz="2400" dirty="0" smtClean="0"/>
              <a:t>консоли </a:t>
            </a:r>
            <a:r>
              <a:rPr lang="ru-RU" sz="2400" dirty="0"/>
              <a:t>и </a:t>
            </a:r>
            <a:r>
              <a:rPr lang="ru-RU" sz="2400" dirty="0" err="1"/>
              <a:t>Telnet</a:t>
            </a:r>
            <a:r>
              <a:rPr lang="ru-RU" sz="2400" dirty="0"/>
              <a:t> должны использовать команду </a:t>
            </a:r>
            <a:r>
              <a:rPr lang="ru-RU" sz="2400" dirty="0" err="1" smtClean="0"/>
              <a:t>еnа</a:t>
            </a:r>
            <a:r>
              <a:rPr lang="en-US" sz="2400" dirty="0" err="1" smtClean="0"/>
              <a:t>bl</a:t>
            </a:r>
            <a:r>
              <a:rPr lang="ru-RU" sz="2400" dirty="0" smtClean="0"/>
              <a:t>е </a:t>
            </a:r>
            <a:r>
              <a:rPr lang="ru-RU" sz="2400" dirty="0"/>
              <a:t>с </a:t>
            </a:r>
            <a:r>
              <a:rPr lang="ru-RU" sz="2400" dirty="0" smtClean="0"/>
              <a:t>паролем </a:t>
            </a:r>
            <a:r>
              <a:rPr lang="ru-RU" sz="2400" dirty="0" err="1" smtClean="0"/>
              <a:t>cisco</a:t>
            </a:r>
            <a:r>
              <a:rPr lang="ru-RU" sz="2400" dirty="0" smtClean="0"/>
              <a:t>.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b="1" dirty="0" smtClean="0"/>
              <a:t>пользователи SSH </a:t>
            </a:r>
            <a:r>
              <a:rPr lang="ru-RU" sz="2400" dirty="0"/>
              <a:t>пока не смогут войти на этот коммутатор, поскольку для поддержки </a:t>
            </a:r>
            <a:r>
              <a:rPr lang="ru-RU" sz="2400" dirty="0" smtClean="0"/>
              <a:t>протокола SSH </a:t>
            </a:r>
            <a:r>
              <a:rPr lang="ru-RU" sz="2400" dirty="0"/>
              <a:t>необходимо больше действий.</a:t>
            </a:r>
          </a:p>
        </p:txBody>
      </p:sp>
    </p:spTree>
    <p:extLst>
      <p:ext uri="{BB962C8B-B14F-4D97-AF65-F5344CB8AC3E}">
        <p14:creationId xmlns:p14="http://schemas.microsoft.com/office/powerpoint/2010/main" xmlns="" val="1523231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4826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Новый файл текущей конфигурации </a:t>
            </a:r>
            <a:r>
              <a:rPr lang="en-US" u="sng" dirty="0" smtClean="0"/>
              <a:t>running-</a:t>
            </a:r>
            <a:r>
              <a:rPr lang="en-US" u="sng" dirty="0" err="1" smtClean="0"/>
              <a:t>config</a:t>
            </a:r>
            <a:r>
              <a:rPr lang="ru-RU" u="sng" dirty="0" smtClean="0"/>
              <a:t> на коммутаторе </a:t>
            </a:r>
            <a:r>
              <a:rPr lang="en-US" u="sng" dirty="0" smtClean="0"/>
              <a:t>Emma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9" y="1400087"/>
            <a:ext cx="5568142" cy="528334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399" y="1400086"/>
            <a:ext cx="5667375" cy="5283345"/>
          </a:xfrm>
          <a:prstGeom prst="rect">
            <a:avLst/>
          </a:prstGeom>
        </p:spPr>
      </p:pic>
      <p:sp>
        <p:nvSpPr>
          <p:cNvPr id="6" name="5-конечная звезда 5"/>
          <p:cNvSpPr/>
          <p:nvPr/>
        </p:nvSpPr>
        <p:spPr>
          <a:xfrm>
            <a:off x="1920239" y="3657599"/>
            <a:ext cx="349135" cy="334283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5-конечная звезда 6"/>
          <p:cNvSpPr/>
          <p:nvPr/>
        </p:nvSpPr>
        <p:spPr>
          <a:xfrm>
            <a:off x="5694217" y="4181301"/>
            <a:ext cx="349135" cy="334283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5-конечная звезда 7"/>
          <p:cNvSpPr/>
          <p:nvPr/>
        </p:nvSpPr>
        <p:spPr>
          <a:xfrm>
            <a:off x="8412479" y="3874616"/>
            <a:ext cx="349135" cy="334283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5-конечная звезда 8"/>
          <p:cNvSpPr/>
          <p:nvPr/>
        </p:nvSpPr>
        <p:spPr>
          <a:xfrm>
            <a:off x="8487293" y="4813954"/>
            <a:ext cx="349135" cy="334283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5-конечная звезда 9"/>
          <p:cNvSpPr/>
          <p:nvPr/>
        </p:nvSpPr>
        <p:spPr>
          <a:xfrm>
            <a:off x="8487293" y="5725525"/>
            <a:ext cx="349135" cy="334283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64894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Защита по локальному имени пользователя и паролю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" y="2266200"/>
            <a:ext cx="11847022" cy="4026535"/>
          </a:xfrm>
        </p:spPr>
        <p:txBody>
          <a:bodyPr>
            <a:noAutofit/>
          </a:bodyPr>
          <a:lstStyle/>
          <a:p>
            <a:pPr algn="just"/>
            <a:r>
              <a:rPr lang="ru-RU" sz="3200" dirty="0"/>
              <a:t>Коммутаторы </a:t>
            </a:r>
            <a:r>
              <a:rPr lang="ru-RU" sz="3200" dirty="0" err="1"/>
              <a:t>Cisco</a:t>
            </a:r>
            <a:r>
              <a:rPr lang="ru-RU" sz="3200" dirty="0"/>
              <a:t> поддерживают </a:t>
            </a:r>
            <a:r>
              <a:rPr lang="ru-RU" sz="3200" b="1" dirty="0" smtClean="0"/>
              <a:t>метод </a:t>
            </a:r>
            <a:r>
              <a:rPr lang="ru-RU" sz="3200" b="1" dirty="0"/>
              <a:t>аутентификации</a:t>
            </a:r>
            <a:r>
              <a:rPr lang="ru-RU" sz="3200" dirty="0"/>
              <a:t>, </a:t>
            </a:r>
            <a:r>
              <a:rPr lang="ru-RU" sz="3200" dirty="0" smtClean="0"/>
              <a:t>подразумевающий использование </a:t>
            </a:r>
            <a:r>
              <a:rPr lang="ru-RU" sz="3200" dirty="0"/>
              <a:t>имени пользователя и </a:t>
            </a:r>
            <a:r>
              <a:rPr lang="ru-RU" sz="3200" dirty="0" smtClean="0"/>
              <a:t>пароля:</a:t>
            </a:r>
          </a:p>
          <a:p>
            <a:pPr algn="just"/>
            <a:endParaRPr lang="ru-RU" sz="3200" dirty="0"/>
          </a:p>
          <a:p>
            <a:pPr lvl="1" algn="just"/>
            <a:r>
              <a:rPr lang="ru-RU" sz="2800" dirty="0" smtClean="0"/>
              <a:t>для использования этого метода достаточно одной </a:t>
            </a:r>
            <a:r>
              <a:rPr lang="ru-RU" sz="2800" dirty="0"/>
              <a:t>или нескольких глобальных команд конфигурации </a:t>
            </a:r>
            <a:r>
              <a:rPr lang="ru-RU" sz="2800" b="1" dirty="0" err="1" smtClean="0"/>
              <a:t>username</a:t>
            </a:r>
            <a:r>
              <a:rPr lang="ru-RU" sz="2800" b="1" dirty="0" smtClean="0"/>
              <a:t> </a:t>
            </a:r>
            <a:r>
              <a:rPr lang="ru-RU" sz="2800" b="1" dirty="0"/>
              <a:t>имя </a:t>
            </a:r>
            <a:r>
              <a:rPr lang="ru-RU" sz="2800" b="1" dirty="0" err="1" smtClean="0"/>
              <a:t>password</a:t>
            </a:r>
            <a:r>
              <a:rPr lang="ru-RU" sz="2800" b="1" dirty="0" smtClean="0"/>
              <a:t> пароль</a:t>
            </a:r>
            <a:r>
              <a:rPr lang="ru-RU" sz="2800" dirty="0" smtClean="0"/>
              <a:t>.</a:t>
            </a:r>
          </a:p>
          <a:p>
            <a:pPr lvl="1" algn="just"/>
            <a:endParaRPr lang="ru-RU" sz="2800" dirty="0"/>
          </a:p>
          <a:p>
            <a:pPr lvl="1" algn="just"/>
            <a:r>
              <a:rPr lang="ru-RU" sz="2800" dirty="0" smtClean="0"/>
              <a:t>затем </a:t>
            </a:r>
            <a:r>
              <a:rPr lang="ru-RU" sz="2800" dirty="0"/>
              <a:t>нужно уведомить каналы консоли и </a:t>
            </a:r>
            <a:r>
              <a:rPr lang="ru-RU" sz="2800" dirty="0" err="1"/>
              <a:t>vty</a:t>
            </a:r>
            <a:r>
              <a:rPr lang="ru-RU" sz="2800" dirty="0"/>
              <a:t> об использовании </a:t>
            </a:r>
            <a:r>
              <a:rPr lang="ru-RU" sz="2800" dirty="0" smtClean="0"/>
              <a:t>заданных имен </a:t>
            </a:r>
            <a:r>
              <a:rPr lang="ru-RU" sz="2800" dirty="0"/>
              <a:t>пользователя и пароля </a:t>
            </a:r>
            <a:r>
              <a:rPr lang="ru-RU" sz="2800" dirty="0" smtClean="0"/>
              <a:t>(</a:t>
            </a:r>
            <a:r>
              <a:rPr lang="ru-RU" sz="2800" b="1" dirty="0" smtClean="0"/>
              <a:t>подкоманда </a:t>
            </a:r>
            <a:r>
              <a:rPr lang="ru-RU" sz="2800" b="1" dirty="0"/>
              <a:t>линии </a:t>
            </a:r>
            <a:r>
              <a:rPr lang="ru-RU" sz="2800" b="1" dirty="0" err="1" smtClean="0"/>
              <a:t>login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local</a:t>
            </a:r>
            <a:r>
              <a:rPr lang="ru-RU" sz="2800" dirty="0" smtClean="0"/>
              <a:t>).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2327535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2575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Защита по локальному имени пользователя и паролю</a:t>
            </a:r>
            <a:endParaRPr lang="ru-RU" u="sng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93" y="1325563"/>
            <a:ext cx="10170363" cy="5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50531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Защита с помощью ААА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Коммутаторы и маршрутизаторы </a:t>
            </a:r>
            <a:r>
              <a:rPr lang="ru-RU" sz="2400" dirty="0" err="1"/>
              <a:t>Cisco</a:t>
            </a:r>
            <a:r>
              <a:rPr lang="ru-RU" sz="2400" dirty="0"/>
              <a:t> поддерживают </a:t>
            </a:r>
            <a:r>
              <a:rPr lang="ru-RU" sz="2400" dirty="0" err="1"/>
              <a:t>еше</a:t>
            </a:r>
            <a:r>
              <a:rPr lang="ru-RU" sz="2400" dirty="0"/>
              <a:t> </a:t>
            </a:r>
            <a:r>
              <a:rPr lang="ru-RU" sz="2400" dirty="0" smtClean="0"/>
              <a:t>один </a:t>
            </a:r>
            <a:r>
              <a:rPr lang="ru-RU" sz="2400" dirty="0"/>
              <a:t>способ </a:t>
            </a:r>
            <a:r>
              <a:rPr lang="ru-RU" sz="2400" dirty="0" smtClean="0"/>
              <a:t>проверки правильности </a:t>
            </a:r>
            <a:r>
              <a:rPr lang="ru-RU" sz="2400" dirty="0"/>
              <a:t>имен пользователя и паролей </a:t>
            </a:r>
            <a:r>
              <a:rPr lang="ru-RU" sz="2400" dirty="0" smtClean="0"/>
              <a:t>- внешний сервер аутентификации, </a:t>
            </a:r>
            <a:r>
              <a:rPr lang="en-US" sz="2400" dirty="0" err="1" smtClean="0"/>
              <a:t>авторизации</a:t>
            </a:r>
            <a:r>
              <a:rPr lang="ru-RU" sz="2400" dirty="0" smtClean="0"/>
              <a:t> </a:t>
            </a:r>
            <a:r>
              <a:rPr lang="en-US" sz="2400" dirty="0" smtClean="0"/>
              <a:t>и </a:t>
            </a:r>
            <a:r>
              <a:rPr lang="en-US" sz="2400" dirty="0" err="1"/>
              <a:t>учета</a:t>
            </a:r>
            <a:r>
              <a:rPr lang="en-US" sz="2400" dirty="0"/>
              <a:t> </a:t>
            </a:r>
            <a:r>
              <a:rPr lang="en-US" sz="2400" b="1" dirty="0"/>
              <a:t>(Authentication, Authorization, And Accounting </a:t>
            </a:r>
            <a:r>
              <a:rPr lang="en-US" sz="2400" b="1" dirty="0" smtClean="0"/>
              <a:t>– ААА</a:t>
            </a:r>
            <a:r>
              <a:rPr lang="ru-RU" sz="2400" b="1" dirty="0" smtClean="0"/>
              <a:t>:</a:t>
            </a:r>
          </a:p>
          <a:p>
            <a:pPr lvl="1" algn="just"/>
            <a:r>
              <a:rPr lang="ru-RU" sz="2000" dirty="0" smtClean="0"/>
              <a:t>при аутентификации </a:t>
            </a:r>
            <a:r>
              <a:rPr lang="ru-RU" sz="2000" dirty="0"/>
              <a:t>коммутатор (или маршрутизатор) просто посылает на </a:t>
            </a:r>
            <a:r>
              <a:rPr lang="ru-RU" sz="2000" dirty="0" smtClean="0"/>
              <a:t>сервер ААА </a:t>
            </a:r>
            <a:r>
              <a:rPr lang="ru-RU" sz="2000" b="1" dirty="0"/>
              <a:t>сообщение с запросом</a:t>
            </a:r>
            <a:r>
              <a:rPr lang="ru-RU" sz="2000" dirty="0"/>
              <a:t>, допустимы ли данное имя пользователя и </a:t>
            </a:r>
            <a:r>
              <a:rPr lang="ru-RU" sz="2000" dirty="0" smtClean="0"/>
              <a:t>пароль, а </a:t>
            </a:r>
            <a:r>
              <a:rPr lang="ru-RU" sz="2000" dirty="0"/>
              <a:t>сервер ААА </a:t>
            </a:r>
            <a:r>
              <a:rPr lang="ru-RU" sz="2000" b="1" dirty="0"/>
              <a:t>отвечает</a:t>
            </a:r>
            <a:r>
              <a:rPr lang="ru-RU" sz="20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464" y="3828442"/>
            <a:ext cx="9961072" cy="282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37253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Настройка протокола </a:t>
            </a:r>
            <a:r>
              <a:rPr lang="en-US" u="sng" dirty="0" smtClean="0"/>
              <a:t>SSH</a:t>
            </a:r>
            <a:endParaRPr lang="ru-RU" u="sng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78819048"/>
              </p:ext>
            </p:extLst>
          </p:nvPr>
        </p:nvGraphicFramePr>
        <p:xfrm>
          <a:off x="974899" y="1467811"/>
          <a:ext cx="10378901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257"/>
                <a:gridCol w="792064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ЭТАП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ДЕЙСТВИЕ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Настройте линии </a:t>
                      </a:r>
                      <a:r>
                        <a:rPr lang="ru-RU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vty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на использование имен пользователя локально 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(используя команду </a:t>
                      </a:r>
                      <a:r>
                        <a:rPr lang="pt-BR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login local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При использовании локальных имен пользователя добавьте одну или несколько глобальных команд конфигурации 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username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чтобы задать пары имен пользователей и паролей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 (новые команды)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Настройте коммутатор на создание соответствующих пар открытых и закрытых ключей, используемых при шифровании. Для этого используются две команды:</a:t>
                      </a: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качестве предпосылки для следующей команды задайте имя домена DNS при помощи глобальной команды конфигурации 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ip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ain-na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имя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Создайте ключи шифрования, используя глобальную команду конфигурации </a:t>
                      </a:r>
                      <a:r>
                        <a:rPr lang="pt-BR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crypto key generate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rsa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Для повышения защиты разрешите использование версии 2 протокола SSH,</a:t>
                      </a:r>
                    </a:p>
                    <a:p>
                      <a:pPr algn="just"/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используя глобальную команду 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ip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ssh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 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(необязательно).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93384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Настройка протокола </a:t>
            </a:r>
            <a:r>
              <a:rPr lang="en-US" u="sng" dirty="0" smtClean="0"/>
              <a:t>SSH</a:t>
            </a:r>
            <a:endParaRPr lang="ru-RU" u="sng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004" y="1325563"/>
            <a:ext cx="9557992" cy="5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7049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09430"/>
          </a:xfrm>
        </p:spPr>
        <p:txBody>
          <a:bodyPr/>
          <a:lstStyle/>
          <a:p>
            <a:r>
              <a:rPr lang="ru-RU" u="sng" dirty="0" smtClean="0"/>
              <a:t>Настройка протокола </a:t>
            </a:r>
            <a:r>
              <a:rPr lang="en-US" u="sng" dirty="0" smtClean="0"/>
              <a:t>SSH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040" y="1109430"/>
            <a:ext cx="7817600" cy="21491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040" y="3358340"/>
            <a:ext cx="7817600" cy="3499660"/>
          </a:xfrm>
          <a:prstGeom prst="rect">
            <a:avLst/>
          </a:prstGeom>
        </p:spPr>
      </p:pic>
      <p:cxnSp>
        <p:nvCxnSpPr>
          <p:cNvPr id="7" name="Прямая соединительная линия 6"/>
          <p:cNvCxnSpPr/>
          <p:nvPr/>
        </p:nvCxnSpPr>
        <p:spPr>
          <a:xfrm>
            <a:off x="1255222" y="2693324"/>
            <a:ext cx="8936182" cy="1662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1255222" y="3707477"/>
            <a:ext cx="8936182" cy="1662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255222" y="6126481"/>
            <a:ext cx="8936182" cy="1662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49598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5964"/>
          </a:xfrm>
        </p:spPr>
        <p:txBody>
          <a:bodyPr/>
          <a:lstStyle/>
          <a:p>
            <a:r>
              <a:rPr lang="ru-RU" u="sng" dirty="0" smtClean="0"/>
              <a:t>Результаты ввода команд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13906"/>
            <a:ext cx="10515600" cy="4351338"/>
          </a:xfrm>
        </p:spPr>
        <p:txBody>
          <a:bodyPr/>
          <a:lstStyle/>
          <a:p>
            <a:pPr algn="just"/>
            <a:r>
              <a:rPr lang="ru-RU" b="1" dirty="0"/>
              <a:t>Команда </a:t>
            </a:r>
            <a:r>
              <a:rPr lang="ru-RU" b="1" dirty="0" err="1" smtClean="0"/>
              <a:t>show</a:t>
            </a:r>
            <a:r>
              <a:rPr lang="ru-RU" b="1" dirty="0" smtClean="0"/>
              <a:t> </a:t>
            </a:r>
            <a:r>
              <a:rPr lang="ru-RU" b="1" dirty="0" err="1"/>
              <a:t>ip</a:t>
            </a:r>
            <a:r>
              <a:rPr lang="ru-RU" b="1" dirty="0"/>
              <a:t> </a:t>
            </a:r>
            <a:r>
              <a:rPr lang="ru-RU" b="1" dirty="0" err="1" smtClean="0"/>
              <a:t>ssh</a:t>
            </a:r>
            <a:r>
              <a:rPr lang="ru-RU" b="1" dirty="0" smtClean="0"/>
              <a:t> </a:t>
            </a:r>
            <a:r>
              <a:rPr lang="ru-RU" dirty="0"/>
              <a:t>отображает информацию о </a:t>
            </a:r>
            <a:r>
              <a:rPr lang="ru-RU" dirty="0" smtClean="0"/>
              <a:t>состоянии самого </a:t>
            </a:r>
            <a:r>
              <a:rPr lang="ru-RU" dirty="0"/>
              <a:t>сервера </a:t>
            </a:r>
            <a:r>
              <a:rPr lang="ru-RU" dirty="0" smtClean="0"/>
              <a:t>SSH. </a:t>
            </a:r>
          </a:p>
          <a:p>
            <a:pPr algn="just"/>
            <a:r>
              <a:rPr lang="ru-RU" b="1" dirty="0" smtClean="0"/>
              <a:t>Команда </a:t>
            </a:r>
            <a:r>
              <a:rPr lang="ru-RU" b="1" dirty="0" err="1" smtClean="0"/>
              <a:t>show</a:t>
            </a:r>
            <a:r>
              <a:rPr lang="ru-RU" b="1" dirty="0" smtClean="0"/>
              <a:t> </a:t>
            </a:r>
            <a:r>
              <a:rPr lang="ru-RU" b="1" dirty="0" err="1"/>
              <a:t>ssh</a:t>
            </a:r>
            <a:r>
              <a:rPr lang="ru-RU" b="1" dirty="0"/>
              <a:t> </a:t>
            </a:r>
            <a:r>
              <a:rPr lang="ru-RU" dirty="0"/>
              <a:t>отображает </a:t>
            </a:r>
            <a:r>
              <a:rPr lang="ru-RU" dirty="0" smtClean="0"/>
              <a:t>информацию о каждом клиенте SSH, </a:t>
            </a:r>
            <a:r>
              <a:rPr lang="ru-RU" dirty="0"/>
              <a:t>подключенном к коммутатору в настоящее время.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449" y="3049905"/>
            <a:ext cx="8575704" cy="380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47952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Отключение протоколов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algn="just"/>
            <a:r>
              <a:rPr lang="ru-RU" dirty="0" smtClean="0"/>
              <a:t>Коммутатор </a:t>
            </a:r>
            <a:r>
              <a:rPr lang="ru-RU" dirty="0"/>
              <a:t>поддерживает на </a:t>
            </a:r>
            <a:r>
              <a:rPr lang="ru-RU" dirty="0" smtClean="0"/>
              <a:t>линиях </a:t>
            </a:r>
            <a:r>
              <a:rPr lang="ru-RU" dirty="0" err="1"/>
              <a:t>vty</a:t>
            </a:r>
            <a:r>
              <a:rPr lang="ru-RU" dirty="0"/>
              <a:t> </a:t>
            </a:r>
            <a:r>
              <a:rPr lang="ru-RU" b="1" dirty="0"/>
              <a:t>доступ по протоколам </a:t>
            </a:r>
            <a:r>
              <a:rPr lang="ru-RU" dirty="0" err="1" smtClean="0"/>
              <a:t>Telnet</a:t>
            </a:r>
            <a:r>
              <a:rPr lang="ru-RU" dirty="0" smtClean="0"/>
              <a:t> и SSH, </a:t>
            </a:r>
            <a:r>
              <a:rPr lang="ru-RU" dirty="0"/>
              <a:t>но для повышения безопасности </a:t>
            </a:r>
            <a:r>
              <a:rPr lang="ru-RU" b="1" dirty="0"/>
              <a:t>можно отключить </a:t>
            </a:r>
            <a:r>
              <a:rPr lang="ru-RU" dirty="0"/>
              <a:t>один или оба из них</a:t>
            </a:r>
            <a:r>
              <a:rPr lang="ru-RU" dirty="0" smtClean="0"/>
              <a:t>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Коммутатор контролирует поддержку </a:t>
            </a:r>
            <a:r>
              <a:rPr lang="ru-RU" dirty="0" smtClean="0"/>
              <a:t>протоколов </a:t>
            </a:r>
            <a:r>
              <a:rPr lang="ru-RU" dirty="0" err="1" smtClean="0"/>
              <a:t>Telnet</a:t>
            </a:r>
            <a:r>
              <a:rPr lang="ru-RU" dirty="0" smtClean="0"/>
              <a:t> </a:t>
            </a:r>
            <a:r>
              <a:rPr lang="ru-RU" dirty="0"/>
              <a:t>и SSH на </a:t>
            </a:r>
            <a:r>
              <a:rPr lang="ru-RU" dirty="0" smtClean="0"/>
              <a:t>линиях </a:t>
            </a:r>
            <a:r>
              <a:rPr lang="ru-RU" dirty="0" err="1"/>
              <a:t>vty</a:t>
            </a:r>
            <a:r>
              <a:rPr lang="ru-RU" dirty="0"/>
              <a:t>, используя подкоманду </a:t>
            </a:r>
            <a:r>
              <a:rPr lang="ru-RU" dirty="0" err="1"/>
              <a:t>vty</a:t>
            </a:r>
            <a:r>
              <a:rPr lang="ru-RU" dirty="0"/>
              <a:t> </a:t>
            </a:r>
            <a:r>
              <a:rPr lang="ru-RU" dirty="0" err="1" smtClean="0"/>
              <a:t>transport</a:t>
            </a:r>
            <a:r>
              <a:rPr lang="ru-RU" dirty="0" smtClean="0"/>
              <a:t> </a:t>
            </a:r>
            <a:r>
              <a:rPr lang="ru-RU" dirty="0" err="1" smtClean="0"/>
              <a:t>input</a:t>
            </a:r>
            <a:r>
              <a:rPr lang="ru-RU" dirty="0" smtClean="0"/>
              <a:t> {</a:t>
            </a:r>
            <a:r>
              <a:rPr lang="ru-RU" dirty="0" err="1" smtClean="0"/>
              <a:t>all</a:t>
            </a:r>
            <a:r>
              <a:rPr lang="ru-RU" dirty="0" smtClean="0"/>
              <a:t>/</a:t>
            </a:r>
            <a:r>
              <a:rPr lang="ru-RU" dirty="0" err="1" smtClean="0"/>
              <a:t>none</a:t>
            </a:r>
            <a:r>
              <a:rPr lang="ru-RU" dirty="0" smtClean="0"/>
              <a:t>/</a:t>
            </a:r>
            <a:r>
              <a:rPr lang="ru-RU" dirty="0" err="1" smtClean="0"/>
              <a:t>telnet</a:t>
            </a:r>
            <a:r>
              <a:rPr lang="ru-RU" dirty="0" smtClean="0"/>
              <a:t>/</a:t>
            </a:r>
            <a:r>
              <a:rPr lang="ru-RU" dirty="0" err="1" smtClean="0"/>
              <a:t>ssh</a:t>
            </a:r>
            <a:r>
              <a:rPr lang="ru-RU" dirty="0" smtClean="0"/>
              <a:t>) </a:t>
            </a:r>
            <a:r>
              <a:rPr lang="ru-RU" dirty="0"/>
              <a:t>со следующими параметрами: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781" y="5098646"/>
            <a:ext cx="8369877" cy="138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99244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Шифрование паролей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По умолчанию для </a:t>
            </a:r>
            <a:r>
              <a:rPr lang="ru-RU" dirty="0"/>
              <a:t>некоторых из команд </a:t>
            </a:r>
            <a:r>
              <a:rPr lang="ru-RU" dirty="0" smtClean="0"/>
              <a:t>конфигурации, пароли хранятся виде </a:t>
            </a:r>
            <a:r>
              <a:rPr lang="ru-RU" dirty="0"/>
              <a:t>открытого </a:t>
            </a:r>
            <a:r>
              <a:rPr lang="ru-RU" dirty="0" smtClean="0"/>
              <a:t>текста </a:t>
            </a:r>
            <a:r>
              <a:rPr lang="ru-RU" b="1" dirty="0" smtClean="0"/>
              <a:t>в </a:t>
            </a:r>
            <a:r>
              <a:rPr lang="ru-RU" b="1" dirty="0"/>
              <a:t>файле </a:t>
            </a:r>
            <a:r>
              <a:rPr lang="ru-RU" b="1" dirty="0" err="1" smtClean="0"/>
              <a:t>running-config</a:t>
            </a:r>
            <a:r>
              <a:rPr lang="ru-RU" dirty="0" smtClean="0"/>
              <a:t>.</a:t>
            </a:r>
          </a:p>
          <a:p>
            <a:pPr algn="just"/>
            <a:endParaRPr lang="ru-RU" dirty="0" smtClean="0"/>
          </a:p>
          <a:p>
            <a:pPr algn="just"/>
            <a:r>
              <a:rPr lang="ru-RU" dirty="0" smtClean="0"/>
              <a:t>Только </a:t>
            </a:r>
            <a:r>
              <a:rPr lang="ru-RU" dirty="0"/>
              <a:t>команда </a:t>
            </a:r>
            <a:r>
              <a:rPr lang="ru-RU" b="1" dirty="0" err="1" smtClean="0"/>
              <a:t>еnа</a:t>
            </a:r>
            <a:r>
              <a:rPr lang="en-US" b="1" dirty="0" err="1" smtClean="0"/>
              <a:t>bl</a:t>
            </a:r>
            <a:r>
              <a:rPr lang="ru-RU" b="1" dirty="0" smtClean="0"/>
              <a:t>е </a:t>
            </a:r>
            <a:r>
              <a:rPr lang="ru-RU" b="1" dirty="0" err="1" smtClean="0"/>
              <a:t>secret</a:t>
            </a:r>
            <a:r>
              <a:rPr lang="ru-RU" b="1" dirty="0" smtClean="0"/>
              <a:t> </a:t>
            </a:r>
            <a:r>
              <a:rPr lang="ru-RU" dirty="0" smtClean="0"/>
              <a:t>автоматически </a:t>
            </a:r>
            <a:r>
              <a:rPr lang="ru-RU" dirty="0"/>
              <a:t>скрывает </a:t>
            </a:r>
            <a:r>
              <a:rPr lang="ru-RU" dirty="0" smtClean="0"/>
              <a:t>значение пароля.</a:t>
            </a:r>
          </a:p>
          <a:p>
            <a:pPr algn="just"/>
            <a:endParaRPr lang="ru-RU" dirty="0"/>
          </a:p>
          <a:p>
            <a:pPr algn="just"/>
            <a:r>
              <a:rPr lang="ru-RU" dirty="0" smtClean="0"/>
              <a:t>Результатом применения методов шифрования пароля будет </a:t>
            </a:r>
            <a:r>
              <a:rPr lang="ru-RU" dirty="0"/>
              <a:t>невозможность просмотреть пароли в </a:t>
            </a:r>
            <a:r>
              <a:rPr lang="ru-RU" dirty="0" smtClean="0"/>
              <a:t>выводе </a:t>
            </a:r>
            <a:r>
              <a:rPr lang="pt-BR" dirty="0" smtClean="0"/>
              <a:t>команды </a:t>
            </a:r>
            <a:r>
              <a:rPr lang="pt-BR" b="1" dirty="0" smtClean="0"/>
              <a:t>show running-config</a:t>
            </a:r>
            <a:r>
              <a:rPr lang="pt-BR" b="1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xmlns="" val="1794768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Шифрование паролей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53243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Н</a:t>
            </a:r>
            <a:r>
              <a:rPr lang="ru-RU" dirty="0" smtClean="0"/>
              <a:t>екоторые пароли можно </a:t>
            </a:r>
            <a:r>
              <a:rPr lang="ru-RU" dirty="0"/>
              <a:t>зашифровать при помощи глобальной команды </a:t>
            </a:r>
            <a:r>
              <a:rPr lang="ru-RU" dirty="0" smtClean="0"/>
              <a:t>конфигурации </a:t>
            </a:r>
            <a:r>
              <a:rPr lang="ru-RU" b="1" dirty="0" err="1" smtClean="0"/>
              <a:t>service</a:t>
            </a:r>
            <a:r>
              <a:rPr lang="ru-RU" b="1" dirty="0" smtClean="0"/>
              <a:t> </a:t>
            </a:r>
            <a:r>
              <a:rPr lang="fr-FR" b="1" dirty="0" smtClean="0"/>
              <a:t>password-encryption</a:t>
            </a:r>
            <a:r>
              <a:rPr lang="ru-RU" dirty="0" smtClean="0"/>
              <a:t>:</a:t>
            </a:r>
          </a:p>
          <a:p>
            <a:pPr algn="just"/>
            <a:endParaRPr lang="ru-RU" b="1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dirty="0"/>
              <a:t>Немедленно после ввода </a:t>
            </a:r>
            <a:r>
              <a:rPr lang="ru-RU" dirty="0" smtClean="0"/>
              <a:t>данной команды IOS </a:t>
            </a:r>
            <a:r>
              <a:rPr lang="ru-RU" dirty="0"/>
              <a:t>шифрует все существующие команды </a:t>
            </a:r>
            <a:r>
              <a:rPr lang="ru-RU" b="1" dirty="0" err="1" smtClean="0"/>
              <a:t>password</a:t>
            </a:r>
            <a:r>
              <a:rPr lang="ru-RU" dirty="0" smtClean="0"/>
              <a:t> </a:t>
            </a:r>
            <a:r>
              <a:rPr lang="ru-RU" dirty="0"/>
              <a:t>(в </a:t>
            </a:r>
            <a:r>
              <a:rPr lang="ru-RU" dirty="0" smtClean="0"/>
              <a:t>режимах консоли </a:t>
            </a:r>
            <a:r>
              <a:rPr lang="ru-RU" dirty="0"/>
              <a:t>и </a:t>
            </a:r>
            <a:r>
              <a:rPr lang="ru-RU" dirty="0" err="1"/>
              <a:t>vty</a:t>
            </a:r>
            <a:r>
              <a:rPr lang="ru-RU" dirty="0"/>
              <a:t>), а также пароли команды </a:t>
            </a:r>
            <a:r>
              <a:rPr lang="ru-RU" b="1" dirty="0" err="1" smtClean="0"/>
              <a:t>username</a:t>
            </a:r>
            <a:r>
              <a:rPr lang="ru-RU" b="1" dirty="0" smtClean="0"/>
              <a:t> </a:t>
            </a:r>
            <a:r>
              <a:rPr lang="ru-RU" b="1" dirty="0" err="1" smtClean="0"/>
              <a:t>password</a:t>
            </a:r>
            <a:r>
              <a:rPr lang="ru-RU" dirty="0" smtClean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ru-RU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dirty="0" smtClean="0"/>
              <a:t>Пока данная команда остается </a:t>
            </a:r>
            <a:r>
              <a:rPr lang="ru-RU" dirty="0"/>
              <a:t>в </a:t>
            </a:r>
            <a:r>
              <a:rPr lang="ru-RU" dirty="0" smtClean="0"/>
              <a:t>конфигурации, IOS </a:t>
            </a:r>
            <a:r>
              <a:rPr lang="ru-RU" dirty="0"/>
              <a:t>шифрует </a:t>
            </a:r>
            <a:r>
              <a:rPr lang="ru-RU" dirty="0" smtClean="0"/>
              <a:t>пароли, </a:t>
            </a:r>
            <a:r>
              <a:rPr lang="ru-RU" dirty="0"/>
              <a:t>даже если их значения изменяются</a:t>
            </a:r>
            <a:r>
              <a:rPr lang="ru-RU" dirty="0" smtClean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ru-RU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dirty="0" smtClean="0"/>
              <a:t>Немедленно </a:t>
            </a:r>
            <a:r>
              <a:rPr lang="ru-RU" dirty="0"/>
              <a:t>после ввода команды </a:t>
            </a:r>
            <a:r>
              <a:rPr lang="en-US" dirty="0"/>
              <a:t>no </a:t>
            </a:r>
            <a:r>
              <a:rPr lang="en-US" dirty="0" smtClean="0"/>
              <a:t>service password-encryption </a:t>
            </a:r>
            <a:r>
              <a:rPr lang="ru-RU" dirty="0" smtClean="0"/>
              <a:t>шифрование паролей </a:t>
            </a:r>
            <a:r>
              <a:rPr lang="ru-RU" dirty="0"/>
              <a:t>отменяется, но </a:t>
            </a:r>
            <a:r>
              <a:rPr lang="ru-RU" dirty="0" smtClean="0"/>
              <a:t>существующие пароли остаются зашифрованными.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ru-RU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pt-BR" dirty="0" smtClean="0"/>
              <a:t>После </a:t>
            </a:r>
            <a:r>
              <a:rPr lang="pt-BR" dirty="0"/>
              <a:t>удаления </a:t>
            </a:r>
            <a:r>
              <a:rPr lang="ru-RU" dirty="0" smtClean="0"/>
              <a:t>данной </a:t>
            </a:r>
            <a:r>
              <a:rPr lang="pt-BR" dirty="0" smtClean="0"/>
              <a:t>команды из конфигурации</a:t>
            </a:r>
            <a:r>
              <a:rPr lang="ru-RU" dirty="0" smtClean="0"/>
              <a:t> операционная </a:t>
            </a:r>
            <a:r>
              <a:rPr lang="ru-RU" dirty="0"/>
              <a:t>система </a:t>
            </a:r>
            <a:r>
              <a:rPr lang="ru-RU" dirty="0" smtClean="0"/>
              <a:t>IOS </a:t>
            </a:r>
            <a:r>
              <a:rPr lang="ru-RU" dirty="0"/>
              <a:t>сохраняет значения всех измененных </a:t>
            </a:r>
            <a:r>
              <a:rPr lang="ru-RU" dirty="0" smtClean="0"/>
              <a:t>паролей этих </a:t>
            </a:r>
            <a:r>
              <a:rPr lang="ru-RU" dirty="0"/>
              <a:t>команд в виде обычного текста.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xmlns="" val="2159072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Шифрование паролей</a:t>
            </a:r>
            <a:endParaRPr lang="ru-RU" u="sng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5563"/>
            <a:ext cx="6285807" cy="18249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06" y="3150524"/>
            <a:ext cx="7266710" cy="370747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160718" y="1712191"/>
            <a:ext cx="419813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пароли открытым </a:t>
            </a:r>
          </a:p>
          <a:p>
            <a:pPr algn="ctr"/>
            <a:r>
              <a:rPr lang="ru-RU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текстом</a:t>
            </a:r>
            <a:endParaRPr lang="ru-RU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Стрелка влево 7"/>
          <p:cNvSpPr/>
          <p:nvPr/>
        </p:nvSpPr>
        <p:spPr>
          <a:xfrm>
            <a:off x="3266902" y="1769638"/>
            <a:ext cx="1022465" cy="38335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лево 8"/>
          <p:cNvSpPr/>
          <p:nvPr/>
        </p:nvSpPr>
        <p:spPr>
          <a:xfrm>
            <a:off x="3266902" y="2539624"/>
            <a:ext cx="1022465" cy="38335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319994" y="2152996"/>
            <a:ext cx="66427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2319994" y="2906356"/>
            <a:ext cx="66427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189214" y="4186926"/>
            <a:ext cx="326403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пароли </a:t>
            </a:r>
          </a:p>
          <a:p>
            <a:pPr algn="ctr"/>
            <a:r>
              <a:rPr lang="ru-RU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зашифрованы</a:t>
            </a:r>
            <a:endParaRPr lang="ru-RU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Стрелка влево 16"/>
          <p:cNvSpPr/>
          <p:nvPr/>
        </p:nvSpPr>
        <p:spPr>
          <a:xfrm>
            <a:off x="7897091" y="4770533"/>
            <a:ext cx="1022465" cy="38335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 влево 17"/>
          <p:cNvSpPr/>
          <p:nvPr/>
        </p:nvSpPr>
        <p:spPr>
          <a:xfrm>
            <a:off x="7897091" y="5540519"/>
            <a:ext cx="1022465" cy="38335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6118910" y="5153891"/>
            <a:ext cx="139579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6118910" y="5852160"/>
            <a:ext cx="139579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60229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Шифрование привилегированного пароля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algn="just"/>
            <a:r>
              <a:rPr lang="ru-RU" dirty="0" smtClean="0"/>
              <a:t>Старая команда </a:t>
            </a:r>
            <a:r>
              <a:rPr lang="ru-RU" b="1" dirty="0" err="1" smtClean="0"/>
              <a:t>еnа</a:t>
            </a:r>
            <a:r>
              <a:rPr lang="en-US" b="1" dirty="0" err="1" smtClean="0"/>
              <a:t>bl</a:t>
            </a:r>
            <a:r>
              <a:rPr lang="ru-RU" b="1" dirty="0" smtClean="0"/>
              <a:t>е </a:t>
            </a:r>
            <a:r>
              <a:rPr lang="ru-RU" b="1" dirty="0" err="1" smtClean="0"/>
              <a:t>password</a:t>
            </a:r>
            <a:r>
              <a:rPr lang="ru-RU" b="1" dirty="0" smtClean="0"/>
              <a:t> </a:t>
            </a:r>
            <a:r>
              <a:rPr lang="ru-RU" dirty="0" smtClean="0"/>
              <a:t>сохраняет пароль на привилегированный режим </a:t>
            </a:r>
            <a:r>
              <a:rPr lang="ru-RU" dirty="0"/>
              <a:t>как открытый </a:t>
            </a:r>
            <a:r>
              <a:rPr lang="ru-RU" dirty="0" smtClean="0"/>
              <a:t>текст.</a:t>
            </a:r>
            <a:endParaRPr lang="ru-RU" dirty="0"/>
          </a:p>
          <a:p>
            <a:pPr algn="just"/>
            <a:r>
              <a:rPr lang="ru-RU" dirty="0"/>
              <a:t>Н</a:t>
            </a:r>
            <a:r>
              <a:rPr lang="ru-RU" dirty="0" smtClean="0"/>
              <a:t>овая команда </a:t>
            </a:r>
            <a:r>
              <a:rPr lang="ru-RU" b="1" dirty="0" err="1" smtClean="0"/>
              <a:t>еnа</a:t>
            </a:r>
            <a:r>
              <a:rPr lang="en-US" b="1" dirty="0" err="1" smtClean="0"/>
              <a:t>bl</a:t>
            </a:r>
            <a:r>
              <a:rPr lang="ru-RU" b="1" dirty="0" smtClean="0"/>
              <a:t>е </a:t>
            </a:r>
            <a:r>
              <a:rPr lang="ru-RU" b="1" dirty="0" err="1" smtClean="0"/>
              <a:t>secret</a:t>
            </a:r>
            <a:r>
              <a:rPr lang="ru-RU" b="1" dirty="0" smtClean="0"/>
              <a:t> </a:t>
            </a:r>
            <a:r>
              <a:rPr lang="ru-RU" dirty="0"/>
              <a:t>автоматически шифрует пароль, </a:t>
            </a:r>
            <a:r>
              <a:rPr lang="ru-RU" dirty="0" smtClean="0"/>
              <a:t>применяет </a:t>
            </a:r>
            <a:r>
              <a:rPr lang="ru-RU" dirty="0"/>
              <a:t>к </a:t>
            </a:r>
            <a:r>
              <a:rPr lang="ru-RU" dirty="0" smtClean="0"/>
              <a:t>нему математическую </a:t>
            </a:r>
            <a:r>
              <a:rPr lang="ru-RU" dirty="0"/>
              <a:t>функцию </a:t>
            </a:r>
            <a:r>
              <a:rPr lang="ru-RU" dirty="0" err="1" smtClean="0"/>
              <a:t>Message</a:t>
            </a:r>
            <a:r>
              <a:rPr lang="ru-RU" dirty="0" smtClean="0"/>
              <a:t> </a:t>
            </a:r>
            <a:r>
              <a:rPr lang="ru-RU" dirty="0" err="1"/>
              <a:t>Digest</a:t>
            </a:r>
            <a:r>
              <a:rPr lang="ru-RU" dirty="0"/>
              <a:t> 5 </a:t>
            </a:r>
            <a:r>
              <a:rPr lang="ru-RU" dirty="0" smtClean="0"/>
              <a:t>(MD5 – тип 5), сохраняя результат </a:t>
            </a:r>
            <a:r>
              <a:rPr lang="ru-RU" dirty="0"/>
              <a:t>вычисления в файле конфигурации.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368" y="4337598"/>
            <a:ext cx="7705032" cy="117703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368" y="5514629"/>
            <a:ext cx="7705032" cy="73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38120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Шифрование локальных паролей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Для лучшего шифрования локальных паролей добавлена глобальная команда </a:t>
            </a:r>
            <a:r>
              <a:rPr lang="ru-RU" b="1" dirty="0" err="1" smtClean="0"/>
              <a:t>username</a:t>
            </a:r>
            <a:r>
              <a:rPr lang="ru-RU" b="1" dirty="0" smtClean="0"/>
              <a:t> пользователь </a:t>
            </a:r>
            <a:r>
              <a:rPr lang="en-US" b="1" dirty="0" smtClean="0"/>
              <a:t>secret </a:t>
            </a:r>
            <a:r>
              <a:rPr lang="ru-RU" b="1" dirty="0" smtClean="0"/>
              <a:t>пароль </a:t>
            </a:r>
            <a:r>
              <a:rPr lang="ru-RU" dirty="0" smtClean="0"/>
              <a:t>(использует </a:t>
            </a:r>
            <a:r>
              <a:rPr lang="ru-RU" dirty="0"/>
              <a:t>алгоритм шифрования </a:t>
            </a:r>
            <a:r>
              <a:rPr lang="ru-RU" dirty="0" smtClean="0"/>
              <a:t>SHA-256 </a:t>
            </a:r>
            <a:r>
              <a:rPr lang="ru-RU" dirty="0"/>
              <a:t>(тип 4</a:t>
            </a:r>
            <a:r>
              <a:rPr lang="ru-RU" dirty="0" smtClean="0"/>
              <a:t>)) </a:t>
            </a:r>
            <a:r>
              <a:rPr lang="ru-RU" dirty="0"/>
              <a:t>как </a:t>
            </a:r>
            <a:r>
              <a:rPr lang="ru-RU" dirty="0" smtClean="0"/>
              <a:t>альтернатива </a:t>
            </a:r>
            <a:r>
              <a:rPr lang="ru-RU" dirty="0"/>
              <a:t>команде </a:t>
            </a:r>
            <a:r>
              <a:rPr lang="en-US" b="1" dirty="0" smtClean="0"/>
              <a:t>username </a:t>
            </a:r>
            <a:r>
              <a:rPr lang="ru-RU" b="1" dirty="0" smtClean="0"/>
              <a:t>пользователь </a:t>
            </a:r>
            <a:r>
              <a:rPr lang="en-US" b="1" dirty="0" smtClean="0"/>
              <a:t>password</a:t>
            </a:r>
            <a:r>
              <a:rPr lang="ru-RU" b="1" dirty="0" smtClean="0"/>
              <a:t> пароль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527" y="3732148"/>
            <a:ext cx="9002944" cy="12216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27" y="4630832"/>
            <a:ext cx="8073175" cy="2046193"/>
          </a:xfrm>
          <a:prstGeom prst="rect">
            <a:avLst/>
          </a:prstGeom>
        </p:spPr>
      </p:pic>
      <p:sp>
        <p:nvSpPr>
          <p:cNvPr id="6" name="Стрелка вправо 5"/>
          <p:cNvSpPr/>
          <p:nvPr/>
        </p:nvSpPr>
        <p:spPr>
          <a:xfrm>
            <a:off x="457199" y="6082016"/>
            <a:ext cx="1072342" cy="68995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70976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57447"/>
            <a:ext cx="10515600" cy="839585"/>
          </a:xfrm>
        </p:spPr>
        <p:txBody>
          <a:bodyPr/>
          <a:lstStyle/>
          <a:p>
            <a:r>
              <a:rPr lang="ru-RU" u="sng" dirty="0" smtClean="0"/>
              <a:t>Отображаемое сообщение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71105"/>
            <a:ext cx="10515600" cy="5120640"/>
          </a:xfrm>
        </p:spPr>
        <p:txBody>
          <a:bodyPr/>
          <a:lstStyle/>
          <a:p>
            <a:pPr algn="just"/>
            <a:r>
              <a:rPr lang="ru-RU" b="1" dirty="0"/>
              <a:t>Отображаемое</a:t>
            </a:r>
            <a:r>
              <a:rPr lang="ru-RU" dirty="0"/>
              <a:t> при подключении </a:t>
            </a:r>
            <a:r>
              <a:rPr lang="ru-RU" b="1" dirty="0"/>
              <a:t>сообщение</a:t>
            </a:r>
            <a:r>
              <a:rPr lang="ru-RU" dirty="0"/>
              <a:t> (</a:t>
            </a:r>
            <a:r>
              <a:rPr lang="ru-RU" dirty="0" err="1"/>
              <a:t>banner</a:t>
            </a:r>
            <a:r>
              <a:rPr lang="ru-RU" dirty="0"/>
              <a:t>) - это просто </a:t>
            </a:r>
            <a:r>
              <a:rPr lang="ru-RU" dirty="0" smtClean="0"/>
              <a:t>текст, который </a:t>
            </a:r>
            <a:r>
              <a:rPr lang="ru-RU" dirty="0"/>
              <a:t>выводится на экран пользователя</a:t>
            </a:r>
            <a:r>
              <a:rPr lang="ru-RU" dirty="0" smtClean="0"/>
              <a:t>.</a:t>
            </a:r>
          </a:p>
          <a:p>
            <a:pPr algn="just"/>
            <a:endParaRPr lang="ru-RU" dirty="0"/>
          </a:p>
          <a:p>
            <a:r>
              <a:rPr lang="ru-RU" b="1" dirty="0"/>
              <a:t>Команда </a:t>
            </a:r>
            <a:r>
              <a:rPr lang="ru-RU" b="1" dirty="0" err="1" smtClean="0"/>
              <a:t>banner</a:t>
            </a:r>
            <a:r>
              <a:rPr lang="ru-RU" b="1" dirty="0" smtClean="0"/>
              <a:t> </a:t>
            </a:r>
            <a:r>
              <a:rPr lang="ru-RU" dirty="0"/>
              <a:t>режима глобальной </a:t>
            </a:r>
            <a:r>
              <a:rPr lang="ru-RU" dirty="0" smtClean="0"/>
              <a:t>конфигурации применяется позволяет настроить 3 типа сообщений:</a:t>
            </a:r>
          </a:p>
          <a:p>
            <a:endParaRPr lang="ru-RU" dirty="0"/>
          </a:p>
          <a:p>
            <a:pPr marL="914400" lvl="1" indent="-457200" algn="just">
              <a:buFont typeface="+mj-lt"/>
              <a:buAutoNum type="arabicPeriod"/>
            </a:pPr>
            <a:r>
              <a:rPr lang="en-US" b="1" dirty="0" err="1"/>
              <a:t>Сообщение</a:t>
            </a:r>
            <a:r>
              <a:rPr lang="en-US" b="1" dirty="0"/>
              <a:t> </a:t>
            </a:r>
            <a:r>
              <a:rPr lang="en-US" b="1" dirty="0" err="1" smtClean="0"/>
              <a:t>дня</a:t>
            </a:r>
            <a:r>
              <a:rPr lang="ru-RU" b="1" dirty="0" smtClean="0"/>
              <a:t> </a:t>
            </a:r>
            <a:r>
              <a:rPr lang="en-US" dirty="0" smtClean="0"/>
              <a:t>(Message of</a:t>
            </a:r>
            <a:r>
              <a:rPr lang="ru-RU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Day </a:t>
            </a:r>
            <a:r>
              <a:rPr lang="en-US" dirty="0" smtClean="0"/>
              <a:t>-</a:t>
            </a:r>
            <a:r>
              <a:rPr lang="ru-RU" dirty="0" smtClean="0"/>
              <a:t> </a:t>
            </a:r>
            <a:r>
              <a:rPr lang="en-US" dirty="0" smtClean="0"/>
              <a:t>MOTD)</a:t>
            </a:r>
            <a:r>
              <a:rPr lang="ru-RU" dirty="0" smtClean="0"/>
              <a:t> - отображается </a:t>
            </a:r>
            <a:r>
              <a:rPr lang="ru-RU" dirty="0"/>
              <a:t>до того, как появится </a:t>
            </a:r>
            <a:r>
              <a:rPr lang="ru-RU" dirty="0" smtClean="0"/>
              <a:t>приглашение аутентификации.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ru-RU" b="1" dirty="0" smtClean="0"/>
              <a:t>Сообщение перед аутентификацией </a:t>
            </a:r>
            <a:r>
              <a:rPr lang="ru-RU" dirty="0" smtClean="0"/>
              <a:t>(</a:t>
            </a:r>
            <a:r>
              <a:rPr lang="en-US" dirty="0" smtClean="0"/>
              <a:t>login)</a:t>
            </a:r>
            <a:r>
              <a:rPr lang="ru-RU" dirty="0"/>
              <a:t> </a:t>
            </a:r>
            <a:r>
              <a:rPr lang="ru-RU" dirty="0" smtClean="0"/>
              <a:t>- отображается </a:t>
            </a:r>
            <a:r>
              <a:rPr lang="ru-RU" dirty="0"/>
              <a:t>до выполнения </a:t>
            </a:r>
            <a:r>
              <a:rPr lang="ru-RU" dirty="0" smtClean="0"/>
              <a:t>аутентификации, </a:t>
            </a:r>
            <a:r>
              <a:rPr lang="ru-RU" dirty="0"/>
              <a:t>но </a:t>
            </a:r>
            <a:r>
              <a:rPr lang="ru-RU" dirty="0" smtClean="0"/>
              <a:t>после сообщения </a:t>
            </a:r>
            <a:r>
              <a:rPr lang="ru-RU" dirty="0"/>
              <a:t>дня</a:t>
            </a:r>
            <a:r>
              <a:rPr lang="ru-RU" dirty="0" smtClean="0"/>
              <a:t>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ru-RU" b="1" dirty="0"/>
              <a:t>Сообщение </a:t>
            </a:r>
            <a:r>
              <a:rPr lang="ru-RU" b="1" dirty="0" smtClean="0"/>
              <a:t>после аутентификации </a:t>
            </a:r>
            <a:r>
              <a:rPr lang="ru-RU" dirty="0"/>
              <a:t>(</a:t>
            </a:r>
            <a:r>
              <a:rPr lang="ru-RU" dirty="0" err="1"/>
              <a:t>ехес</a:t>
            </a:r>
            <a:r>
              <a:rPr lang="ru-RU" dirty="0" smtClean="0"/>
              <a:t>) - отображается </a:t>
            </a:r>
            <a:r>
              <a:rPr lang="ru-RU" dirty="0"/>
              <a:t>после успешной аутентификации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xmlns="" val="1826810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49135"/>
            <a:ext cx="10515600" cy="839585"/>
          </a:xfrm>
        </p:spPr>
        <p:txBody>
          <a:bodyPr/>
          <a:lstStyle/>
          <a:p>
            <a:r>
              <a:rPr lang="ru-RU" u="sng" dirty="0" smtClean="0"/>
              <a:t>Буфер истории команд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62298"/>
            <a:ext cx="10515600" cy="4887884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/>
              <a:t>В </a:t>
            </a:r>
            <a:r>
              <a:rPr lang="ru-RU" b="1" dirty="0" smtClean="0"/>
              <a:t>буфер истории </a:t>
            </a:r>
            <a:r>
              <a:rPr lang="ru-RU" dirty="0" smtClean="0"/>
              <a:t>сохраняется несколько последних введенных команд.</a:t>
            </a:r>
          </a:p>
          <a:p>
            <a:pPr algn="just"/>
            <a:endParaRPr lang="ru-RU" dirty="0"/>
          </a:p>
          <a:p>
            <a:r>
              <a:rPr lang="ru-RU" dirty="0" smtClean="0"/>
              <a:t>Некоторые </a:t>
            </a:r>
            <a:r>
              <a:rPr lang="ru-RU" dirty="0"/>
              <a:t>из </a:t>
            </a:r>
            <a:r>
              <a:rPr lang="ru-RU" dirty="0" smtClean="0"/>
              <a:t>наиболее полезных </a:t>
            </a:r>
            <a:r>
              <a:rPr lang="ru-RU" dirty="0"/>
              <a:t>команд для работы с буфером </a:t>
            </a:r>
            <a:r>
              <a:rPr lang="ru-RU" dirty="0" smtClean="0"/>
              <a:t>истории: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show </a:t>
            </a:r>
            <a:r>
              <a:rPr lang="pt-BR" b="1" dirty="0" smtClean="0"/>
              <a:t>history</a:t>
            </a:r>
            <a:r>
              <a:rPr lang="ru-RU" b="1" dirty="0" smtClean="0"/>
              <a:t> </a:t>
            </a:r>
            <a:r>
              <a:rPr lang="ru-RU" dirty="0" smtClean="0"/>
              <a:t>- отображает </a:t>
            </a:r>
            <a:r>
              <a:rPr lang="ru-RU" dirty="0"/>
              <a:t>команды, </a:t>
            </a:r>
            <a:r>
              <a:rPr lang="ru-RU" dirty="0" smtClean="0"/>
              <a:t>находящиеся </a:t>
            </a:r>
            <a:r>
              <a:rPr lang="ru-RU" dirty="0"/>
              <a:t>в буфере истории </a:t>
            </a:r>
            <a:r>
              <a:rPr lang="ru-RU" dirty="0" smtClean="0"/>
              <a:t>команд;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b="1" dirty="0" smtClean="0"/>
              <a:t>history size х</a:t>
            </a:r>
            <a:r>
              <a:rPr lang="ru-RU" b="1" dirty="0"/>
              <a:t> </a:t>
            </a:r>
            <a:r>
              <a:rPr lang="ru-RU" dirty="0"/>
              <a:t>- задает количество команд (х), которое </a:t>
            </a:r>
            <a:r>
              <a:rPr lang="ru-RU" dirty="0" smtClean="0"/>
              <a:t>будет сохраняться </a:t>
            </a:r>
            <a:r>
              <a:rPr lang="ru-RU" dirty="0"/>
              <a:t>в буфере истории </a:t>
            </a:r>
            <a:r>
              <a:rPr lang="ru-RU" dirty="0" smtClean="0"/>
              <a:t>команд (для консольного </a:t>
            </a:r>
            <a:r>
              <a:rPr lang="ru-RU" dirty="0"/>
              <a:t>или сеанса </a:t>
            </a:r>
            <a:r>
              <a:rPr lang="ru-RU" dirty="0" err="1" smtClean="0"/>
              <a:t>vty</a:t>
            </a:r>
            <a:r>
              <a:rPr lang="ru-RU" dirty="0" smtClean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 smtClean="0"/>
              <a:t>terminal history size х</a:t>
            </a:r>
            <a:r>
              <a:rPr lang="ru-RU" b="1" dirty="0"/>
              <a:t> </a:t>
            </a:r>
            <a:r>
              <a:rPr lang="ru-RU" dirty="0"/>
              <a:t>- </a:t>
            </a:r>
            <a:r>
              <a:rPr lang="ru-RU" dirty="0" smtClean="0"/>
              <a:t>позволяет </a:t>
            </a:r>
            <a:r>
              <a:rPr lang="ru-RU" dirty="0"/>
              <a:t>задавать размер буфера истории команд (х) </a:t>
            </a:r>
            <a:r>
              <a:rPr lang="ru-RU" dirty="0" smtClean="0"/>
              <a:t>только для </a:t>
            </a:r>
            <a:r>
              <a:rPr lang="ru-RU" dirty="0"/>
              <a:t>текущего сеанса </a:t>
            </a:r>
            <a:r>
              <a:rPr lang="ru-RU" dirty="0" smtClean="0"/>
              <a:t>пользователя.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096099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Стандартные настройки коммутатора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Коммутаторы </a:t>
            </a:r>
            <a:r>
              <a:rPr lang="en-US" dirty="0" smtClean="0"/>
              <a:t>Cisco </a:t>
            </a:r>
            <a:r>
              <a:rPr lang="ru-RU" dirty="0" smtClean="0"/>
              <a:t>поставляются </a:t>
            </a:r>
            <a:r>
              <a:rPr lang="ru-RU" dirty="0"/>
              <a:t>со </a:t>
            </a:r>
            <a:r>
              <a:rPr lang="ru-RU" b="1" dirty="0"/>
              <a:t>стандартными </a:t>
            </a:r>
            <a:r>
              <a:rPr lang="ru-RU" b="1" dirty="0" smtClean="0"/>
              <a:t>настройками</a:t>
            </a:r>
            <a:r>
              <a:rPr lang="ru-RU" dirty="0" smtClean="0"/>
              <a:t>, позволяющими им работать из коробки (не требуется дополнительной настройки):</a:t>
            </a:r>
          </a:p>
          <a:p>
            <a:pPr algn="just"/>
            <a:endParaRPr lang="ru-RU" dirty="0" smtClean="0"/>
          </a:p>
          <a:p>
            <a:pPr marL="971550" lvl="1" indent="-514350" algn="just">
              <a:buFont typeface="+mj-lt"/>
              <a:buAutoNum type="arabicPeriod"/>
            </a:pPr>
            <a:r>
              <a:rPr lang="ru-RU" dirty="0" smtClean="0"/>
              <a:t>работа всех интерфейсов разрешена (</a:t>
            </a:r>
            <a:r>
              <a:rPr lang="ru-RU" dirty="0"/>
              <a:t>стандартное состояние </a:t>
            </a:r>
            <a:r>
              <a:rPr lang="ru-RU" b="1" dirty="0" err="1"/>
              <a:t>no</a:t>
            </a:r>
            <a:r>
              <a:rPr lang="ru-RU" b="1" dirty="0"/>
              <a:t> </a:t>
            </a:r>
            <a:r>
              <a:rPr lang="ru-RU" b="1" dirty="0" err="1"/>
              <a:t>shutdown</a:t>
            </a:r>
            <a:r>
              <a:rPr lang="ru-RU" dirty="0" smtClean="0"/>
              <a:t>);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dirty="0"/>
              <a:t>включены </a:t>
            </a:r>
            <a:r>
              <a:rPr lang="ru-RU" dirty="0" err="1" smtClean="0"/>
              <a:t>автопереговоры</a:t>
            </a:r>
            <a:r>
              <a:rPr lang="ru-RU" dirty="0" smtClean="0"/>
              <a:t> для всех портов</a:t>
            </a:r>
            <a:r>
              <a:rPr lang="ru-RU" dirty="0"/>
              <a:t>, которые могут их использовать (стандартное состояние </a:t>
            </a:r>
            <a:r>
              <a:rPr lang="ru-RU" b="1" dirty="0" err="1" smtClean="0"/>
              <a:t>duplex</a:t>
            </a:r>
            <a:r>
              <a:rPr lang="ru-RU" b="1" dirty="0" smtClean="0"/>
              <a:t> </a:t>
            </a:r>
            <a:r>
              <a:rPr lang="ru-RU" b="1" dirty="0" err="1"/>
              <a:t>auto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ru-RU" b="1" dirty="0" err="1" smtClean="0"/>
              <a:t>speed</a:t>
            </a:r>
            <a:r>
              <a:rPr lang="ru-RU" b="1" dirty="0" smtClean="0"/>
              <a:t> </a:t>
            </a:r>
            <a:r>
              <a:rPr lang="ru-RU" b="1" dirty="0" err="1" smtClean="0"/>
              <a:t>auto</a:t>
            </a:r>
            <a:r>
              <a:rPr lang="ru-RU" dirty="0" smtClean="0"/>
              <a:t>);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dirty="0" smtClean="0"/>
              <a:t>все интерфейсы </a:t>
            </a:r>
            <a:r>
              <a:rPr lang="ru-RU" dirty="0"/>
              <a:t>стандартно являются частью сети VLAN 1 (</a:t>
            </a:r>
            <a:r>
              <a:rPr lang="ru-RU" b="1" dirty="0" err="1" smtClean="0"/>
              <a:t>switchport</a:t>
            </a:r>
            <a:r>
              <a:rPr lang="ru-RU" b="1" dirty="0" smtClean="0"/>
              <a:t> </a:t>
            </a:r>
            <a:r>
              <a:rPr lang="ru-RU" b="1" dirty="0" err="1" smtClean="0"/>
              <a:t>access</a:t>
            </a:r>
            <a:r>
              <a:rPr lang="ru-RU" b="1" dirty="0" smtClean="0"/>
              <a:t> </a:t>
            </a:r>
            <a:r>
              <a:rPr lang="ru-RU" b="1" dirty="0" err="1"/>
              <a:t>vlan</a:t>
            </a:r>
            <a:r>
              <a:rPr lang="ru-RU" b="1" dirty="0"/>
              <a:t> 1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190348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2465"/>
          </a:xfrm>
        </p:spPr>
        <p:txBody>
          <a:bodyPr/>
          <a:lstStyle/>
          <a:p>
            <a:r>
              <a:rPr lang="ru-RU" u="sng" dirty="0" smtClean="0"/>
              <a:t>Концепция </a:t>
            </a:r>
            <a:r>
              <a:rPr lang="en-US" u="sng" dirty="0" smtClean="0"/>
              <a:t>SVI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022465"/>
            <a:ext cx="11646131" cy="5532437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Коммутатор </a:t>
            </a:r>
            <a:r>
              <a:rPr lang="ru-RU" dirty="0" smtClean="0"/>
              <a:t>использует </a:t>
            </a:r>
            <a:r>
              <a:rPr lang="ru-RU" b="1" dirty="0" smtClean="0"/>
              <a:t>коммутируемый </a:t>
            </a:r>
            <a:r>
              <a:rPr lang="ru-RU" b="1" dirty="0"/>
              <a:t>виртуальный </a:t>
            </a:r>
            <a:r>
              <a:rPr lang="ru-RU" b="1" dirty="0" smtClean="0"/>
              <a:t>интерфейс </a:t>
            </a:r>
            <a:r>
              <a:rPr lang="en-US" dirty="0" smtClean="0"/>
              <a:t>(Switched </a:t>
            </a:r>
            <a:r>
              <a:rPr lang="en-US" dirty="0"/>
              <a:t>Virtual </a:t>
            </a:r>
            <a:r>
              <a:rPr lang="en-US" dirty="0" smtClean="0"/>
              <a:t>Interface </a:t>
            </a:r>
            <a:r>
              <a:rPr lang="en-US" dirty="0"/>
              <a:t>- SVI ) </a:t>
            </a:r>
            <a:r>
              <a:rPr lang="ru-RU" dirty="0"/>
              <a:t>или </a:t>
            </a:r>
            <a:r>
              <a:rPr lang="ru-RU" dirty="0" smtClean="0"/>
              <a:t>- </a:t>
            </a:r>
            <a:r>
              <a:rPr lang="ru-RU" b="1" dirty="0"/>
              <a:t>интерфейс </a:t>
            </a:r>
            <a:r>
              <a:rPr lang="en-US" b="1" dirty="0" smtClean="0"/>
              <a:t>VLAN</a:t>
            </a:r>
            <a:r>
              <a:rPr lang="ru-RU" b="1" dirty="0" smtClean="0"/>
              <a:t> </a:t>
            </a:r>
            <a:r>
              <a:rPr lang="ru-RU" dirty="0" smtClean="0"/>
              <a:t>(VLAN </a:t>
            </a:r>
            <a:r>
              <a:rPr lang="ru-RU" dirty="0" err="1"/>
              <a:t>interface</a:t>
            </a:r>
            <a:r>
              <a:rPr lang="ru-RU" dirty="0"/>
              <a:t>), действующий как собственная сетевая плата коммутатора </a:t>
            </a:r>
            <a:r>
              <a:rPr lang="ru-RU" dirty="0" smtClean="0"/>
              <a:t>для подключения </a:t>
            </a:r>
            <a:r>
              <a:rPr lang="ru-RU" dirty="0"/>
              <a:t>к локальной сети и передачи пакетов </a:t>
            </a:r>
            <a:r>
              <a:rPr lang="ru-RU" dirty="0" smtClean="0"/>
              <a:t>IP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839" y="2872826"/>
            <a:ext cx="8738321" cy="398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1435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2465"/>
          </a:xfrm>
        </p:spPr>
        <p:txBody>
          <a:bodyPr/>
          <a:lstStyle/>
          <a:p>
            <a:r>
              <a:rPr lang="ru-RU" u="sng" dirty="0" smtClean="0"/>
              <a:t>Выбор </a:t>
            </a:r>
            <a:r>
              <a:rPr lang="en-US" u="sng" dirty="0" smtClean="0"/>
              <a:t>VLAN</a:t>
            </a:r>
            <a:r>
              <a:rPr lang="ru-RU" u="sng" dirty="0" smtClean="0"/>
              <a:t> для настройка </a:t>
            </a:r>
            <a:r>
              <a:rPr lang="en-US" u="sng" dirty="0" smtClean="0"/>
              <a:t>IP </a:t>
            </a:r>
            <a:r>
              <a:rPr lang="ru-RU" u="sng" dirty="0" smtClean="0"/>
              <a:t>адреса</a:t>
            </a:r>
            <a:endParaRPr lang="ru-RU" u="sng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0407"/>
            <a:ext cx="12192000" cy="550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7937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Настройка </a:t>
            </a:r>
            <a:r>
              <a:rPr lang="en-US" u="sng" dirty="0" err="1" smtClean="0"/>
              <a:t>IPv</a:t>
            </a:r>
            <a:r>
              <a:rPr lang="ru-RU" u="sng" dirty="0" smtClean="0"/>
              <a:t>4-адреса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532437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Коммутатор настраивает свой </a:t>
            </a:r>
            <a:r>
              <a:rPr lang="en-US" dirty="0" smtClean="0"/>
              <a:t>I</a:t>
            </a:r>
            <a:r>
              <a:rPr lang="ru-RU" dirty="0" smtClean="0"/>
              <a:t>Рv4-адрес </a:t>
            </a:r>
            <a:r>
              <a:rPr lang="ru-RU" dirty="0"/>
              <a:t>и маску на специальном, подобном </a:t>
            </a:r>
            <a:r>
              <a:rPr lang="ru-RU" dirty="0" smtClean="0"/>
              <a:t>сетевой плате</a:t>
            </a:r>
            <a:r>
              <a:rPr lang="ru-RU" dirty="0"/>
              <a:t>, интерфейсе </a:t>
            </a:r>
            <a:r>
              <a:rPr lang="en-US" dirty="0" smtClean="0"/>
              <a:t>VLAN</a:t>
            </a:r>
            <a:r>
              <a:rPr lang="ru-RU" dirty="0" smtClean="0"/>
              <a:t>:</a:t>
            </a:r>
          </a:p>
          <a:p>
            <a:pPr algn="just"/>
            <a:endParaRPr lang="ru-RU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 smtClean="0"/>
              <a:t>перейти </a:t>
            </a:r>
            <a:r>
              <a:rPr lang="ru-RU" dirty="0"/>
              <a:t>в режим конфигурации сети </a:t>
            </a:r>
            <a:r>
              <a:rPr lang="ru-RU" dirty="0" smtClean="0"/>
              <a:t>VLAN 1 </a:t>
            </a:r>
            <a:r>
              <a:rPr lang="ru-RU" dirty="0"/>
              <a:t>с помощью команды </a:t>
            </a:r>
            <a:r>
              <a:rPr lang="ru-RU" b="1" dirty="0" err="1"/>
              <a:t>interface</a:t>
            </a:r>
            <a:r>
              <a:rPr lang="ru-RU" b="1" dirty="0"/>
              <a:t> </a:t>
            </a:r>
            <a:r>
              <a:rPr lang="ru-RU" b="1" dirty="0" err="1" smtClean="0"/>
              <a:t>vlan</a:t>
            </a:r>
            <a:r>
              <a:rPr lang="ru-RU" b="1" dirty="0" smtClean="0"/>
              <a:t> 1 </a:t>
            </a:r>
            <a:r>
              <a:rPr lang="ru-RU" dirty="0"/>
              <a:t>из глобального режима конфигурации </a:t>
            </a:r>
            <a:r>
              <a:rPr lang="ru-RU" dirty="0" smtClean="0"/>
              <a:t>устройства;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 smtClean="0"/>
              <a:t>присвоить IР-адрес </a:t>
            </a:r>
            <a:r>
              <a:rPr lang="ru-RU" dirty="0"/>
              <a:t>и маску с помощью команды </a:t>
            </a:r>
            <a:r>
              <a:rPr lang="ru-RU" b="1" dirty="0" err="1"/>
              <a:t>ip</a:t>
            </a:r>
            <a:r>
              <a:rPr lang="ru-RU" b="1" dirty="0"/>
              <a:t> </a:t>
            </a:r>
            <a:r>
              <a:rPr lang="ru-RU" b="1" dirty="0" err="1" smtClean="0"/>
              <a:t>address</a:t>
            </a:r>
            <a:r>
              <a:rPr lang="ru-RU" b="1" dirty="0" smtClean="0"/>
              <a:t> </a:t>
            </a:r>
            <a:r>
              <a:rPr lang="ru-RU" i="1" dirty="0" err="1" smtClean="0"/>
              <a:t>iр</a:t>
            </a:r>
            <a:r>
              <a:rPr lang="ru-RU" i="1" dirty="0" smtClean="0"/>
              <a:t>-адрес </a:t>
            </a:r>
            <a:r>
              <a:rPr lang="ru-RU" i="1" dirty="0"/>
              <a:t>маска</a:t>
            </a:r>
            <a:r>
              <a:rPr lang="ru-RU" dirty="0"/>
              <a:t> </a:t>
            </a:r>
            <a:r>
              <a:rPr lang="ru-RU" dirty="0" smtClean="0"/>
              <a:t>в </a:t>
            </a:r>
            <a:r>
              <a:rPr lang="ru-RU" dirty="0" err="1" smtClean="0"/>
              <a:t>подрежиме</a:t>
            </a:r>
            <a:r>
              <a:rPr lang="ru-RU" dirty="0" smtClean="0"/>
              <a:t> </a:t>
            </a:r>
            <a:r>
              <a:rPr lang="ru-RU" dirty="0"/>
              <a:t>конфигурации </a:t>
            </a:r>
            <a:r>
              <a:rPr lang="ru-RU" dirty="0" smtClean="0"/>
              <a:t>интерфейса;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 smtClean="0"/>
              <a:t>включить </a:t>
            </a:r>
            <a:r>
              <a:rPr lang="ru-RU" dirty="0"/>
              <a:t>виртуальный интерфейс сети VLAN 1 с помощью </a:t>
            </a:r>
            <a:r>
              <a:rPr lang="ru-RU" b="1" dirty="0"/>
              <a:t>команды </a:t>
            </a:r>
            <a:r>
              <a:rPr lang="ru-RU" b="1" dirty="0" err="1"/>
              <a:t>no</a:t>
            </a:r>
            <a:r>
              <a:rPr lang="ru-RU" b="1" dirty="0"/>
              <a:t> </a:t>
            </a:r>
            <a:r>
              <a:rPr lang="ru-RU" b="1" dirty="0" err="1" smtClean="0"/>
              <a:t>shutdown</a:t>
            </a:r>
            <a:r>
              <a:rPr lang="ru-RU" dirty="0" smtClean="0"/>
              <a:t> в </a:t>
            </a:r>
            <a:r>
              <a:rPr lang="ru-RU" dirty="0" err="1"/>
              <a:t>подрежиме</a:t>
            </a:r>
            <a:r>
              <a:rPr lang="ru-RU" dirty="0"/>
              <a:t> конфигурации </a:t>
            </a:r>
            <a:r>
              <a:rPr lang="ru-RU" dirty="0" smtClean="0"/>
              <a:t>интерфейса;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/>
              <a:t>Указать </a:t>
            </a:r>
            <a:r>
              <a:rPr lang="ru-RU" dirty="0" smtClean="0"/>
              <a:t>стандартный </a:t>
            </a:r>
            <a:r>
              <a:rPr lang="ru-RU" dirty="0"/>
              <a:t>шлюз устройства в глобальном режиме конфигурации </a:t>
            </a:r>
            <a:r>
              <a:rPr lang="ru-RU" dirty="0" smtClean="0"/>
              <a:t>с помощью </a:t>
            </a:r>
            <a:r>
              <a:rPr lang="ru-RU" dirty="0"/>
              <a:t>команды </a:t>
            </a:r>
            <a:r>
              <a:rPr lang="ru-RU" b="1" dirty="0" err="1"/>
              <a:t>ip</a:t>
            </a:r>
            <a:r>
              <a:rPr lang="ru-RU" b="1" dirty="0"/>
              <a:t> </a:t>
            </a:r>
            <a:r>
              <a:rPr lang="ru-RU" b="1" dirty="0" err="1" smtClean="0"/>
              <a:t>default-gateway</a:t>
            </a:r>
            <a:r>
              <a:rPr lang="ru-RU" b="1" dirty="0" smtClean="0"/>
              <a:t> </a:t>
            </a:r>
            <a:r>
              <a:rPr lang="ru-RU" i="1" dirty="0" err="1"/>
              <a:t>iр</a:t>
            </a:r>
            <a:r>
              <a:rPr lang="ru-RU" i="1" dirty="0"/>
              <a:t> </a:t>
            </a:r>
            <a:r>
              <a:rPr lang="ru-RU" i="1" dirty="0" smtClean="0"/>
              <a:t>–адрес;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/>
              <a:t>Добавить глобальную команду </a:t>
            </a:r>
            <a:r>
              <a:rPr lang="ru-RU" b="1" dirty="0" err="1"/>
              <a:t>ip</a:t>
            </a:r>
            <a:r>
              <a:rPr lang="ru-RU" b="1" dirty="0"/>
              <a:t> </a:t>
            </a:r>
            <a:r>
              <a:rPr lang="ru-RU" b="1" dirty="0" err="1" smtClean="0"/>
              <a:t>name-server</a:t>
            </a:r>
            <a:r>
              <a:rPr lang="ru-RU" b="1" dirty="0" smtClean="0"/>
              <a:t> </a:t>
            </a:r>
            <a:r>
              <a:rPr lang="ru-RU" i="1" dirty="0" smtClean="0"/>
              <a:t>ip-aдpec1</a:t>
            </a:r>
            <a:r>
              <a:rPr lang="ru-RU" dirty="0" smtClean="0"/>
              <a:t> </a:t>
            </a:r>
            <a:r>
              <a:rPr lang="ru-RU" i="1" dirty="0"/>
              <a:t>iр-адрес2 </a:t>
            </a:r>
            <a:r>
              <a:rPr lang="ru-RU" i="1" dirty="0" smtClean="0"/>
              <a:t>..., </a:t>
            </a:r>
            <a:r>
              <a:rPr lang="ru-RU" dirty="0" smtClean="0"/>
              <a:t>чтобы настроить </a:t>
            </a:r>
            <a:r>
              <a:rPr lang="ru-RU" dirty="0"/>
              <a:t>коммутатор на использование DNS при поиске имен по их </a:t>
            </a:r>
            <a:r>
              <a:rPr lang="ru-RU" dirty="0" smtClean="0"/>
              <a:t>IР-адресам (необязательно).</a:t>
            </a:r>
            <a:endParaRPr lang="ru-RU" dirty="0"/>
          </a:p>
          <a:p>
            <a:pPr lvl="1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564643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Настройка </a:t>
            </a:r>
            <a:r>
              <a:rPr lang="en-US" u="sng" dirty="0" err="1" smtClean="0"/>
              <a:t>IPv</a:t>
            </a:r>
            <a:r>
              <a:rPr lang="ru-RU" u="sng" dirty="0" smtClean="0"/>
              <a:t>4-адреса</a:t>
            </a:r>
            <a:endParaRPr lang="ru-RU" u="sng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12192000" cy="474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29074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90805"/>
            <a:ext cx="10515600" cy="1325563"/>
          </a:xfrm>
        </p:spPr>
        <p:txBody>
          <a:bodyPr/>
          <a:lstStyle/>
          <a:p>
            <a:r>
              <a:rPr lang="ru-RU" u="sng" dirty="0" smtClean="0"/>
              <a:t>Проверка </a:t>
            </a:r>
            <a:r>
              <a:rPr lang="en-US" u="sng" dirty="0" err="1" smtClean="0"/>
              <a:t>IPv</a:t>
            </a:r>
            <a:r>
              <a:rPr lang="ru-RU" u="sng" dirty="0"/>
              <a:t>4-адреса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09493"/>
            <a:ext cx="10515600" cy="469155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3200" b="1" dirty="0"/>
              <a:t>Конфигурацию</a:t>
            </a:r>
            <a:r>
              <a:rPr lang="ru-RU" sz="3200" dirty="0"/>
              <a:t> </a:t>
            </a:r>
            <a:r>
              <a:rPr lang="en-US" sz="3200" dirty="0" smtClean="0"/>
              <a:t>I</a:t>
            </a:r>
            <a:r>
              <a:rPr lang="ru-RU" sz="3200" dirty="0" smtClean="0"/>
              <a:t>Рv4-адреса </a:t>
            </a:r>
            <a:r>
              <a:rPr lang="ru-RU" sz="3200" dirty="0"/>
              <a:t>коммутатора можно </a:t>
            </a:r>
            <a:r>
              <a:rPr lang="ru-RU" sz="3200" dirty="0" smtClean="0"/>
              <a:t>проверить несколькими способами:</a:t>
            </a:r>
          </a:p>
          <a:p>
            <a:pPr algn="just"/>
            <a:endParaRPr lang="ru-RU" sz="3200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sz="2800" dirty="0"/>
              <a:t>просмотреть текущую конфигурацию, используя </a:t>
            </a:r>
            <a:r>
              <a:rPr lang="ru-RU" sz="2800" dirty="0" smtClean="0"/>
              <a:t>команду </a:t>
            </a:r>
            <a:r>
              <a:rPr lang="ru-RU" sz="2800" b="1" dirty="0" err="1" smtClean="0"/>
              <a:t>show</a:t>
            </a:r>
            <a:r>
              <a:rPr lang="ru-RU" sz="2800" b="1" dirty="0" smtClean="0"/>
              <a:t> </a:t>
            </a:r>
            <a:r>
              <a:rPr lang="ru-RU" sz="2800" b="1" dirty="0" err="1"/>
              <a:t>running</a:t>
            </a:r>
            <a:r>
              <a:rPr lang="ru-RU" sz="2800" b="1" dirty="0"/>
              <a:t>- </a:t>
            </a:r>
            <a:r>
              <a:rPr lang="ru-RU" sz="2800" b="1" dirty="0" err="1" smtClean="0"/>
              <a:t>config</a:t>
            </a:r>
            <a:r>
              <a:rPr lang="ru-RU" sz="2800" b="1" dirty="0" smtClean="0"/>
              <a:t>;</a:t>
            </a:r>
          </a:p>
          <a:p>
            <a:pPr marL="914400" lvl="1" indent="-457200" algn="just">
              <a:buFont typeface="+mj-lt"/>
              <a:buAutoNum type="arabicPeriod"/>
            </a:pPr>
            <a:endParaRPr lang="ru-RU" sz="2800" b="1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sz="2800" dirty="0"/>
              <a:t>просмотреть информацию об </a:t>
            </a:r>
            <a:r>
              <a:rPr lang="ru-RU" sz="2800" dirty="0" smtClean="0"/>
              <a:t>IР-адресе и </a:t>
            </a:r>
            <a:r>
              <a:rPr lang="ru-RU" sz="2800" dirty="0"/>
              <a:t>маске, используя команду </a:t>
            </a:r>
            <a:r>
              <a:rPr lang="ru-RU" sz="2800" b="1" dirty="0" err="1" smtClean="0"/>
              <a:t>show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interface</a:t>
            </a:r>
            <a:r>
              <a:rPr lang="ru-RU" sz="2800" b="1" dirty="0" smtClean="0"/>
              <a:t> </a:t>
            </a:r>
            <a:r>
              <a:rPr lang="ru-RU" sz="2800" b="1" dirty="0" err="1"/>
              <a:t>vlan</a:t>
            </a:r>
            <a:r>
              <a:rPr lang="ru-RU" sz="2800" b="1" dirty="0"/>
              <a:t> х</a:t>
            </a:r>
            <a:r>
              <a:rPr lang="ru-RU" sz="2800" dirty="0" smtClean="0"/>
              <a:t>, где х – номер </a:t>
            </a:r>
            <a:r>
              <a:rPr lang="ru-RU" sz="2800" dirty="0" err="1" smtClean="0"/>
              <a:t>влана</a:t>
            </a:r>
            <a:r>
              <a:rPr lang="ru-RU" sz="2800" dirty="0" smtClean="0"/>
              <a:t>;</a:t>
            </a:r>
          </a:p>
          <a:p>
            <a:pPr marL="914400" lvl="1" indent="-457200" algn="just">
              <a:buFont typeface="+mj-lt"/>
              <a:buAutoNum type="arabicPeriod"/>
            </a:pPr>
            <a:endParaRPr lang="ru-RU" sz="2800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sz="2800" dirty="0"/>
              <a:t>при использовании </a:t>
            </a:r>
            <a:r>
              <a:rPr lang="ru-RU" sz="2800" dirty="0" smtClean="0"/>
              <a:t>сервера DHCP </a:t>
            </a:r>
            <a:r>
              <a:rPr lang="ru-RU" sz="2800" dirty="0"/>
              <a:t>команда </a:t>
            </a:r>
            <a:r>
              <a:rPr lang="ru-RU" sz="2800" b="1" dirty="0" err="1" smtClean="0"/>
              <a:t>show</a:t>
            </a:r>
            <a:r>
              <a:rPr lang="ru-RU" sz="2800" b="1" dirty="0" smtClean="0"/>
              <a:t> </a:t>
            </a:r>
            <a:r>
              <a:rPr lang="ru-RU" sz="2800" b="1" dirty="0" err="1"/>
              <a:t>dhcp</a:t>
            </a:r>
            <a:r>
              <a:rPr lang="ru-RU" sz="2800" b="1" dirty="0"/>
              <a:t> </a:t>
            </a:r>
            <a:r>
              <a:rPr lang="ru-RU" sz="2800" b="1" dirty="0" err="1" smtClean="0"/>
              <a:t>lease</a:t>
            </a:r>
            <a:r>
              <a:rPr lang="ru-RU" sz="2800" b="1" dirty="0" smtClean="0"/>
              <a:t> </a:t>
            </a:r>
            <a:r>
              <a:rPr lang="ru-RU" sz="2800" dirty="0"/>
              <a:t>позволяет просмотреть </a:t>
            </a:r>
            <a:r>
              <a:rPr lang="ru-RU" sz="2800" dirty="0" smtClean="0"/>
              <a:t>зарезервированный (временно</a:t>
            </a:r>
            <a:r>
              <a:rPr lang="ru-RU" sz="2800" dirty="0"/>
              <a:t>) </a:t>
            </a:r>
            <a:r>
              <a:rPr lang="ru-RU" sz="2800" dirty="0" smtClean="0"/>
              <a:t>IР-адрес </a:t>
            </a:r>
            <a:r>
              <a:rPr lang="ru-RU" sz="2800" dirty="0"/>
              <a:t>и другие параметры</a:t>
            </a:r>
          </a:p>
        </p:txBody>
      </p:sp>
    </p:spTree>
    <p:extLst>
      <p:ext uri="{BB962C8B-B14F-4D97-AF65-F5344CB8AC3E}">
        <p14:creationId xmlns:p14="http://schemas.microsoft.com/office/powerpoint/2010/main" xmlns="" val="2315981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3262" y="0"/>
            <a:ext cx="10515600" cy="1325563"/>
          </a:xfrm>
        </p:spPr>
        <p:txBody>
          <a:bodyPr/>
          <a:lstStyle/>
          <a:p>
            <a:r>
              <a:rPr lang="ru-RU" u="sng" dirty="0"/>
              <a:t>Проверка </a:t>
            </a:r>
            <a:r>
              <a:rPr lang="en-US" u="sng" dirty="0" err="1"/>
              <a:t>IPv</a:t>
            </a:r>
            <a:r>
              <a:rPr lang="ru-RU" u="sng" dirty="0"/>
              <a:t>4-адреса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993" y="1325563"/>
            <a:ext cx="9626138" cy="5532436"/>
          </a:xfrm>
          <a:prstGeom prst="rect">
            <a:avLst/>
          </a:prstGeom>
        </p:spPr>
      </p:pic>
      <p:sp>
        <p:nvSpPr>
          <p:cNvPr id="5" name="Левая круглая скобка 4"/>
          <p:cNvSpPr/>
          <p:nvPr/>
        </p:nvSpPr>
        <p:spPr>
          <a:xfrm>
            <a:off x="689956" y="1429789"/>
            <a:ext cx="568037" cy="2518756"/>
          </a:xfrm>
          <a:prstGeom prst="leftBracket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Левая круглая скобка 5"/>
          <p:cNvSpPr/>
          <p:nvPr/>
        </p:nvSpPr>
        <p:spPr>
          <a:xfrm>
            <a:off x="615141" y="4264430"/>
            <a:ext cx="568037" cy="1837112"/>
          </a:xfrm>
          <a:prstGeom prst="leftBracket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V="1">
            <a:off x="1257993" y="4754879"/>
            <a:ext cx="4652356" cy="8313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96943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Настройка интерфейсов коммутатора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algn="just"/>
            <a:r>
              <a:rPr lang="ru-RU" dirty="0"/>
              <a:t>В операционной системе </a:t>
            </a:r>
            <a:r>
              <a:rPr lang="ru-RU" dirty="0" err="1"/>
              <a:t>Cisco</a:t>
            </a:r>
            <a:r>
              <a:rPr lang="ru-RU" dirty="0"/>
              <a:t> IOS для настройки интерфейсов используется </a:t>
            </a:r>
            <a:r>
              <a:rPr lang="ru-RU" dirty="0" smtClean="0"/>
              <a:t>специализированный режим </a:t>
            </a:r>
            <a:r>
              <a:rPr lang="ru-RU" dirty="0"/>
              <a:t>конфигурирования интерфейса, называемый обычно </a:t>
            </a:r>
            <a:r>
              <a:rPr lang="ru-RU" b="1" dirty="0" err="1" smtClean="0"/>
              <a:t>подрежимом</a:t>
            </a:r>
            <a:r>
              <a:rPr lang="ru-RU" b="1" dirty="0" smtClean="0"/>
              <a:t> интерфейса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26" y="2651126"/>
            <a:ext cx="10019348" cy="3949179"/>
          </a:xfrm>
          <a:prstGeom prst="rect">
            <a:avLst/>
          </a:prstGeom>
        </p:spPr>
      </p:pic>
      <p:sp>
        <p:nvSpPr>
          <p:cNvPr id="5" name="Левая круглая скобка 4"/>
          <p:cNvSpPr/>
          <p:nvPr/>
        </p:nvSpPr>
        <p:spPr>
          <a:xfrm>
            <a:off x="515389" y="4048298"/>
            <a:ext cx="570937" cy="1246909"/>
          </a:xfrm>
          <a:prstGeom prst="leftBracket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15781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63782"/>
          </a:xfrm>
        </p:spPr>
        <p:txBody>
          <a:bodyPr/>
          <a:lstStyle/>
          <a:p>
            <a:r>
              <a:rPr lang="ru-RU" u="sng" dirty="0" smtClean="0"/>
              <a:t>Настройка интерфейсов коммутатора</a:t>
            </a:r>
            <a:endParaRPr lang="ru-RU" u="sng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77" y="1163783"/>
            <a:ext cx="11179494" cy="5694217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/>
        </p:nvCxnSpPr>
        <p:spPr>
          <a:xfrm flipV="1">
            <a:off x="277091" y="2136371"/>
            <a:ext cx="11637818" cy="49876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Левая круглая скобка 9"/>
          <p:cNvSpPr/>
          <p:nvPr/>
        </p:nvSpPr>
        <p:spPr>
          <a:xfrm>
            <a:off x="277091" y="5170517"/>
            <a:ext cx="293846" cy="1404850"/>
          </a:xfrm>
          <a:prstGeom prst="leftBracket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3609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Защита портов коммутатора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50749"/>
            <a:ext cx="10515600" cy="4351338"/>
          </a:xfrm>
        </p:spPr>
        <p:txBody>
          <a:bodyPr/>
          <a:lstStyle/>
          <a:p>
            <a:pPr algn="just"/>
            <a:r>
              <a:rPr lang="ru-RU" dirty="0"/>
              <a:t>Если </a:t>
            </a:r>
            <a:r>
              <a:rPr lang="ru-RU" dirty="0" smtClean="0"/>
              <a:t>известно, какие </a:t>
            </a:r>
            <a:r>
              <a:rPr lang="ru-RU" dirty="0"/>
              <a:t>конкретно устройства будут </a:t>
            </a:r>
            <a:r>
              <a:rPr lang="ru-RU" dirty="0" smtClean="0"/>
              <a:t>подключены кабелями </a:t>
            </a:r>
            <a:r>
              <a:rPr lang="ru-RU" dirty="0"/>
              <a:t>к каким </a:t>
            </a:r>
            <a:r>
              <a:rPr lang="ru-RU" dirty="0" smtClean="0"/>
              <a:t>интерфейсам </a:t>
            </a:r>
            <a:r>
              <a:rPr lang="ru-RU" dirty="0"/>
              <a:t>коммутатора, </a:t>
            </a:r>
            <a:r>
              <a:rPr lang="ru-RU" dirty="0" smtClean="0"/>
              <a:t>то можно </a:t>
            </a:r>
            <a:r>
              <a:rPr lang="ru-RU" dirty="0"/>
              <a:t>использовать </a:t>
            </a:r>
            <a:r>
              <a:rPr lang="ru-RU" b="1" dirty="0" smtClean="0"/>
              <a:t>защиту порта </a:t>
            </a:r>
            <a:r>
              <a:rPr lang="ru-RU" b="1" dirty="0"/>
              <a:t>(</a:t>
            </a:r>
            <a:r>
              <a:rPr lang="ru-RU" b="1" dirty="0" err="1"/>
              <a:t>port</a:t>
            </a:r>
            <a:r>
              <a:rPr lang="ru-RU" b="1" dirty="0"/>
              <a:t> </a:t>
            </a:r>
            <a:r>
              <a:rPr lang="ru-RU" b="1" dirty="0" err="1"/>
              <a:t>security</a:t>
            </a:r>
            <a:r>
              <a:rPr lang="ru-RU" b="1" dirty="0"/>
              <a:t>) </a:t>
            </a:r>
            <a:r>
              <a:rPr lang="ru-RU" dirty="0"/>
              <a:t>, чтобы его могли использовать только указанные </a:t>
            </a:r>
            <a:r>
              <a:rPr lang="ru-RU" dirty="0" smtClean="0"/>
              <a:t>устройства: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i="1" dirty="0"/>
              <a:t>Защита порта идентифицирует устройства по МАС-адресу отправителя во </a:t>
            </a:r>
            <a:r>
              <a:rPr lang="ru-RU" i="1" dirty="0" smtClean="0"/>
              <a:t>фрейме Ethernet</a:t>
            </a:r>
            <a:r>
              <a:rPr lang="ru-RU" i="1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201" y="3870354"/>
            <a:ext cx="6891598" cy="2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41241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Основные правила защиты порта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41942"/>
            <a:ext cx="10515600" cy="5133426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Определите </a:t>
            </a:r>
            <a:r>
              <a:rPr lang="ru-RU" b="1" dirty="0"/>
              <a:t>максимальное разрешенное </a:t>
            </a:r>
            <a:r>
              <a:rPr lang="ru-RU" b="1" dirty="0" smtClean="0"/>
              <a:t>количество </a:t>
            </a:r>
            <a:r>
              <a:rPr lang="ru-RU" dirty="0"/>
              <a:t>МАС-адресов </a:t>
            </a:r>
            <a:r>
              <a:rPr lang="ru-RU" dirty="0" smtClean="0"/>
              <a:t>отправителя для </a:t>
            </a:r>
            <a:r>
              <a:rPr lang="ru-RU" dirty="0"/>
              <a:t>всех входящих фреймов на интерфейс</a:t>
            </a:r>
            <a:r>
              <a:rPr lang="ru-RU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b="1" dirty="0" smtClean="0"/>
              <a:t>Отследите </a:t>
            </a:r>
            <a:r>
              <a:rPr lang="ru-RU" b="1" dirty="0"/>
              <a:t>все входящие фреймы </a:t>
            </a:r>
            <a:r>
              <a:rPr lang="ru-RU" dirty="0"/>
              <a:t>и сохраните список всех МАС-адресов </a:t>
            </a:r>
            <a:r>
              <a:rPr lang="ru-RU" dirty="0" smtClean="0"/>
              <a:t>отправителей, добавьте </a:t>
            </a:r>
            <a:r>
              <a:rPr lang="ru-RU" dirty="0"/>
              <a:t>счетчик количества отличных МАС-адресов отправителя</a:t>
            </a:r>
            <a:r>
              <a:rPr lang="ru-RU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 smtClean="0"/>
              <a:t>Если </a:t>
            </a:r>
            <a:r>
              <a:rPr lang="ru-RU" dirty="0"/>
              <a:t>при добавлении нового МАС-адреса отправителя в </a:t>
            </a:r>
            <a:r>
              <a:rPr lang="ru-RU" dirty="0" smtClean="0"/>
              <a:t>список </a:t>
            </a:r>
            <a:r>
              <a:rPr lang="ru-RU" b="1" dirty="0" smtClean="0"/>
              <a:t>количество хранимых </a:t>
            </a:r>
            <a:r>
              <a:rPr lang="ru-RU" b="1" dirty="0"/>
              <a:t>МАС-адресов </a:t>
            </a:r>
            <a:r>
              <a:rPr lang="ru-RU" dirty="0"/>
              <a:t>превысит </a:t>
            </a:r>
            <a:r>
              <a:rPr lang="ru-RU" dirty="0" smtClean="0"/>
              <a:t>заданный </a:t>
            </a:r>
            <a:r>
              <a:rPr lang="ru-RU" dirty="0"/>
              <a:t>максимум, срабатывает </a:t>
            </a:r>
            <a:r>
              <a:rPr lang="ru-RU" dirty="0" smtClean="0"/>
              <a:t>защита порта </a:t>
            </a:r>
            <a:r>
              <a:rPr lang="ru-RU" dirty="0"/>
              <a:t>и коммутатор принимает меры (стандартное действие </a:t>
            </a:r>
            <a:r>
              <a:rPr lang="ru-RU" dirty="0" smtClean="0"/>
              <a:t>– отключение интерфейса</a:t>
            </a:r>
            <a:r>
              <a:rPr lang="ru-RU" dirty="0"/>
              <a:t>).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xmlns="" val="25864536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4814"/>
            <a:ext cx="10515600" cy="1325563"/>
          </a:xfrm>
        </p:spPr>
        <p:txBody>
          <a:bodyPr/>
          <a:lstStyle/>
          <a:p>
            <a:r>
              <a:rPr lang="ru-RU" u="sng" dirty="0" smtClean="0"/>
              <a:t>Последовательность защиты порта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74947"/>
            <a:ext cx="10515600" cy="4958858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2400" dirty="0" smtClean="0"/>
              <a:t>Используя </a:t>
            </a:r>
            <a:r>
              <a:rPr lang="ru-RU" sz="2400" dirty="0"/>
              <a:t>подкоманды интерфейса </a:t>
            </a:r>
            <a:r>
              <a:rPr lang="en-US" sz="2400" b="1" dirty="0" err="1" smtClean="0"/>
              <a:t>switchport</a:t>
            </a:r>
            <a:r>
              <a:rPr lang="en-US" sz="2400" b="1" dirty="0" smtClean="0"/>
              <a:t> mod</a:t>
            </a:r>
            <a:r>
              <a:rPr lang="ru-RU" sz="2400" b="1" dirty="0"/>
              <a:t>е </a:t>
            </a:r>
            <a:r>
              <a:rPr lang="en-US" sz="2400" b="1" dirty="0" smtClean="0"/>
              <a:t>access </a:t>
            </a:r>
            <a:r>
              <a:rPr lang="ru-RU" sz="2400" dirty="0"/>
              <a:t>или </a:t>
            </a:r>
            <a:r>
              <a:rPr lang="en-US" sz="2400" b="1" dirty="0" err="1" smtClean="0"/>
              <a:t>switchport</a:t>
            </a:r>
            <a:r>
              <a:rPr lang="en-US" sz="2400" b="1" dirty="0" smtClean="0"/>
              <a:t> m</a:t>
            </a:r>
            <a:r>
              <a:rPr lang="ru-RU" sz="2400" b="1" dirty="0" err="1" smtClean="0"/>
              <a:t>ode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trunk</a:t>
            </a:r>
            <a:r>
              <a:rPr lang="ru-RU" sz="2400" dirty="0"/>
              <a:t>, объявите интерфейс </a:t>
            </a:r>
            <a:r>
              <a:rPr lang="ru-RU" sz="2400" dirty="0" smtClean="0"/>
              <a:t>коммутатора</a:t>
            </a:r>
            <a:r>
              <a:rPr lang="en-US" sz="2400" dirty="0" smtClean="0"/>
              <a:t> </a:t>
            </a:r>
            <a:r>
              <a:rPr lang="ru-RU" sz="2400" dirty="0" smtClean="0"/>
              <a:t>статическим </a:t>
            </a:r>
            <a:r>
              <a:rPr lang="ru-RU" sz="2400" dirty="0"/>
              <a:t>портом доступа </a:t>
            </a:r>
            <a:r>
              <a:rPr lang="ru-RU" sz="2400" dirty="0" smtClean="0"/>
              <a:t>или</a:t>
            </a:r>
            <a:r>
              <a:rPr lang="en-US" sz="2400" dirty="0" smtClean="0"/>
              <a:t> </a:t>
            </a:r>
            <a:r>
              <a:rPr lang="ru-RU" sz="2400" dirty="0" smtClean="0"/>
              <a:t>магистральным </a:t>
            </a:r>
            <a:r>
              <a:rPr lang="ru-RU" sz="2400" dirty="0"/>
              <a:t>портом </a:t>
            </a:r>
            <a:r>
              <a:rPr lang="ru-RU" sz="2400" dirty="0" smtClean="0"/>
              <a:t>соответственно;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Включите защиту порта подкомандой интерфейса </a:t>
            </a:r>
            <a:r>
              <a:rPr lang="ru-RU" sz="2400" b="1" dirty="0" err="1" smtClean="0"/>
              <a:t>switchport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port-security</a:t>
            </a:r>
            <a:r>
              <a:rPr lang="ru-RU" sz="2400" dirty="0" smtClean="0"/>
              <a:t>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Переопределите стандартное максимальное количество позволенных </a:t>
            </a:r>
            <a:r>
              <a:rPr lang="ru-RU" sz="2400" dirty="0" smtClean="0"/>
              <a:t>МАС-адресов, интерфейса (1) </a:t>
            </a:r>
            <a:r>
              <a:rPr lang="ru-RU" sz="2400" dirty="0"/>
              <a:t>подкомандой </a:t>
            </a:r>
            <a:r>
              <a:rPr lang="ru-RU" sz="2400" dirty="0" smtClean="0"/>
              <a:t>интерфейса </a:t>
            </a:r>
            <a:r>
              <a:rPr lang="ru-RU" sz="2400" b="1" dirty="0" err="1" smtClean="0"/>
              <a:t>switchport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port-security</a:t>
            </a:r>
            <a:r>
              <a:rPr lang="ru-RU" sz="2400" b="1" dirty="0" smtClean="0"/>
              <a:t> </a:t>
            </a:r>
            <a:r>
              <a:rPr lang="en-US" sz="2400" b="1" dirty="0"/>
              <a:t>m</a:t>
            </a:r>
            <a:r>
              <a:rPr lang="ru-RU" sz="2400" b="1" dirty="0" err="1" smtClean="0"/>
              <a:t>axi</a:t>
            </a:r>
            <a:r>
              <a:rPr lang="en-US" sz="2400" b="1" dirty="0" smtClean="0"/>
              <a:t>m</a:t>
            </a:r>
            <a:r>
              <a:rPr lang="ru-RU" sz="2400" b="1" dirty="0" smtClean="0"/>
              <a:t>u</a:t>
            </a:r>
            <a:r>
              <a:rPr lang="en-US" sz="2400" b="1" dirty="0" smtClean="0"/>
              <a:t>m</a:t>
            </a:r>
            <a:r>
              <a:rPr lang="ru-RU" sz="2400" dirty="0" smtClean="0"/>
              <a:t> </a:t>
            </a:r>
            <a:r>
              <a:rPr lang="ru-RU" sz="2400" i="1" dirty="0"/>
              <a:t>число</a:t>
            </a:r>
            <a:r>
              <a:rPr lang="ru-RU" sz="2400" dirty="0"/>
              <a:t> </a:t>
            </a:r>
            <a:r>
              <a:rPr lang="ru-RU" sz="2400" dirty="0" smtClean="0"/>
              <a:t>(Необязательно.)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Задайте все допустимые МАС-адреса отправителей </a:t>
            </a:r>
            <a:r>
              <a:rPr lang="ru-RU" sz="2400" dirty="0" smtClean="0"/>
              <a:t>для </a:t>
            </a:r>
            <a:r>
              <a:rPr lang="ru-RU" sz="2400" dirty="0"/>
              <a:t>данного </a:t>
            </a:r>
            <a:r>
              <a:rPr lang="ru-RU" sz="2400" dirty="0" smtClean="0"/>
              <a:t>интерфейса, используя </a:t>
            </a:r>
            <a:r>
              <a:rPr lang="ru-RU" sz="2400" dirty="0"/>
              <a:t>команду </a:t>
            </a:r>
            <a:r>
              <a:rPr lang="ru-RU" sz="2400" b="1" dirty="0" err="1" smtClean="0"/>
              <a:t>switchport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port-security</a:t>
            </a:r>
            <a:r>
              <a:rPr lang="ru-RU" sz="2400" b="1" dirty="0" smtClean="0"/>
              <a:t> </a:t>
            </a:r>
            <a:r>
              <a:rPr lang="en-US" sz="2400" b="1" dirty="0" smtClean="0"/>
              <a:t>m</a:t>
            </a:r>
            <a:r>
              <a:rPr lang="ru-RU" sz="2400" b="1" dirty="0" err="1" smtClean="0"/>
              <a:t>ac-address</a:t>
            </a:r>
            <a:r>
              <a:rPr lang="ru-RU" sz="2400" b="1" dirty="0" smtClean="0"/>
              <a:t> </a:t>
            </a:r>
            <a:r>
              <a:rPr lang="ru-RU" sz="2400" i="1" dirty="0" smtClean="0"/>
              <a:t>МАС-адрес</a:t>
            </a:r>
            <a:r>
              <a:rPr lang="ru-RU" sz="2400" dirty="0" smtClean="0"/>
              <a:t> (Необязательно).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Можно также включить автоматическое обнаружение МАС-адресов, </a:t>
            </a:r>
            <a:r>
              <a:rPr lang="ru-RU" sz="2400" dirty="0" smtClean="0"/>
              <a:t>чтобы коммутатор </a:t>
            </a:r>
            <a:r>
              <a:rPr lang="ru-RU" sz="2400" dirty="0"/>
              <a:t>сам изучил МАС-адреса. Используйте подкоманду </a:t>
            </a:r>
            <a:r>
              <a:rPr lang="ru-RU" sz="2400" dirty="0" smtClean="0"/>
              <a:t>интерфейса </a:t>
            </a:r>
            <a:r>
              <a:rPr lang="ru-RU" sz="2400" b="1" dirty="0" err="1" smtClean="0"/>
              <a:t>switchport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port-security</a:t>
            </a:r>
            <a:r>
              <a:rPr lang="ru-RU" sz="2400" b="1" dirty="0" smtClean="0"/>
              <a:t> </a:t>
            </a:r>
            <a:r>
              <a:rPr lang="en-US" sz="2400" b="1" dirty="0" smtClean="0"/>
              <a:t>m</a:t>
            </a:r>
            <a:r>
              <a:rPr lang="ru-RU" sz="2400" b="1" dirty="0" err="1" smtClean="0"/>
              <a:t>ac-address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sticky</a:t>
            </a:r>
            <a:r>
              <a:rPr lang="ru-RU" sz="2400" b="1" dirty="0" smtClean="0"/>
              <a:t> </a:t>
            </a:r>
            <a:r>
              <a:rPr lang="ru-RU" sz="2400" dirty="0"/>
              <a:t>(Необязательно.)</a:t>
            </a:r>
          </a:p>
        </p:txBody>
      </p:sp>
    </p:spTree>
    <p:extLst>
      <p:ext uri="{BB962C8B-B14F-4D97-AF65-F5344CB8AC3E}">
        <p14:creationId xmlns:p14="http://schemas.microsoft.com/office/powerpoint/2010/main" xmlns="" val="36277987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3138" y="216131"/>
            <a:ext cx="10515600" cy="856211"/>
          </a:xfrm>
        </p:spPr>
        <p:txBody>
          <a:bodyPr/>
          <a:lstStyle/>
          <a:p>
            <a:r>
              <a:rPr lang="ru-RU" u="sng" dirty="0" smtClean="0"/>
              <a:t>Последовательность защиты порта</a:t>
            </a:r>
            <a:endParaRPr lang="ru-RU" u="sng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538" y="1454725"/>
            <a:ext cx="6001790" cy="503751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8" y="1454726"/>
            <a:ext cx="5419899" cy="5037513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 flipV="1">
            <a:off x="3416531" y="2236124"/>
            <a:ext cx="2468880" cy="2660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3499658" y="3532909"/>
            <a:ext cx="2468880" cy="2660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V="1">
            <a:off x="3591098" y="4696690"/>
            <a:ext cx="2468880" cy="2660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3773978" y="5860471"/>
            <a:ext cx="2468880" cy="2660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364130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3138" y="216131"/>
            <a:ext cx="10515600" cy="856211"/>
          </a:xfrm>
        </p:spPr>
        <p:txBody>
          <a:bodyPr/>
          <a:lstStyle/>
          <a:p>
            <a:r>
              <a:rPr lang="ru-RU" u="sng" dirty="0" smtClean="0"/>
              <a:t>Проверка защиты порта</a:t>
            </a:r>
            <a:endParaRPr lang="ru-RU" u="sng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8" y="1147155"/>
            <a:ext cx="6366769" cy="505413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931" y="3484677"/>
            <a:ext cx="5433060" cy="3273570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3266512" y="1886989"/>
            <a:ext cx="2984659" cy="8312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000505" y="4821382"/>
            <a:ext cx="2984659" cy="8312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77604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Действия по защите порта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algn="just"/>
            <a:r>
              <a:rPr lang="ru-RU" dirty="0" smtClean="0"/>
              <a:t>Коммутатор </a:t>
            </a:r>
            <a:r>
              <a:rPr lang="ru-RU" dirty="0"/>
              <a:t>может быть настроен так, чтобы </a:t>
            </a:r>
            <a:r>
              <a:rPr lang="ru-RU" dirty="0" smtClean="0"/>
              <a:t>использовать </a:t>
            </a:r>
            <a:r>
              <a:rPr lang="ru-RU" b="1" dirty="0"/>
              <a:t>при </a:t>
            </a:r>
            <a:r>
              <a:rPr lang="ru-RU" b="1" dirty="0" smtClean="0"/>
              <a:t>нарушении безопасности</a:t>
            </a:r>
            <a:r>
              <a:rPr lang="ru-RU" dirty="0" smtClean="0"/>
              <a:t> </a:t>
            </a:r>
            <a:r>
              <a:rPr lang="ru-RU" dirty="0"/>
              <a:t>одно из трех </a:t>
            </a:r>
            <a:r>
              <a:rPr lang="ru-RU" dirty="0" smtClean="0"/>
              <a:t>действий: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036" y="3895291"/>
            <a:ext cx="8357928" cy="287958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61" y="2667730"/>
            <a:ext cx="11263746" cy="9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33269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Полезные команды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667019"/>
          </a:xfrm>
        </p:spPr>
        <p:txBody>
          <a:bodyPr>
            <a:normAutofit fontScale="92500"/>
          </a:bodyPr>
          <a:lstStyle/>
          <a:p>
            <a:pPr algn="just"/>
            <a:r>
              <a:rPr lang="en-US" b="1" dirty="0"/>
              <a:t>copy running-configuration </a:t>
            </a:r>
            <a:r>
              <a:rPr lang="en-US" b="1" dirty="0" smtClean="0"/>
              <a:t>startup-configuration</a:t>
            </a:r>
            <a:r>
              <a:rPr lang="ru-RU" b="1" dirty="0" smtClean="0"/>
              <a:t> (</a:t>
            </a:r>
            <a:r>
              <a:rPr lang="en-US" b="1" dirty="0" smtClean="0"/>
              <a:t>write, write memory, </a:t>
            </a:r>
            <a:r>
              <a:rPr lang="en-US" b="1" dirty="0" err="1" smtClean="0"/>
              <a:t>wr</a:t>
            </a:r>
            <a:r>
              <a:rPr lang="en-US" b="1" dirty="0" smtClean="0"/>
              <a:t> </a:t>
            </a:r>
            <a:r>
              <a:rPr lang="en-US" b="1" dirty="0" err="1" smtClean="0"/>
              <a:t>mem</a:t>
            </a:r>
            <a:r>
              <a:rPr lang="ru-RU" b="1" dirty="0" smtClean="0"/>
              <a:t>):</a:t>
            </a:r>
            <a:endParaRPr lang="en-US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dirty="0"/>
              <a:t>Эта команда сохранит текущие модификации в настройках (</a:t>
            </a:r>
            <a:r>
              <a:rPr lang="en-US" dirty="0"/>
              <a:t>running-configuration, </a:t>
            </a:r>
            <a:r>
              <a:rPr lang="ru-RU" dirty="0"/>
              <a:t>которая хранится в </a:t>
            </a:r>
            <a:r>
              <a:rPr lang="en-US" dirty="0"/>
              <a:t>RAM), </a:t>
            </a:r>
            <a:r>
              <a:rPr lang="ru-RU" dirty="0"/>
              <a:t>в энергонезависимую </a:t>
            </a:r>
            <a:r>
              <a:rPr lang="en-US" dirty="0"/>
              <a:t>RAM (NVRAM). </a:t>
            </a:r>
          </a:p>
          <a:p>
            <a:pPr algn="just"/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838200" y="3004734"/>
            <a:ext cx="10515600" cy="1051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 </a:t>
            </a:r>
            <a:r>
              <a:rPr lang="ru-RU" b="1" dirty="0" err="1"/>
              <a:t>show</a:t>
            </a:r>
            <a:r>
              <a:rPr lang="ru-RU" b="1" dirty="0"/>
              <a:t> </a:t>
            </a:r>
            <a:r>
              <a:rPr lang="ru-RU" b="1" dirty="0" err="1" smtClean="0"/>
              <a:t>interface</a:t>
            </a:r>
            <a:r>
              <a:rPr lang="ru-RU" b="1" dirty="0" smtClean="0"/>
              <a:t>:</a:t>
            </a:r>
            <a:endParaRPr lang="ru-RU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 smtClean="0"/>
              <a:t>отображает </a:t>
            </a:r>
            <a:r>
              <a:rPr lang="ru-RU" dirty="0"/>
              <a:t>состояние интерфейсов маршрутизатора.</a:t>
            </a:r>
          </a:p>
          <a:p>
            <a:pPr algn="just"/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838200" y="4143577"/>
            <a:ext cx="10515600" cy="10518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err="1" smtClean="0"/>
              <a:t>show</a:t>
            </a:r>
            <a:r>
              <a:rPr lang="ru-RU" b="1" dirty="0"/>
              <a:t> </a:t>
            </a:r>
            <a:r>
              <a:rPr lang="ru-RU" b="1" dirty="0" err="1"/>
              <a:t>ip</a:t>
            </a:r>
            <a:r>
              <a:rPr lang="ru-RU" b="1" dirty="0"/>
              <a:t> </a:t>
            </a:r>
            <a:r>
              <a:rPr lang="ru-RU" b="1" dirty="0" err="1"/>
              <a:t>interface</a:t>
            </a:r>
            <a:r>
              <a:rPr lang="ru-RU" b="1" dirty="0"/>
              <a:t> и </a:t>
            </a:r>
            <a:r>
              <a:rPr lang="ru-RU" b="1" dirty="0" err="1"/>
              <a:t>show</a:t>
            </a:r>
            <a:r>
              <a:rPr lang="ru-RU" b="1" dirty="0"/>
              <a:t> </a:t>
            </a:r>
            <a:r>
              <a:rPr lang="ru-RU" b="1" dirty="0" err="1"/>
              <a:t>ip</a:t>
            </a:r>
            <a:r>
              <a:rPr lang="ru-RU" b="1" dirty="0"/>
              <a:t> </a:t>
            </a:r>
            <a:r>
              <a:rPr lang="ru-RU" b="1" dirty="0" err="1"/>
              <a:t>interface</a:t>
            </a:r>
            <a:r>
              <a:rPr lang="ru-RU" b="1" dirty="0"/>
              <a:t> </a:t>
            </a:r>
            <a:r>
              <a:rPr lang="ru-RU" b="1" dirty="0" err="1" smtClean="0"/>
              <a:t>brief</a:t>
            </a:r>
            <a:r>
              <a:rPr lang="ru-RU" b="1" dirty="0" smtClean="0"/>
              <a:t>:</a:t>
            </a:r>
          </a:p>
          <a:p>
            <a:pPr lvl="1"/>
            <a:r>
              <a:rPr lang="ru-RU" dirty="0" smtClean="0"/>
              <a:t>предоставляет информацию </a:t>
            </a:r>
            <a:r>
              <a:rPr lang="ru-RU" dirty="0"/>
              <a:t>о конфигурации и состоянии протокола IP и </a:t>
            </a:r>
            <a:r>
              <a:rPr lang="ru-RU" dirty="0" smtClean="0"/>
              <a:t>его </a:t>
            </a:r>
            <a:r>
              <a:rPr lang="ru-RU" dirty="0"/>
              <a:t>службах на всех </a:t>
            </a:r>
            <a:r>
              <a:rPr lang="ru-RU" dirty="0" smtClean="0"/>
              <a:t>интерфейсах.</a:t>
            </a:r>
            <a:r>
              <a:rPr lang="ru-RU" dirty="0"/>
              <a:t> </a:t>
            </a: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838200" y="5286259"/>
            <a:ext cx="10515600" cy="1051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err="1"/>
              <a:t>show</a:t>
            </a:r>
            <a:r>
              <a:rPr lang="ru-RU" b="1" dirty="0"/>
              <a:t> </a:t>
            </a:r>
            <a:r>
              <a:rPr lang="ru-RU" b="1" dirty="0" err="1" smtClean="0"/>
              <a:t>vlan</a:t>
            </a:r>
            <a:r>
              <a:rPr lang="en-US" b="1" dirty="0" smtClean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 smtClean="0"/>
              <a:t>Показать </a:t>
            </a:r>
            <a:r>
              <a:rPr lang="ru-RU" dirty="0"/>
              <a:t>существующие </a:t>
            </a:r>
            <a:r>
              <a:rPr lang="ru-RU" dirty="0" err="1"/>
              <a:t>vlan</a:t>
            </a:r>
            <a:r>
              <a:rPr lang="ru-RU" dirty="0"/>
              <a:t> и привязку к ним физических интерфейсов.</a:t>
            </a:r>
          </a:p>
        </p:txBody>
      </p:sp>
    </p:spTree>
    <p:extLst>
      <p:ext uri="{BB962C8B-B14F-4D97-AF65-F5344CB8AC3E}">
        <p14:creationId xmlns:p14="http://schemas.microsoft.com/office/powerpoint/2010/main" xmlns="" val="4995703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Ключевые темы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209" y="1200872"/>
            <a:ext cx="7111580" cy="5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338510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1811</Words>
  <Application>Microsoft Office PowerPoint</Application>
  <PresentationFormat>Custom</PresentationFormat>
  <Paragraphs>181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Тема Office</vt:lpstr>
      <vt:lpstr>Настройка коммутаторов Cisco</vt:lpstr>
      <vt:lpstr>В рамках этой темы…</vt:lpstr>
      <vt:lpstr>Защита доступа к командной строке</vt:lpstr>
      <vt:lpstr>Защита простым паролем</vt:lpstr>
      <vt:lpstr>Защита простым паролем</vt:lpstr>
      <vt:lpstr>Защита простым паролем</vt:lpstr>
      <vt:lpstr>Защита простым паролем</vt:lpstr>
      <vt:lpstr>Ввод команд в CLI</vt:lpstr>
      <vt:lpstr>Ввод команд в CLI</vt:lpstr>
      <vt:lpstr>Ввод команд в CLI</vt:lpstr>
      <vt:lpstr>Ввод команд в CLI</vt:lpstr>
      <vt:lpstr>Результат ввода команд</vt:lpstr>
      <vt:lpstr>Новый файл текущей конфигурации running-config на коммутаторе Emma</vt:lpstr>
      <vt:lpstr>Защита по локальному имени пользователя и паролю</vt:lpstr>
      <vt:lpstr>Защита по локальному имени пользователя и паролю</vt:lpstr>
      <vt:lpstr>Защита с помощью ААА</vt:lpstr>
      <vt:lpstr>Настройка протокола SSH</vt:lpstr>
      <vt:lpstr>Настройка протокола SSH</vt:lpstr>
      <vt:lpstr>Настройка протокола SSH</vt:lpstr>
      <vt:lpstr>Результаты ввода команд</vt:lpstr>
      <vt:lpstr>Отключение протоколов</vt:lpstr>
      <vt:lpstr>Шифрование паролей</vt:lpstr>
      <vt:lpstr>Шифрование паролей</vt:lpstr>
      <vt:lpstr>Шифрование паролей</vt:lpstr>
      <vt:lpstr>Шифрование привилегированного пароля</vt:lpstr>
      <vt:lpstr>Шифрование локальных паролей</vt:lpstr>
      <vt:lpstr>Отображаемое сообщение</vt:lpstr>
      <vt:lpstr>Буфер истории команд</vt:lpstr>
      <vt:lpstr>Стандартные настройки коммутатора</vt:lpstr>
      <vt:lpstr>Концепция SVI</vt:lpstr>
      <vt:lpstr>Выбор VLAN для настройка IP адреса</vt:lpstr>
      <vt:lpstr>Настройка IPv4-адреса</vt:lpstr>
      <vt:lpstr>Настройка IPv4-адреса</vt:lpstr>
      <vt:lpstr>Проверка IPv4-адреса</vt:lpstr>
      <vt:lpstr>Проверка IPv4-адреса</vt:lpstr>
      <vt:lpstr>Настройка интерфейсов коммутатора</vt:lpstr>
      <vt:lpstr>Настройка интерфейсов коммутатора</vt:lpstr>
      <vt:lpstr>Защита портов коммутатора</vt:lpstr>
      <vt:lpstr>Основные правила защиты порта</vt:lpstr>
      <vt:lpstr>Последовательность защиты порта</vt:lpstr>
      <vt:lpstr>Последовательность защиты порта</vt:lpstr>
      <vt:lpstr>Проверка защиты порта</vt:lpstr>
      <vt:lpstr>Действия по защите порта</vt:lpstr>
      <vt:lpstr>Полезные команды</vt:lpstr>
      <vt:lpstr>Ключевые темы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Физический уровень</dc:title>
  <dc:creator>Samm</dc:creator>
  <cp:lastModifiedBy>Windows User</cp:lastModifiedBy>
  <cp:revision>253</cp:revision>
  <dcterms:created xsi:type="dcterms:W3CDTF">2016-02-17T09:36:11Z</dcterms:created>
  <dcterms:modified xsi:type="dcterms:W3CDTF">2019-10-08T12:34:50Z</dcterms:modified>
</cp:coreProperties>
</file>