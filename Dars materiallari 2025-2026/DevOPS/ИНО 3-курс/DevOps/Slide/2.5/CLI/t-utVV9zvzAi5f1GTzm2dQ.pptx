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302" r:id="rId3"/>
    <p:sldId id="305" r:id="rId4"/>
    <p:sldId id="306" r:id="rId5"/>
    <p:sldId id="307" r:id="rId6"/>
    <p:sldId id="308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317" r:id="rId16"/>
    <p:sldId id="318" r:id="rId17"/>
    <p:sldId id="319" r:id="rId18"/>
    <p:sldId id="321" r:id="rId19"/>
    <p:sldId id="320" r:id="rId20"/>
    <p:sldId id="322" r:id="rId21"/>
    <p:sldId id="323" r:id="rId22"/>
    <p:sldId id="324" r:id="rId23"/>
    <p:sldId id="325" r:id="rId24"/>
    <p:sldId id="326" r:id="rId25"/>
    <p:sldId id="327" r:id="rId26"/>
    <p:sldId id="328" r:id="rId27"/>
    <p:sldId id="329" r:id="rId28"/>
    <p:sldId id="330" r:id="rId29"/>
    <p:sldId id="331" r:id="rId30"/>
    <p:sldId id="332" r:id="rId31"/>
    <p:sldId id="333" r:id="rId32"/>
    <p:sldId id="334" r:id="rId33"/>
    <p:sldId id="336" r:id="rId34"/>
    <p:sldId id="335" r:id="rId35"/>
    <p:sldId id="337" r:id="rId36"/>
    <p:sldId id="338" r:id="rId37"/>
    <p:sldId id="339" r:id="rId38"/>
    <p:sldId id="340" r:id="rId39"/>
    <p:sldId id="341" r:id="rId40"/>
    <p:sldId id="342" r:id="rId41"/>
    <p:sldId id="343" r:id="rId42"/>
    <p:sldId id="344" r:id="rId43"/>
    <p:sldId id="345" r:id="rId44"/>
    <p:sldId id="346" r:id="rId45"/>
    <p:sldId id="347" r:id="rId46"/>
    <p:sldId id="303" r:id="rId4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="" xmlns:p14="http://schemas.microsoft.com/office/powerpoint/2010/main">
        <p14:section name="Титул" id="{449E181A-3841-4075-AE70-B4CB86F1AC57}">
          <p14:sldIdLst>
            <p14:sldId id="256"/>
            <p14:sldId id="302"/>
          </p14:sldIdLst>
        </p14:section>
        <p14:section name="VLAN" id="{2DDC9D34-8B40-4126-8ADD-19C0647DDCD5}">
          <p14:sldIdLst>
            <p14:sldId id="305"/>
            <p14:sldId id="306"/>
            <p14:sldId id="307"/>
          </p14:sldIdLst>
        </p14:section>
        <p14:section name="Описание VLAN" id="{9D705A0F-E148-4A79-98FF-6B721057ADEF}">
          <p14:sldIdLst>
            <p14:sldId id="308"/>
            <p14:sldId id="309"/>
            <p14:sldId id="310"/>
            <p14:sldId id="311"/>
            <p14:sldId id="312"/>
            <p14:sldId id="313"/>
            <p14:sldId id="314"/>
          </p14:sldIdLst>
        </p14:section>
        <p14:section name="Перенаправление между двумя VLAN" id="{84952957-1CD2-433A-9A85-DC56EB68AD2A}">
          <p14:sldIdLst>
            <p14:sldId id="315"/>
            <p14:sldId id="316"/>
            <p14:sldId id="317"/>
            <p14:sldId id="318"/>
            <p14:sldId id="319"/>
          </p14:sldIdLst>
        </p14:section>
        <p14:section name="Создание VLAN" id="{FDFC24DB-01B0-4EDF-A4E2-1FAB0514D7E0}">
          <p14:sldIdLst>
            <p14:sldId id="321"/>
            <p14:sldId id="320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6"/>
            <p14:sldId id="335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</p14:sldIdLst>
        </p14:section>
        <p14:section name="Окончание" id="{3A78F49B-F70D-4E8C-94D5-1925F9544480}">
          <p14:sldIdLst>
            <p14:sldId id="303"/>
          </p14:sldIdLst>
        </p14:section>
      </p14:sectionLst>
    </p:ex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493" autoAdjust="0"/>
  </p:normalViewPr>
  <p:slideViewPr>
    <p:cSldViewPr snapToGrid="0">
      <p:cViewPr varScale="1">
        <p:scale>
          <a:sx n="115" d="100"/>
          <a:sy n="115" d="100"/>
        </p:scale>
        <p:origin x="3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A6C902-8172-4E7B-9ED5-7CB4BD9E301E}" type="datetimeFigureOut">
              <a:rPr lang="ru-RU" smtClean="0"/>
              <a:pPr/>
              <a:t>01.01.2018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F5BF0B-385B-42C9-BC1B-28B4F8BDE87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567790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D31D-B9B7-4AE5-AD7E-5A301AE9C080}" type="datetimeFigureOut">
              <a:rPr lang="ru-RU" smtClean="0"/>
              <a:pPr/>
              <a:t>01.01.2018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E99D8-FEDE-4460-82DF-E3B83655603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326532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D31D-B9B7-4AE5-AD7E-5A301AE9C080}" type="datetimeFigureOut">
              <a:rPr lang="ru-RU" smtClean="0"/>
              <a:pPr/>
              <a:t>01.01.2018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E99D8-FEDE-4460-82DF-E3B83655603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801497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D31D-B9B7-4AE5-AD7E-5A301AE9C080}" type="datetimeFigureOut">
              <a:rPr lang="ru-RU" smtClean="0"/>
              <a:pPr/>
              <a:t>01.01.2018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E99D8-FEDE-4460-82DF-E3B83655603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652033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D31D-B9B7-4AE5-AD7E-5A301AE9C080}" type="datetimeFigureOut">
              <a:rPr lang="ru-RU" smtClean="0"/>
              <a:pPr/>
              <a:t>01.01.2018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E99D8-FEDE-4460-82DF-E3B83655603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791270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D31D-B9B7-4AE5-AD7E-5A301AE9C080}" type="datetimeFigureOut">
              <a:rPr lang="ru-RU" smtClean="0"/>
              <a:pPr/>
              <a:t>01.01.2018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E99D8-FEDE-4460-82DF-E3B83655603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75798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D31D-B9B7-4AE5-AD7E-5A301AE9C080}" type="datetimeFigureOut">
              <a:rPr lang="ru-RU" smtClean="0"/>
              <a:pPr/>
              <a:t>01.01.2018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E99D8-FEDE-4460-82DF-E3B83655603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075213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D31D-B9B7-4AE5-AD7E-5A301AE9C080}" type="datetimeFigureOut">
              <a:rPr lang="ru-RU" smtClean="0"/>
              <a:pPr/>
              <a:t>01.01.2018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E99D8-FEDE-4460-82DF-E3B83655603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520007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D31D-B9B7-4AE5-AD7E-5A301AE9C080}" type="datetimeFigureOut">
              <a:rPr lang="ru-RU" smtClean="0"/>
              <a:pPr/>
              <a:t>01.01.2018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E99D8-FEDE-4460-82DF-E3B83655603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520842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D31D-B9B7-4AE5-AD7E-5A301AE9C080}" type="datetimeFigureOut">
              <a:rPr lang="ru-RU" smtClean="0"/>
              <a:pPr/>
              <a:t>01.01.2018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E99D8-FEDE-4460-82DF-E3B83655603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74490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D31D-B9B7-4AE5-AD7E-5A301AE9C080}" type="datetimeFigureOut">
              <a:rPr lang="ru-RU" smtClean="0"/>
              <a:pPr/>
              <a:t>01.01.2018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E99D8-FEDE-4460-82DF-E3B83655603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343087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D31D-B9B7-4AE5-AD7E-5A301AE9C080}" type="datetimeFigureOut">
              <a:rPr lang="ru-RU" smtClean="0"/>
              <a:pPr/>
              <a:t>01.01.2018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E99D8-FEDE-4460-82DF-E3B83655603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490674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CD31D-B9B7-4AE5-AD7E-5A301AE9C080}" type="datetimeFigureOut">
              <a:rPr lang="ru-RU" smtClean="0"/>
              <a:pPr/>
              <a:t>01.01.2018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E99D8-FEDE-4460-82DF-E3B83655603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553685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Реализация виртуальных локальных сетей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Глава </a:t>
            </a:r>
            <a:r>
              <a:rPr lang="en-US" dirty="0" smtClean="0"/>
              <a:t>9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426709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В рамках этой темы</a:t>
            </a:r>
            <a:r>
              <a:rPr lang="ru" u="sng" dirty="0" smtClean="0"/>
              <a:t>…</a:t>
            </a:r>
            <a:endParaRPr lang="ru-RU" u="sng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653" y="1325563"/>
            <a:ext cx="8362692" cy="553243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531046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Концепция </a:t>
            </a:r>
            <a:r>
              <a:rPr lang="en-US" u="sng" dirty="0" smtClean="0"/>
              <a:t>VLAN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25563"/>
            <a:ext cx="11073938" cy="1434262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Локальная сеть </a:t>
            </a:r>
            <a:r>
              <a:rPr lang="ru-RU" dirty="0" smtClean="0"/>
              <a:t>(LAN</a:t>
            </a:r>
            <a:r>
              <a:rPr lang="ru-RU" dirty="0"/>
              <a:t>) объединяет все устройства в том </a:t>
            </a:r>
            <a:r>
              <a:rPr lang="ru-RU" dirty="0" smtClean="0"/>
              <a:t>же </a:t>
            </a:r>
            <a:r>
              <a:rPr lang="ru-RU" b="1" dirty="0" err="1" smtClean="0"/>
              <a:t>широковешательном</a:t>
            </a:r>
            <a:r>
              <a:rPr lang="ru-RU" b="1" dirty="0" smtClean="0"/>
              <a:t> домене</a:t>
            </a:r>
            <a:r>
              <a:rPr lang="ru-RU" dirty="0"/>
              <a:t>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47534"/>
            <a:ext cx="10515600" cy="384048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802028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22713"/>
          </a:xfrm>
        </p:spPr>
        <p:txBody>
          <a:bodyPr/>
          <a:lstStyle/>
          <a:p>
            <a:r>
              <a:rPr lang="ru-RU" u="sng" dirty="0" smtClean="0"/>
              <a:t>Концепция </a:t>
            </a:r>
            <a:r>
              <a:rPr lang="en-US" u="sng" dirty="0" smtClean="0"/>
              <a:t>VLAN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233891"/>
            <a:ext cx="11073938" cy="143426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b="1" dirty="0"/>
              <a:t>Коммутатор </a:t>
            </a:r>
            <a:r>
              <a:rPr lang="en-US" b="1" dirty="0" smtClean="0"/>
              <a:t>VLAN</a:t>
            </a:r>
            <a:r>
              <a:rPr lang="ru-RU" b="1" dirty="0" smtClean="0"/>
              <a:t> </a:t>
            </a:r>
            <a:r>
              <a:rPr lang="ru-RU" dirty="0" smtClean="0"/>
              <a:t>может </a:t>
            </a:r>
            <a:r>
              <a:rPr lang="ru-RU" dirty="0"/>
              <a:t>настроить часть </a:t>
            </a:r>
            <a:r>
              <a:rPr lang="ru-RU" dirty="0" smtClean="0"/>
              <a:t>интерфейсов </a:t>
            </a:r>
            <a:r>
              <a:rPr lang="ru-RU" dirty="0"/>
              <a:t>на один широковещательный домен, а часть </a:t>
            </a:r>
            <a:r>
              <a:rPr lang="ru-RU" dirty="0" smtClean="0"/>
              <a:t>на другой </a:t>
            </a:r>
            <a:r>
              <a:rPr lang="ru-RU" dirty="0"/>
              <a:t>, создав в результате два </a:t>
            </a:r>
            <a:r>
              <a:rPr lang="ru-RU" dirty="0" smtClean="0"/>
              <a:t>широковещательных домена (2 виртуальные локальные сети </a:t>
            </a:r>
            <a:r>
              <a:rPr lang="ru-RU" dirty="0"/>
              <a:t>(</a:t>
            </a:r>
            <a:r>
              <a:rPr lang="ru-RU" dirty="0" err="1"/>
              <a:t>virtual</a:t>
            </a:r>
            <a:r>
              <a:rPr lang="ru-RU" dirty="0"/>
              <a:t> LAN - </a:t>
            </a:r>
            <a:r>
              <a:rPr lang="ru-RU" dirty="0" smtClean="0"/>
              <a:t>VLAN)).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79331"/>
            <a:ext cx="11073938" cy="329677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727137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22713"/>
          </a:xfrm>
        </p:spPr>
        <p:txBody>
          <a:bodyPr/>
          <a:lstStyle/>
          <a:p>
            <a:r>
              <a:rPr lang="ru-RU" u="sng" dirty="0" smtClean="0"/>
              <a:t>Причины применения </a:t>
            </a:r>
            <a:r>
              <a:rPr lang="en-US" u="sng" dirty="0" smtClean="0"/>
              <a:t>VLAN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922714"/>
            <a:ext cx="11073938" cy="5935286"/>
          </a:xfrm>
        </p:spPr>
        <p:txBody>
          <a:bodyPr>
            <a:normAutofit fontScale="92500" lnSpcReduction="2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ru-RU" b="1" dirty="0"/>
              <a:t>Сокращение </a:t>
            </a:r>
            <a:r>
              <a:rPr lang="ru-RU" b="1" dirty="0" smtClean="0"/>
              <a:t>дополнительных </a:t>
            </a:r>
            <a:r>
              <a:rPr lang="ru-RU" b="1" dirty="0"/>
              <a:t>затрат процессоров</a:t>
            </a:r>
            <a:r>
              <a:rPr lang="ru-RU" dirty="0"/>
              <a:t> всех устройств за счет </a:t>
            </a:r>
            <a:r>
              <a:rPr lang="ru-RU" dirty="0" smtClean="0"/>
              <a:t>сокращения количества </a:t>
            </a:r>
            <a:r>
              <a:rPr lang="ru-RU" dirty="0"/>
              <a:t>устройств, получающих каждый </a:t>
            </a:r>
            <a:r>
              <a:rPr lang="ru-RU" dirty="0" smtClean="0"/>
              <a:t>широковещательный фрейм</a:t>
            </a:r>
            <a:r>
              <a:rPr lang="ru-RU" dirty="0"/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b="1" dirty="0" smtClean="0"/>
              <a:t>Улучшение </a:t>
            </a:r>
            <a:r>
              <a:rPr lang="ru-RU" b="1" dirty="0"/>
              <a:t>защиты </a:t>
            </a:r>
            <a:r>
              <a:rPr lang="ru-RU" dirty="0"/>
              <a:t>за счет сокращения количества хостов, получающих </a:t>
            </a:r>
            <a:r>
              <a:rPr lang="ru-RU" dirty="0" smtClean="0"/>
              <a:t>копии фреймов </a:t>
            </a:r>
            <a:r>
              <a:rPr lang="ru-RU" dirty="0"/>
              <a:t>при их </a:t>
            </a:r>
            <a:r>
              <a:rPr lang="ru-RU" dirty="0" smtClean="0"/>
              <a:t>лавинной </a:t>
            </a:r>
            <a:r>
              <a:rPr lang="ru-RU" dirty="0"/>
              <a:t>рассылке коммутатором </a:t>
            </a:r>
            <a:r>
              <a:rPr lang="ru-RU" dirty="0" smtClean="0"/>
              <a:t>(широковещание, групповая </a:t>
            </a:r>
            <a:r>
              <a:rPr lang="ru-RU" dirty="0"/>
              <a:t>передача и </a:t>
            </a:r>
            <a:r>
              <a:rPr lang="ru-RU" dirty="0" err="1"/>
              <a:t>одноадресатные</a:t>
            </a:r>
            <a:r>
              <a:rPr lang="ru-RU" dirty="0"/>
              <a:t> фреймы с </a:t>
            </a:r>
            <a:r>
              <a:rPr lang="ru-RU" dirty="0" smtClean="0"/>
              <a:t>неизвестным </a:t>
            </a:r>
            <a:r>
              <a:rPr lang="ru-RU" dirty="0"/>
              <a:t>получателем).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b="1" dirty="0" smtClean="0"/>
              <a:t>Улучшение </a:t>
            </a:r>
            <a:r>
              <a:rPr lang="ru-RU" b="1" dirty="0"/>
              <a:t>защиты хостов</a:t>
            </a:r>
            <a:r>
              <a:rPr lang="ru-RU" dirty="0"/>
              <a:t>, пересылающих </a:t>
            </a:r>
            <a:r>
              <a:rPr lang="ru-RU" dirty="0" smtClean="0"/>
              <a:t>важные данные, </a:t>
            </a:r>
            <a:r>
              <a:rPr lang="ru-RU" dirty="0"/>
              <a:t>за счет их </a:t>
            </a:r>
            <a:r>
              <a:rPr lang="ru-RU" dirty="0" smtClean="0"/>
              <a:t>помещения в </a:t>
            </a:r>
            <a:r>
              <a:rPr lang="ru-RU" dirty="0"/>
              <a:t>отдельную сеть </a:t>
            </a:r>
            <a:r>
              <a:rPr lang="ru-RU" dirty="0" smtClean="0"/>
              <a:t>VLAN.</a:t>
            </a:r>
            <a:endParaRPr lang="ru-RU" dirty="0"/>
          </a:p>
          <a:p>
            <a:pPr marL="514350" indent="-514350" algn="just">
              <a:buFont typeface="+mj-lt"/>
              <a:buAutoNum type="arabicPeriod"/>
            </a:pPr>
            <a:r>
              <a:rPr lang="ru-RU" b="1" dirty="0" smtClean="0"/>
              <a:t>Возможность </a:t>
            </a:r>
            <a:r>
              <a:rPr lang="ru-RU" b="1" dirty="0"/>
              <a:t>более гибкого объединения </a:t>
            </a:r>
            <a:r>
              <a:rPr lang="ru-RU" dirty="0" smtClean="0"/>
              <a:t>пользователей </a:t>
            </a:r>
            <a:r>
              <a:rPr lang="ru-RU" dirty="0"/>
              <a:t>в </a:t>
            </a:r>
            <a:r>
              <a:rPr lang="ru-RU" dirty="0" smtClean="0"/>
              <a:t>группы </a:t>
            </a:r>
            <a:r>
              <a:rPr lang="ru-RU" dirty="0"/>
              <a:t>(</a:t>
            </a:r>
            <a:r>
              <a:rPr lang="ru-RU" dirty="0" smtClean="0"/>
              <a:t>например, по </a:t>
            </a:r>
            <a:r>
              <a:rPr lang="ru-RU" dirty="0"/>
              <a:t>отделам) вместо физического </a:t>
            </a:r>
            <a:r>
              <a:rPr lang="ru-RU" dirty="0" smtClean="0"/>
              <a:t>разделения </a:t>
            </a:r>
            <a:r>
              <a:rPr lang="ru-RU" dirty="0"/>
              <a:t>по местоположению.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b="1" dirty="0" smtClean="0"/>
              <a:t>Упрощение </a:t>
            </a:r>
            <a:r>
              <a:rPr lang="ru-RU" b="1" dirty="0"/>
              <a:t>поиска проблемы </a:t>
            </a:r>
            <a:r>
              <a:rPr lang="ru-RU" dirty="0"/>
              <a:t>в сети, поскольку большинство проблем </a:t>
            </a:r>
            <a:r>
              <a:rPr lang="ru-RU" dirty="0" smtClean="0"/>
              <a:t>локализуется в </a:t>
            </a:r>
            <a:r>
              <a:rPr lang="ru-RU" dirty="0"/>
              <a:t>области набора устройств, формирующих </a:t>
            </a:r>
            <a:r>
              <a:rPr lang="ru-RU" dirty="0" smtClean="0"/>
              <a:t>широковещательный домен.</a:t>
            </a:r>
            <a:endParaRPr lang="ru-RU" dirty="0"/>
          </a:p>
          <a:p>
            <a:pPr marL="514350" indent="-514350" algn="just">
              <a:buFont typeface="+mj-lt"/>
              <a:buAutoNum type="arabicPeriod"/>
            </a:pPr>
            <a:r>
              <a:rPr lang="ru-RU" b="1" dirty="0" smtClean="0"/>
              <a:t>Сокращение </a:t>
            </a:r>
            <a:r>
              <a:rPr lang="ru-RU" b="1" dirty="0"/>
              <a:t>дополнительных </a:t>
            </a:r>
            <a:r>
              <a:rPr lang="ru-RU" dirty="0"/>
              <a:t>затрат на работу протокола </a:t>
            </a:r>
            <a:r>
              <a:rPr lang="ru-RU" dirty="0" smtClean="0"/>
              <a:t>распределенного связующего </a:t>
            </a:r>
            <a:r>
              <a:rPr lang="ru-RU" dirty="0"/>
              <a:t>дерева (STP) за счет ограничения VLAN </a:t>
            </a:r>
            <a:r>
              <a:rPr lang="ru-RU" dirty="0" smtClean="0"/>
              <a:t>одним коммутатором доступа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="" xmlns:p14="http://schemas.microsoft.com/office/powerpoint/2010/main" val="3810338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Магистральное соединение </a:t>
            </a:r>
            <a:r>
              <a:rPr lang="en-US" u="sng" dirty="0" smtClean="0"/>
              <a:t>VLAN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25562"/>
            <a:ext cx="10515600" cy="5532437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Когда сети VLAN используются в сетях с </a:t>
            </a:r>
            <a:r>
              <a:rPr lang="ru-RU" dirty="0" smtClean="0"/>
              <a:t>несколькими соединенными </a:t>
            </a:r>
            <a:r>
              <a:rPr lang="ru-RU" dirty="0"/>
              <a:t>между </a:t>
            </a:r>
            <a:r>
              <a:rPr lang="ru-RU" dirty="0" smtClean="0"/>
              <a:t>собой коммутаторами, </a:t>
            </a:r>
            <a:r>
              <a:rPr lang="ru-RU" dirty="0"/>
              <a:t>на каналах связи между ними применяется магистральное </a:t>
            </a:r>
            <a:r>
              <a:rPr lang="ru-RU" dirty="0" smtClean="0"/>
              <a:t>соединение </a:t>
            </a:r>
            <a:r>
              <a:rPr lang="en-US" b="1" dirty="0" smtClean="0"/>
              <a:t>VLAN </a:t>
            </a:r>
            <a:r>
              <a:rPr lang="en-US" b="1" dirty="0"/>
              <a:t>(VLAN </a:t>
            </a:r>
            <a:r>
              <a:rPr lang="en-US" b="1" dirty="0" err="1"/>
              <a:t>trunking</a:t>
            </a:r>
            <a:r>
              <a:rPr lang="en-US" b="1" dirty="0" smtClean="0"/>
              <a:t>).</a:t>
            </a:r>
            <a:endParaRPr lang="ru-RU" b="1" dirty="0" smtClean="0"/>
          </a:p>
          <a:p>
            <a:pPr algn="just"/>
            <a:endParaRPr lang="ru-RU" b="1" dirty="0"/>
          </a:p>
          <a:p>
            <a:pPr algn="just"/>
            <a:r>
              <a:rPr lang="ru-RU" dirty="0"/>
              <a:t>Магистральное соединение </a:t>
            </a:r>
            <a:r>
              <a:rPr lang="en-US" dirty="0"/>
              <a:t>VLAN </a:t>
            </a:r>
            <a:r>
              <a:rPr lang="ru-RU" dirty="0" smtClean="0"/>
              <a:t>подразумевает использование </a:t>
            </a:r>
            <a:r>
              <a:rPr lang="ru-RU" dirty="0"/>
              <a:t>коммутаторами процесса </a:t>
            </a:r>
            <a:r>
              <a:rPr lang="ru-RU" b="1" dirty="0"/>
              <a:t>назначения тегов VLAN (VLAN </a:t>
            </a:r>
            <a:r>
              <a:rPr lang="ru-RU" b="1" dirty="0" err="1"/>
              <a:t>tagging</a:t>
            </a:r>
            <a:r>
              <a:rPr lang="ru-RU" b="1" dirty="0" smtClean="0"/>
              <a:t>)</a:t>
            </a:r>
            <a:r>
              <a:rPr lang="ru-RU" dirty="0" smtClean="0"/>
              <a:t>:</a:t>
            </a:r>
          </a:p>
          <a:p>
            <a:pPr algn="just"/>
            <a:endParaRPr lang="ru-RU" dirty="0" smtClean="0"/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ru-RU" dirty="0"/>
              <a:t>передающий коммутатор добавляет к фрейму </a:t>
            </a:r>
            <a:r>
              <a:rPr lang="ru-RU" dirty="0" smtClean="0"/>
              <a:t>дополнительный заголовок </a:t>
            </a:r>
            <a:r>
              <a:rPr lang="ru-RU" dirty="0"/>
              <a:t>перед его </a:t>
            </a:r>
            <a:r>
              <a:rPr lang="ru-RU" dirty="0" smtClean="0"/>
              <a:t>передачей по </a:t>
            </a:r>
            <a:r>
              <a:rPr lang="ru-RU" dirty="0"/>
              <a:t>магистральному </a:t>
            </a:r>
            <a:r>
              <a:rPr lang="ru-RU" dirty="0" smtClean="0"/>
              <a:t>каналу, включающий </a:t>
            </a:r>
            <a:r>
              <a:rPr lang="ru-RU" b="1" dirty="0" smtClean="0"/>
              <a:t>поле идентификатора VLAN </a:t>
            </a:r>
            <a:r>
              <a:rPr lang="ru-RU" b="1" dirty="0"/>
              <a:t>(VLAN </a:t>
            </a:r>
            <a:r>
              <a:rPr lang="en-US" b="1" dirty="0" smtClean="0"/>
              <a:t>ID</a:t>
            </a:r>
            <a:r>
              <a:rPr lang="ru-RU" b="1" dirty="0" smtClean="0"/>
              <a:t>)</a:t>
            </a:r>
            <a:r>
              <a:rPr lang="ru-RU" dirty="0" smtClean="0"/>
              <a:t>, </a:t>
            </a:r>
            <a:r>
              <a:rPr lang="ru-RU" dirty="0"/>
              <a:t>позволяющего </a:t>
            </a:r>
            <a:r>
              <a:rPr lang="ru-RU" dirty="0" smtClean="0"/>
              <a:t>передающему и получающему коммутаторам ассоциировать фрейм </a:t>
            </a:r>
            <a:r>
              <a:rPr lang="ru-RU" dirty="0"/>
              <a:t>с конкретной сетью </a:t>
            </a:r>
            <a:r>
              <a:rPr lang="ru-RU" dirty="0" smtClean="0"/>
              <a:t>VLAN.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4173462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u="sng" dirty="0" smtClean="0"/>
              <a:t>VLAN</a:t>
            </a:r>
            <a:r>
              <a:rPr lang="ru-RU" u="sng" dirty="0" smtClean="0"/>
              <a:t> без магистрального соединения</a:t>
            </a:r>
            <a:endParaRPr lang="ru-RU" u="sng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25563"/>
            <a:ext cx="10515600" cy="553243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685339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Концепция тегов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1567266"/>
          </a:xfrm>
        </p:spPr>
        <p:txBody>
          <a:bodyPr/>
          <a:lstStyle/>
          <a:p>
            <a:pPr algn="just"/>
            <a:r>
              <a:rPr lang="ru-RU" b="1" dirty="0"/>
              <a:t>Магистральное соединение </a:t>
            </a:r>
            <a:r>
              <a:rPr lang="en-US" b="1" dirty="0" smtClean="0"/>
              <a:t>V</a:t>
            </a:r>
            <a:r>
              <a:rPr lang="ru-RU" b="1" dirty="0" smtClean="0"/>
              <a:t>LAN </a:t>
            </a:r>
            <a:r>
              <a:rPr lang="ru-RU" dirty="0"/>
              <a:t>создает между коммутаторами один канал </a:t>
            </a:r>
            <a:r>
              <a:rPr lang="ru-RU" dirty="0" smtClean="0"/>
              <a:t>связи, </a:t>
            </a:r>
            <a:r>
              <a:rPr lang="ru-RU" dirty="0"/>
              <a:t>способный </a:t>
            </a:r>
            <a:r>
              <a:rPr lang="ru-RU" dirty="0" smtClean="0"/>
              <a:t>поддерживать </a:t>
            </a:r>
            <a:r>
              <a:rPr lang="ru-RU" dirty="0"/>
              <a:t>столько сетей </a:t>
            </a:r>
            <a:r>
              <a:rPr lang="ru-RU" dirty="0" smtClean="0"/>
              <a:t>VLAN, сколько </a:t>
            </a:r>
            <a:r>
              <a:rPr lang="ru-RU" dirty="0"/>
              <a:t>необходимо.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2875" y="2892829"/>
            <a:ext cx="7046249" cy="3965171"/>
          </a:xfrm>
          <a:prstGeom prst="rect">
            <a:avLst/>
          </a:prstGeom>
        </p:spPr>
      </p:pic>
      <p:sp>
        <p:nvSpPr>
          <p:cNvPr id="5" name="Стрелка вверх 4"/>
          <p:cNvSpPr/>
          <p:nvPr/>
        </p:nvSpPr>
        <p:spPr>
          <a:xfrm>
            <a:off x="4815839" y="4775661"/>
            <a:ext cx="1280160" cy="777241"/>
          </a:xfrm>
          <a:prstGeom prst="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трелка вниз 5"/>
          <p:cNvSpPr/>
          <p:nvPr/>
        </p:nvSpPr>
        <p:spPr>
          <a:xfrm>
            <a:off x="5327072" y="3383280"/>
            <a:ext cx="1537854" cy="835112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103899" y="4878601"/>
            <a:ext cx="7040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endParaRPr lang="ru-RU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743979" y="3387082"/>
            <a:ext cx="7040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  <a:endParaRPr lang="ru-RU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63707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Пересылка фреймов</a:t>
            </a:r>
            <a:endParaRPr lang="ru-RU" u="sng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322" y="1325563"/>
            <a:ext cx="9729355" cy="553243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69187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Протокол </a:t>
            </a:r>
            <a:r>
              <a:rPr lang="ru-RU" u="sng" dirty="0"/>
              <a:t>магистралей VLAN </a:t>
            </a:r>
            <a:r>
              <a:rPr lang="ru-RU" u="sng" dirty="0" smtClean="0"/>
              <a:t>802.1Q</a:t>
            </a:r>
            <a:endParaRPr lang="ru-RU" u="sng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97" y="1649759"/>
            <a:ext cx="10829405" cy="412216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492199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/>
              <a:t>Протокол магистралей VLAN </a:t>
            </a:r>
            <a:r>
              <a:rPr lang="ru-RU" u="sng" dirty="0" smtClean="0"/>
              <a:t>802.1Q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553243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dirty="0"/>
              <a:t>Протокол </a:t>
            </a:r>
            <a:r>
              <a:rPr lang="ru-RU" dirty="0" smtClean="0"/>
              <a:t>802.1Q </a:t>
            </a:r>
            <a:r>
              <a:rPr lang="ru-RU" dirty="0"/>
              <a:t>использует дополнительное </a:t>
            </a:r>
            <a:r>
              <a:rPr lang="ru-RU" dirty="0" smtClean="0"/>
              <a:t>4-байтовое поле </a:t>
            </a:r>
            <a:r>
              <a:rPr lang="ru-RU" dirty="0"/>
              <a:t>- </a:t>
            </a:r>
            <a:r>
              <a:rPr lang="ru-RU" b="1" dirty="0"/>
              <a:t>заголовок </a:t>
            </a:r>
            <a:r>
              <a:rPr lang="ru-RU" b="1" dirty="0" smtClean="0"/>
              <a:t>802.1Q </a:t>
            </a:r>
            <a:r>
              <a:rPr lang="ru-RU" dirty="0"/>
              <a:t>в</a:t>
            </a:r>
            <a:r>
              <a:rPr lang="ru-RU" b="1" dirty="0"/>
              <a:t> </a:t>
            </a:r>
            <a:r>
              <a:rPr lang="ru-RU" dirty="0"/>
              <a:t>заголовке Ethernet </a:t>
            </a:r>
            <a:r>
              <a:rPr lang="ru-RU" dirty="0" smtClean="0"/>
              <a:t>первоначального фрейма</a:t>
            </a:r>
          </a:p>
          <a:p>
            <a:pPr algn="just"/>
            <a:endParaRPr lang="ru-RU" dirty="0"/>
          </a:p>
          <a:p>
            <a:pPr algn="just"/>
            <a:r>
              <a:rPr lang="ru-RU" dirty="0" smtClean="0"/>
              <a:t>12-битовое </a:t>
            </a:r>
            <a:r>
              <a:rPr lang="ru-RU" dirty="0"/>
              <a:t>поле способно идентифицировать </a:t>
            </a:r>
            <a:r>
              <a:rPr lang="ru-RU" b="1" dirty="0"/>
              <a:t>максимум </a:t>
            </a:r>
            <a:r>
              <a:rPr lang="ru-RU" b="1" dirty="0" smtClean="0"/>
              <a:t>2</a:t>
            </a:r>
            <a:r>
              <a:rPr lang="en-US" b="1" dirty="0" smtClean="0"/>
              <a:t>^</a:t>
            </a:r>
            <a:r>
              <a:rPr lang="ru-RU" b="1" dirty="0" smtClean="0"/>
              <a:t>12 </a:t>
            </a:r>
            <a:r>
              <a:rPr lang="ru-RU" b="1" dirty="0"/>
              <a:t>(</a:t>
            </a:r>
            <a:r>
              <a:rPr lang="ru-RU" b="1" dirty="0" smtClean="0"/>
              <a:t>4096) сетей </a:t>
            </a:r>
            <a:r>
              <a:rPr lang="ru-RU" b="1" dirty="0"/>
              <a:t>VLAN</a:t>
            </a:r>
            <a:r>
              <a:rPr lang="ru-RU" dirty="0"/>
              <a:t>, хотя на практике доступно </a:t>
            </a:r>
            <a:r>
              <a:rPr lang="ru-RU" b="1" dirty="0"/>
              <a:t>максимум 4094 значения</a:t>
            </a:r>
            <a:r>
              <a:rPr lang="ru-RU" dirty="0"/>
              <a:t>. </a:t>
            </a:r>
            <a:r>
              <a:rPr lang="ru-RU" dirty="0" smtClean="0"/>
              <a:t>(0 </a:t>
            </a:r>
            <a:r>
              <a:rPr lang="ru-RU" dirty="0"/>
              <a:t>и </a:t>
            </a:r>
            <a:r>
              <a:rPr lang="ru-RU" dirty="0" smtClean="0"/>
              <a:t>4095 - зарезервированы).</a:t>
            </a:r>
          </a:p>
          <a:p>
            <a:pPr algn="just"/>
            <a:endParaRPr lang="ru-RU" dirty="0"/>
          </a:p>
          <a:p>
            <a:pPr algn="just"/>
            <a:r>
              <a:rPr lang="ru-RU" dirty="0"/>
              <a:t>Коммутаторы </a:t>
            </a:r>
            <a:r>
              <a:rPr lang="ru-RU" dirty="0" err="1"/>
              <a:t>Cisco</a:t>
            </a:r>
            <a:r>
              <a:rPr lang="ru-RU" dirty="0"/>
              <a:t> </a:t>
            </a:r>
            <a:r>
              <a:rPr lang="ru-RU" b="1" dirty="0"/>
              <a:t>разделяют</a:t>
            </a:r>
            <a:r>
              <a:rPr lang="ru-RU" dirty="0"/>
              <a:t> диапазон идентификаторов VLAN ( 1 -4094) на </a:t>
            </a:r>
            <a:r>
              <a:rPr lang="ru-RU" dirty="0" smtClean="0"/>
              <a:t>два диапазона</a:t>
            </a:r>
            <a:r>
              <a:rPr lang="ru-RU" dirty="0"/>
              <a:t>: </a:t>
            </a:r>
            <a:r>
              <a:rPr lang="ru-RU" b="1" dirty="0" smtClean="0"/>
              <a:t>нормальный</a:t>
            </a:r>
            <a:r>
              <a:rPr lang="ru-RU" dirty="0" smtClean="0"/>
              <a:t> (1-1005) </a:t>
            </a:r>
            <a:r>
              <a:rPr lang="ru-RU" dirty="0"/>
              <a:t>и </a:t>
            </a:r>
            <a:r>
              <a:rPr lang="ru-RU" b="1" dirty="0" smtClean="0"/>
              <a:t>расширенный</a:t>
            </a:r>
            <a:r>
              <a:rPr lang="ru-RU" dirty="0" smtClean="0"/>
              <a:t> (1005 - 4094).</a:t>
            </a:r>
          </a:p>
          <a:p>
            <a:pPr algn="just"/>
            <a:endParaRPr lang="ru-RU" dirty="0" smtClean="0"/>
          </a:p>
          <a:p>
            <a:pPr algn="just"/>
            <a:r>
              <a:rPr lang="ru-RU" dirty="0"/>
              <a:t>Правила </a:t>
            </a:r>
            <a:r>
              <a:rPr lang="ru-RU" dirty="0" smtClean="0"/>
              <a:t>использования коммутаторами </a:t>
            </a:r>
            <a:r>
              <a:rPr lang="ru-RU" dirty="0"/>
              <a:t>расширенного </a:t>
            </a:r>
            <a:r>
              <a:rPr lang="ru-RU" dirty="0" smtClean="0"/>
              <a:t>диапазона идентификаторов </a:t>
            </a:r>
            <a:r>
              <a:rPr lang="ru-RU" dirty="0"/>
              <a:t>VLAN </a:t>
            </a:r>
            <a:r>
              <a:rPr lang="ru-RU" dirty="0" smtClean="0"/>
              <a:t>зависят от конфигурации </a:t>
            </a:r>
            <a:r>
              <a:rPr lang="ru-RU" b="1" dirty="0"/>
              <a:t>протокола создания магистралей VLAN (VLAN </a:t>
            </a:r>
            <a:r>
              <a:rPr lang="ru-RU" b="1" dirty="0" err="1" smtClean="0"/>
              <a:t>Trunking</a:t>
            </a:r>
            <a:r>
              <a:rPr lang="ru-RU" b="1" dirty="0" smtClean="0"/>
              <a:t> </a:t>
            </a:r>
            <a:r>
              <a:rPr lang="ru-RU" b="1" dirty="0" err="1" smtClean="0"/>
              <a:t>Protocol</a:t>
            </a:r>
            <a:r>
              <a:rPr lang="ru-RU" b="1" dirty="0" smtClean="0"/>
              <a:t> </a:t>
            </a:r>
            <a:r>
              <a:rPr lang="ru-RU" b="1" dirty="0"/>
              <a:t>- VТР</a:t>
            </a:r>
            <a:r>
              <a:rPr lang="ru-RU" b="1" dirty="0" smtClean="0"/>
              <a:t>).</a:t>
            </a:r>
            <a:endParaRPr lang="ru-RU" b="1" dirty="0"/>
          </a:p>
        </p:txBody>
      </p:sp>
    </p:spTree>
    <p:extLst>
      <p:ext uri="{BB962C8B-B14F-4D97-AF65-F5344CB8AC3E}">
        <p14:creationId xmlns="" xmlns:p14="http://schemas.microsoft.com/office/powerpoint/2010/main" val="643073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Собственная сеть </a:t>
            </a:r>
            <a:r>
              <a:rPr lang="en-US" u="sng" dirty="0" smtClean="0"/>
              <a:t>VLAN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25562"/>
            <a:ext cx="10515600" cy="5532437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Для каждого магистрального канала стандарт </a:t>
            </a:r>
            <a:r>
              <a:rPr lang="ru-RU" dirty="0" smtClean="0"/>
              <a:t>802.1Q </a:t>
            </a:r>
            <a:r>
              <a:rPr lang="ru-RU" dirty="0"/>
              <a:t>определяет также </a:t>
            </a:r>
            <a:r>
              <a:rPr lang="ru-RU" dirty="0" smtClean="0"/>
              <a:t>один специальный идентификатор VLAN, </a:t>
            </a:r>
            <a:r>
              <a:rPr lang="ru-RU" dirty="0"/>
              <a:t>обозначающий </a:t>
            </a:r>
            <a:r>
              <a:rPr lang="ru-RU" b="1" dirty="0"/>
              <a:t>собственную сеть VLAN (</a:t>
            </a:r>
            <a:r>
              <a:rPr lang="ru-RU" b="1" dirty="0" err="1" smtClean="0"/>
              <a:t>native</a:t>
            </a:r>
            <a:r>
              <a:rPr lang="ru-RU" b="1" dirty="0" smtClean="0"/>
              <a:t> VLAN):</a:t>
            </a:r>
          </a:p>
          <a:p>
            <a:pPr algn="just"/>
            <a:endParaRPr lang="ru-RU" b="1" dirty="0" smtClean="0"/>
          </a:p>
          <a:p>
            <a:pPr marL="914400" lvl="1" indent="-457200" algn="just">
              <a:buFont typeface="+mj-lt"/>
              <a:buAutoNum type="arabicPeriod"/>
            </a:pPr>
            <a:r>
              <a:rPr lang="ru-RU" dirty="0"/>
              <a:t>протокол </a:t>
            </a:r>
            <a:r>
              <a:rPr lang="ru-RU" dirty="0" smtClean="0"/>
              <a:t>802.1Q </a:t>
            </a:r>
            <a:r>
              <a:rPr lang="ru-RU" dirty="0"/>
              <a:t>не </a:t>
            </a:r>
            <a:r>
              <a:rPr lang="ru-RU" dirty="0" smtClean="0"/>
              <a:t>добавляет заголовок 802.1Q </a:t>
            </a:r>
            <a:r>
              <a:rPr lang="ru-RU" dirty="0"/>
              <a:t>к фреймам в собственной сети </a:t>
            </a:r>
            <a:r>
              <a:rPr lang="ru-RU" dirty="0" smtClean="0"/>
              <a:t>VLAN. </a:t>
            </a:r>
          </a:p>
          <a:p>
            <a:pPr marL="914400" lvl="1" indent="-457200" algn="just">
              <a:buFont typeface="+mj-lt"/>
              <a:buAutoNum type="arabicPeriod"/>
            </a:pPr>
            <a:endParaRPr lang="ru-RU" dirty="0" smtClean="0"/>
          </a:p>
          <a:p>
            <a:pPr marL="914400" lvl="1" indent="-457200" algn="just">
              <a:buFont typeface="+mj-lt"/>
              <a:buAutoNum type="arabicPeriod"/>
            </a:pPr>
            <a:r>
              <a:rPr lang="ru-RU" dirty="0" smtClean="0"/>
              <a:t>когда </a:t>
            </a:r>
            <a:r>
              <a:rPr lang="ru-RU" dirty="0"/>
              <a:t>коммутатор с </a:t>
            </a:r>
            <a:r>
              <a:rPr lang="ru-RU" dirty="0" smtClean="0"/>
              <a:t>другой стороны </a:t>
            </a:r>
            <a:r>
              <a:rPr lang="ru-RU" dirty="0"/>
              <a:t>магистрального канала получает фрейм без заголовка </a:t>
            </a:r>
            <a:r>
              <a:rPr lang="ru-RU" dirty="0" smtClean="0"/>
              <a:t>802.1Q</a:t>
            </a:r>
            <a:r>
              <a:rPr lang="ru-RU" dirty="0"/>
              <a:t>, он </a:t>
            </a:r>
            <a:r>
              <a:rPr lang="ru-RU" dirty="0" smtClean="0"/>
              <a:t>понимает, что </a:t>
            </a:r>
            <a:r>
              <a:rPr lang="ru-RU" dirty="0"/>
              <a:t>фрейм принадлежит собственной сети VLAN. </a:t>
            </a:r>
            <a:endParaRPr lang="ru-RU" dirty="0" smtClean="0"/>
          </a:p>
          <a:p>
            <a:pPr marL="914400" lvl="1" indent="-457200" algn="just">
              <a:buFont typeface="+mj-lt"/>
              <a:buAutoNum type="arabicPeriod"/>
            </a:pPr>
            <a:endParaRPr lang="ru-RU" dirty="0" smtClean="0"/>
          </a:p>
          <a:p>
            <a:pPr marL="914400" lvl="1" indent="-457200" algn="just">
              <a:buFont typeface="+mj-lt"/>
              <a:buAutoNum type="arabicPeriod"/>
            </a:pPr>
            <a:r>
              <a:rPr lang="ru-RU" dirty="0" smtClean="0"/>
              <a:t>оба коммутатора должны </a:t>
            </a:r>
            <a:r>
              <a:rPr lang="ru-RU" dirty="0"/>
              <a:t>"договориться", какую сеть VLAN считать </a:t>
            </a:r>
            <a:r>
              <a:rPr lang="ru-RU" dirty="0" smtClean="0"/>
              <a:t>собственной.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361917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u="sng" dirty="0" smtClean="0"/>
              <a:t>Коммутаторы уровней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Autofit/>
          </a:bodyPr>
          <a:lstStyle/>
          <a:p>
            <a:pPr algn="just"/>
            <a:r>
              <a:rPr lang="ru-RU" sz="3200" dirty="0" smtClean="0"/>
              <a:t>Коммутаторы LAN, </a:t>
            </a:r>
            <a:r>
              <a:rPr lang="ru-RU" sz="3200" dirty="0"/>
              <a:t>передающие данные на </a:t>
            </a:r>
            <a:r>
              <a:rPr lang="ru-RU" sz="3200" dirty="0" smtClean="0"/>
              <a:t>основании логики уровня </a:t>
            </a:r>
            <a:r>
              <a:rPr lang="ru-RU" sz="3200" dirty="0"/>
              <a:t>2, </a:t>
            </a:r>
            <a:r>
              <a:rPr lang="ru-RU" sz="3200" dirty="0" smtClean="0"/>
              <a:t>называют </a:t>
            </a:r>
            <a:r>
              <a:rPr lang="ru-RU" sz="3200" b="1" dirty="0" smtClean="0"/>
              <a:t>коммутаторами уровня </a:t>
            </a:r>
            <a:r>
              <a:rPr lang="ru-RU" sz="3200" b="1" dirty="0"/>
              <a:t>2 </a:t>
            </a:r>
            <a:r>
              <a:rPr lang="ru-RU" sz="3200" b="1" dirty="0" smtClean="0"/>
              <a:t>(</a:t>
            </a:r>
            <a:r>
              <a:rPr lang="ru-RU" sz="3200" b="1" dirty="0" err="1" smtClean="0"/>
              <a:t>Layer</a:t>
            </a:r>
            <a:r>
              <a:rPr lang="ru-RU" sz="3200" b="1" dirty="0" smtClean="0"/>
              <a:t> </a:t>
            </a:r>
            <a:r>
              <a:rPr lang="ru-RU" sz="3200" b="1" dirty="0"/>
              <a:t>2 </a:t>
            </a:r>
            <a:r>
              <a:rPr lang="ru-RU" sz="3200" b="1" dirty="0" err="1"/>
              <a:t>switch</a:t>
            </a:r>
            <a:r>
              <a:rPr lang="ru-RU" sz="3200" b="1" dirty="0" smtClean="0"/>
              <a:t>). </a:t>
            </a:r>
          </a:p>
          <a:p>
            <a:pPr algn="just"/>
            <a:endParaRPr lang="ru-RU" sz="3200" dirty="0"/>
          </a:p>
          <a:p>
            <a:pPr algn="just"/>
            <a:r>
              <a:rPr lang="ru-RU" sz="3200" dirty="0" smtClean="0"/>
              <a:t>Есть коммутаторы, </a:t>
            </a:r>
            <a:r>
              <a:rPr lang="ru-RU" sz="3200" dirty="0"/>
              <a:t>способные </a:t>
            </a:r>
            <a:r>
              <a:rPr lang="ru-RU" sz="3200" dirty="0" smtClean="0"/>
              <a:t>выполнять некоторые </a:t>
            </a:r>
            <a:r>
              <a:rPr lang="ru-RU" sz="3200" dirty="0"/>
              <a:t>функции маршрутизатора, - они используют </a:t>
            </a:r>
            <a:r>
              <a:rPr lang="ru-RU" sz="3200" dirty="0" smtClean="0"/>
              <a:t>дополнительную логику, определенную </a:t>
            </a:r>
            <a:r>
              <a:rPr lang="ru-RU" sz="3200" dirty="0"/>
              <a:t>протоколами уровня 3. Эти коммутаторы называют </a:t>
            </a:r>
            <a:r>
              <a:rPr lang="ru-RU" sz="3200" b="1" dirty="0" smtClean="0"/>
              <a:t>многоуровневыми коммутаторами </a:t>
            </a:r>
            <a:r>
              <a:rPr lang="ru-RU" sz="3200" b="1" dirty="0"/>
              <a:t>(</a:t>
            </a:r>
            <a:r>
              <a:rPr lang="ru-RU" sz="3200" b="1" dirty="0" err="1"/>
              <a:t>multilayeг</a:t>
            </a:r>
            <a:r>
              <a:rPr lang="ru-RU" sz="3200" b="1" dirty="0"/>
              <a:t> </a:t>
            </a:r>
            <a:r>
              <a:rPr lang="ru-RU" sz="3200" b="1" dirty="0" err="1"/>
              <a:t>switch</a:t>
            </a:r>
            <a:r>
              <a:rPr lang="ru-RU" sz="3200" b="1" dirty="0"/>
              <a:t>), или коммутаторами уровня З ( </a:t>
            </a:r>
            <a:r>
              <a:rPr lang="ru-RU" sz="3200" b="1" dirty="0" err="1"/>
              <a:t>Layer</a:t>
            </a:r>
            <a:r>
              <a:rPr lang="ru-RU" sz="3200" b="1" dirty="0"/>
              <a:t> 3 </a:t>
            </a:r>
            <a:r>
              <a:rPr lang="ru-RU" sz="3200" b="1" dirty="0" err="1"/>
              <a:t>switch</a:t>
            </a:r>
            <a:r>
              <a:rPr lang="ru-RU" sz="3200" b="1" dirty="0" smtClean="0"/>
              <a:t>).</a:t>
            </a:r>
            <a:endParaRPr lang="ru-RU" sz="3200" b="1" dirty="0"/>
          </a:p>
        </p:txBody>
      </p:sp>
    </p:spTree>
    <p:extLst>
      <p:ext uri="{BB962C8B-B14F-4D97-AF65-F5344CB8AC3E}">
        <p14:creationId xmlns="" xmlns:p14="http://schemas.microsoft.com/office/powerpoint/2010/main" val="318569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65867"/>
            <a:ext cx="10515600" cy="1325563"/>
          </a:xfrm>
        </p:spPr>
        <p:txBody>
          <a:bodyPr/>
          <a:lstStyle/>
          <a:p>
            <a:r>
              <a:rPr lang="ru-RU" u="sng" dirty="0" smtClean="0"/>
              <a:t>Маршрутизация между </a:t>
            </a:r>
            <a:r>
              <a:rPr lang="en-US" u="sng" dirty="0" smtClean="0"/>
              <a:t>VLAN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91430"/>
            <a:ext cx="10515600" cy="5032375"/>
          </a:xfrm>
        </p:spPr>
        <p:txBody>
          <a:bodyPr>
            <a:noAutofit/>
          </a:bodyPr>
          <a:lstStyle/>
          <a:p>
            <a:r>
              <a:rPr lang="ru-RU" sz="2400" dirty="0" smtClean="0"/>
              <a:t>Все </a:t>
            </a:r>
            <a:r>
              <a:rPr lang="ru-RU" sz="2400" dirty="0"/>
              <a:t>устройства сети VLAN </a:t>
            </a:r>
            <a:r>
              <a:rPr lang="ru-RU" sz="2400" dirty="0" smtClean="0"/>
              <a:t>находятся </a:t>
            </a:r>
            <a:r>
              <a:rPr lang="ru-RU" sz="2400" b="1" dirty="0" smtClean="0"/>
              <a:t>в одной подсети,</a:t>
            </a:r>
            <a:r>
              <a:rPr lang="ru-RU" sz="2400" dirty="0" smtClean="0"/>
              <a:t> а </a:t>
            </a:r>
            <a:r>
              <a:rPr lang="ru-RU" sz="2400" dirty="0"/>
              <a:t>устройства в разных сетях VLAN </a:t>
            </a:r>
            <a:r>
              <a:rPr lang="ru-RU" sz="2400" dirty="0" smtClean="0"/>
              <a:t>принадлежат </a:t>
            </a:r>
            <a:r>
              <a:rPr lang="ru-RU" sz="2400" b="1" dirty="0"/>
              <a:t>разным подсетям</a:t>
            </a:r>
            <a:r>
              <a:rPr lang="ru-RU" sz="2400" dirty="0"/>
              <a:t>.</a:t>
            </a:r>
            <a:endParaRPr lang="ru-RU" sz="2400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16993"/>
            <a:ext cx="10515600" cy="331599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92125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65867"/>
            <a:ext cx="10515600" cy="1325563"/>
          </a:xfrm>
        </p:spPr>
        <p:txBody>
          <a:bodyPr/>
          <a:lstStyle/>
          <a:p>
            <a:r>
              <a:rPr lang="ru-RU" u="sng" dirty="0" smtClean="0"/>
              <a:t>Маршрутизация между </a:t>
            </a:r>
            <a:r>
              <a:rPr lang="en-US" u="sng" dirty="0" smtClean="0"/>
              <a:t>VLAN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91430"/>
            <a:ext cx="10515600" cy="5032375"/>
          </a:xfrm>
        </p:spPr>
        <p:txBody>
          <a:bodyPr>
            <a:noAutofit/>
          </a:bodyPr>
          <a:lstStyle/>
          <a:p>
            <a:pPr algn="just"/>
            <a:r>
              <a:rPr lang="ru-RU" sz="2000" b="1" dirty="0"/>
              <a:t>Логика уровня 2 </a:t>
            </a:r>
            <a:r>
              <a:rPr lang="ru-RU" sz="2000" dirty="0"/>
              <a:t>не </a:t>
            </a:r>
            <a:r>
              <a:rPr lang="ru-RU" sz="2000" dirty="0" smtClean="0"/>
              <a:t>позволяет коммутатору </a:t>
            </a:r>
            <a:r>
              <a:rPr lang="ru-RU" sz="2000" dirty="0"/>
              <a:t>уровня 2 перенаправлять фреймы </a:t>
            </a:r>
            <a:r>
              <a:rPr lang="ru-RU" sz="2000" dirty="0" err="1" smtClean="0"/>
              <a:t>Ethe</a:t>
            </a:r>
            <a:r>
              <a:rPr lang="en-US" sz="2000" dirty="0" err="1" smtClean="0"/>
              <a:t>rn</a:t>
            </a:r>
            <a:r>
              <a:rPr lang="ru-RU" sz="2000" dirty="0" err="1" smtClean="0"/>
              <a:t>et</a:t>
            </a:r>
            <a:r>
              <a:rPr lang="ru-RU" sz="2000" dirty="0" smtClean="0"/>
              <a:t> </a:t>
            </a:r>
            <a:r>
              <a:rPr lang="ru-RU" sz="2000" dirty="0"/>
              <a:t>уровня 2 (</a:t>
            </a:r>
            <a:r>
              <a:rPr lang="ru-RU" sz="2000" dirty="0" smtClean="0"/>
              <a:t>L2PDU) между </a:t>
            </a:r>
            <a:r>
              <a:rPr lang="ru-RU" sz="2000" dirty="0"/>
              <a:t>сетями VLAN. Однако </a:t>
            </a:r>
            <a:r>
              <a:rPr lang="ru-RU" sz="2000" b="1" dirty="0" smtClean="0"/>
              <a:t>маршрутизаторы</a:t>
            </a:r>
            <a:r>
              <a:rPr lang="ru-RU" sz="2000" dirty="0" smtClean="0"/>
              <a:t> </a:t>
            </a:r>
            <a:r>
              <a:rPr lang="ru-RU" sz="2000" dirty="0"/>
              <a:t>могут перенаправить пакеты уровня </a:t>
            </a:r>
            <a:r>
              <a:rPr lang="ru-RU" sz="2000" dirty="0" smtClean="0"/>
              <a:t>3 (L3PDU</a:t>
            </a:r>
            <a:r>
              <a:rPr lang="ru-RU" sz="2000" dirty="0"/>
              <a:t>) между </a:t>
            </a:r>
            <a:r>
              <a:rPr lang="ru-RU" sz="2000" dirty="0" smtClean="0"/>
              <a:t>подсетями.</a:t>
            </a:r>
            <a:endParaRPr lang="ru-RU" sz="2000" b="1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17239"/>
            <a:ext cx="10515600" cy="414100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9568721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65867"/>
            <a:ext cx="10515600" cy="1325563"/>
          </a:xfrm>
        </p:spPr>
        <p:txBody>
          <a:bodyPr/>
          <a:lstStyle/>
          <a:p>
            <a:r>
              <a:rPr lang="ru-RU" u="sng" dirty="0" smtClean="0"/>
              <a:t>Маршрутизация между </a:t>
            </a:r>
            <a:r>
              <a:rPr lang="en-US" u="sng" dirty="0" smtClean="0"/>
              <a:t>VLAN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91430"/>
            <a:ext cx="10515600" cy="5032375"/>
          </a:xfrm>
        </p:spPr>
        <p:txBody>
          <a:bodyPr>
            <a:noAutofit/>
          </a:bodyPr>
          <a:lstStyle/>
          <a:p>
            <a:r>
              <a:rPr lang="ru-RU" sz="2000" dirty="0" smtClean="0"/>
              <a:t>Теперь маршрутизатор R1 </a:t>
            </a:r>
            <a:r>
              <a:rPr lang="ru-RU" sz="2000" dirty="0"/>
              <a:t>использует </a:t>
            </a:r>
            <a:r>
              <a:rPr lang="ru-RU" sz="2000" b="1" dirty="0"/>
              <a:t>магистральное соединение VLAN </a:t>
            </a:r>
            <a:r>
              <a:rPr lang="ru-RU" sz="2000" dirty="0"/>
              <a:t>вместо отдельного </a:t>
            </a:r>
            <a:r>
              <a:rPr lang="ru-RU" sz="2000" dirty="0" smtClean="0"/>
              <a:t>канала связи </a:t>
            </a:r>
            <a:r>
              <a:rPr lang="ru-RU" sz="2000" dirty="0"/>
              <a:t>для каждой сети VLAN .</a:t>
            </a:r>
            <a:endParaRPr lang="ru-RU" sz="2000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262" y="2319019"/>
            <a:ext cx="10131916" cy="4306223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254" y="3733466"/>
            <a:ext cx="197842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solidFill>
                  <a:srgbClr val="010101"/>
                </a:solidFill>
              </a:rPr>
              <a:t>такой </a:t>
            </a:r>
            <a:r>
              <a:rPr lang="ru-RU" dirty="0">
                <a:solidFill>
                  <a:srgbClr val="010101"/>
                </a:solidFill>
              </a:rPr>
              <a:t>проект сети </a:t>
            </a:r>
            <a:r>
              <a:rPr lang="ru-RU" dirty="0" smtClean="0">
                <a:solidFill>
                  <a:srgbClr val="010101"/>
                </a:solidFill>
              </a:rPr>
              <a:t>называют </a:t>
            </a:r>
            <a:r>
              <a:rPr lang="ru-RU" dirty="0">
                <a:solidFill>
                  <a:srgbClr val="010101"/>
                </a:solidFill>
              </a:rPr>
              <a:t>"маршрутизатор на палочке" (</a:t>
            </a:r>
            <a:r>
              <a:rPr lang="ru-RU" dirty="0" err="1">
                <a:solidFill>
                  <a:srgbClr val="010101"/>
                </a:solidFill>
              </a:rPr>
              <a:t>router</a:t>
            </a:r>
            <a:r>
              <a:rPr lang="ru-RU" dirty="0">
                <a:solidFill>
                  <a:srgbClr val="010101"/>
                </a:solidFill>
              </a:rPr>
              <a:t>-</a:t>
            </a:r>
            <a:r>
              <a:rPr lang="ru-RU" dirty="0" err="1">
                <a:solidFill>
                  <a:srgbClr val="010101"/>
                </a:solidFill>
              </a:rPr>
              <a:t>on</a:t>
            </a:r>
            <a:r>
              <a:rPr lang="ru-RU" dirty="0">
                <a:solidFill>
                  <a:srgbClr val="010101"/>
                </a:solidFill>
              </a:rPr>
              <a:t>-a-</a:t>
            </a:r>
            <a:r>
              <a:rPr lang="ru-RU" dirty="0" err="1">
                <a:solidFill>
                  <a:srgbClr val="010101"/>
                </a:solidFill>
              </a:rPr>
              <a:t>stick</a:t>
            </a:r>
            <a:r>
              <a:rPr lang="ru-RU" dirty="0">
                <a:solidFill>
                  <a:srgbClr val="010101"/>
                </a:solidFill>
              </a:rPr>
              <a:t>).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689113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65867"/>
            <a:ext cx="10515600" cy="1325563"/>
          </a:xfrm>
        </p:spPr>
        <p:txBody>
          <a:bodyPr/>
          <a:lstStyle/>
          <a:p>
            <a:r>
              <a:rPr lang="ru-RU" u="sng" dirty="0" smtClean="0"/>
              <a:t>Маршрутизация между </a:t>
            </a:r>
            <a:r>
              <a:rPr lang="en-US" u="sng" dirty="0" smtClean="0"/>
              <a:t>VLAN</a:t>
            </a:r>
            <a:r>
              <a:rPr lang="ru-RU" u="sng" dirty="0" smtClean="0"/>
              <a:t> (коммутаторы уровня 3)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2757" y="1695797"/>
            <a:ext cx="4606636" cy="4811136"/>
          </a:xfrm>
        </p:spPr>
        <p:txBody>
          <a:bodyPr>
            <a:noAutofit/>
          </a:bodyPr>
          <a:lstStyle/>
          <a:p>
            <a:pPr algn="just"/>
            <a:r>
              <a:rPr lang="ru-RU" sz="2400" dirty="0"/>
              <a:t>У </a:t>
            </a:r>
            <a:r>
              <a:rPr lang="ru-RU" sz="2400" dirty="0" smtClean="0"/>
              <a:t>маршрутизации пакетов </a:t>
            </a:r>
            <a:r>
              <a:rPr lang="ru-RU" sz="2400" dirty="0"/>
              <a:t>с использованием физического маршрутизатора </a:t>
            </a:r>
            <a:r>
              <a:rPr lang="ru-RU" sz="2400" dirty="0" smtClean="0"/>
              <a:t>есть одна серьезная проблема</a:t>
            </a:r>
            <a:r>
              <a:rPr lang="ru-RU" sz="2400" dirty="0"/>
              <a:t>: </a:t>
            </a:r>
            <a:r>
              <a:rPr lang="ru-RU" sz="2400" b="1" dirty="0" smtClean="0"/>
              <a:t>производительность.</a:t>
            </a:r>
          </a:p>
          <a:p>
            <a:pPr algn="just"/>
            <a:endParaRPr lang="ru-RU" sz="2400" b="1" dirty="0"/>
          </a:p>
          <a:p>
            <a:pPr algn="just"/>
            <a:r>
              <a:rPr lang="ru-RU" sz="2400" dirty="0" smtClean="0"/>
              <a:t>Для ее решения производители начали объединять </a:t>
            </a:r>
            <a:r>
              <a:rPr lang="ru-RU" sz="2400" dirty="0"/>
              <a:t>аппаратные и </a:t>
            </a:r>
            <a:r>
              <a:rPr lang="ru-RU" sz="2400" dirty="0" smtClean="0"/>
              <a:t>программные </a:t>
            </a:r>
            <a:r>
              <a:rPr lang="ru-RU" sz="2400" dirty="0"/>
              <a:t>средства коммутаторов уровня 2 с </a:t>
            </a:r>
            <a:r>
              <a:rPr lang="ru-RU" sz="2400" dirty="0" smtClean="0"/>
              <a:t>маршрутизаторами уровня </a:t>
            </a:r>
            <a:r>
              <a:rPr lang="ru-RU" sz="2400" dirty="0"/>
              <a:t>3, выпуская </a:t>
            </a:r>
            <a:r>
              <a:rPr lang="ru-RU" sz="2400" b="1" dirty="0"/>
              <a:t>коммутаторы уровня З </a:t>
            </a:r>
            <a:r>
              <a:rPr lang="ru-RU" sz="2400" dirty="0"/>
              <a:t>(они же </a:t>
            </a:r>
            <a:r>
              <a:rPr lang="ru-RU" sz="2400" b="1" dirty="0"/>
              <a:t>многоуровневые коммутаторы</a:t>
            </a:r>
            <a:r>
              <a:rPr lang="ru-RU" sz="2400" dirty="0"/>
              <a:t>).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379" y="1695797"/>
            <a:ext cx="6547745" cy="481113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89481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u="sng" dirty="0" smtClean="0"/>
              <a:t>Настройка </a:t>
            </a:r>
            <a:r>
              <a:rPr lang="en-US" u="sng" dirty="0" smtClean="0"/>
              <a:t>VLAN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ru-RU" sz="3200" dirty="0"/>
              <a:t>Чтобы коммутатор </a:t>
            </a:r>
            <a:r>
              <a:rPr lang="ru-RU" sz="3200" dirty="0" err="1"/>
              <a:t>Cisco</a:t>
            </a:r>
            <a:r>
              <a:rPr lang="ru-RU" sz="3200" dirty="0"/>
              <a:t> начал </a:t>
            </a:r>
            <a:r>
              <a:rPr lang="ru-RU" sz="3200" b="1" dirty="0"/>
              <a:t>перенаправлять фреймы </a:t>
            </a:r>
            <a:r>
              <a:rPr lang="ru-RU" sz="3200" dirty="0" smtClean="0"/>
              <a:t>в определенную сеть VLAN: </a:t>
            </a:r>
          </a:p>
          <a:p>
            <a:pPr algn="just"/>
            <a:endParaRPr lang="ru-RU" sz="3200" dirty="0" smtClean="0"/>
          </a:p>
          <a:p>
            <a:pPr marL="914400" lvl="1" indent="-457200" algn="just">
              <a:buFont typeface="+mj-lt"/>
              <a:buAutoNum type="arabicPeriod"/>
            </a:pPr>
            <a:r>
              <a:rPr lang="ru-RU" sz="2800" dirty="0" smtClean="0"/>
              <a:t>его </a:t>
            </a:r>
            <a:r>
              <a:rPr lang="ru-RU" sz="2800" dirty="0"/>
              <a:t>нужно настроить, указав на существование еще </a:t>
            </a:r>
            <a:r>
              <a:rPr lang="ru-RU" sz="2800" b="1" dirty="0"/>
              <a:t>одной сети </a:t>
            </a:r>
            <a:r>
              <a:rPr lang="ru-RU" sz="2800" b="1" dirty="0" smtClean="0"/>
              <a:t>VLAN</a:t>
            </a:r>
            <a:r>
              <a:rPr lang="ru-RU" sz="2800" dirty="0" smtClean="0"/>
              <a:t>. </a:t>
            </a:r>
          </a:p>
          <a:p>
            <a:pPr marL="914400" lvl="1" indent="-457200" algn="just">
              <a:buFont typeface="+mj-lt"/>
              <a:buAutoNum type="arabicPeriod"/>
            </a:pPr>
            <a:endParaRPr lang="ru-RU" sz="2800" dirty="0" smtClean="0"/>
          </a:p>
          <a:p>
            <a:pPr marL="914400" lvl="1" indent="-457200" algn="just">
              <a:buFont typeface="+mj-lt"/>
              <a:buAutoNum type="arabicPeriod"/>
            </a:pPr>
            <a:r>
              <a:rPr lang="ru-RU" sz="2800" dirty="0" smtClean="0"/>
              <a:t>у </a:t>
            </a:r>
            <a:r>
              <a:rPr lang="ru-RU" sz="2800" dirty="0"/>
              <a:t>коммутатора должны быть </a:t>
            </a:r>
            <a:r>
              <a:rPr lang="ru-RU" sz="2800" b="1" dirty="0"/>
              <a:t>немагистральные</a:t>
            </a:r>
            <a:r>
              <a:rPr lang="ru-RU" sz="2800" dirty="0"/>
              <a:t> </a:t>
            </a:r>
            <a:r>
              <a:rPr lang="ru-RU" sz="2800" b="1" dirty="0" smtClean="0"/>
              <a:t>интерфейсы</a:t>
            </a:r>
            <a:r>
              <a:rPr lang="ru-RU" sz="2800" dirty="0" smtClean="0"/>
              <a:t> (интерфейсы доступа (</a:t>
            </a:r>
            <a:r>
              <a:rPr lang="ru-RU" sz="2800" dirty="0" err="1" smtClean="0"/>
              <a:t>access</a:t>
            </a:r>
            <a:r>
              <a:rPr lang="ru-RU" sz="2800" dirty="0" smtClean="0"/>
              <a:t> </a:t>
            </a:r>
            <a:r>
              <a:rPr lang="ru-RU" sz="2800" dirty="0" err="1"/>
              <a:t>interface</a:t>
            </a:r>
            <a:r>
              <a:rPr lang="ru-RU" sz="2800" dirty="0" smtClean="0"/>
              <a:t>)), </a:t>
            </a:r>
            <a:r>
              <a:rPr lang="ru-RU" sz="2800" dirty="0"/>
              <a:t>принадлежащие этой сети VLAN, и (или) </a:t>
            </a:r>
            <a:r>
              <a:rPr lang="ru-RU" sz="2800" b="1" dirty="0"/>
              <a:t>магистральные </a:t>
            </a:r>
            <a:r>
              <a:rPr lang="ru-RU" sz="2800" b="1" dirty="0" smtClean="0"/>
              <a:t>каналы</a:t>
            </a:r>
            <a:r>
              <a:rPr lang="ru-RU" sz="2800" dirty="0" smtClean="0"/>
              <a:t>, поддерживающие </a:t>
            </a:r>
            <a:r>
              <a:rPr lang="ru-RU" sz="2800" dirty="0"/>
              <a:t>эту </a:t>
            </a:r>
            <a:r>
              <a:rPr lang="en-US" sz="2800" dirty="0"/>
              <a:t>VLAN.</a:t>
            </a:r>
            <a:endParaRPr lang="ru-RU" sz="2800" dirty="0"/>
          </a:p>
        </p:txBody>
      </p:sp>
    </p:spTree>
    <p:extLst>
      <p:ext uri="{BB962C8B-B14F-4D97-AF65-F5344CB8AC3E}">
        <p14:creationId xmlns="" xmlns:p14="http://schemas.microsoft.com/office/powerpoint/2010/main" val="19289921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Настройка </a:t>
            </a:r>
            <a:r>
              <a:rPr lang="en-US" u="sng" dirty="0" smtClean="0"/>
              <a:t>VLAN</a:t>
            </a:r>
            <a:endParaRPr lang="ru-RU" u="sng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449590737"/>
              </p:ext>
            </p:extLst>
          </p:nvPr>
        </p:nvGraphicFramePr>
        <p:xfrm>
          <a:off x="909782" y="1517687"/>
          <a:ext cx="10802851" cy="503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531"/>
                <a:gridCol w="941832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ЭТАП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ОПИСАНИЕ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ru-RU" baseline="0" dirty="0" smtClean="0"/>
                        <a:t>1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 smtClean="0"/>
                        <a:t>В режиме настройки конфигурации введите глобальную команду конфигурации: </a:t>
                      </a:r>
                    </a:p>
                    <a:p>
                      <a:pPr algn="ctr"/>
                      <a:r>
                        <a:rPr lang="ru-RU" b="1" dirty="0" err="1" smtClean="0"/>
                        <a:t>vlan</a:t>
                      </a:r>
                      <a:r>
                        <a:rPr lang="ru-RU" b="1" dirty="0" smtClean="0"/>
                        <a:t> идентификатор_ </a:t>
                      </a:r>
                      <a:r>
                        <a:rPr lang="ru-RU" b="1" dirty="0" err="1" smtClean="0"/>
                        <a:t>vlan</a:t>
                      </a:r>
                      <a:r>
                        <a:rPr lang="ru-RU" b="1" dirty="0" smtClean="0"/>
                        <a:t> </a:t>
                      </a:r>
                    </a:p>
                    <a:p>
                      <a:pPr algn="just"/>
                      <a:r>
                        <a:rPr lang="ru-RU" dirty="0" smtClean="0"/>
                        <a:t>для создания сети VLAN и перейдите в режим настройки конфигурации сети VLAN.</a:t>
                      </a:r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 smtClean="0"/>
                        <a:t>(Необязательно) Чтобы присвоить сети VLAN имя, введите подкоманду: </a:t>
                      </a:r>
                    </a:p>
                    <a:p>
                      <a:pPr algn="ctr"/>
                      <a:r>
                        <a:rPr lang="ru-RU" b="1" dirty="0" smtClean="0"/>
                        <a:t>VLAN </a:t>
                      </a:r>
                      <a:r>
                        <a:rPr lang="ru-RU" b="1" dirty="0" err="1" smtClean="0"/>
                        <a:t>name</a:t>
                      </a:r>
                      <a:r>
                        <a:rPr lang="ru-RU" b="1" dirty="0" smtClean="0"/>
                        <a:t> имя</a:t>
                      </a:r>
                      <a:endParaRPr lang="ru-RU" dirty="0" smtClean="0"/>
                    </a:p>
                    <a:p>
                      <a:pPr algn="just"/>
                      <a:r>
                        <a:rPr lang="ru-RU" dirty="0" smtClean="0"/>
                        <a:t>Если этого не сделать, именем VLAN будет VLANZZZZ, где </a:t>
                      </a:r>
                      <a:r>
                        <a:rPr lang="ru-RU" dirty="0" err="1" smtClean="0"/>
                        <a:t>zzzz</a:t>
                      </a:r>
                      <a:r>
                        <a:rPr lang="ru-RU" dirty="0" smtClean="0"/>
                        <a:t> десятичный идентификатор из четырех цифр.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</a:t>
                      </a:r>
                    </a:p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Для каждого </a:t>
                      </a:r>
                      <a:r>
                        <a:rPr lang="ru-RU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интерфейса доступа </a:t>
                      </a:r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(интерфейса, принадлежащего не магистральному каналу, а отдельной сети VLAN) выполните следующие действия: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Используя команду </a:t>
                      </a:r>
                      <a:r>
                        <a:rPr lang="ru-RU" sz="1800" b="1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interface</a:t>
                      </a:r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перейдите в режим конфигурации каждого настраиваемого интерфейса.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Используя подкоманду интерфейса </a:t>
                      </a:r>
                      <a:r>
                        <a:rPr lang="en-US" sz="1800" b="1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switchport</a:t>
                      </a:r>
                      <a:r>
                        <a:rPr lang="en-US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access </a:t>
                      </a:r>
                      <a:r>
                        <a:rPr lang="en-US" sz="1800" b="1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vlan</a:t>
                      </a:r>
                      <a:r>
                        <a:rPr lang="ru-RU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идентификатор_ </a:t>
                      </a:r>
                      <a:r>
                        <a:rPr lang="ru-RU" sz="1800" b="1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vlan</a:t>
                      </a:r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укажите номер сети VLAN, связанной с данным интерфейсом.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(Необязательно) Чтобы отключить магистральное соединение на том же интерфейсе и запретить переговоры о создании магистрального канала, используйте подкоманду интерфейса </a:t>
                      </a:r>
                      <a:r>
                        <a:rPr lang="en-US" sz="1800" b="1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switchport</a:t>
                      </a:r>
                      <a:r>
                        <a:rPr lang="en-US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mode access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5162126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Настройка </a:t>
            </a:r>
            <a:r>
              <a:rPr lang="en-US" u="sng" dirty="0" smtClean="0"/>
              <a:t>VLAN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699635"/>
            <a:ext cx="10515600" cy="4351338"/>
          </a:xfrm>
        </p:spPr>
        <p:txBody>
          <a:bodyPr>
            <a:noAutofit/>
          </a:bodyPr>
          <a:lstStyle/>
          <a:p>
            <a:r>
              <a:rPr lang="ru-RU" sz="3600" dirty="0"/>
              <a:t>Например, если порты коммутатора </a:t>
            </a:r>
            <a:r>
              <a:rPr lang="ru-RU" sz="3600" dirty="0" smtClean="0"/>
              <a:t>следует распределить </a:t>
            </a:r>
            <a:r>
              <a:rPr lang="ru-RU" sz="3600" dirty="0"/>
              <a:t>по трем сетям VLAN </a:t>
            </a:r>
            <a:r>
              <a:rPr lang="ru-RU" sz="3600" dirty="0" smtClean="0"/>
              <a:t>(11, 12 </a:t>
            </a:r>
            <a:r>
              <a:rPr lang="ru-RU" sz="3600" dirty="0"/>
              <a:t>и </a:t>
            </a:r>
            <a:r>
              <a:rPr lang="ru-RU" sz="3600" dirty="0" smtClean="0"/>
              <a:t>13), нужно :</a:t>
            </a:r>
          </a:p>
          <a:p>
            <a:endParaRPr lang="ru-RU" sz="3600" dirty="0"/>
          </a:p>
          <a:p>
            <a:pPr marL="914400" lvl="1" indent="-457200">
              <a:buFont typeface="+mj-lt"/>
              <a:buAutoNum type="arabicPeriod"/>
            </a:pPr>
            <a:r>
              <a:rPr lang="ru-RU" sz="2800" dirty="0"/>
              <a:t>ввести три </a:t>
            </a:r>
            <a:r>
              <a:rPr lang="ru-RU" sz="2800" b="1" dirty="0" smtClean="0"/>
              <a:t>команды</a:t>
            </a:r>
            <a:r>
              <a:rPr lang="ru-RU" sz="2800" dirty="0" smtClean="0"/>
              <a:t> </a:t>
            </a:r>
            <a:r>
              <a:rPr lang="ru-RU" sz="2800" b="1" dirty="0" err="1" smtClean="0"/>
              <a:t>vlan</a:t>
            </a:r>
            <a:r>
              <a:rPr lang="ru-RU" sz="2800" b="1" dirty="0" smtClean="0"/>
              <a:t> 11 </a:t>
            </a:r>
            <a:r>
              <a:rPr lang="ru-RU" sz="2800" b="1" dirty="0"/>
              <a:t>, </a:t>
            </a:r>
            <a:r>
              <a:rPr lang="ru-RU" sz="2800" b="1" dirty="0" err="1" smtClean="0"/>
              <a:t>vlan</a:t>
            </a:r>
            <a:r>
              <a:rPr lang="ru-RU" sz="2800" b="1" dirty="0" smtClean="0"/>
              <a:t> 12 </a:t>
            </a:r>
            <a:r>
              <a:rPr lang="ru-RU" sz="2800" b="1" dirty="0"/>
              <a:t>и </a:t>
            </a:r>
            <a:r>
              <a:rPr lang="ru-RU" sz="2800" b="1" dirty="0" err="1" smtClean="0"/>
              <a:t>vlan</a:t>
            </a:r>
            <a:r>
              <a:rPr lang="ru-RU" sz="2800" b="1" dirty="0" smtClean="0"/>
              <a:t> 13</a:t>
            </a:r>
            <a:r>
              <a:rPr lang="ru-RU" sz="2800" dirty="0" smtClean="0"/>
              <a:t>. </a:t>
            </a:r>
          </a:p>
          <a:p>
            <a:pPr marL="914400" lvl="1" indent="-457200">
              <a:buFont typeface="+mj-lt"/>
              <a:buAutoNum type="arabicPeriod"/>
            </a:pPr>
            <a:endParaRPr lang="ru-RU" sz="28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ru-RU" sz="2800" dirty="0" smtClean="0"/>
              <a:t>затем </a:t>
            </a:r>
            <a:r>
              <a:rPr lang="ru-RU" sz="2800" dirty="0"/>
              <a:t>для каждого интерфейса </a:t>
            </a:r>
            <a:r>
              <a:rPr lang="ru-RU" sz="2800" dirty="0" smtClean="0"/>
              <a:t>ввести </a:t>
            </a:r>
            <a:r>
              <a:rPr lang="ru-RU" sz="2800" b="1" dirty="0" smtClean="0"/>
              <a:t>команду </a:t>
            </a:r>
            <a:r>
              <a:rPr lang="ru-RU" sz="2800" b="1" dirty="0" err="1" smtClean="0"/>
              <a:t>switchport</a:t>
            </a:r>
            <a:r>
              <a:rPr lang="ru-RU" sz="2800" b="1" dirty="0" smtClean="0"/>
              <a:t> </a:t>
            </a:r>
            <a:r>
              <a:rPr lang="ru-RU" sz="2800" b="1" dirty="0" err="1" smtClean="0"/>
              <a:t>access</a:t>
            </a:r>
            <a:r>
              <a:rPr lang="ru-RU" sz="2800" b="1" dirty="0" smtClean="0"/>
              <a:t> </a:t>
            </a:r>
            <a:r>
              <a:rPr lang="ru-RU" sz="2800" b="1" dirty="0" err="1" smtClean="0"/>
              <a:t>vlan</a:t>
            </a:r>
            <a:r>
              <a:rPr lang="ru-RU" sz="2800" b="1" dirty="0" smtClean="0"/>
              <a:t> 11 </a:t>
            </a:r>
            <a:r>
              <a:rPr lang="ru-RU" sz="2800" dirty="0"/>
              <a:t>(</a:t>
            </a:r>
            <a:r>
              <a:rPr lang="ru-RU" sz="2800" dirty="0" smtClean="0"/>
              <a:t>или 12, </a:t>
            </a:r>
            <a:r>
              <a:rPr lang="ru-RU" sz="2800" dirty="0"/>
              <a:t>или </a:t>
            </a:r>
            <a:r>
              <a:rPr lang="ru-RU" sz="2800" dirty="0" smtClean="0"/>
              <a:t>13 ), чтобы присвоить соответствующий интерфейс </a:t>
            </a:r>
            <a:r>
              <a:rPr lang="ru-RU" sz="2800" dirty="0"/>
              <a:t>надлежащей сети </a:t>
            </a:r>
            <a:r>
              <a:rPr lang="en-US" sz="2800" dirty="0"/>
              <a:t>VLAN.</a:t>
            </a:r>
            <a:endParaRPr lang="ru-RU" sz="2800" dirty="0"/>
          </a:p>
        </p:txBody>
      </p:sp>
    </p:spTree>
    <p:extLst>
      <p:ext uri="{BB962C8B-B14F-4D97-AF65-F5344CB8AC3E}">
        <p14:creationId xmlns="" xmlns:p14="http://schemas.microsoft.com/office/powerpoint/2010/main" val="27014423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Полная настройка </a:t>
            </a:r>
            <a:r>
              <a:rPr lang="en-US" u="sng" dirty="0" smtClean="0"/>
              <a:t>VLAN</a:t>
            </a:r>
            <a:r>
              <a:rPr lang="ru-RU" u="sng" dirty="0" smtClean="0"/>
              <a:t>: пример 1</a:t>
            </a:r>
            <a:endParaRPr lang="ru-RU" u="sng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325563"/>
            <a:ext cx="10515601" cy="527474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0513224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Полная настройка </a:t>
            </a:r>
            <a:r>
              <a:rPr lang="en-US" u="sng" dirty="0" smtClean="0"/>
              <a:t>VLAN</a:t>
            </a:r>
            <a:r>
              <a:rPr lang="ru-RU" u="sng" dirty="0" smtClean="0"/>
              <a:t>: пример 1</a:t>
            </a:r>
            <a:endParaRPr lang="ru-RU" u="sng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33" y="1501225"/>
            <a:ext cx="11369733" cy="517389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415421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Полная настройка </a:t>
            </a:r>
            <a:r>
              <a:rPr lang="en-US" u="sng" dirty="0" smtClean="0"/>
              <a:t>VLAN</a:t>
            </a:r>
            <a:r>
              <a:rPr lang="ru-RU" u="sng" dirty="0" smtClean="0"/>
              <a:t>: пример 1</a:t>
            </a:r>
            <a:endParaRPr lang="ru-RU" u="sng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33" y="1325562"/>
            <a:ext cx="11239933" cy="523317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9790854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Полная настройка </a:t>
            </a:r>
            <a:r>
              <a:rPr lang="en-US" u="sng" dirty="0" smtClean="0"/>
              <a:t>VLAN</a:t>
            </a:r>
            <a:r>
              <a:rPr lang="ru-RU" u="sng" dirty="0" smtClean="0"/>
              <a:t>: пример 1</a:t>
            </a:r>
            <a:endParaRPr lang="ru-RU" u="sng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547" y="1212879"/>
            <a:ext cx="8846906" cy="5545368"/>
          </a:xfrm>
          <a:prstGeom prst="rect">
            <a:avLst/>
          </a:prstGeom>
        </p:spPr>
      </p:pic>
      <p:cxnSp>
        <p:nvCxnSpPr>
          <p:cNvPr id="6" name="Прямая соединительная линия 5"/>
          <p:cNvCxnSpPr/>
          <p:nvPr/>
        </p:nvCxnSpPr>
        <p:spPr>
          <a:xfrm>
            <a:off x="1097280" y="3981017"/>
            <a:ext cx="7830589" cy="0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flipV="1">
            <a:off x="2688864" y="2826327"/>
            <a:ext cx="2606343" cy="7534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 flipV="1">
            <a:off x="1259075" y="2394065"/>
            <a:ext cx="2606343" cy="7534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6530444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Полная настройка </a:t>
            </a:r>
            <a:r>
              <a:rPr lang="en-US" u="sng" dirty="0" smtClean="0"/>
              <a:t>VLAN</a:t>
            </a:r>
            <a:r>
              <a:rPr lang="ru-RU" u="sng" dirty="0" smtClean="0"/>
              <a:t>: пример 1</a:t>
            </a:r>
            <a:endParaRPr lang="ru-RU" u="sng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11" y="1325563"/>
            <a:ext cx="11241578" cy="5332932"/>
          </a:xfrm>
          <a:prstGeom prst="rect">
            <a:avLst/>
          </a:prstGeom>
        </p:spPr>
      </p:pic>
      <p:cxnSp>
        <p:nvCxnSpPr>
          <p:cNvPr id="8" name="Прямая соединительная линия 7"/>
          <p:cNvCxnSpPr/>
          <p:nvPr/>
        </p:nvCxnSpPr>
        <p:spPr>
          <a:xfrm flipV="1">
            <a:off x="417022" y="5153891"/>
            <a:ext cx="2606343" cy="7534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0703704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Полная настройка </a:t>
            </a:r>
            <a:r>
              <a:rPr lang="en-US" u="sng" dirty="0" smtClean="0"/>
              <a:t>VLAN</a:t>
            </a:r>
            <a:r>
              <a:rPr lang="ru-RU" u="sng" dirty="0" smtClean="0"/>
              <a:t>: пример 1</a:t>
            </a:r>
            <a:endParaRPr lang="ru-RU" u="sng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3" y="1325563"/>
            <a:ext cx="12099434" cy="511769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230615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Сокращенная настройка </a:t>
            </a:r>
            <a:r>
              <a:rPr lang="en-US" u="sng" dirty="0" smtClean="0"/>
              <a:t>VLAN</a:t>
            </a:r>
            <a:r>
              <a:rPr lang="ru-RU" u="sng" dirty="0" smtClean="0"/>
              <a:t>: пример 2</a:t>
            </a:r>
            <a:endParaRPr lang="ru-RU" u="sng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59" y="1539066"/>
            <a:ext cx="11874081" cy="462897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100795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Сокращенная настройка </a:t>
            </a:r>
            <a:r>
              <a:rPr lang="en-US" u="sng" dirty="0" smtClean="0"/>
              <a:t>VLAN</a:t>
            </a:r>
            <a:r>
              <a:rPr lang="ru-RU" u="sng" dirty="0" smtClean="0"/>
              <a:t>: пример 2</a:t>
            </a:r>
            <a:endParaRPr lang="ru-RU" u="sng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98" y="1325563"/>
            <a:ext cx="11565603" cy="5218316"/>
          </a:xfrm>
          <a:prstGeom prst="rect">
            <a:avLst/>
          </a:prstGeom>
        </p:spPr>
      </p:pic>
      <p:cxnSp>
        <p:nvCxnSpPr>
          <p:cNvPr id="5" name="Прямая соединительная линия 4"/>
          <p:cNvCxnSpPr/>
          <p:nvPr/>
        </p:nvCxnSpPr>
        <p:spPr>
          <a:xfrm>
            <a:off x="838200" y="5161424"/>
            <a:ext cx="8904316" cy="25718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6289138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u="sng" dirty="0"/>
              <a:t>Протокол создания магистралей VLAN (VТР)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082353"/>
            <a:ext cx="10515600" cy="2571808"/>
          </a:xfrm>
        </p:spPr>
        <p:txBody>
          <a:bodyPr/>
          <a:lstStyle/>
          <a:p>
            <a:pPr algn="just"/>
            <a:r>
              <a:rPr lang="ru-RU" b="1" dirty="0" smtClean="0"/>
              <a:t>Протокол </a:t>
            </a:r>
            <a:r>
              <a:rPr lang="ru-RU" b="1" dirty="0"/>
              <a:t>создания </a:t>
            </a:r>
            <a:r>
              <a:rPr lang="ru-RU" b="1" dirty="0" smtClean="0"/>
              <a:t>магистралей </a:t>
            </a:r>
            <a:r>
              <a:rPr lang="en-US" b="1" dirty="0" smtClean="0"/>
              <a:t>VLAN </a:t>
            </a:r>
            <a:r>
              <a:rPr lang="en-US" dirty="0"/>
              <a:t>(</a:t>
            </a:r>
            <a:r>
              <a:rPr lang="en-US" dirty="0" smtClean="0"/>
              <a:t>VLAN Trucking Protocol</a:t>
            </a:r>
            <a:r>
              <a:rPr lang="ru-RU" dirty="0" smtClean="0"/>
              <a:t> V</a:t>
            </a:r>
            <a:r>
              <a:rPr lang="en-US" dirty="0" smtClean="0"/>
              <a:t>T</a:t>
            </a:r>
            <a:r>
              <a:rPr lang="ru-RU" dirty="0" smtClean="0"/>
              <a:t>Р) - это </a:t>
            </a:r>
            <a:r>
              <a:rPr lang="ru-RU" dirty="0"/>
              <a:t>собственный протокол компании </a:t>
            </a:r>
            <a:r>
              <a:rPr lang="ru-RU" dirty="0" err="1"/>
              <a:t>Cisco</a:t>
            </a:r>
            <a:r>
              <a:rPr lang="ru-RU" dirty="0"/>
              <a:t>, выполняющийся на ее </a:t>
            </a:r>
            <a:r>
              <a:rPr lang="ru-RU" dirty="0" smtClean="0"/>
              <a:t>коммутаторах:</a:t>
            </a:r>
            <a:endParaRPr lang="ru-RU" dirty="0"/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ru-RU" dirty="0"/>
              <a:t>о</a:t>
            </a:r>
            <a:r>
              <a:rPr lang="ru-RU" dirty="0" smtClean="0"/>
              <a:t>н </a:t>
            </a:r>
            <a:r>
              <a:rPr lang="ru-RU" dirty="0"/>
              <a:t>анонсирует каждую сеть </a:t>
            </a:r>
            <a:r>
              <a:rPr lang="ru-RU" dirty="0" smtClean="0"/>
              <a:t>V</a:t>
            </a:r>
            <a:r>
              <a:rPr lang="en-US" dirty="0" smtClean="0"/>
              <a:t>L</a:t>
            </a:r>
            <a:r>
              <a:rPr lang="ru-RU" dirty="0" smtClean="0"/>
              <a:t>AN</a:t>
            </a:r>
            <a:r>
              <a:rPr lang="ru-RU" dirty="0"/>
              <a:t>, настроенную на одном коммутаторе </a:t>
            </a:r>
            <a:r>
              <a:rPr lang="ru-RU" b="1" dirty="0"/>
              <a:t>командой </a:t>
            </a:r>
            <a:r>
              <a:rPr lang="ru-RU" b="1" dirty="0" err="1" smtClean="0"/>
              <a:t>vlan</a:t>
            </a:r>
            <a:r>
              <a:rPr lang="ru-RU" b="1" dirty="0" smtClean="0"/>
              <a:t> номер</a:t>
            </a:r>
            <a:r>
              <a:rPr lang="ru-RU" dirty="0"/>
              <a:t>, чтобы о ней узнали все остальные коммутаторы в территориальной локальной сети.</a:t>
            </a:r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838200" y="5045826"/>
            <a:ext cx="10515600" cy="137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/>
              <a:t>Каждый коммутатор может работать в одном из </a:t>
            </a:r>
            <a:r>
              <a:rPr lang="ru-RU" b="1" dirty="0"/>
              <a:t>трех режимов VТР</a:t>
            </a:r>
            <a:r>
              <a:rPr lang="ru-RU" dirty="0"/>
              <a:t>: </a:t>
            </a:r>
            <a:r>
              <a:rPr lang="ru-RU" dirty="0" smtClean="0"/>
              <a:t>серверном, клиентском </a:t>
            </a:r>
            <a:r>
              <a:rPr lang="ru-RU" dirty="0"/>
              <a:t>или прозрачном.</a:t>
            </a:r>
          </a:p>
        </p:txBody>
      </p:sp>
    </p:spTree>
    <p:extLst>
      <p:ext uri="{BB962C8B-B14F-4D97-AF65-F5344CB8AC3E}">
        <p14:creationId xmlns="" xmlns:p14="http://schemas.microsoft.com/office/powerpoint/2010/main" val="20326370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u="sng" dirty="0"/>
              <a:t>Протокол создания магистралей VLAN (VТР)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082353"/>
            <a:ext cx="10515600" cy="2571808"/>
          </a:xfrm>
        </p:spPr>
        <p:txBody>
          <a:bodyPr>
            <a:normAutofit/>
          </a:bodyPr>
          <a:lstStyle/>
          <a:p>
            <a:r>
              <a:rPr lang="ru-RU" dirty="0"/>
              <a:t>Если коммутатор будет </a:t>
            </a:r>
            <a:r>
              <a:rPr lang="ru-RU" dirty="0" smtClean="0"/>
              <a:t>использовать </a:t>
            </a:r>
            <a:r>
              <a:rPr lang="ru-RU" b="1" dirty="0"/>
              <a:t>серверный или клиентский </a:t>
            </a:r>
            <a:r>
              <a:rPr lang="ru-RU" dirty="0" smtClean="0"/>
              <a:t>режим </a:t>
            </a:r>
            <a:r>
              <a:rPr lang="en-US" dirty="0" smtClean="0"/>
              <a:t>VT</a:t>
            </a:r>
            <a:r>
              <a:rPr lang="ru-RU" dirty="0" smtClean="0"/>
              <a:t>Р</a:t>
            </a:r>
            <a:r>
              <a:rPr lang="ru-RU" dirty="0"/>
              <a:t>, то обнаружится следующее</a:t>
            </a:r>
            <a:r>
              <a:rPr lang="ru-RU" dirty="0" smtClean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серверные коммутаторы могут настраивать сети VLAN только </a:t>
            </a:r>
            <a:r>
              <a:rPr lang="ru-RU" dirty="0" smtClean="0"/>
              <a:t>в стандартном диапазоне (1-1005</a:t>
            </a:r>
            <a:r>
              <a:rPr lang="ru-RU" dirty="0"/>
              <a:t>);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 smtClean="0"/>
              <a:t>клиентские </a:t>
            </a:r>
            <a:r>
              <a:rPr lang="ru-RU" dirty="0"/>
              <a:t>коммутаторы не могут настраивать сети </a:t>
            </a:r>
            <a:r>
              <a:rPr lang="ru-RU" dirty="0" smtClean="0"/>
              <a:t>VLAN;</a:t>
            </a:r>
            <a:endParaRPr lang="ru-RU" dirty="0"/>
          </a:p>
          <a:p>
            <a:pPr marL="914400" lvl="1" indent="-457200">
              <a:buFont typeface="+mj-lt"/>
              <a:buAutoNum type="arabicPeriod"/>
            </a:pPr>
            <a:r>
              <a:rPr lang="ru-RU" dirty="0" smtClean="0"/>
              <a:t>команда </a:t>
            </a:r>
            <a:r>
              <a:rPr lang="ru-RU" dirty="0" err="1" smtClean="0"/>
              <a:t>show</a:t>
            </a:r>
            <a:r>
              <a:rPr lang="ru-RU" dirty="0" smtClean="0"/>
              <a:t> </a:t>
            </a:r>
            <a:r>
              <a:rPr lang="ru-RU" dirty="0" err="1" smtClean="0"/>
              <a:t>running-config</a:t>
            </a:r>
            <a:r>
              <a:rPr lang="ru-RU" dirty="0" smtClean="0"/>
              <a:t> </a:t>
            </a:r>
            <a:r>
              <a:rPr lang="ru-RU" dirty="0"/>
              <a:t>не отображает команды </a:t>
            </a:r>
            <a:r>
              <a:rPr lang="ru-RU" dirty="0" err="1" smtClean="0"/>
              <a:t>vlan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838200" y="4853666"/>
            <a:ext cx="10515600" cy="16219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mtClean="0"/>
              <a:t>Для включения прозрачного режима протокола V</a:t>
            </a:r>
            <a:r>
              <a:rPr lang="en-US" dirty="0" smtClean="0"/>
              <a:t>T</a:t>
            </a:r>
            <a:r>
              <a:rPr lang="ru-RU" dirty="0" smtClean="0"/>
              <a:t>Р используется </a:t>
            </a:r>
            <a:r>
              <a:rPr lang="ru-RU" b="1" dirty="0" smtClean="0"/>
              <a:t>глобальная </a:t>
            </a:r>
            <a:r>
              <a:rPr lang="ru-RU" b="1" dirty="0"/>
              <a:t>команда </a:t>
            </a:r>
            <a:r>
              <a:rPr lang="ru-RU" b="1" dirty="0" err="1"/>
              <a:t>vtp</a:t>
            </a:r>
            <a:r>
              <a:rPr lang="ru-RU" b="1" dirty="0"/>
              <a:t> </a:t>
            </a:r>
            <a:r>
              <a:rPr lang="ru-RU" b="1" dirty="0" err="1"/>
              <a:t>mode</a:t>
            </a:r>
            <a:r>
              <a:rPr lang="ru-RU" b="1" dirty="0"/>
              <a:t> </a:t>
            </a:r>
            <a:r>
              <a:rPr lang="ru-RU" b="1" dirty="0" err="1" smtClean="0"/>
              <a:t>transparent</a:t>
            </a:r>
            <a:r>
              <a:rPr lang="ru-RU" b="1" dirty="0" smtClean="0"/>
              <a:t>, </a:t>
            </a:r>
            <a:r>
              <a:rPr lang="ru-RU" dirty="0" smtClean="0"/>
              <a:t>а для его отключения - </a:t>
            </a:r>
            <a:r>
              <a:rPr lang="ru-RU" b="1" dirty="0" smtClean="0"/>
              <a:t>глобальная </a:t>
            </a:r>
            <a:r>
              <a:rPr lang="ru-RU" b="1" dirty="0"/>
              <a:t>команда </a:t>
            </a:r>
            <a:r>
              <a:rPr lang="ru-RU" b="1" dirty="0" err="1"/>
              <a:t>vtp</a:t>
            </a:r>
            <a:r>
              <a:rPr lang="ru-RU" b="1" dirty="0"/>
              <a:t> </a:t>
            </a:r>
            <a:r>
              <a:rPr lang="ru-RU" b="1" dirty="0" err="1"/>
              <a:t>mode</a:t>
            </a:r>
            <a:r>
              <a:rPr lang="ru-RU" b="1" dirty="0"/>
              <a:t> </a:t>
            </a:r>
            <a:r>
              <a:rPr lang="ru-RU" b="1" dirty="0" err="1" smtClean="0"/>
              <a:t>off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5437512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Настройка магистрального соединения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466880"/>
            <a:ext cx="10515600" cy="5391120"/>
          </a:xfrm>
        </p:spPr>
        <p:txBody>
          <a:bodyPr>
            <a:normAutofit lnSpcReduction="10000"/>
          </a:bodyPr>
          <a:lstStyle/>
          <a:p>
            <a:pPr algn="just"/>
            <a:r>
              <a:rPr lang="ru-RU" dirty="0"/>
              <a:t>Достаточно добавить </a:t>
            </a:r>
            <a:r>
              <a:rPr lang="ru-RU" dirty="0" smtClean="0"/>
              <a:t>одну </a:t>
            </a:r>
            <a:r>
              <a:rPr lang="ru-RU" dirty="0"/>
              <a:t>подкоманду </a:t>
            </a:r>
            <a:r>
              <a:rPr lang="ru-RU" dirty="0" smtClean="0"/>
              <a:t>интерфейса для </a:t>
            </a:r>
            <a:r>
              <a:rPr lang="ru-RU" dirty="0"/>
              <a:t>порта коммутатора на каждой стороне канала </a:t>
            </a:r>
            <a:r>
              <a:rPr lang="ru-RU" dirty="0" smtClean="0"/>
              <a:t>связи – </a:t>
            </a:r>
            <a:r>
              <a:rPr lang="ru-RU" b="1" dirty="0" err="1" smtClean="0"/>
              <a:t>switchport</a:t>
            </a:r>
            <a:r>
              <a:rPr lang="ru-RU" b="1" dirty="0" smtClean="0"/>
              <a:t> </a:t>
            </a:r>
            <a:r>
              <a:rPr lang="ru-RU" b="1" dirty="0" err="1" smtClean="0"/>
              <a:t>mode</a:t>
            </a:r>
            <a:r>
              <a:rPr lang="ru-RU" b="1" dirty="0" smtClean="0"/>
              <a:t> </a:t>
            </a:r>
            <a:r>
              <a:rPr lang="ru-RU" b="1" dirty="0" err="1" smtClean="0"/>
              <a:t>trunk</a:t>
            </a:r>
            <a:r>
              <a:rPr lang="ru-RU" dirty="0" smtClean="0"/>
              <a:t>, </a:t>
            </a:r>
            <a:r>
              <a:rPr lang="ru-RU" dirty="0"/>
              <a:t>и будет </a:t>
            </a:r>
            <a:r>
              <a:rPr lang="ru-RU" dirty="0" smtClean="0"/>
              <a:t>получен </a:t>
            </a:r>
            <a:r>
              <a:rPr lang="ru-RU" dirty="0"/>
              <a:t>магистральный канал </a:t>
            </a:r>
            <a:r>
              <a:rPr lang="ru-RU" dirty="0" smtClean="0"/>
              <a:t>VLAN, поддерживаемый всеми сетями </a:t>
            </a:r>
            <a:r>
              <a:rPr lang="ru-RU" dirty="0"/>
              <a:t>VLAN , известными </a:t>
            </a:r>
            <a:r>
              <a:rPr lang="ru-RU" dirty="0" smtClean="0"/>
              <a:t>каждому коммутатору (</a:t>
            </a:r>
            <a:r>
              <a:rPr lang="ru-RU" b="1" dirty="0" smtClean="0"/>
              <a:t>статическое соединение</a:t>
            </a:r>
            <a:r>
              <a:rPr lang="ru-RU" dirty="0" smtClean="0"/>
              <a:t>).</a:t>
            </a:r>
          </a:p>
          <a:p>
            <a:pPr algn="just"/>
            <a:endParaRPr lang="ru-RU" dirty="0"/>
          </a:p>
          <a:p>
            <a:pPr algn="just"/>
            <a:r>
              <a:rPr lang="ru-RU" dirty="0" smtClean="0"/>
              <a:t>Конфигурация </a:t>
            </a:r>
            <a:r>
              <a:rPr lang="ru-RU" dirty="0"/>
              <a:t>магистрали на коммутаторах </a:t>
            </a:r>
            <a:r>
              <a:rPr lang="ru-RU" dirty="0" err="1"/>
              <a:t>Cisco</a:t>
            </a:r>
            <a:r>
              <a:rPr lang="ru-RU" dirty="0"/>
              <a:t> </a:t>
            </a:r>
            <a:r>
              <a:rPr lang="ru-RU" dirty="0" smtClean="0"/>
              <a:t>имеет несколько </a:t>
            </a:r>
            <a:r>
              <a:rPr lang="ru-RU" dirty="0"/>
              <a:t>вариантов для </a:t>
            </a:r>
            <a:r>
              <a:rPr lang="ru-RU" b="1" dirty="0"/>
              <a:t>динамических переговоров </a:t>
            </a:r>
            <a:r>
              <a:rPr lang="ru-RU" dirty="0"/>
              <a:t>о </a:t>
            </a:r>
            <a:r>
              <a:rPr lang="ru-RU" dirty="0" smtClean="0"/>
              <a:t>разных параметрах магистрали:</a:t>
            </a:r>
          </a:p>
          <a:p>
            <a:pPr algn="just"/>
            <a:endParaRPr lang="ru-RU" dirty="0" smtClean="0"/>
          </a:p>
          <a:p>
            <a:pPr lvl="1" algn="just"/>
            <a:r>
              <a:rPr lang="ru-RU" b="1" dirty="0" smtClean="0"/>
              <a:t>тип </a:t>
            </a:r>
            <a:r>
              <a:rPr lang="ru-RU" b="1" dirty="0"/>
              <a:t>магистрального соединения</a:t>
            </a:r>
            <a:r>
              <a:rPr lang="ru-RU" dirty="0"/>
              <a:t>: протокол </a:t>
            </a:r>
            <a:r>
              <a:rPr lang="en-US" dirty="0" smtClean="0"/>
              <a:t>ISL</a:t>
            </a:r>
            <a:r>
              <a:rPr lang="ru-RU" dirty="0" smtClean="0"/>
              <a:t>, </a:t>
            </a:r>
            <a:r>
              <a:rPr lang="ru-RU" dirty="0"/>
              <a:t>протокол </a:t>
            </a:r>
            <a:r>
              <a:rPr lang="ru-RU" dirty="0" smtClean="0"/>
              <a:t>802.1Q </a:t>
            </a:r>
            <a:r>
              <a:rPr lang="ru-RU" dirty="0"/>
              <a:t>или </a:t>
            </a:r>
            <a:r>
              <a:rPr lang="ru-RU" dirty="0" smtClean="0"/>
              <a:t>переговоры о </a:t>
            </a:r>
            <a:r>
              <a:rPr lang="ru-RU" dirty="0"/>
              <a:t>применяемом протоколе.</a:t>
            </a:r>
          </a:p>
          <a:p>
            <a:pPr lvl="1" algn="just"/>
            <a:r>
              <a:rPr lang="ru-RU" b="1" dirty="0"/>
              <a:t>а</a:t>
            </a:r>
            <a:r>
              <a:rPr lang="ru-RU" b="1" dirty="0" smtClean="0"/>
              <a:t>дминистративный </a:t>
            </a:r>
            <a:r>
              <a:rPr lang="ru-RU" b="1" dirty="0"/>
              <a:t>режим</a:t>
            </a:r>
            <a:r>
              <a:rPr lang="ru-RU" dirty="0"/>
              <a:t>: всегда магистральный канал, </a:t>
            </a:r>
            <a:r>
              <a:rPr lang="ru-RU" dirty="0" smtClean="0"/>
              <a:t>никогда магистральный </a:t>
            </a:r>
            <a:r>
              <a:rPr lang="ru-RU" dirty="0"/>
              <a:t>канал или </a:t>
            </a:r>
            <a:r>
              <a:rPr lang="ru-RU" dirty="0" smtClean="0"/>
              <a:t>переговоры.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8281556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Протокол </a:t>
            </a:r>
            <a:r>
              <a:rPr lang="en-US" u="sng" dirty="0" smtClean="0"/>
              <a:t>DTP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5391120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Коммутаторы </a:t>
            </a:r>
            <a:r>
              <a:rPr lang="en-US" dirty="0"/>
              <a:t>Cisco, </a:t>
            </a:r>
            <a:r>
              <a:rPr lang="ru-RU" dirty="0" smtClean="0"/>
              <a:t>поддерживающие протоколы </a:t>
            </a:r>
            <a:r>
              <a:rPr lang="en-US" dirty="0" smtClean="0"/>
              <a:t>I</a:t>
            </a:r>
            <a:r>
              <a:rPr lang="ru-RU" dirty="0" smtClean="0"/>
              <a:t>SL </a:t>
            </a:r>
            <a:r>
              <a:rPr lang="ru-RU" dirty="0"/>
              <a:t>и </a:t>
            </a:r>
            <a:r>
              <a:rPr lang="ru-RU" dirty="0" smtClean="0"/>
              <a:t>802.1Q</a:t>
            </a:r>
            <a:r>
              <a:rPr lang="ru-RU" dirty="0"/>
              <a:t>, способны вести переговоры об </a:t>
            </a:r>
            <a:r>
              <a:rPr lang="ru-RU" dirty="0" smtClean="0"/>
              <a:t>используемом типе </a:t>
            </a:r>
            <a:r>
              <a:rPr lang="ru-RU" dirty="0"/>
              <a:t>при </a:t>
            </a:r>
            <a:r>
              <a:rPr lang="ru-RU" dirty="0" smtClean="0"/>
              <a:t>помощи </a:t>
            </a:r>
            <a:r>
              <a:rPr lang="ru-RU" b="1" dirty="0"/>
              <a:t>протокола динамического согласования магистральных </a:t>
            </a:r>
            <a:r>
              <a:rPr lang="ru-RU" b="1" dirty="0" smtClean="0"/>
              <a:t>каналов </a:t>
            </a:r>
            <a:r>
              <a:rPr lang="en-US" b="1" dirty="0" smtClean="0"/>
              <a:t>( </a:t>
            </a:r>
            <a:r>
              <a:rPr lang="en-US" b="1" dirty="0"/>
              <a:t>Dynamic Trunk Protocol - </a:t>
            </a:r>
            <a:r>
              <a:rPr lang="en-US" b="1" dirty="0" smtClean="0"/>
              <a:t>DTP)</a:t>
            </a:r>
            <a:r>
              <a:rPr lang="en-US" dirty="0" smtClean="0"/>
              <a:t>.</a:t>
            </a:r>
            <a:endParaRPr lang="ru-RU" dirty="0" smtClean="0"/>
          </a:p>
          <a:p>
            <a:pPr algn="just"/>
            <a:endParaRPr lang="ru-RU" dirty="0"/>
          </a:p>
          <a:p>
            <a:r>
              <a:rPr lang="ru-RU" dirty="0"/>
              <a:t>Протокол </a:t>
            </a:r>
            <a:r>
              <a:rPr lang="ru-RU" dirty="0" smtClean="0"/>
              <a:t>DTP </a:t>
            </a:r>
            <a:r>
              <a:rPr lang="ru-RU" dirty="0"/>
              <a:t>позволяет также согласовать административный режим </a:t>
            </a:r>
            <a:r>
              <a:rPr lang="ru-RU" dirty="0" smtClean="0"/>
              <a:t>локальных портов коммутаторов (</a:t>
            </a:r>
            <a:r>
              <a:rPr lang="ru-RU" b="1" dirty="0" smtClean="0"/>
              <a:t>команда </a:t>
            </a:r>
            <a:r>
              <a:rPr lang="fr-FR" b="1" dirty="0" smtClean="0"/>
              <a:t>switchport </a:t>
            </a:r>
            <a:r>
              <a:rPr lang="fr-FR" b="1" dirty="0"/>
              <a:t>mode</a:t>
            </a:r>
            <a:r>
              <a:rPr lang="ru-RU" dirty="0" smtClean="0"/>
              <a:t>) и параметры: 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308" y="4911349"/>
            <a:ext cx="8248650" cy="180533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7232352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Магистральные соединения: пример 3</a:t>
            </a:r>
            <a:endParaRPr lang="ru-RU" u="sng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844" y="1325563"/>
            <a:ext cx="8658312" cy="5532437"/>
          </a:xfrm>
          <a:prstGeom prst="rect">
            <a:avLst/>
          </a:prstGeom>
        </p:spPr>
      </p:pic>
      <p:sp>
        <p:nvSpPr>
          <p:cNvPr id="6" name="Стрелка вправо 5"/>
          <p:cNvSpPr/>
          <p:nvPr/>
        </p:nvSpPr>
        <p:spPr>
          <a:xfrm>
            <a:off x="3873731" y="4447309"/>
            <a:ext cx="1637607" cy="814647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744287" y="1450797"/>
            <a:ext cx="294824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rgbClr val="010101"/>
                </a:solidFill>
              </a:rPr>
              <a:t>переговоры DTP можно отключить </a:t>
            </a:r>
            <a:r>
              <a:rPr lang="ru-RU" dirty="0" smtClean="0">
                <a:solidFill>
                  <a:srgbClr val="010101"/>
                </a:solidFill>
              </a:rPr>
              <a:t>с помощью </a:t>
            </a:r>
            <a:r>
              <a:rPr lang="ru-RU" b="1" dirty="0">
                <a:solidFill>
                  <a:srgbClr val="010101"/>
                </a:solidFill>
              </a:rPr>
              <a:t>подкоманды </a:t>
            </a:r>
            <a:r>
              <a:rPr lang="ru-RU" b="1" dirty="0" smtClean="0">
                <a:solidFill>
                  <a:srgbClr val="010101"/>
                </a:solidFill>
              </a:rPr>
              <a:t>интерфейса </a:t>
            </a:r>
            <a:r>
              <a:rPr lang="pt-BR" b="1" dirty="0" smtClean="0">
                <a:solidFill>
                  <a:srgbClr val="010101"/>
                </a:solidFill>
              </a:rPr>
              <a:t>switch port nonegotiate</a:t>
            </a:r>
            <a:endParaRPr lang="ru-RU" b="1" dirty="0"/>
          </a:p>
        </p:txBody>
      </p:sp>
    </p:spTree>
    <p:extLst>
      <p:ext uri="{BB962C8B-B14F-4D97-AF65-F5344CB8AC3E}">
        <p14:creationId xmlns="" xmlns:p14="http://schemas.microsoft.com/office/powerpoint/2010/main" val="16686988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Магистральные соединения: пример 3</a:t>
            </a:r>
            <a:endParaRPr lang="ru-RU" u="sng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512" y="1325563"/>
            <a:ext cx="8006976" cy="5532437"/>
          </a:xfrm>
          <a:prstGeom prst="rect">
            <a:avLst/>
          </a:prstGeom>
        </p:spPr>
      </p:pic>
      <p:cxnSp>
        <p:nvCxnSpPr>
          <p:cNvPr id="5" name="Прямая соединительная линия 4"/>
          <p:cNvCxnSpPr/>
          <p:nvPr/>
        </p:nvCxnSpPr>
        <p:spPr>
          <a:xfrm>
            <a:off x="1312026" y="2767359"/>
            <a:ext cx="8904316" cy="25718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1312026" y="3083242"/>
            <a:ext cx="8904316" cy="25718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>
            <a:off x="1312026" y="3411984"/>
            <a:ext cx="8904316" cy="25718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1312026" y="3802682"/>
            <a:ext cx="8904316" cy="25718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1712239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/>
              <a:t>Магистральные соединения: пример 3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238596"/>
            <a:ext cx="10515600" cy="5619404"/>
          </a:xfrm>
        </p:spPr>
        <p:txBody>
          <a:bodyPr>
            <a:normAutofit/>
          </a:bodyPr>
          <a:lstStyle/>
          <a:p>
            <a:pPr algn="just"/>
            <a:r>
              <a:rPr lang="ru-RU" b="1" dirty="0" smtClean="0"/>
              <a:t>К</a:t>
            </a:r>
            <a:r>
              <a:rPr lang="pt-BR" b="1" dirty="0" smtClean="0"/>
              <a:t>оманд</a:t>
            </a:r>
            <a:r>
              <a:rPr lang="ru-RU" b="1" dirty="0" smtClean="0"/>
              <a:t>а</a:t>
            </a:r>
            <a:r>
              <a:rPr lang="pt-BR" b="1" dirty="0" smtClean="0"/>
              <a:t> show interfaces trunk</a:t>
            </a:r>
            <a:r>
              <a:rPr lang="ru-RU" b="1" dirty="0" smtClean="0"/>
              <a:t> </a:t>
            </a:r>
            <a:r>
              <a:rPr lang="ru-RU" dirty="0" smtClean="0"/>
              <a:t>выводит </a:t>
            </a:r>
            <a:r>
              <a:rPr lang="ru-RU" dirty="0"/>
              <a:t>информацию обо всех </a:t>
            </a:r>
            <a:r>
              <a:rPr lang="ru-RU" dirty="0" smtClean="0"/>
              <a:t>интерфейсах </a:t>
            </a:r>
            <a:r>
              <a:rPr lang="ru-RU" dirty="0"/>
              <a:t>магистральных каналов, </a:t>
            </a:r>
            <a:r>
              <a:rPr lang="ru-RU" dirty="0" smtClean="0"/>
              <a:t>работающих в </a:t>
            </a:r>
            <a:r>
              <a:rPr lang="ru-RU" dirty="0"/>
              <a:t>настоящий момент, т.е. она перечисляет </a:t>
            </a:r>
            <a:r>
              <a:rPr lang="ru-RU" dirty="0" smtClean="0"/>
              <a:t>интерфейсы</a:t>
            </a:r>
            <a:r>
              <a:rPr lang="ru-RU" dirty="0"/>
              <a:t>, которые в </a:t>
            </a:r>
            <a:r>
              <a:rPr lang="ru-RU" dirty="0" smtClean="0"/>
              <a:t>настоящее время используют </a:t>
            </a:r>
            <a:r>
              <a:rPr lang="ru-RU" dirty="0"/>
              <a:t>магистральное соединение VLAN. </a:t>
            </a:r>
            <a:endParaRPr lang="ru-RU" dirty="0" smtClean="0"/>
          </a:p>
          <a:p>
            <a:pPr algn="just"/>
            <a:endParaRPr lang="ru-RU" dirty="0"/>
          </a:p>
          <a:p>
            <a:pPr algn="just"/>
            <a:endParaRPr lang="ru-RU" dirty="0" smtClean="0"/>
          </a:p>
          <a:p>
            <a:pPr algn="just"/>
            <a:endParaRPr lang="ru-RU" dirty="0" smtClean="0"/>
          </a:p>
          <a:p>
            <a:pPr algn="just"/>
            <a:endParaRPr lang="ru-RU" dirty="0" smtClean="0"/>
          </a:p>
          <a:p>
            <a:pPr algn="just"/>
            <a:endParaRPr lang="ru-RU" dirty="0"/>
          </a:p>
          <a:p>
            <a:pPr algn="just"/>
            <a:r>
              <a:rPr lang="ru-RU" b="1" dirty="0" smtClean="0"/>
              <a:t>Не </a:t>
            </a:r>
            <a:r>
              <a:rPr lang="ru-RU" b="1" dirty="0"/>
              <a:t>перечисляя </a:t>
            </a:r>
            <a:r>
              <a:rPr lang="ru-RU" b="1" dirty="0" smtClean="0"/>
              <a:t>интерфейсы</a:t>
            </a:r>
            <a:r>
              <a:rPr lang="ru-RU" dirty="0" smtClean="0"/>
              <a:t>, </a:t>
            </a:r>
            <a:r>
              <a:rPr lang="ru-RU" dirty="0"/>
              <a:t>эта команда также подтверждает, что канал связи между коммутаторами не </a:t>
            </a:r>
            <a:r>
              <a:rPr lang="ru-RU" dirty="0" smtClean="0"/>
              <a:t>является магистральным </a:t>
            </a:r>
            <a:r>
              <a:rPr lang="ru-RU" dirty="0"/>
              <a:t>соединением.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849" y="3117244"/>
            <a:ext cx="7054302" cy="19490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2276599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/>
              <a:t>Магистральные соединения: пример 3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145" y="1325563"/>
            <a:ext cx="9665710" cy="5532437"/>
          </a:xfrm>
          <a:prstGeom prst="rect">
            <a:avLst/>
          </a:prstGeom>
        </p:spPr>
      </p:pic>
      <p:cxnSp>
        <p:nvCxnSpPr>
          <p:cNvPr id="7" name="Прямая соединительная линия 6"/>
          <p:cNvCxnSpPr/>
          <p:nvPr/>
        </p:nvCxnSpPr>
        <p:spPr>
          <a:xfrm>
            <a:off x="1070957" y="2651126"/>
            <a:ext cx="8904316" cy="25718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838200" y="6474981"/>
            <a:ext cx="8904316" cy="25718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838200" y="6790865"/>
            <a:ext cx="8904316" cy="25718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1145166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/>
              <a:t>Магистральные соединения: пример 3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07" y="1518283"/>
            <a:ext cx="10212185" cy="489082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0165754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/>
              <a:t>Магистральные соединения: пример 3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35" y="1399135"/>
            <a:ext cx="11049865" cy="492685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970065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u="sng" dirty="0" smtClean="0"/>
              <a:t>Результаты переговоров </a:t>
            </a:r>
            <a:r>
              <a:rPr lang="en-US" u="sng" dirty="0" smtClean="0"/>
              <a:t>DTP</a:t>
            </a:r>
            <a:endParaRPr lang="ru-RU" u="sng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32" y="2056101"/>
            <a:ext cx="11649335" cy="372955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5926282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Контроль сетей </a:t>
            </a:r>
            <a:r>
              <a:rPr lang="en-US" u="sng" dirty="0" smtClean="0"/>
              <a:t>VLAN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b="1" dirty="0"/>
              <a:t>Список разрешенных сетей </a:t>
            </a:r>
            <a:r>
              <a:rPr lang="ru-RU" b="1" dirty="0" smtClean="0"/>
              <a:t>VLAN </a:t>
            </a:r>
            <a:r>
              <a:rPr lang="ru-RU" b="1" dirty="0"/>
              <a:t>(</a:t>
            </a:r>
            <a:r>
              <a:rPr lang="ru-RU" b="1" dirty="0" err="1"/>
              <a:t>allowed</a:t>
            </a:r>
            <a:r>
              <a:rPr lang="ru-RU" b="1" dirty="0"/>
              <a:t> VLAN </a:t>
            </a:r>
            <a:r>
              <a:rPr lang="ru-RU" b="1" dirty="0" err="1"/>
              <a:t>list</a:t>
            </a:r>
            <a:r>
              <a:rPr lang="ru-RU" b="1" dirty="0"/>
              <a:t>)</a:t>
            </a:r>
            <a:r>
              <a:rPr lang="ru-RU" dirty="0"/>
              <a:t> - это </a:t>
            </a:r>
            <a:r>
              <a:rPr lang="ru-RU" dirty="0" smtClean="0"/>
              <a:t>механизм, позволяющий административно </a:t>
            </a:r>
            <a:r>
              <a:rPr lang="ru-RU" dirty="0"/>
              <a:t>отключать сети VLAN </a:t>
            </a:r>
            <a:r>
              <a:rPr lang="ru-RU" dirty="0" smtClean="0"/>
              <a:t>от магистрального канала</a:t>
            </a:r>
            <a:r>
              <a:rPr lang="ru-RU" dirty="0"/>
              <a:t>. </a:t>
            </a:r>
            <a:endParaRPr lang="ru-RU" dirty="0" smtClean="0"/>
          </a:p>
          <a:p>
            <a:pPr algn="just"/>
            <a:endParaRPr lang="ru-RU" dirty="0"/>
          </a:p>
          <a:p>
            <a:pPr algn="just"/>
            <a:r>
              <a:rPr lang="ru-RU" dirty="0" smtClean="0"/>
              <a:t>Стандартно </a:t>
            </a:r>
            <a:r>
              <a:rPr lang="ru-RU" dirty="0"/>
              <a:t>коммутаторы включают в </a:t>
            </a:r>
            <a:r>
              <a:rPr lang="ru-RU" dirty="0" smtClean="0"/>
              <a:t>список </a:t>
            </a:r>
            <a:r>
              <a:rPr lang="ru-RU" dirty="0"/>
              <a:t>разрешенных </a:t>
            </a:r>
            <a:r>
              <a:rPr lang="ru-RU" dirty="0" smtClean="0"/>
              <a:t>сетей VLAN </a:t>
            </a:r>
            <a:r>
              <a:rPr lang="ru-RU" dirty="0"/>
              <a:t>каждой магистрали </a:t>
            </a:r>
            <a:r>
              <a:rPr lang="ru-RU" b="1" dirty="0"/>
              <a:t>все </a:t>
            </a:r>
            <a:r>
              <a:rPr lang="ru-RU" b="1" dirty="0" smtClean="0"/>
              <a:t>возможные </a:t>
            </a:r>
            <a:r>
              <a:rPr lang="ru-RU" b="1" dirty="0"/>
              <a:t>сети VLAN </a:t>
            </a:r>
            <a:r>
              <a:rPr lang="ru-RU" dirty="0"/>
              <a:t>(от </a:t>
            </a:r>
            <a:r>
              <a:rPr lang="ru-RU" dirty="0" smtClean="0"/>
              <a:t>VLAN 1 </a:t>
            </a:r>
            <a:r>
              <a:rPr lang="ru-RU" dirty="0"/>
              <a:t>до </a:t>
            </a:r>
            <a:r>
              <a:rPr lang="ru-RU" dirty="0" smtClean="0"/>
              <a:t>VLAN 4094).</a:t>
            </a:r>
          </a:p>
          <a:p>
            <a:pPr algn="just"/>
            <a:endParaRPr lang="ru-RU" dirty="0"/>
          </a:p>
          <a:p>
            <a:pPr algn="just"/>
            <a:r>
              <a:rPr lang="ru-RU" dirty="0"/>
              <a:t>Однако впоследствии </a:t>
            </a:r>
            <a:r>
              <a:rPr lang="ru-RU" dirty="0" smtClean="0"/>
              <a:t>можно сократить </a:t>
            </a:r>
            <a:r>
              <a:rPr lang="ru-RU" dirty="0"/>
              <a:t>количество сетей </a:t>
            </a:r>
            <a:r>
              <a:rPr lang="ru-RU" dirty="0" smtClean="0"/>
              <a:t>VLAN, которым разрешено использовать магистральный канал </a:t>
            </a:r>
            <a:r>
              <a:rPr lang="ru-RU" b="1" dirty="0" smtClean="0"/>
              <a:t>подкомандой </a:t>
            </a:r>
            <a:r>
              <a:rPr lang="ru-RU" b="1" dirty="0"/>
              <a:t>интерфейса</a:t>
            </a:r>
            <a:r>
              <a:rPr lang="ru-RU" dirty="0"/>
              <a:t>: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269" y="5676901"/>
            <a:ext cx="9862531" cy="83082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7379252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u="sng" dirty="0" smtClean="0"/>
              <a:t>Причины невозможности передачи трафика по </a:t>
            </a:r>
            <a:r>
              <a:rPr lang="en-US" u="sng" dirty="0" smtClean="0"/>
              <a:t>VLAN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86743"/>
            <a:ext cx="10515600" cy="4871257"/>
          </a:xfrm>
        </p:spPr>
        <p:txBody>
          <a:bodyPr>
            <a:normAutofit fontScale="92500" lnSpcReduction="2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ru-RU" dirty="0"/>
              <a:t>Сеть VLAN </a:t>
            </a:r>
            <a:r>
              <a:rPr lang="ru-RU" b="1" dirty="0"/>
              <a:t>удалена из </a:t>
            </a:r>
            <a:r>
              <a:rPr lang="ru-RU" b="1" dirty="0" smtClean="0"/>
              <a:t>списка </a:t>
            </a:r>
            <a:r>
              <a:rPr lang="ru-RU" b="1" dirty="0"/>
              <a:t>разрешенных сетей </a:t>
            </a:r>
            <a:r>
              <a:rPr lang="ru-RU" dirty="0"/>
              <a:t>VLAN для </a:t>
            </a:r>
            <a:r>
              <a:rPr lang="ru-RU" dirty="0" smtClean="0"/>
              <a:t>магистрального канала.</a:t>
            </a:r>
          </a:p>
          <a:p>
            <a:pPr marL="514350" indent="-514350" algn="just">
              <a:buFont typeface="+mj-lt"/>
              <a:buAutoNum type="arabicPeriod"/>
            </a:pPr>
            <a:endParaRPr lang="ru-RU" dirty="0"/>
          </a:p>
          <a:p>
            <a:pPr marL="514350" indent="-514350" algn="just">
              <a:buFont typeface="+mj-lt"/>
              <a:buAutoNum type="arabicPeriod"/>
            </a:pPr>
            <a:r>
              <a:rPr lang="ru-RU" dirty="0" smtClean="0"/>
              <a:t>Сеть </a:t>
            </a:r>
            <a:r>
              <a:rPr lang="ru-RU" dirty="0"/>
              <a:t>VLAN </a:t>
            </a:r>
            <a:r>
              <a:rPr lang="ru-RU" b="1" dirty="0"/>
              <a:t>отсутствует в конфигурации коммутатора </a:t>
            </a:r>
            <a:r>
              <a:rPr lang="ru-RU" dirty="0"/>
              <a:t>(</a:t>
            </a:r>
            <a:r>
              <a:rPr lang="ru-RU" dirty="0" smtClean="0"/>
              <a:t>как свидетельствует вывод </a:t>
            </a:r>
            <a:r>
              <a:rPr lang="ru-RU" dirty="0"/>
              <a:t>команды </a:t>
            </a:r>
            <a:r>
              <a:rPr lang="ru-RU" b="1" dirty="0" err="1" smtClean="0"/>
              <a:t>show</a:t>
            </a:r>
            <a:r>
              <a:rPr lang="ru-RU" b="1" dirty="0" smtClean="0"/>
              <a:t> </a:t>
            </a:r>
            <a:r>
              <a:rPr lang="ru-RU" b="1" dirty="0" err="1" smtClean="0"/>
              <a:t>vlan</a:t>
            </a:r>
            <a:r>
              <a:rPr lang="ru-RU" dirty="0" smtClean="0"/>
              <a:t>).</a:t>
            </a:r>
          </a:p>
          <a:p>
            <a:pPr marL="514350" indent="-514350" algn="just">
              <a:buFont typeface="+mj-lt"/>
              <a:buAutoNum type="arabicPeriod"/>
            </a:pPr>
            <a:endParaRPr lang="ru-RU" dirty="0"/>
          </a:p>
          <a:p>
            <a:pPr marL="514350" indent="-514350" algn="just">
              <a:buFont typeface="+mj-lt"/>
              <a:buAutoNum type="arabicPeriod"/>
            </a:pPr>
            <a:r>
              <a:rPr lang="ru-RU" dirty="0" smtClean="0"/>
              <a:t>Сеть </a:t>
            </a:r>
            <a:r>
              <a:rPr lang="ru-RU" dirty="0"/>
              <a:t>VLAN существует, но </a:t>
            </a:r>
            <a:r>
              <a:rPr lang="ru-RU" b="1" dirty="0"/>
              <a:t>административно отключена </a:t>
            </a:r>
            <a:r>
              <a:rPr lang="ru-RU" dirty="0"/>
              <a:t>(командой </a:t>
            </a:r>
            <a:r>
              <a:rPr lang="ru-RU" b="1" dirty="0" err="1"/>
              <a:t>shutdown</a:t>
            </a:r>
            <a:r>
              <a:rPr lang="ru-RU" dirty="0" smtClean="0"/>
              <a:t>).</a:t>
            </a:r>
          </a:p>
          <a:p>
            <a:pPr marL="514350" indent="-514350" algn="just">
              <a:buFont typeface="+mj-lt"/>
              <a:buAutoNum type="arabicPeriod"/>
            </a:pPr>
            <a:endParaRPr lang="ru-RU" dirty="0"/>
          </a:p>
          <a:p>
            <a:pPr marL="514350" indent="-514350" algn="just">
              <a:buFont typeface="+mj-lt"/>
              <a:buAutoNum type="arabicPeriod"/>
            </a:pPr>
            <a:r>
              <a:rPr lang="ru-RU" dirty="0" smtClean="0"/>
              <a:t>Сеть </a:t>
            </a:r>
            <a:r>
              <a:rPr lang="ru-RU" dirty="0"/>
              <a:t>VLAN </a:t>
            </a:r>
            <a:r>
              <a:rPr lang="ru-RU" b="1" dirty="0"/>
              <a:t>автоматически отсечена </a:t>
            </a:r>
            <a:r>
              <a:rPr lang="ru-RU" dirty="0"/>
              <a:t>протоколом VТР</a:t>
            </a:r>
            <a:r>
              <a:rPr lang="ru-RU" dirty="0" smtClean="0"/>
              <a:t>.</a:t>
            </a:r>
          </a:p>
          <a:p>
            <a:pPr marL="514350" indent="-514350" algn="just">
              <a:buFont typeface="+mj-lt"/>
              <a:buAutoNum type="arabicPeriod"/>
            </a:pPr>
            <a:endParaRPr lang="ru-RU" dirty="0"/>
          </a:p>
          <a:p>
            <a:pPr marL="514350" indent="-514350" algn="just">
              <a:buFont typeface="+mj-lt"/>
              <a:buAutoNum type="arabicPeriod"/>
            </a:pPr>
            <a:r>
              <a:rPr lang="ru-RU" dirty="0" smtClean="0"/>
              <a:t>Экземпляр </a:t>
            </a:r>
            <a:r>
              <a:rPr lang="ru-RU" dirty="0"/>
              <a:t>STP сети VLAN перевел </a:t>
            </a:r>
            <a:r>
              <a:rPr lang="ru-RU" dirty="0" smtClean="0"/>
              <a:t>магистральный </a:t>
            </a:r>
            <a:r>
              <a:rPr lang="ru-RU" dirty="0"/>
              <a:t>интерфейс в </a:t>
            </a:r>
            <a:r>
              <a:rPr lang="ru-RU" b="1" dirty="0" smtClean="0"/>
              <a:t>состояние блокировки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="" xmlns:p14="http://schemas.microsoft.com/office/powerpoint/2010/main" val="14650181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u="sng" dirty="0" smtClean="0"/>
              <a:t>Команда </a:t>
            </a:r>
            <a:r>
              <a:rPr lang="en-US" u="sng" dirty="0"/>
              <a:t>show interfaces trunk 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1986743"/>
            <a:ext cx="10924309" cy="4871257"/>
          </a:xfrm>
        </p:spPr>
        <p:txBody>
          <a:bodyPr>
            <a:normAutofit/>
          </a:bodyPr>
          <a:lstStyle/>
          <a:p>
            <a:pPr algn="just"/>
            <a:r>
              <a:rPr lang="ru-RU" dirty="0" smtClean="0"/>
              <a:t>К</a:t>
            </a:r>
            <a:r>
              <a:rPr lang="pt-BR" dirty="0" smtClean="0"/>
              <a:t>оманда </a:t>
            </a:r>
            <a:r>
              <a:rPr lang="pt-BR" b="1" dirty="0" smtClean="0"/>
              <a:t>show</a:t>
            </a:r>
            <a:r>
              <a:rPr lang="ru-RU" b="1" dirty="0" smtClean="0"/>
              <a:t> </a:t>
            </a:r>
            <a:r>
              <a:rPr lang="pt-BR" b="1" dirty="0" smtClean="0"/>
              <a:t>interfaces</a:t>
            </a:r>
            <a:r>
              <a:rPr lang="ru-RU" b="1" dirty="0" smtClean="0"/>
              <a:t> </a:t>
            </a:r>
            <a:r>
              <a:rPr lang="pt-BR" b="1" dirty="0" smtClean="0"/>
              <a:t>trunk </a:t>
            </a:r>
            <a:r>
              <a:rPr lang="pt-BR" dirty="0" smtClean="0"/>
              <a:t>выводит</a:t>
            </a:r>
            <a:r>
              <a:rPr lang="ru-RU" dirty="0" smtClean="0"/>
              <a:t> список </a:t>
            </a:r>
            <a:r>
              <a:rPr lang="ru-RU" dirty="0"/>
              <a:t>идентификаторов </a:t>
            </a:r>
            <a:r>
              <a:rPr lang="ru-RU" dirty="0" smtClean="0"/>
              <a:t>VLAN.</a:t>
            </a:r>
          </a:p>
          <a:p>
            <a:pPr algn="just"/>
            <a:endParaRPr lang="ru-RU" dirty="0"/>
          </a:p>
          <a:p>
            <a:pPr algn="just"/>
            <a:r>
              <a:rPr lang="ru-RU" dirty="0"/>
              <a:t>Вывод указанной команды содержит </a:t>
            </a:r>
            <a:r>
              <a:rPr lang="ru-RU" dirty="0" smtClean="0"/>
              <a:t>продолжение </a:t>
            </a:r>
            <a:r>
              <a:rPr lang="ru-RU" dirty="0"/>
              <a:t>в виде </a:t>
            </a:r>
            <a:r>
              <a:rPr lang="ru-RU" b="1" dirty="0" smtClean="0"/>
              <a:t>трех списков сетей VLAN</a:t>
            </a:r>
            <a:r>
              <a:rPr lang="ru-RU" dirty="0"/>
              <a:t>, </a:t>
            </a:r>
            <a:r>
              <a:rPr lang="ru-RU" dirty="0" smtClean="0"/>
              <a:t>поддерживаемых </a:t>
            </a:r>
            <a:r>
              <a:rPr lang="ru-RU" dirty="0"/>
              <a:t>магистральным </a:t>
            </a:r>
            <a:r>
              <a:rPr lang="ru-RU" dirty="0" smtClean="0"/>
              <a:t>каналом:</a:t>
            </a:r>
          </a:p>
          <a:p>
            <a:pPr algn="just"/>
            <a:endParaRPr lang="ru-RU" dirty="0" smtClean="0"/>
          </a:p>
          <a:p>
            <a:pPr marL="914400" lvl="1" indent="-457200" algn="just">
              <a:buFont typeface="+mj-lt"/>
              <a:buAutoNum type="arabicPeriod"/>
            </a:pPr>
            <a:r>
              <a:rPr lang="ru-RU" dirty="0" smtClean="0"/>
              <a:t>сети </a:t>
            </a:r>
            <a:r>
              <a:rPr lang="ru-RU" dirty="0"/>
              <a:t>VLAN, </a:t>
            </a:r>
            <a:r>
              <a:rPr lang="ru-RU" dirty="0" smtClean="0"/>
              <a:t>разрешенные </a:t>
            </a:r>
            <a:r>
              <a:rPr lang="ru-RU" dirty="0"/>
              <a:t>на магистральном канале (стандартно 1 </a:t>
            </a:r>
            <a:r>
              <a:rPr lang="ru-RU" dirty="0" smtClean="0"/>
              <a:t>- 4094).</a:t>
            </a:r>
            <a:endParaRPr lang="ru-RU" dirty="0"/>
          </a:p>
          <a:p>
            <a:pPr marL="914400" lvl="1" indent="-457200" algn="just">
              <a:buFont typeface="+mj-lt"/>
              <a:buAutoNum type="arabicPeriod"/>
            </a:pPr>
            <a:r>
              <a:rPr lang="ru-RU" dirty="0" smtClean="0"/>
              <a:t>сети </a:t>
            </a:r>
            <a:r>
              <a:rPr lang="ru-RU" dirty="0"/>
              <a:t>VLAN </a:t>
            </a:r>
            <a:r>
              <a:rPr lang="ru-RU" dirty="0" smtClean="0"/>
              <a:t>настроенные </a:t>
            </a:r>
            <a:r>
              <a:rPr lang="ru-RU" dirty="0"/>
              <a:t>и активные (не отключенные).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ru-RU" dirty="0" smtClean="0"/>
              <a:t>сети </a:t>
            </a:r>
            <a:r>
              <a:rPr lang="ru-RU" dirty="0"/>
              <a:t>VLAN </a:t>
            </a:r>
            <a:r>
              <a:rPr lang="ru-RU" dirty="0" smtClean="0"/>
              <a:t>не </a:t>
            </a:r>
            <a:r>
              <a:rPr lang="ru-RU" dirty="0"/>
              <a:t>отсеченные протоколом VТР и не </a:t>
            </a:r>
            <a:r>
              <a:rPr lang="ru-RU" dirty="0" smtClean="0"/>
              <a:t>блокированные протоколом </a:t>
            </a:r>
            <a:r>
              <a:rPr lang="ru-RU" dirty="0"/>
              <a:t>STP.</a:t>
            </a:r>
          </a:p>
        </p:txBody>
      </p:sp>
    </p:spTree>
    <p:extLst>
      <p:ext uri="{BB962C8B-B14F-4D97-AF65-F5344CB8AC3E}">
        <p14:creationId xmlns="" xmlns:p14="http://schemas.microsoft.com/office/powerpoint/2010/main" val="29882662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Отключение </a:t>
            </a:r>
            <a:r>
              <a:rPr lang="en-US" u="sng" dirty="0" smtClean="0"/>
              <a:t>VLAN</a:t>
            </a:r>
            <a:r>
              <a:rPr lang="ru-RU" u="sng" dirty="0" smtClean="0"/>
              <a:t>: пример 4</a:t>
            </a:r>
            <a:endParaRPr lang="ru-RU" u="sng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935" y="1489796"/>
            <a:ext cx="10699865" cy="499413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2167864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Отключение </a:t>
            </a:r>
            <a:r>
              <a:rPr lang="en-US" u="sng" dirty="0" smtClean="0"/>
              <a:t>VLAN</a:t>
            </a:r>
            <a:r>
              <a:rPr lang="ru-RU" u="sng" dirty="0" smtClean="0"/>
              <a:t>: пример 4</a:t>
            </a:r>
            <a:endParaRPr lang="ru-RU" u="sng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031" y="1681074"/>
            <a:ext cx="11073938" cy="486104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1053" y="1302528"/>
            <a:ext cx="6024467" cy="723209"/>
          </a:xfrm>
          <a:prstGeom prst="rect">
            <a:avLst/>
          </a:prstGeom>
        </p:spPr>
      </p:pic>
      <p:cxnSp>
        <p:nvCxnSpPr>
          <p:cNvPr id="6" name="Прямая соединительная линия 5"/>
          <p:cNvCxnSpPr/>
          <p:nvPr/>
        </p:nvCxnSpPr>
        <p:spPr>
          <a:xfrm flipV="1">
            <a:off x="236480" y="3374967"/>
            <a:ext cx="4967287" cy="32617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 flipV="1">
            <a:off x="618866" y="4613563"/>
            <a:ext cx="4967287" cy="32617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 flipV="1">
            <a:off x="618865" y="5868467"/>
            <a:ext cx="10304059" cy="16310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5070514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u="sng" dirty="0" smtClean="0"/>
              <a:t>Отключение </a:t>
            </a:r>
            <a:r>
              <a:rPr lang="en-US" u="sng" dirty="0" smtClean="0"/>
              <a:t>VLAN</a:t>
            </a:r>
            <a:r>
              <a:rPr lang="ru-RU" u="sng" dirty="0" smtClean="0"/>
              <a:t>: пример 4</a:t>
            </a:r>
            <a:endParaRPr lang="ru-RU" u="sng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227" y="1325563"/>
            <a:ext cx="10425545" cy="5457622"/>
          </a:xfrm>
          <a:prstGeom prst="rect">
            <a:avLst/>
          </a:prstGeom>
        </p:spPr>
      </p:pic>
      <p:cxnSp>
        <p:nvCxnSpPr>
          <p:cNvPr id="10" name="Прямая соединительная линия 9"/>
          <p:cNvCxnSpPr/>
          <p:nvPr/>
        </p:nvCxnSpPr>
        <p:spPr>
          <a:xfrm flipV="1">
            <a:off x="701993" y="4754880"/>
            <a:ext cx="4967287" cy="32617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 flipV="1">
            <a:off x="701993" y="6113060"/>
            <a:ext cx="4967287" cy="32617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1979731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1574" y="232756"/>
            <a:ext cx="10515600" cy="1325563"/>
          </a:xfrm>
        </p:spPr>
        <p:txBody>
          <a:bodyPr/>
          <a:lstStyle/>
          <a:p>
            <a:r>
              <a:rPr lang="ru-RU" u="sng" dirty="0" smtClean="0"/>
              <a:t>Ключевые темы</a:t>
            </a:r>
            <a:endParaRPr lang="ru-RU" u="sng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435" y="1558319"/>
            <a:ext cx="7071878" cy="529968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07425246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1724</TotalTime>
  <Words>1557</Words>
  <Application>Microsoft Office PowerPoint</Application>
  <PresentationFormat>Custom</PresentationFormat>
  <Paragraphs>157</Paragraphs>
  <Slides>46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Тема Office</vt:lpstr>
      <vt:lpstr>Реализация виртуальных локальных сетей</vt:lpstr>
      <vt:lpstr>В рамках этой темы…</vt:lpstr>
      <vt:lpstr>Концепция VLAN</vt:lpstr>
      <vt:lpstr>Концепция VLAN</vt:lpstr>
      <vt:lpstr>Причины применения VLAN</vt:lpstr>
      <vt:lpstr>Магистральное соединение VLAN</vt:lpstr>
      <vt:lpstr>VLAN без магистрального соединения</vt:lpstr>
      <vt:lpstr>Концепция тегов</vt:lpstr>
      <vt:lpstr>Пересылка фреймов</vt:lpstr>
      <vt:lpstr>Протокол магистралей VLAN 802.1Q</vt:lpstr>
      <vt:lpstr>Протокол магистралей VLAN 802.1Q</vt:lpstr>
      <vt:lpstr>Собственная сеть VLAN</vt:lpstr>
      <vt:lpstr>Коммутаторы уровней</vt:lpstr>
      <vt:lpstr>Маршрутизация между VLAN</vt:lpstr>
      <vt:lpstr>Маршрутизация между VLAN</vt:lpstr>
      <vt:lpstr>Маршрутизация между VLAN</vt:lpstr>
      <vt:lpstr>Маршрутизация между VLAN (коммутаторы уровня 3)</vt:lpstr>
      <vt:lpstr>Настройка VLAN</vt:lpstr>
      <vt:lpstr>Настройка VLAN</vt:lpstr>
      <vt:lpstr>Настройка VLAN</vt:lpstr>
      <vt:lpstr>Полная настройка VLAN: пример 1</vt:lpstr>
      <vt:lpstr>Полная настройка VLAN: пример 1</vt:lpstr>
      <vt:lpstr>Полная настройка VLAN: пример 1</vt:lpstr>
      <vt:lpstr>Полная настройка VLAN: пример 1</vt:lpstr>
      <vt:lpstr>Полная настройка VLAN: пример 1</vt:lpstr>
      <vt:lpstr>Полная настройка VLAN: пример 1</vt:lpstr>
      <vt:lpstr>Сокращенная настройка VLAN: пример 2</vt:lpstr>
      <vt:lpstr>Сокращенная настройка VLAN: пример 2</vt:lpstr>
      <vt:lpstr>Протокол создания магистралей VLAN (VТР)</vt:lpstr>
      <vt:lpstr>Протокол создания магистралей VLAN (VТР)</vt:lpstr>
      <vt:lpstr>Настройка магистрального соединения</vt:lpstr>
      <vt:lpstr>Протокол DTP</vt:lpstr>
      <vt:lpstr>Магистральные соединения: пример 3</vt:lpstr>
      <vt:lpstr>Магистральные соединения: пример 3</vt:lpstr>
      <vt:lpstr>Магистральные соединения: пример 3</vt:lpstr>
      <vt:lpstr>Магистральные соединения: пример 3</vt:lpstr>
      <vt:lpstr>Магистральные соединения: пример 3</vt:lpstr>
      <vt:lpstr>Магистральные соединения: пример 3</vt:lpstr>
      <vt:lpstr>Результаты переговоров DTP</vt:lpstr>
      <vt:lpstr>Контроль сетей VLAN</vt:lpstr>
      <vt:lpstr>Причины невозможности передачи трафика по VLAN</vt:lpstr>
      <vt:lpstr>Команда show interfaces trunk </vt:lpstr>
      <vt:lpstr>Отключение VLAN: пример 4</vt:lpstr>
      <vt:lpstr>Отключение VLAN: пример 4</vt:lpstr>
      <vt:lpstr>Отключение VLAN: пример 4</vt:lpstr>
      <vt:lpstr>Ключевые темы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Физический уровень</dc:title>
  <dc:creator>Samm</dc:creator>
  <cp:lastModifiedBy>Windows User</cp:lastModifiedBy>
  <cp:revision>245</cp:revision>
  <dcterms:created xsi:type="dcterms:W3CDTF">2016-02-17T09:36:11Z</dcterms:created>
  <dcterms:modified xsi:type="dcterms:W3CDTF">2018-01-01T14:09:01Z</dcterms:modified>
</cp:coreProperties>
</file>