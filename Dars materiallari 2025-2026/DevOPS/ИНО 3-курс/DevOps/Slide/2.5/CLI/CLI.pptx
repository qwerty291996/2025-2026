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2" r:id="rId25"/>
    <p:sldId id="283" r:id="rId26"/>
    <p:sldId id="284" r:id="rId27"/>
    <p:sldId id="285" r:id="rId28"/>
    <p:sldId id="286" r:id="rId29"/>
    <p:sldId id="287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21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181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82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7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24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11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60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09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809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80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41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0F929-7576-4364-A9BD-092F6C34C330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79521-B01C-4BE2-9EE4-B914055FA4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89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Тема 2: </a:t>
            </a:r>
            <a:r>
              <a:rPr lang="ru-RU" dirty="0"/>
              <a:t>Компьютерные сети и технологии.</a:t>
            </a:r>
            <a:br>
              <a:rPr lang="ru-RU" dirty="0"/>
            </a:br>
            <a:r>
              <a:rPr lang="ru-RU" b="1" dirty="0"/>
              <a:t>Занятие-5. </a:t>
            </a:r>
            <a:r>
              <a:rPr lang="ru-RU" dirty="0"/>
              <a:t>(Группа) Начальные настройки в </a:t>
            </a:r>
            <a:r>
              <a:rPr lang="ru-RU" dirty="0" err="1"/>
              <a:t>Cisco</a:t>
            </a:r>
            <a:r>
              <a:rPr lang="ru-RU" dirty="0"/>
              <a:t> CLI (</a:t>
            </a:r>
            <a:r>
              <a:rPr lang="ru-RU" dirty="0" err="1"/>
              <a:t>Command</a:t>
            </a:r>
            <a:r>
              <a:rPr lang="ru-RU" dirty="0"/>
              <a:t> </a:t>
            </a:r>
            <a:r>
              <a:rPr lang="ru-RU" dirty="0" err="1"/>
              <a:t>Line</a:t>
            </a:r>
            <a:r>
              <a:rPr lang="ru-RU" dirty="0"/>
              <a:t> </a:t>
            </a:r>
            <a:r>
              <a:rPr lang="ru-RU" dirty="0" err="1"/>
              <a:t>Interface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5786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03C7C4-2D57-4874-A558-B342788F3576}"/>
              </a:ext>
            </a:extLst>
          </p:cNvPr>
          <p:cNvSpPr/>
          <p:nvPr/>
        </p:nvSpPr>
        <p:spPr>
          <a:xfrm>
            <a:off x="1439652" y="2132856"/>
            <a:ext cx="6264696" cy="2701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Учебные вопросы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uz-Cyrl-UZ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mode.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uz-Cyrl-UZ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Privileged mode.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uz-Cyrl-UZ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Global configuration mode.</a:t>
            </a:r>
            <a:endParaRPr lang="ru-RU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Font typeface="+mj-lt"/>
              <a:buAutoNum type="arabicPeriod"/>
            </a:pPr>
            <a:r>
              <a:rPr lang="uz-Cyrl-UZ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 configuration mode</a:t>
            </a: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93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0"/>
            <a:ext cx="871296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/>
              <a:t>Консоль</a:t>
            </a:r>
          </a:p>
          <a:p>
            <a:r>
              <a:rPr lang="ru-RU" sz="4000" dirty="0"/>
              <a:t>Большинство сетевых устройств компании CISCO допускают </a:t>
            </a:r>
            <a:r>
              <a:rPr lang="ru-RU" sz="4000" i="1" dirty="0"/>
              <a:t>конфигурирование</a:t>
            </a:r>
            <a:r>
              <a:rPr lang="ru-RU" sz="4000" dirty="0"/>
              <a:t>. Для этого </a:t>
            </a:r>
            <a:r>
              <a:rPr lang="ru-RU" sz="4000" i="1" dirty="0"/>
              <a:t>администратор</a:t>
            </a:r>
            <a:r>
              <a:rPr lang="ru-RU" sz="4000" dirty="0"/>
              <a:t> сети должен подключиться к устройству через прямое кабельное (консольное) подключение</a:t>
            </a:r>
            <a:r>
              <a:rPr lang="en-US" sz="4000" dirty="0"/>
              <a:t>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5105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Консольное подключение к сетевому устройству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Консольное подключение к сетевому устройству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6" descr="Консольное подключение к сетевому устройству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093" y="1115627"/>
            <a:ext cx="5513814" cy="37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07975" y="5568021"/>
            <a:ext cx="86565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/>
              <a:t>К</a:t>
            </a:r>
            <a:r>
              <a:rPr lang="ru-RU" sz="4000" dirty="0"/>
              <a:t>онсольное подключение к сетевому устройству</a:t>
            </a:r>
          </a:p>
        </p:txBody>
      </p:sp>
    </p:spTree>
    <p:extLst>
      <p:ext uri="{BB962C8B-B14F-4D97-AF65-F5344CB8AC3E}">
        <p14:creationId xmlns:p14="http://schemas.microsoft.com/office/powerpoint/2010/main" val="114634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Синим цветом показаны разъёмы под управляющий (консольный) кабель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359" y="980728"/>
            <a:ext cx="6093282" cy="3273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55574" y="4149080"/>
            <a:ext cx="89884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ru-RU" sz="4000" dirty="0"/>
            </a:br>
            <a:r>
              <a:rPr lang="ru-RU" sz="4000" dirty="0"/>
              <a:t>Синим цветом показаны разъёмы под управляющий (консольный) кабель</a:t>
            </a:r>
          </a:p>
        </p:txBody>
      </p:sp>
    </p:spTree>
    <p:extLst>
      <p:ext uri="{BB962C8B-B14F-4D97-AF65-F5344CB8AC3E}">
        <p14:creationId xmlns:p14="http://schemas.microsoft.com/office/powerpoint/2010/main" val="236943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96" y="1124744"/>
            <a:ext cx="7272808" cy="28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07504" y="5661248"/>
            <a:ext cx="88391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Варианты консольных кабелей</a:t>
            </a:r>
          </a:p>
        </p:txBody>
      </p:sp>
    </p:spTree>
    <p:extLst>
      <p:ext uri="{BB962C8B-B14F-4D97-AF65-F5344CB8AC3E}">
        <p14:creationId xmlns:p14="http://schemas.microsoft.com/office/powerpoint/2010/main" val="322440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16632"/>
            <a:ext cx="8856984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/>
              <a:t>Примечание </a:t>
            </a:r>
            <a:r>
              <a:rPr lang="ru-RU" sz="4000" dirty="0"/>
              <a:t>Классический консольный кабель имеет разъем DB9 для подключения к COM-порту компьютера и разъем RG-45 для подключения к консольному порту маршрутизатора. Сейчас </a:t>
            </a:r>
            <a:r>
              <a:rPr lang="ru-RU" sz="4000" dirty="0" err="1"/>
              <a:t>Cisco</a:t>
            </a:r>
            <a:r>
              <a:rPr lang="ru-RU" sz="4000" dirty="0"/>
              <a:t> активно продвигает новые маршрутизаторы серий 28хх, 38хх и т.д. В них предусмотрена возможность конфигурирования через USB-интерфейс (используются обычные USB-кабели).</a:t>
            </a:r>
          </a:p>
        </p:txBody>
      </p:sp>
    </p:spTree>
    <p:extLst>
      <p:ext uri="{BB962C8B-B14F-4D97-AF65-F5344CB8AC3E}">
        <p14:creationId xmlns:p14="http://schemas.microsoft.com/office/powerpoint/2010/main" val="338098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1348" y="260647"/>
            <a:ext cx="90364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Подключив </a:t>
            </a:r>
            <a:r>
              <a:rPr lang="ru-RU" sz="4000" i="1" dirty="0"/>
              <a:t>консоль</a:t>
            </a:r>
            <a:r>
              <a:rPr lang="ru-RU" sz="4000" dirty="0"/>
              <a:t> и получив </a:t>
            </a:r>
            <a:r>
              <a:rPr lang="ru-RU" sz="4000" i="1" dirty="0"/>
              <a:t>доступ</a:t>
            </a:r>
            <a:r>
              <a:rPr lang="ru-RU" sz="4000" dirty="0"/>
              <a:t> к устройству через командную строку, </a:t>
            </a:r>
            <a:r>
              <a:rPr lang="ru-RU" sz="4000" i="1" dirty="0"/>
              <a:t>пользователь</a:t>
            </a:r>
            <a:r>
              <a:rPr lang="ru-RU" sz="4000" dirty="0"/>
              <a:t> (</a:t>
            </a:r>
            <a:r>
              <a:rPr lang="ru-RU" sz="4000" i="1" dirty="0"/>
              <a:t>администратор</a:t>
            </a:r>
            <a:r>
              <a:rPr lang="ru-RU" sz="4000" dirty="0"/>
              <a:t> сети или сетевой инженер) может задавать различные команды и, тем самым, определять параметры конфигурации оборудования.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3650543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88640"/>
            <a:ext cx="878497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Режимы работы с устройством при использовании CLI</a:t>
            </a:r>
          </a:p>
          <a:p>
            <a:r>
              <a:rPr lang="ru-RU" sz="4000" dirty="0"/>
              <a:t>Командная строка представляет собой место, куда пользователь вводит символы, формирующие управляющее воздействие. Работа с командной строкой осуществляется в нескольких режимах</a:t>
            </a:r>
            <a:r>
              <a:rPr lang="en-US" sz="4000" dirty="0"/>
              <a:t>.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52934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307120"/>
              </p:ext>
            </p:extLst>
          </p:nvPr>
        </p:nvGraphicFramePr>
        <p:xfrm>
          <a:off x="395535" y="332656"/>
          <a:ext cx="7809240" cy="4175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9418"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Режим</a:t>
                      </a: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Переход в режим</a:t>
                      </a: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>
                          <a:effectLst/>
                        </a:rPr>
                        <a:t>Вид командной строки</a:t>
                      </a:r>
                    </a:p>
                  </a:txBody>
                  <a:tcPr marL="15240" marR="15240" marT="15240" marB="1524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</a:rPr>
                        <a:t>Выход из режима</a:t>
                      </a:r>
                    </a:p>
                  </a:txBody>
                  <a:tcPr marL="15240" marR="15240" marT="15240" marB="1524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580">
                <a:tc>
                  <a:txBody>
                    <a:bodyPr/>
                    <a:lstStyle/>
                    <a:p>
                      <a:r>
                        <a:rPr lang="ru-RU" sz="2400">
                          <a:effectLst/>
                        </a:rPr>
                        <a:t>Пользовательский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ru-RU" sz="2400">
                          <a:effectLst/>
                        </a:rPr>
                        <a:t>Подключение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Router&gt;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logout</a:t>
                      </a:r>
                    </a:p>
                  </a:txBody>
                  <a:tcPr marL="15240" marR="15240" marT="15240" marB="152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580">
                <a:tc>
                  <a:txBody>
                    <a:bodyPr/>
                    <a:lstStyle/>
                    <a:p>
                      <a:r>
                        <a:rPr lang="ru-RU" sz="2400">
                          <a:effectLst/>
                        </a:rPr>
                        <a:t>Привилегированный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Enable.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Router#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disable</a:t>
                      </a:r>
                    </a:p>
                  </a:txBody>
                  <a:tcPr marL="15240" marR="15240" marT="15240" marB="152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580">
                <a:tc>
                  <a:txBody>
                    <a:bodyPr/>
                    <a:lstStyle/>
                    <a:p>
                      <a:r>
                        <a:rPr lang="ru-RU" sz="2400">
                          <a:effectLst/>
                        </a:rPr>
                        <a:t>Глобальная конфигурация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Configure terminal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Router(config)#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exit,end </a:t>
                      </a:r>
                      <a:r>
                        <a:rPr lang="ru-RU" sz="2400">
                          <a:effectLst/>
                        </a:rPr>
                        <a:t>или </a:t>
                      </a:r>
                      <a:r>
                        <a:rPr lang="en-US" sz="2400">
                          <a:effectLst/>
                        </a:rPr>
                        <a:t>Ctrl-Z</a:t>
                      </a:r>
                    </a:p>
                  </a:txBody>
                  <a:tcPr marL="15240" marR="15240" marT="15240" marB="1524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580">
                <a:tc>
                  <a:txBody>
                    <a:bodyPr/>
                    <a:lstStyle/>
                    <a:p>
                      <a:r>
                        <a:rPr lang="ru-RU" sz="2400">
                          <a:effectLst/>
                        </a:rPr>
                        <a:t>Настройка интерфейсов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Interface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Router(config-if)</a:t>
                      </a:r>
                    </a:p>
                  </a:txBody>
                  <a:tcPr marL="15240" marR="15240" marT="15240" marB="15240"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</a:rPr>
                        <a:t>е</a:t>
                      </a:r>
                      <a:r>
                        <a:rPr lang="en-US" sz="2400" dirty="0" err="1">
                          <a:effectLst/>
                        </a:rPr>
                        <a:t>xit</a:t>
                      </a:r>
                      <a:endParaRPr lang="en-US" sz="2400" dirty="0">
                        <a:effectLst/>
                      </a:endParaRPr>
                    </a:p>
                  </a:txBody>
                  <a:tcPr marL="15240" marR="15240" marT="15240" marB="1524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539552" y="5517232"/>
            <a:ext cx="79208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 Режимы командного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15646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78497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err="1"/>
              <a:t>Router</a:t>
            </a:r>
            <a:r>
              <a:rPr lang="ru-RU" sz="3600" b="1" dirty="0"/>
              <a:t>&gt;</a:t>
            </a:r>
            <a:r>
              <a:rPr lang="ru-RU" sz="3600" dirty="0"/>
              <a:t> Приглашение, которое характеризует пользовательский режим, в котором можно просматривать некоторую статистику и проводить самые простые операции вроде </a:t>
            </a:r>
            <a:r>
              <a:rPr lang="ru-RU" sz="3600" dirty="0" err="1"/>
              <a:t>пинга</a:t>
            </a:r>
            <a:r>
              <a:rPr lang="ru-RU" sz="3600" dirty="0"/>
              <a:t>. Это режим для сетевого оператора, инженера первой линии техподдержки, чтобы он ничего не повредил и лишнего не узнал. Иными словами, команды в этом режиме позволяют выводить на экран информацию без смены установок сетевого устройства.</a:t>
            </a:r>
          </a:p>
        </p:txBody>
      </p:sp>
    </p:spTree>
    <p:extLst>
      <p:ext uri="{BB962C8B-B14F-4D97-AF65-F5344CB8AC3E}">
        <p14:creationId xmlns:p14="http://schemas.microsoft.com/office/powerpoint/2010/main" val="1266277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78497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/>
              <a:t>Router</a:t>
            </a:r>
            <a:r>
              <a:rPr lang="ru-RU" sz="4000" b="1" dirty="0"/>
              <a:t>#</a:t>
            </a:r>
            <a:r>
              <a:rPr lang="ru-RU" sz="4000" dirty="0"/>
              <a:t> Приглашение в привилегированном режиме. Привилегированный режим поддерживает команды настройки и тестирования, детальную проверку сетевого устройства, манипуляцию с конфигурационными файлами и доступ в режим конфигурирования. Попасть в него можно, введя команду </a:t>
            </a:r>
            <a:r>
              <a:rPr lang="ru-RU" sz="4000" dirty="0" err="1"/>
              <a:t>enable</a:t>
            </a:r>
            <a:r>
              <a:rPr lang="ru-RU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1280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6632"/>
            <a:ext cx="878497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 err="1"/>
              <a:t>Router</a:t>
            </a:r>
            <a:r>
              <a:rPr lang="ru-RU" sz="4000" b="1" dirty="0"/>
              <a:t>(</a:t>
            </a:r>
            <a:r>
              <a:rPr lang="ru-RU" sz="4000" b="1" dirty="0" err="1"/>
              <a:t>config</a:t>
            </a:r>
            <a:r>
              <a:rPr lang="ru-RU" sz="4000" b="1" dirty="0"/>
              <a:t>)# </a:t>
            </a:r>
            <a:r>
              <a:rPr lang="ru-RU" sz="4000" dirty="0"/>
              <a:t>Приглашение в режиме глобальной конфигурации. Он позволяет нам вносить изменения в настройки устройства. Команды режима глобального конфигурирования определяют поведение системы в целом. Активируется командой #</a:t>
            </a:r>
            <a:r>
              <a:rPr lang="ru-RU" sz="4000" dirty="0" err="1"/>
              <a:t>configure</a:t>
            </a:r>
            <a:r>
              <a:rPr lang="ru-RU" sz="4000" dirty="0"/>
              <a:t> </a:t>
            </a:r>
            <a:r>
              <a:rPr lang="ru-RU" sz="4000" dirty="0" err="1"/>
              <a:t>terminal</a:t>
            </a:r>
            <a:r>
              <a:rPr lang="ru-RU" sz="4000" dirty="0"/>
              <a:t> из привилегированного режима.</a:t>
            </a:r>
          </a:p>
        </p:txBody>
      </p:sp>
    </p:spTree>
    <p:extLst>
      <p:ext uri="{BB962C8B-B14F-4D97-AF65-F5344CB8AC3E}">
        <p14:creationId xmlns:p14="http://schemas.microsoft.com/office/powerpoint/2010/main" val="405734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85698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В </a:t>
            </a:r>
            <a:r>
              <a:rPr lang="ru-RU" sz="3600" dirty="0" err="1"/>
              <a:t>Cisco</a:t>
            </a:r>
            <a:r>
              <a:rPr lang="ru-RU" sz="3600" dirty="0"/>
              <a:t> </a:t>
            </a:r>
            <a:r>
              <a:rPr lang="ru-RU" sz="3600" i="1" dirty="0" err="1"/>
              <a:t>Packet</a:t>
            </a:r>
            <a:r>
              <a:rPr lang="ru-RU" sz="3600" dirty="0"/>
              <a:t> </a:t>
            </a:r>
            <a:r>
              <a:rPr lang="ru-RU" sz="3600" i="1" dirty="0" err="1"/>
              <a:t>Tracer</a:t>
            </a:r>
            <a:r>
              <a:rPr lang="ru-RU" sz="3600" dirty="0"/>
              <a:t> </a:t>
            </a:r>
            <a:r>
              <a:rPr lang="ru-RU" sz="3600" i="1" dirty="0"/>
              <a:t>интерфейс</a:t>
            </a:r>
            <a:r>
              <a:rPr lang="ru-RU" sz="3600" dirty="0"/>
              <a:t> командной строки для устройств доступен в окне настроек параметров сетевого устройства на вкладке "</a:t>
            </a:r>
            <a:r>
              <a:rPr lang="ru-RU" sz="3600" i="1" dirty="0"/>
              <a:t>CLI</a:t>
            </a:r>
            <a:r>
              <a:rPr lang="ru-RU" sz="3600" dirty="0"/>
              <a:t>". Это окно имитирует прямое кабельное (консольное) подключение к сетевому устройству. Работа с командной строкой (</a:t>
            </a:r>
            <a:r>
              <a:rPr lang="ru-RU" sz="3600" i="1" dirty="0"/>
              <a:t>CLI</a:t>
            </a:r>
            <a:r>
              <a:rPr lang="ru-RU" sz="3600" dirty="0"/>
              <a:t>) для настройки (программирования) сетевого производится с помощью команд операционной системы </a:t>
            </a:r>
            <a:r>
              <a:rPr lang="ru-RU" sz="3600" dirty="0" err="1"/>
              <a:t>Cisco</a:t>
            </a:r>
            <a:r>
              <a:rPr lang="ru-RU" sz="3600" dirty="0"/>
              <a:t> </a:t>
            </a:r>
            <a:r>
              <a:rPr lang="ru-RU" sz="3600" i="1" dirty="0"/>
              <a:t>IOS</a:t>
            </a:r>
            <a:r>
              <a:rPr lang="ru-RU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310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Сеть для выполнения команд ОС CiscoIO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256" y="1355665"/>
            <a:ext cx="6053487" cy="2678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5229200"/>
            <a:ext cx="86705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Сеть для выполнения команд ОС </a:t>
            </a:r>
            <a:r>
              <a:rPr lang="ru-RU" sz="4000" dirty="0" err="1"/>
              <a:t>Cisco</a:t>
            </a:r>
            <a:r>
              <a:rPr lang="ru-RU" sz="4000" dirty="0"/>
              <a:t> IOS</a:t>
            </a:r>
          </a:p>
        </p:txBody>
      </p:sp>
    </p:spTree>
    <p:extLst>
      <p:ext uri="{BB962C8B-B14F-4D97-AF65-F5344CB8AC3E}">
        <p14:creationId xmlns:p14="http://schemas.microsoft.com/office/powerpoint/2010/main" val="3356996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96752"/>
            <a:ext cx="87849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Выше мы говорили о режимах командного интерфейса – пользовательском, привилегированном и глобального </a:t>
            </a:r>
            <a:r>
              <a:rPr lang="ru-RU" sz="3600" i="1" dirty="0"/>
              <a:t>конфигурация</a:t>
            </a:r>
            <a:r>
              <a:rPr lang="ru-RU" sz="3600" dirty="0"/>
              <a:t>. </a:t>
            </a:r>
          </a:p>
          <a:p>
            <a:r>
              <a:rPr lang="ru-RU" sz="3600" dirty="0"/>
              <a:t>Проделайте все команды входа и выхода в эти режимы для Router1. </a:t>
            </a:r>
          </a:p>
        </p:txBody>
      </p:sp>
    </p:spTree>
    <p:extLst>
      <p:ext uri="{BB962C8B-B14F-4D97-AF65-F5344CB8AC3E}">
        <p14:creationId xmlns:p14="http://schemas.microsoft.com/office/powerpoint/2010/main" val="14084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Вид командной строки в пользовательском режиме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769" y="1169457"/>
            <a:ext cx="6828461" cy="2405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60375" y="4365104"/>
            <a:ext cx="84573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Вид командной строки в пользовательском режиме</a:t>
            </a:r>
          </a:p>
        </p:txBody>
      </p:sp>
    </p:spTree>
    <p:extLst>
      <p:ext uri="{BB962C8B-B14F-4D97-AF65-F5344CB8AC3E}">
        <p14:creationId xmlns:p14="http://schemas.microsoft.com/office/powerpoint/2010/main" val="2682549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6633"/>
            <a:ext cx="878497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Чтобы получить </a:t>
            </a:r>
            <a:r>
              <a:rPr lang="ru-RU" sz="4000" i="1" dirty="0"/>
              <a:t>доступ</a:t>
            </a:r>
            <a:r>
              <a:rPr lang="ru-RU" sz="4000" dirty="0"/>
              <a:t> к полному набору команд, необходимо сначала активизировать привилегированный режим командой </a:t>
            </a:r>
            <a:r>
              <a:rPr lang="ru-RU" sz="4000" b="1" dirty="0" err="1"/>
              <a:t>enable</a:t>
            </a:r>
            <a:r>
              <a:rPr lang="ru-RU" sz="4000" dirty="0"/>
              <a:t>. О переходе в привилегированный режим будет свидетельствовать появление в командной строке приглашения в виде знака #. </a:t>
            </a:r>
            <a:r>
              <a:rPr lang="ru-RU" sz="4000" i="1" dirty="0"/>
              <a:t>Выход</a:t>
            </a:r>
            <a:r>
              <a:rPr lang="ru-RU" sz="4000" dirty="0"/>
              <a:t> из привилегированного режима производится командой </a:t>
            </a:r>
            <a:r>
              <a:rPr lang="ru-RU" sz="4000" b="1" dirty="0" err="1"/>
              <a:t>disable</a:t>
            </a:r>
            <a:r>
              <a:rPr lang="ru-RU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2852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88640"/>
            <a:ext cx="878497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/>
              <a:t>Примечание </a:t>
            </a:r>
            <a:r>
              <a:rPr lang="ru-RU" sz="3600" dirty="0"/>
              <a:t>Вместо </a:t>
            </a:r>
            <a:r>
              <a:rPr lang="ru-RU" sz="3600" b="1" dirty="0" err="1"/>
              <a:t>enable</a:t>
            </a:r>
            <a:r>
              <a:rPr lang="ru-RU" sz="3600" dirty="0"/>
              <a:t> можно было набрать </a:t>
            </a:r>
            <a:r>
              <a:rPr lang="ru-RU" sz="3600" b="1" dirty="0" err="1"/>
              <a:t>en</a:t>
            </a:r>
            <a:r>
              <a:rPr lang="ru-RU" sz="3600" dirty="0"/>
              <a:t>. Команды в любом режиме IOS распознаёт по первым уникальным символам.</a:t>
            </a:r>
          </a:p>
          <a:p>
            <a:r>
              <a:rPr lang="ru-RU" sz="3600" dirty="0"/>
              <a:t>Режим глобального конфигурирования — реализует мощные однострочные команды, которые решают задачи конфигурирования. Для входа в режим глобального конфигурирования используется </a:t>
            </a:r>
            <a:r>
              <a:rPr lang="ru-RU" sz="3600" i="1" dirty="0"/>
              <a:t>команда</a:t>
            </a:r>
            <a:r>
              <a:rPr lang="ru-RU" sz="3600" dirty="0"/>
              <a:t> привилегированного режима </a:t>
            </a:r>
            <a:r>
              <a:rPr lang="ru-RU" sz="3600" b="1" dirty="0" err="1"/>
              <a:t>configure</a:t>
            </a:r>
            <a:r>
              <a:rPr lang="ru-RU" sz="3600" b="1" dirty="0"/>
              <a:t> </a:t>
            </a:r>
            <a:r>
              <a:rPr lang="ru-RU" sz="3600" b="1" dirty="0" err="1"/>
              <a:t>terminal</a:t>
            </a:r>
            <a:r>
              <a:rPr lang="ru-RU" sz="3600" dirty="0"/>
              <a:t>. </a:t>
            </a:r>
            <a:r>
              <a:rPr lang="ru-RU" sz="3600" i="1" dirty="0"/>
              <a:t>Выход </a:t>
            </a:r>
            <a:r>
              <a:rPr lang="ru-RU" sz="3600" dirty="0"/>
              <a:t>командой </a:t>
            </a:r>
            <a:r>
              <a:rPr lang="ru-RU" sz="3600" b="1" dirty="0" err="1"/>
              <a:t>exit</a:t>
            </a:r>
            <a:r>
              <a:rPr lang="ru-RU" sz="3600" dirty="0"/>
              <a:t> или </a:t>
            </a:r>
            <a:r>
              <a:rPr lang="ru-RU" sz="3600" b="1" dirty="0" err="1"/>
              <a:t>end</a:t>
            </a:r>
            <a:r>
              <a:rPr lang="ru-RU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8477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16632"/>
            <a:ext cx="88569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/>
              <a:t>Установка пароля на вход в привилегированный режим</a:t>
            </a:r>
          </a:p>
          <a:p>
            <a:r>
              <a:rPr lang="ru-RU" sz="3600" i="1" dirty="0"/>
              <a:t>Пароль</a:t>
            </a:r>
            <a:r>
              <a:rPr lang="ru-RU" sz="3600" dirty="0"/>
              <a:t> доступа позволяет вам контролировать </a:t>
            </a:r>
            <a:r>
              <a:rPr lang="ru-RU" sz="3600" i="1" dirty="0"/>
              <a:t>доступ</a:t>
            </a:r>
            <a:r>
              <a:rPr lang="ru-RU" sz="3600" dirty="0"/>
              <a:t> в привилегированный режим от неопытных пользователей и злоумышленников. Напомним, что только в привилегированном режиме можно вносить конфигурационные изменения. </a:t>
            </a:r>
          </a:p>
        </p:txBody>
      </p:sp>
    </p:spTree>
    <p:extLst>
      <p:ext uri="{BB962C8B-B14F-4D97-AF65-F5344CB8AC3E}">
        <p14:creationId xmlns:p14="http://schemas.microsoft.com/office/powerpoint/2010/main" val="2730696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260648"/>
            <a:ext cx="87849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На Router1 установите </a:t>
            </a:r>
            <a:r>
              <a:rPr lang="ru-RU" sz="4000" i="1" dirty="0"/>
              <a:t>пароль</a:t>
            </a:r>
            <a:r>
              <a:rPr lang="ru-RU" sz="4000" dirty="0"/>
              <a:t> доступа в этот режим как "</a:t>
            </a:r>
            <a:r>
              <a:rPr lang="ru-RU" sz="4000" dirty="0" err="1"/>
              <a:t>parol</a:t>
            </a:r>
            <a:r>
              <a:rPr lang="ru-RU" sz="4000" dirty="0"/>
              <a:t>" командой Router1(</a:t>
            </a:r>
            <a:r>
              <a:rPr lang="ru-RU" sz="4000" dirty="0" err="1"/>
              <a:t>config</a:t>
            </a:r>
            <a:r>
              <a:rPr lang="ru-RU" sz="4000" dirty="0"/>
              <a:t>)#</a:t>
            </a:r>
            <a:r>
              <a:rPr lang="ru-RU" sz="4000" dirty="0" err="1"/>
              <a:t>enable</a:t>
            </a:r>
            <a:r>
              <a:rPr lang="ru-RU" sz="4000" dirty="0"/>
              <a:t>  </a:t>
            </a:r>
            <a:r>
              <a:rPr lang="ru-RU" sz="4000" dirty="0" err="1"/>
              <a:t>password</a:t>
            </a:r>
            <a:r>
              <a:rPr lang="ru-RU" sz="4000" dirty="0"/>
              <a:t> </a:t>
            </a:r>
            <a:r>
              <a:rPr lang="ru-RU" sz="4000" dirty="0" err="1"/>
              <a:t>parol</a:t>
            </a:r>
            <a:r>
              <a:rPr lang="ru-RU" sz="4000" dirty="0"/>
              <a:t>, затем выйдите из привилегированного режима сетевого устройства, то есть перейдите в пользовательский режим. Попытайтесь снова зайти в привилегированный режим. </a:t>
            </a:r>
          </a:p>
        </p:txBody>
      </p:sp>
    </p:spTree>
    <p:extLst>
      <p:ext uri="{BB962C8B-B14F-4D97-AF65-F5344CB8AC3E}">
        <p14:creationId xmlns:p14="http://schemas.microsoft.com/office/powerpoint/2010/main" val="570129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Установка пароля на вход в привилегированный режим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72269" y="5373216"/>
            <a:ext cx="88360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/>
              <a:t>Установка пароля на вход в привилегированный режим</a:t>
            </a:r>
          </a:p>
        </p:txBody>
      </p:sp>
      <p:sp>
        <p:nvSpPr>
          <p:cNvPr id="4" name="AutoShape 5" descr="Установка пароля на вход в привилегированный режим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31" y="590173"/>
            <a:ext cx="8072138" cy="4306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2515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85698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>
                <a:effectLst/>
              </a:rPr>
              <a:t>Для изменения пароля введем новый </a:t>
            </a:r>
            <a:r>
              <a:rPr lang="ru-RU" sz="4000" i="1" dirty="0">
                <a:effectLst/>
              </a:rPr>
              <a:t>пароль</a:t>
            </a:r>
            <a:r>
              <a:rPr lang="ru-RU" sz="4000" dirty="0">
                <a:effectLst/>
              </a:rPr>
              <a:t> привилегированного режима</a:t>
            </a:r>
          </a:p>
          <a:p>
            <a:br>
              <a:rPr lang="ru-RU" sz="4000" dirty="0">
                <a:effectLst/>
              </a:rPr>
            </a:br>
            <a:endParaRPr lang="ru-RU" sz="4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79" y="2420888"/>
            <a:ext cx="7775441" cy="2676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79511" y="5517232"/>
            <a:ext cx="8856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Был пароль 12345, стал пароль 54321</a:t>
            </a:r>
          </a:p>
        </p:txBody>
      </p:sp>
    </p:spTree>
    <p:extLst>
      <p:ext uri="{BB962C8B-B14F-4D97-AF65-F5344CB8AC3E}">
        <p14:creationId xmlns:p14="http://schemas.microsoft.com/office/powerpoint/2010/main" val="3926085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88640"/>
            <a:ext cx="896448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/>
              <a:t>Советы при работе с CLI </a:t>
            </a:r>
            <a:r>
              <a:rPr lang="ru-RU" sz="3200" dirty="0"/>
              <a:t>Все команды в консоли можно сокращать, но, важно, чтобы сокращение однозначно указывало на команду. Используйте клавишу </a:t>
            </a:r>
            <a:r>
              <a:rPr lang="ru-RU" sz="3200" b="1" dirty="0" err="1"/>
              <a:t>Tab</a:t>
            </a:r>
            <a:r>
              <a:rPr lang="ru-RU" sz="3200" b="1" dirty="0"/>
              <a:t> </a:t>
            </a:r>
            <a:r>
              <a:rPr lang="ru-RU" sz="3200" dirty="0"/>
              <a:t>и знак вопроса (?). По нажатию </a:t>
            </a:r>
            <a:r>
              <a:rPr lang="ru-RU" sz="3200" dirty="0" err="1"/>
              <a:t>Tab</a:t>
            </a:r>
            <a:r>
              <a:rPr lang="ru-RU" sz="3200" dirty="0"/>
              <a:t> сокращенная команда дописывается до полной, а знак вопроса (?), следующий за командой, выводит список дальнейших возможностей и небольшую справку по ним. Можно перейти к следующей команде, сохранённой в буфере. Для этого нажмите на Стрелку вниз или </a:t>
            </a:r>
            <a:r>
              <a:rPr lang="ru-RU" sz="3200" b="1" dirty="0" err="1"/>
              <a:t>Ctrl</a:t>
            </a:r>
            <a:r>
              <a:rPr lang="ru-RU" sz="3200" b="1" dirty="0"/>
              <a:t> + N</a:t>
            </a:r>
            <a:r>
              <a:rPr lang="ru-RU" sz="3200" dirty="0"/>
              <a:t>. Можно вернуться к командам, введённым ранее. Нажмите на Стрелку вверх или </a:t>
            </a:r>
            <a:r>
              <a:rPr lang="ru-RU" sz="3200" b="1" dirty="0" err="1"/>
              <a:t>Ctrl</a:t>
            </a:r>
            <a:r>
              <a:rPr lang="ru-RU" sz="3200" b="1" dirty="0"/>
              <a:t> + P</a:t>
            </a:r>
            <a:r>
              <a:rPr lang="ru-RU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340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Стрелки Вверх или Вниз на клавиатуре позволяют листать ранее использованные вами команды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469" y="692696"/>
            <a:ext cx="6181061" cy="385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80670" y="4725144"/>
            <a:ext cx="88089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Стрелки Вверх или Вниз на клавиатуре позволяют листать ранее использованные вами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1898135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88640"/>
            <a:ext cx="87849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Активная </a:t>
            </a:r>
            <a:r>
              <a:rPr lang="ru-RU" sz="3600" i="1" dirty="0"/>
              <a:t>конфигурация</a:t>
            </a:r>
            <a:r>
              <a:rPr lang="ru-RU" sz="3600" dirty="0"/>
              <a:t> автоматически не сохраняется и будет потеряна в случае сбоя электропитания. Чтобы сохранить настройки роутера используйте команду </a:t>
            </a:r>
            <a:r>
              <a:rPr lang="ru-RU" sz="3600" b="1" dirty="0" err="1"/>
              <a:t>write</a:t>
            </a:r>
            <a:r>
              <a:rPr lang="ru-RU" sz="3600" b="1" dirty="0"/>
              <a:t>  </a:t>
            </a:r>
            <a:r>
              <a:rPr lang="ru-RU" sz="3600" b="1" dirty="0" err="1"/>
              <a:t>memory</a:t>
            </a:r>
            <a:r>
              <a:rPr lang="ru-RU" sz="3600" dirty="0"/>
              <a:t>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942400"/>
            <a:ext cx="4910286" cy="3595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65846" y="4476214"/>
            <a:ext cx="32403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Сохранение текущей конфигурации R1</a:t>
            </a:r>
          </a:p>
        </p:txBody>
      </p:sp>
    </p:spTree>
    <p:extLst>
      <p:ext uri="{BB962C8B-B14F-4D97-AF65-F5344CB8AC3E}">
        <p14:creationId xmlns:p14="http://schemas.microsoft.com/office/powerpoint/2010/main" val="2141671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260649"/>
            <a:ext cx="87129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/>
              <a:t>Задание 5.1</a:t>
            </a:r>
          </a:p>
          <a:p>
            <a:r>
              <a:rPr lang="ru-RU" sz="4000" dirty="0"/>
              <a:t>Схема сети показана на.</a:t>
            </a:r>
          </a:p>
        </p:txBody>
      </p:sp>
      <p:sp>
        <p:nvSpPr>
          <p:cNvPr id="3" name="AutoShape 2" descr="Схема сет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8" y="2120771"/>
            <a:ext cx="7714330" cy="2616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2997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188641"/>
            <a:ext cx="871296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/>
              <a:t>Нужно</a:t>
            </a:r>
            <a:r>
              <a:rPr lang="ru-RU" sz="4000" dirty="0"/>
              <a:t>:</a:t>
            </a:r>
          </a:p>
          <a:p>
            <a:r>
              <a:rPr lang="ru-RU" sz="4000" dirty="0"/>
              <a:t>Построить такую сеть</a:t>
            </a:r>
          </a:p>
          <a:p>
            <a:r>
              <a:rPr lang="ru-RU" sz="4000" dirty="0"/>
              <a:t>Изменить имя коммутаторов </a:t>
            </a:r>
            <a:r>
              <a:rPr lang="ru-RU" sz="4000" dirty="0" err="1"/>
              <a:t>Cisco</a:t>
            </a:r>
            <a:r>
              <a:rPr lang="ru-RU" sz="4000" dirty="0"/>
              <a:t>;</a:t>
            </a:r>
          </a:p>
          <a:p>
            <a:r>
              <a:rPr lang="ru-RU" sz="4000" dirty="0"/>
              <a:t>Обеспечить парольный доступ к привилегированному режиму на коммутаторах;</a:t>
            </a:r>
          </a:p>
          <a:p>
            <a:r>
              <a:rPr lang="ru-RU" sz="4000" dirty="0"/>
              <a:t>Задать </a:t>
            </a:r>
            <a:r>
              <a:rPr lang="ru-RU" sz="4000" dirty="0" err="1"/>
              <a:t>ip</a:t>
            </a:r>
            <a:r>
              <a:rPr lang="ru-RU" sz="4000" dirty="0"/>
              <a:t>-адреса и маски коммутаторам (172.16.1.11/24, 172.16.1.12/24, 172.16.1.13/24);</a:t>
            </a:r>
          </a:p>
        </p:txBody>
      </p:sp>
    </p:spTree>
    <p:extLst>
      <p:ext uri="{BB962C8B-B14F-4D97-AF65-F5344CB8AC3E}">
        <p14:creationId xmlns:p14="http://schemas.microsoft.com/office/powerpoint/2010/main" val="930274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16632"/>
            <a:ext cx="896448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Задать </a:t>
            </a:r>
            <a:r>
              <a:rPr lang="ru-RU" sz="3600" dirty="0" err="1"/>
              <a:t>ip</a:t>
            </a:r>
            <a:r>
              <a:rPr lang="ru-RU" sz="3600" dirty="0"/>
              <a:t>-адреса и маски сетей персональным компьютерам. (172.16.1.1/24, 172.16.1.2/24, 172.16.1.3/24, 172.16.1.4/24);</a:t>
            </a:r>
          </a:p>
          <a:p>
            <a:r>
              <a:rPr lang="ru-RU" sz="3600" dirty="0"/>
              <a:t>Убедиться в достижимости всех объектов сети по протоколу IP;</a:t>
            </a:r>
          </a:p>
          <a:p>
            <a:r>
              <a:rPr lang="ru-RU" sz="3600" dirty="0"/>
              <a:t>Переключившись в "Режим симуляции" и рассмотреть и пояснить процесс обмена данными по протоколу ICMP между устройствами (выполнив команду </a:t>
            </a:r>
            <a:r>
              <a:rPr lang="ru-RU" sz="3600" dirty="0" err="1"/>
              <a:t>Ping</a:t>
            </a:r>
            <a:r>
              <a:rPr lang="ru-RU" sz="3600" dirty="0"/>
              <a:t> с одного компьютера на другой).</a:t>
            </a:r>
          </a:p>
        </p:txBody>
      </p:sp>
    </p:spTree>
    <p:extLst>
      <p:ext uri="{BB962C8B-B14F-4D97-AF65-F5344CB8AC3E}">
        <p14:creationId xmlns:p14="http://schemas.microsoft.com/office/powerpoint/2010/main" val="14891591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898</Words>
  <Application>Microsoft Office PowerPoint</Application>
  <PresentationFormat>Экран (4:3)</PresentationFormat>
  <Paragraphs>68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Тема Office</vt:lpstr>
      <vt:lpstr>Тема 2: Компьютерные сети и технологии. Занятие-5. (Группа) Начальные настройки в Cisco CLI (Command Line Interface).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Пользователь</cp:lastModifiedBy>
  <cp:revision>9</cp:revision>
  <dcterms:created xsi:type="dcterms:W3CDTF">2017-12-24T09:47:50Z</dcterms:created>
  <dcterms:modified xsi:type="dcterms:W3CDTF">2025-10-22T06:59:21Z</dcterms:modified>
</cp:coreProperties>
</file>