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7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49" autoAdjust="0"/>
  </p:normalViewPr>
  <p:slideViewPr>
    <p:cSldViewPr>
      <p:cViewPr>
        <p:scale>
          <a:sx n="100" d="100"/>
          <a:sy n="100" d="100"/>
        </p:scale>
        <p:origin x="-432" y="5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Содержимое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Содержимое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Содержимое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Содержимое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3EA1EA3-6952-4127-B43D-934E2FE1C502}" type="datetimeFigureOut">
              <a:rPr lang="ru-RU" smtClean="0"/>
              <a:pPr/>
              <a:t>26.10.2012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60E550A-ACBC-4616-8536-8AC59CA17D5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Компьютерные сети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Компьютерная сеть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smtClean="0"/>
              <a:t>Компьютерная сеть </a:t>
            </a:r>
            <a:r>
              <a:rPr lang="ru-RU" dirty="0" smtClean="0"/>
              <a:t>– система обмена информацией между компьютерами.</a:t>
            </a:r>
          </a:p>
          <a:p>
            <a:r>
              <a:rPr lang="ru-RU" dirty="0" smtClean="0"/>
              <a:t>Представляет собой совокупность следующих компонентов: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 smtClean="0"/>
              <a:t>сети передачи данных</a:t>
            </a:r>
            <a:r>
              <a:rPr lang="ru-RU" dirty="0" smtClean="0"/>
              <a:t>, включающие в себя каналы передачи данных и средства эксплуатации;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 smtClean="0"/>
              <a:t>компьютеры</a:t>
            </a:r>
            <a:r>
              <a:rPr lang="ru-RU" dirty="0" smtClean="0"/>
              <a:t>, связанные такой сетью для передачи данных;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 smtClean="0"/>
              <a:t>сетевое ПО</a:t>
            </a:r>
            <a:r>
              <a:rPr lang="ru-RU" dirty="0" smtClean="0"/>
              <a:t>.</a:t>
            </a:r>
          </a:p>
          <a:p>
            <a:pPr marL="514350" indent="-514350"/>
            <a:r>
              <a:rPr lang="ru-RU" b="1" dirty="0" smtClean="0"/>
              <a:t>Компьютерная сеть </a:t>
            </a:r>
            <a:r>
              <a:rPr lang="ru-RU" dirty="0" smtClean="0"/>
              <a:t>представляет собой совокупность узлов и соединяющих их ветвей.</a:t>
            </a:r>
          </a:p>
          <a:p>
            <a:pPr marL="514350" indent="-514350"/>
            <a:r>
              <a:rPr lang="ru-RU" b="1" dirty="0" smtClean="0"/>
              <a:t>Ветвь</a:t>
            </a:r>
            <a:r>
              <a:rPr lang="ru-RU" dirty="0" smtClean="0"/>
              <a:t> – путь, соединяющий два смежных узла.</a:t>
            </a:r>
          </a:p>
          <a:p>
            <a:pPr marL="514350" indent="-514350"/>
            <a:r>
              <a:rPr lang="ru-RU" dirty="0" smtClean="0"/>
              <a:t>Способ соединения компьютеров в сеть называется её </a:t>
            </a:r>
            <a:r>
              <a:rPr lang="ru-RU" b="1" dirty="0" smtClean="0"/>
              <a:t>топологией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Линейная топология (</a:t>
            </a:r>
            <a:r>
              <a:rPr lang="ru-RU" dirty="0" err="1" smtClean="0"/>
              <a:t>топология</a:t>
            </a:r>
            <a:r>
              <a:rPr lang="ru-RU" dirty="0" smtClean="0"/>
              <a:t> шины)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85720" y="1500174"/>
            <a:ext cx="8503920" cy="1544762"/>
          </a:xfrm>
        </p:spPr>
        <p:txBody>
          <a:bodyPr/>
          <a:lstStyle/>
          <a:p>
            <a:r>
              <a:rPr lang="ru-RU" dirty="0" smtClean="0"/>
              <a:t>Сеть содержит два конечных узла и любое число промежуточных узлов. Между любыми двумя узлами имеется лишь один путь.</a:t>
            </a:r>
            <a:endParaRPr lang="ru-RU" dirty="0"/>
          </a:p>
        </p:txBody>
      </p:sp>
      <p:pic>
        <p:nvPicPr>
          <p:cNvPr id="102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4015" y="5025738"/>
            <a:ext cx="1000132" cy="1000132"/>
          </a:xfrm>
          <a:prstGeom prst="rect">
            <a:avLst/>
          </a:prstGeom>
          <a:noFill/>
        </p:spPr>
      </p:pic>
      <p:pic>
        <p:nvPicPr>
          <p:cNvPr id="5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071810"/>
            <a:ext cx="1000132" cy="1000132"/>
          </a:xfrm>
          <a:prstGeom prst="rect">
            <a:avLst/>
          </a:prstGeom>
          <a:noFill/>
        </p:spPr>
      </p:pic>
      <p:pic>
        <p:nvPicPr>
          <p:cNvPr id="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5000636"/>
            <a:ext cx="1000132" cy="1000132"/>
          </a:xfrm>
          <a:prstGeom prst="rect">
            <a:avLst/>
          </a:prstGeom>
          <a:noFill/>
        </p:spPr>
      </p:pic>
      <p:pic>
        <p:nvPicPr>
          <p:cNvPr id="7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93489" y="3071810"/>
            <a:ext cx="1000132" cy="1000132"/>
          </a:xfrm>
          <a:prstGeom prst="rect">
            <a:avLst/>
          </a:prstGeom>
          <a:noFill/>
        </p:spPr>
      </p:pic>
      <p:pic>
        <p:nvPicPr>
          <p:cNvPr id="8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70361" y="4954300"/>
            <a:ext cx="1000132" cy="1000132"/>
          </a:xfrm>
          <a:prstGeom prst="rect">
            <a:avLst/>
          </a:prstGeom>
          <a:noFill/>
        </p:spPr>
      </p:pic>
      <p:pic>
        <p:nvPicPr>
          <p:cNvPr id="9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51679" y="3062185"/>
            <a:ext cx="1000132" cy="1000132"/>
          </a:xfrm>
          <a:prstGeom prst="rect">
            <a:avLst/>
          </a:prstGeom>
          <a:noFill/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428596" y="4477257"/>
            <a:ext cx="7929618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285720" y="4143380"/>
            <a:ext cx="142876" cy="642942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8358214" y="4143380"/>
            <a:ext cx="142876" cy="642942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единительная линия 16"/>
          <p:cNvCxnSpPr>
            <a:stCxn id="1026" idx="0"/>
          </p:cNvCxnSpPr>
          <p:nvPr/>
        </p:nvCxnSpPr>
        <p:spPr>
          <a:xfrm rot="16200000" flipV="1">
            <a:off x="1208191" y="4749848"/>
            <a:ext cx="549991" cy="179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5" idx="2"/>
          </p:cNvCxnSpPr>
          <p:nvPr/>
        </p:nvCxnSpPr>
        <p:spPr>
          <a:xfrm rot="5400000">
            <a:off x="2364126" y="4277762"/>
            <a:ext cx="413431" cy="17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6" idx="0"/>
          </p:cNvCxnSpPr>
          <p:nvPr/>
        </p:nvCxnSpPr>
        <p:spPr>
          <a:xfrm rot="5400000" flipH="1" flipV="1">
            <a:off x="3451614" y="4737500"/>
            <a:ext cx="526267" cy="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7" idx="2"/>
          </p:cNvCxnSpPr>
          <p:nvPr/>
        </p:nvCxnSpPr>
        <p:spPr>
          <a:xfrm rot="5400000">
            <a:off x="4890758" y="4272949"/>
            <a:ext cx="403805" cy="17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8" idx="0"/>
          </p:cNvCxnSpPr>
          <p:nvPr/>
        </p:nvCxnSpPr>
        <p:spPr>
          <a:xfrm rot="5400000" flipH="1" flipV="1">
            <a:off x="6033339" y="4717014"/>
            <a:ext cx="474375" cy="1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stCxn id="9" idx="2"/>
          </p:cNvCxnSpPr>
          <p:nvPr/>
        </p:nvCxnSpPr>
        <p:spPr>
          <a:xfrm rot="5400000">
            <a:off x="7248948" y="4263324"/>
            <a:ext cx="403805" cy="17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Овал 19"/>
          <p:cNvSpPr/>
          <p:nvPr/>
        </p:nvSpPr>
        <p:spPr>
          <a:xfrm>
            <a:off x="2857488" y="2214554"/>
            <a:ext cx="3429024" cy="3429024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Топология кольца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85720" y="1500174"/>
            <a:ext cx="8503920" cy="642942"/>
          </a:xfrm>
        </p:spPr>
        <p:txBody>
          <a:bodyPr/>
          <a:lstStyle/>
          <a:p>
            <a:r>
              <a:rPr lang="ru-RU" dirty="0" smtClean="0"/>
              <a:t>К каждому узлу подсоединяется две ветви.</a:t>
            </a:r>
            <a:endParaRPr lang="ru-RU" dirty="0"/>
          </a:p>
        </p:txBody>
      </p:sp>
      <p:pic>
        <p:nvPicPr>
          <p:cNvPr id="102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3500438"/>
            <a:ext cx="1000132" cy="1000132"/>
          </a:xfrm>
          <a:prstGeom prst="rect">
            <a:avLst/>
          </a:prstGeom>
          <a:noFill/>
        </p:spPr>
      </p:pic>
      <p:pic>
        <p:nvPicPr>
          <p:cNvPr id="5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1928802"/>
            <a:ext cx="1000132" cy="1000132"/>
          </a:xfrm>
          <a:prstGeom prst="rect">
            <a:avLst/>
          </a:prstGeom>
          <a:noFill/>
        </p:spPr>
      </p:pic>
      <p:pic>
        <p:nvPicPr>
          <p:cNvPr id="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4786322"/>
            <a:ext cx="1000132" cy="1000132"/>
          </a:xfrm>
          <a:prstGeom prst="rect">
            <a:avLst/>
          </a:prstGeom>
          <a:noFill/>
        </p:spPr>
      </p:pic>
      <p:pic>
        <p:nvPicPr>
          <p:cNvPr id="7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3429000"/>
            <a:ext cx="1000132" cy="1000132"/>
          </a:xfrm>
          <a:prstGeom prst="rect">
            <a:avLst/>
          </a:prstGeom>
          <a:noFill/>
        </p:spPr>
      </p:pic>
      <p:pic>
        <p:nvPicPr>
          <p:cNvPr id="8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4786322"/>
            <a:ext cx="1000132" cy="1000132"/>
          </a:xfrm>
          <a:prstGeom prst="rect">
            <a:avLst/>
          </a:prstGeom>
          <a:noFill/>
        </p:spPr>
      </p:pic>
      <p:pic>
        <p:nvPicPr>
          <p:cNvPr id="9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2000240"/>
            <a:ext cx="1000132" cy="10001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Топология звезды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85720" y="1500174"/>
            <a:ext cx="8503920" cy="642942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Сеть имеет только один промежуточный узел между всеми узлами.</a:t>
            </a:r>
            <a:endParaRPr lang="ru-RU" dirty="0"/>
          </a:p>
        </p:txBody>
      </p:sp>
      <p:pic>
        <p:nvPicPr>
          <p:cNvPr id="102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884" y="4786322"/>
            <a:ext cx="1000132" cy="1000132"/>
          </a:xfrm>
          <a:prstGeom prst="rect">
            <a:avLst/>
          </a:prstGeom>
          <a:noFill/>
        </p:spPr>
      </p:pic>
      <p:pic>
        <p:nvPicPr>
          <p:cNvPr id="5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2143116"/>
            <a:ext cx="1000132" cy="1000132"/>
          </a:xfrm>
          <a:prstGeom prst="rect">
            <a:avLst/>
          </a:prstGeom>
          <a:noFill/>
        </p:spPr>
      </p:pic>
      <p:pic>
        <p:nvPicPr>
          <p:cNvPr id="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4786322"/>
            <a:ext cx="1000132" cy="1000132"/>
          </a:xfrm>
          <a:prstGeom prst="rect">
            <a:avLst/>
          </a:prstGeom>
          <a:noFill/>
        </p:spPr>
      </p:pic>
      <p:pic>
        <p:nvPicPr>
          <p:cNvPr id="7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4786322"/>
            <a:ext cx="1000132" cy="1000132"/>
          </a:xfrm>
          <a:prstGeom prst="rect">
            <a:avLst/>
          </a:prstGeom>
          <a:noFill/>
        </p:spPr>
      </p:pic>
      <p:pic>
        <p:nvPicPr>
          <p:cNvPr id="8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4786322"/>
            <a:ext cx="1000132" cy="1000132"/>
          </a:xfrm>
          <a:prstGeom prst="rect">
            <a:avLst/>
          </a:prstGeom>
          <a:noFill/>
        </p:spPr>
      </p:pic>
      <p:cxnSp>
        <p:nvCxnSpPr>
          <p:cNvPr id="12" name="Прямая соединительная линия 11"/>
          <p:cNvCxnSpPr>
            <a:stCxn id="5" idx="2"/>
            <a:endCxn id="7" idx="0"/>
          </p:cNvCxnSpPr>
          <p:nvPr/>
        </p:nvCxnSpPr>
        <p:spPr>
          <a:xfrm rot="5400000">
            <a:off x="2464579" y="2893215"/>
            <a:ext cx="1643074" cy="21431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5" idx="2"/>
            <a:endCxn id="8" idx="0"/>
          </p:cNvCxnSpPr>
          <p:nvPr/>
        </p:nvCxnSpPr>
        <p:spPr>
          <a:xfrm rot="5400000">
            <a:off x="3178959" y="3607595"/>
            <a:ext cx="1643074" cy="714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5" idx="2"/>
            <a:endCxn id="6" idx="0"/>
          </p:cNvCxnSpPr>
          <p:nvPr/>
        </p:nvCxnSpPr>
        <p:spPr>
          <a:xfrm rot="16200000" flipH="1">
            <a:off x="3857620" y="3643314"/>
            <a:ext cx="1643074" cy="6429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" idx="2"/>
            <a:endCxn id="1026" idx="0"/>
          </p:cNvCxnSpPr>
          <p:nvPr/>
        </p:nvCxnSpPr>
        <p:spPr>
          <a:xfrm rot="16200000" flipH="1">
            <a:off x="4536281" y="2964653"/>
            <a:ext cx="1643074" cy="20002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Топология расширенной звезды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401886"/>
          </a:xfrm>
        </p:spPr>
        <p:txBody>
          <a:bodyPr/>
          <a:lstStyle/>
          <a:p>
            <a:r>
              <a:rPr lang="ru-RU" dirty="0" smtClean="0"/>
              <a:t>Сеть содержит более двух конечных узлов и по крайней мере два промежуточных узла; в сети между двумя узлами имеется только один путь.</a:t>
            </a:r>
            <a:endParaRPr lang="ru-RU" dirty="0"/>
          </a:p>
        </p:txBody>
      </p:sp>
      <p:pic>
        <p:nvPicPr>
          <p:cNvPr id="5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4214818"/>
            <a:ext cx="642942" cy="642942"/>
          </a:xfrm>
          <a:prstGeom prst="rect">
            <a:avLst/>
          </a:prstGeom>
          <a:noFill/>
        </p:spPr>
      </p:pic>
      <p:pic>
        <p:nvPicPr>
          <p:cNvPr id="7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5357826"/>
            <a:ext cx="642942" cy="642942"/>
          </a:xfrm>
          <a:prstGeom prst="rect">
            <a:avLst/>
          </a:prstGeom>
          <a:noFill/>
        </p:spPr>
      </p:pic>
      <p:pic>
        <p:nvPicPr>
          <p:cNvPr id="8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5357826"/>
            <a:ext cx="642942" cy="642942"/>
          </a:xfrm>
          <a:prstGeom prst="rect">
            <a:avLst/>
          </a:prstGeom>
          <a:noFill/>
        </p:spPr>
      </p:pic>
      <p:cxnSp>
        <p:nvCxnSpPr>
          <p:cNvPr id="9" name="Прямая соединительная линия 8"/>
          <p:cNvCxnSpPr>
            <a:stCxn id="5" idx="2"/>
            <a:endCxn id="7" idx="0"/>
          </p:cNvCxnSpPr>
          <p:nvPr/>
        </p:nvCxnSpPr>
        <p:spPr>
          <a:xfrm rot="5400000">
            <a:off x="928662" y="4750603"/>
            <a:ext cx="500066" cy="714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stCxn id="5" idx="2"/>
            <a:endCxn id="8" idx="0"/>
          </p:cNvCxnSpPr>
          <p:nvPr/>
        </p:nvCxnSpPr>
        <p:spPr>
          <a:xfrm rot="16200000" flipH="1">
            <a:off x="1643042" y="4750603"/>
            <a:ext cx="500066" cy="714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620" y="4214818"/>
            <a:ext cx="642942" cy="642942"/>
          </a:xfrm>
          <a:prstGeom prst="rect">
            <a:avLst/>
          </a:prstGeom>
          <a:noFill/>
        </p:spPr>
      </p:pic>
      <p:pic>
        <p:nvPicPr>
          <p:cNvPr id="20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02" y="5357826"/>
            <a:ext cx="642942" cy="642942"/>
          </a:xfrm>
          <a:prstGeom prst="rect">
            <a:avLst/>
          </a:prstGeom>
          <a:noFill/>
        </p:spPr>
      </p:pic>
      <p:pic>
        <p:nvPicPr>
          <p:cNvPr id="21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0562" y="5357826"/>
            <a:ext cx="642942" cy="642942"/>
          </a:xfrm>
          <a:prstGeom prst="rect">
            <a:avLst/>
          </a:prstGeom>
          <a:noFill/>
        </p:spPr>
      </p:pic>
      <p:cxnSp>
        <p:nvCxnSpPr>
          <p:cNvPr id="22" name="Прямая соединительная линия 21"/>
          <p:cNvCxnSpPr>
            <a:stCxn id="19" idx="2"/>
            <a:endCxn id="20" idx="0"/>
          </p:cNvCxnSpPr>
          <p:nvPr/>
        </p:nvCxnSpPr>
        <p:spPr>
          <a:xfrm rot="5400000">
            <a:off x="3536149" y="4714884"/>
            <a:ext cx="500066" cy="785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9" idx="2"/>
            <a:endCxn id="21" idx="0"/>
          </p:cNvCxnSpPr>
          <p:nvPr/>
        </p:nvCxnSpPr>
        <p:spPr>
          <a:xfrm rot="16200000" flipH="1">
            <a:off x="4250529" y="4786322"/>
            <a:ext cx="500066" cy="6429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7950" y="4214818"/>
            <a:ext cx="642942" cy="642942"/>
          </a:xfrm>
          <a:prstGeom prst="rect">
            <a:avLst/>
          </a:prstGeom>
          <a:noFill/>
        </p:spPr>
      </p:pic>
      <p:pic>
        <p:nvPicPr>
          <p:cNvPr id="25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43570" y="5357826"/>
            <a:ext cx="642942" cy="642942"/>
          </a:xfrm>
          <a:prstGeom prst="rect">
            <a:avLst/>
          </a:prstGeom>
          <a:noFill/>
        </p:spPr>
      </p:pic>
      <p:pic>
        <p:nvPicPr>
          <p:cNvPr id="2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30" y="5357826"/>
            <a:ext cx="642942" cy="642942"/>
          </a:xfrm>
          <a:prstGeom prst="rect">
            <a:avLst/>
          </a:prstGeom>
          <a:noFill/>
        </p:spPr>
      </p:pic>
      <p:cxnSp>
        <p:nvCxnSpPr>
          <p:cNvPr id="27" name="Прямая соединительная линия 26"/>
          <p:cNvCxnSpPr>
            <a:stCxn id="24" idx="2"/>
            <a:endCxn id="25" idx="0"/>
          </p:cNvCxnSpPr>
          <p:nvPr/>
        </p:nvCxnSpPr>
        <p:spPr>
          <a:xfrm rot="5400000">
            <a:off x="6072198" y="4750603"/>
            <a:ext cx="500066" cy="714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24" idx="2"/>
            <a:endCxn id="26" idx="0"/>
          </p:cNvCxnSpPr>
          <p:nvPr/>
        </p:nvCxnSpPr>
        <p:spPr>
          <a:xfrm rot="16200000" flipH="1">
            <a:off x="6786578" y="4750603"/>
            <a:ext cx="500066" cy="714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620" y="2714620"/>
            <a:ext cx="642942" cy="642942"/>
          </a:xfrm>
          <a:prstGeom prst="rect">
            <a:avLst/>
          </a:prstGeom>
          <a:noFill/>
        </p:spPr>
      </p:pic>
      <p:pic>
        <p:nvPicPr>
          <p:cNvPr id="30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3357562"/>
            <a:ext cx="642942" cy="642942"/>
          </a:xfrm>
          <a:prstGeom prst="rect">
            <a:avLst/>
          </a:prstGeom>
          <a:noFill/>
        </p:spPr>
      </p:pic>
      <p:pic>
        <p:nvPicPr>
          <p:cNvPr id="31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9190" y="3429000"/>
            <a:ext cx="642942" cy="642942"/>
          </a:xfrm>
          <a:prstGeom prst="rect">
            <a:avLst/>
          </a:prstGeom>
          <a:noFill/>
        </p:spPr>
      </p:pic>
      <p:cxnSp>
        <p:nvCxnSpPr>
          <p:cNvPr id="32" name="Прямая соединительная линия 31"/>
          <p:cNvCxnSpPr>
            <a:stCxn id="29" idx="2"/>
            <a:endCxn id="30" idx="3"/>
          </p:cNvCxnSpPr>
          <p:nvPr/>
        </p:nvCxnSpPr>
        <p:spPr>
          <a:xfrm rot="5400000">
            <a:off x="2893208" y="2393149"/>
            <a:ext cx="321471" cy="225029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>
            <a:stCxn id="29" idx="2"/>
            <a:endCxn id="31" idx="1"/>
          </p:cNvCxnSpPr>
          <p:nvPr/>
        </p:nvCxnSpPr>
        <p:spPr>
          <a:xfrm rot="16200000" flipH="1">
            <a:off x="4357686" y="3178966"/>
            <a:ext cx="392909" cy="7500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31" idx="2"/>
            <a:endCxn id="24" idx="1"/>
          </p:cNvCxnSpPr>
          <p:nvPr/>
        </p:nvCxnSpPr>
        <p:spPr>
          <a:xfrm rot="16200000" flipH="1">
            <a:off x="5572132" y="3750470"/>
            <a:ext cx="464347" cy="11072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5" idx="3"/>
            <a:endCxn id="29" idx="2"/>
          </p:cNvCxnSpPr>
          <p:nvPr/>
        </p:nvCxnSpPr>
        <p:spPr>
          <a:xfrm flipV="1">
            <a:off x="1857356" y="3357562"/>
            <a:ext cx="2321735" cy="11787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stCxn id="29" idx="2"/>
            <a:endCxn id="19" idx="0"/>
          </p:cNvCxnSpPr>
          <p:nvPr/>
        </p:nvCxnSpPr>
        <p:spPr>
          <a:xfrm rot="5400000">
            <a:off x="3750463" y="3786190"/>
            <a:ext cx="857256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Ячеистая топология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187572"/>
          </a:xfrm>
        </p:spPr>
        <p:txBody>
          <a:bodyPr/>
          <a:lstStyle/>
          <a:p>
            <a:r>
              <a:rPr lang="ru-RU" dirty="0" smtClean="0"/>
              <a:t>Сеть содержит по крайней мере два узла, имеющих два или более пути между ними.</a:t>
            </a:r>
            <a:endParaRPr lang="ru-RU" dirty="0"/>
          </a:p>
        </p:txBody>
      </p:sp>
      <p:pic>
        <p:nvPicPr>
          <p:cNvPr id="4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428868"/>
            <a:ext cx="1000132" cy="1000132"/>
          </a:xfrm>
          <a:prstGeom prst="rect">
            <a:avLst/>
          </a:prstGeom>
          <a:noFill/>
        </p:spPr>
      </p:pic>
      <p:pic>
        <p:nvPicPr>
          <p:cNvPr id="5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12" y="2428868"/>
            <a:ext cx="1000132" cy="1000132"/>
          </a:xfrm>
          <a:prstGeom prst="rect">
            <a:avLst/>
          </a:prstGeom>
          <a:noFill/>
        </p:spPr>
      </p:pic>
      <p:pic>
        <p:nvPicPr>
          <p:cNvPr id="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5143512"/>
            <a:ext cx="1000132" cy="1000132"/>
          </a:xfrm>
          <a:prstGeom prst="rect">
            <a:avLst/>
          </a:prstGeom>
          <a:noFill/>
        </p:spPr>
      </p:pic>
      <p:pic>
        <p:nvPicPr>
          <p:cNvPr id="7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12" y="5143512"/>
            <a:ext cx="1000132" cy="1000132"/>
          </a:xfrm>
          <a:prstGeom prst="rect">
            <a:avLst/>
          </a:prstGeom>
          <a:noFill/>
        </p:spPr>
      </p:pic>
      <p:pic>
        <p:nvPicPr>
          <p:cNvPr id="8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02" y="3571876"/>
            <a:ext cx="1000132" cy="1000132"/>
          </a:xfrm>
          <a:prstGeom prst="rect">
            <a:avLst/>
          </a:prstGeom>
          <a:noFill/>
        </p:spPr>
      </p:pic>
      <p:pic>
        <p:nvPicPr>
          <p:cNvPr id="9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6314" y="3571876"/>
            <a:ext cx="1000132" cy="1000132"/>
          </a:xfrm>
          <a:prstGeom prst="rect">
            <a:avLst/>
          </a:prstGeom>
          <a:noFill/>
        </p:spPr>
      </p:pic>
      <p:cxnSp>
        <p:nvCxnSpPr>
          <p:cNvPr id="11" name="Прямая соединительная линия 10"/>
          <p:cNvCxnSpPr>
            <a:stCxn id="4" idx="3"/>
            <a:endCxn id="5" idx="1"/>
          </p:cNvCxnSpPr>
          <p:nvPr/>
        </p:nvCxnSpPr>
        <p:spPr>
          <a:xfrm>
            <a:off x="2571736" y="2928934"/>
            <a:ext cx="3714776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6" idx="3"/>
            <a:endCxn id="7" idx="1"/>
          </p:cNvCxnSpPr>
          <p:nvPr/>
        </p:nvCxnSpPr>
        <p:spPr>
          <a:xfrm>
            <a:off x="2571736" y="5643578"/>
            <a:ext cx="3714776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7" idx="0"/>
            <a:endCxn id="5" idx="2"/>
          </p:cNvCxnSpPr>
          <p:nvPr/>
        </p:nvCxnSpPr>
        <p:spPr>
          <a:xfrm rot="5400000" flipH="1" flipV="1">
            <a:off x="5929322" y="4286256"/>
            <a:ext cx="1714512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4" idx="2"/>
            <a:endCxn id="6" idx="0"/>
          </p:cNvCxnSpPr>
          <p:nvPr/>
        </p:nvCxnSpPr>
        <p:spPr>
          <a:xfrm rot="5400000">
            <a:off x="1214414" y="4286256"/>
            <a:ext cx="1714512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4" idx="3"/>
            <a:endCxn id="8" idx="0"/>
          </p:cNvCxnSpPr>
          <p:nvPr/>
        </p:nvCxnSpPr>
        <p:spPr>
          <a:xfrm>
            <a:off x="2571736" y="2928934"/>
            <a:ext cx="1000132" cy="6429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6" idx="0"/>
            <a:endCxn id="8" idx="2"/>
          </p:cNvCxnSpPr>
          <p:nvPr/>
        </p:nvCxnSpPr>
        <p:spPr>
          <a:xfrm rot="5400000" flipH="1" flipV="1">
            <a:off x="2536017" y="4107661"/>
            <a:ext cx="571504" cy="15001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8" idx="3"/>
            <a:endCxn id="9" idx="1"/>
          </p:cNvCxnSpPr>
          <p:nvPr/>
        </p:nvCxnSpPr>
        <p:spPr>
          <a:xfrm>
            <a:off x="4071934" y="4071942"/>
            <a:ext cx="71438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9" idx="0"/>
            <a:endCxn id="5" idx="1"/>
          </p:cNvCxnSpPr>
          <p:nvPr/>
        </p:nvCxnSpPr>
        <p:spPr>
          <a:xfrm rot="5400000" flipH="1" flipV="1">
            <a:off x="5464975" y="2750339"/>
            <a:ext cx="642942" cy="10001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9" idx="2"/>
            <a:endCxn id="7" idx="0"/>
          </p:cNvCxnSpPr>
          <p:nvPr/>
        </p:nvCxnSpPr>
        <p:spPr>
          <a:xfrm rot="16200000" flipH="1">
            <a:off x="5750727" y="4107661"/>
            <a:ext cx="571504" cy="15001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stCxn id="9" idx="2"/>
            <a:endCxn id="6" idx="0"/>
          </p:cNvCxnSpPr>
          <p:nvPr/>
        </p:nvCxnSpPr>
        <p:spPr>
          <a:xfrm rot="5400000">
            <a:off x="3393273" y="3250405"/>
            <a:ext cx="571504" cy="32147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Полносвязная сеть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187572"/>
          </a:xfrm>
        </p:spPr>
        <p:txBody>
          <a:bodyPr/>
          <a:lstStyle/>
          <a:p>
            <a:r>
              <a:rPr lang="ru-RU" dirty="0" smtClean="0"/>
              <a:t>Сеть, имеющая ветвь между любыми двумя узлами.</a:t>
            </a:r>
            <a:endParaRPr lang="ru-RU" dirty="0"/>
          </a:p>
        </p:txBody>
      </p:sp>
      <p:pic>
        <p:nvPicPr>
          <p:cNvPr id="4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428868"/>
            <a:ext cx="1000132" cy="1000132"/>
          </a:xfrm>
          <a:prstGeom prst="rect">
            <a:avLst/>
          </a:prstGeom>
          <a:noFill/>
        </p:spPr>
      </p:pic>
      <p:pic>
        <p:nvPicPr>
          <p:cNvPr id="5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12" y="2428868"/>
            <a:ext cx="1000132" cy="1000132"/>
          </a:xfrm>
          <a:prstGeom prst="rect">
            <a:avLst/>
          </a:prstGeom>
          <a:noFill/>
        </p:spPr>
      </p:pic>
      <p:pic>
        <p:nvPicPr>
          <p:cNvPr id="6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5143512"/>
            <a:ext cx="1000132" cy="1000132"/>
          </a:xfrm>
          <a:prstGeom prst="rect">
            <a:avLst/>
          </a:prstGeom>
          <a:noFill/>
        </p:spPr>
      </p:pic>
      <p:pic>
        <p:nvPicPr>
          <p:cNvPr id="7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12" y="5143512"/>
            <a:ext cx="1000132" cy="1000132"/>
          </a:xfrm>
          <a:prstGeom prst="rect">
            <a:avLst/>
          </a:prstGeom>
          <a:noFill/>
        </p:spPr>
      </p:pic>
      <p:cxnSp>
        <p:nvCxnSpPr>
          <p:cNvPr id="11" name="Прямая соединительная линия 10"/>
          <p:cNvCxnSpPr>
            <a:stCxn id="4" idx="3"/>
            <a:endCxn id="5" idx="1"/>
          </p:cNvCxnSpPr>
          <p:nvPr/>
        </p:nvCxnSpPr>
        <p:spPr>
          <a:xfrm>
            <a:off x="2571736" y="2928934"/>
            <a:ext cx="3714776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6" idx="3"/>
            <a:endCxn id="7" idx="1"/>
          </p:cNvCxnSpPr>
          <p:nvPr/>
        </p:nvCxnSpPr>
        <p:spPr>
          <a:xfrm>
            <a:off x="2571736" y="5643578"/>
            <a:ext cx="3714776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7" idx="0"/>
            <a:endCxn id="5" idx="2"/>
          </p:cNvCxnSpPr>
          <p:nvPr/>
        </p:nvCxnSpPr>
        <p:spPr>
          <a:xfrm rot="5400000" flipH="1" flipV="1">
            <a:off x="5929322" y="4286256"/>
            <a:ext cx="1714512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4" idx="2"/>
            <a:endCxn id="6" idx="0"/>
          </p:cNvCxnSpPr>
          <p:nvPr/>
        </p:nvCxnSpPr>
        <p:spPr>
          <a:xfrm rot="5400000">
            <a:off x="1214414" y="4286256"/>
            <a:ext cx="1714512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4" idx="3"/>
            <a:endCxn id="7" idx="1"/>
          </p:cNvCxnSpPr>
          <p:nvPr/>
        </p:nvCxnSpPr>
        <p:spPr>
          <a:xfrm>
            <a:off x="2571736" y="2928934"/>
            <a:ext cx="3714776" cy="2714644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5" idx="1"/>
            <a:endCxn id="6" idx="3"/>
          </p:cNvCxnSpPr>
          <p:nvPr/>
        </p:nvCxnSpPr>
        <p:spPr>
          <a:xfrm rot="10800000" flipV="1">
            <a:off x="2571736" y="2928934"/>
            <a:ext cx="3714776" cy="2714644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сетей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616464"/>
          </a:xfrm>
        </p:spPr>
        <p:txBody>
          <a:bodyPr/>
          <a:lstStyle/>
          <a:p>
            <a:r>
              <a:rPr lang="ru-RU" dirty="0" smtClean="0"/>
              <a:t>Архитектура – реализованная структура сети передачи данных, определяющая её топологию, состав устройств и правила их взаимодействия.</a:t>
            </a:r>
          </a:p>
          <a:p>
            <a:r>
              <a:rPr lang="ru-RU" dirty="0" smtClean="0"/>
              <a:t>В рамках архитектуры рассматриваются вопросы кодирования информации, её адресации и передачи управления потоком сообщений, контроля ошибок и анализа работы сети в аварийных ситуациях.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Представляет собой широковещательную сеть (все станции сети могут принимать все сообщения).</a:t>
            </a:r>
          </a:p>
          <a:p>
            <a:r>
              <a:rPr lang="ru-RU" dirty="0" smtClean="0"/>
              <a:t>Топологии: шина, звезда, расширенная звезда.</a:t>
            </a:r>
          </a:p>
          <a:p>
            <a:r>
              <a:rPr lang="ru-RU" dirty="0" smtClean="0"/>
              <a:t>Скорости передачи:</a:t>
            </a:r>
          </a:p>
          <a:p>
            <a:pPr lvl="1"/>
            <a:r>
              <a:rPr lang="en-US" dirty="0" smtClean="0"/>
              <a:t>Ethernet – 10 </a:t>
            </a:r>
            <a:r>
              <a:rPr lang="ru-RU" dirty="0" smtClean="0"/>
              <a:t>Мб/с</a:t>
            </a:r>
          </a:p>
          <a:p>
            <a:pPr lvl="1"/>
            <a:r>
              <a:rPr lang="en-US" dirty="0" smtClean="0"/>
              <a:t>Fast Ethernet – 100 </a:t>
            </a:r>
            <a:r>
              <a:rPr lang="ru-RU" dirty="0" smtClean="0"/>
              <a:t>Мб/с</a:t>
            </a:r>
          </a:p>
          <a:p>
            <a:pPr lvl="1"/>
            <a:r>
              <a:rPr lang="en-US" dirty="0" smtClean="0"/>
              <a:t>Gigabit Ethernet – 1</a:t>
            </a:r>
            <a:r>
              <a:rPr lang="ru-RU" dirty="0" smtClean="0"/>
              <a:t> Гб/с</a:t>
            </a:r>
          </a:p>
          <a:p>
            <a:r>
              <a:rPr lang="ru-RU" dirty="0" smtClean="0"/>
              <a:t>Среда передачи данных: коаксиальный кабель, витая пара, оптоволокно.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Среды передачи данных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285992"/>
            <a:ext cx="2160000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2285992"/>
            <a:ext cx="2607646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6446" y="2285992"/>
            <a:ext cx="2996250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85720" y="4500570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Коаксиальный кабель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928926" y="4500570"/>
            <a:ext cx="257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Витая пара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5786446" y="4500570"/>
            <a:ext cx="300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Оптоволоконный кабель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сетевые устройства. Концентратор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401886"/>
          </a:xfrm>
        </p:spPr>
        <p:txBody>
          <a:bodyPr/>
          <a:lstStyle/>
          <a:p>
            <a:r>
              <a:rPr lang="ru-RU" dirty="0" smtClean="0"/>
              <a:t>Концентратор (</a:t>
            </a:r>
            <a:r>
              <a:rPr lang="en-US" dirty="0" smtClean="0"/>
              <a:t>hub</a:t>
            </a:r>
            <a:r>
              <a:rPr lang="ru-RU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устройство, передающее данные, поступившие на входной порт, на все оставшиеся порты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14348" y="3071810"/>
            <a:ext cx="3714776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/>
              <a:t>Концентратор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071810"/>
            <a:ext cx="3965247" cy="1857364"/>
          </a:xfrm>
          <a:prstGeom prst="rect">
            <a:avLst/>
          </a:prstGeom>
          <a:noFill/>
          <a:ln w="9525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357290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04827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981188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252784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609836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876676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857224" y="3643314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485874" y="3643314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152645" y="3648074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752736" y="3652834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362348" y="3648069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4014818" y="3652829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6</a:t>
            </a:r>
            <a:endParaRPr lang="ru-RU" dirty="0"/>
          </a:p>
        </p:txBody>
      </p:sp>
      <p:cxnSp>
        <p:nvCxnSpPr>
          <p:cNvPr id="22" name="Прямая со стрелкой 21"/>
          <p:cNvCxnSpPr/>
          <p:nvPr/>
        </p:nvCxnSpPr>
        <p:spPr>
          <a:xfrm rot="5400000" flipH="1" flipV="1">
            <a:off x="2751125" y="410686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rot="5400000">
            <a:off x="822299" y="410686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rot="5400000">
            <a:off x="1450949" y="412591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rot="5400000">
            <a:off x="2108174" y="4116392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rot="5400000">
            <a:off x="3346424" y="412591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rot="5400000">
            <a:off x="4003649" y="412591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сетевые устройства. Коммутатор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401886"/>
          </a:xfrm>
        </p:spPr>
        <p:txBody>
          <a:bodyPr/>
          <a:lstStyle/>
          <a:p>
            <a:r>
              <a:rPr lang="ru-RU" dirty="0" smtClean="0"/>
              <a:t>Коммутатор (</a:t>
            </a:r>
            <a:r>
              <a:rPr lang="en-US" dirty="0" smtClean="0"/>
              <a:t>switch</a:t>
            </a:r>
            <a:r>
              <a:rPr lang="ru-RU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устройство, передающее данные, поступившие на входной порт, на порт назначения.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14348" y="3071810"/>
            <a:ext cx="3714776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smtClean="0"/>
              <a:t>Коммутатор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071810"/>
            <a:ext cx="3965247" cy="1857364"/>
          </a:xfrm>
          <a:prstGeom prst="rect">
            <a:avLst/>
          </a:prstGeom>
          <a:noFill/>
          <a:ln w="9525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357290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04827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981188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252784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609836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876676" y="4305312"/>
            <a:ext cx="552448" cy="552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857224" y="3643314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485874" y="3643314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152645" y="3648074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752736" y="3652834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362348" y="3648069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4014818" y="3652829"/>
            <a:ext cx="285752" cy="285752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6</a:t>
            </a:r>
            <a:endParaRPr lang="ru-RU" dirty="0"/>
          </a:p>
        </p:txBody>
      </p:sp>
      <p:cxnSp>
        <p:nvCxnSpPr>
          <p:cNvPr id="22" name="Прямая со стрелкой 21"/>
          <p:cNvCxnSpPr/>
          <p:nvPr/>
        </p:nvCxnSpPr>
        <p:spPr>
          <a:xfrm rot="5400000" flipH="1" flipV="1">
            <a:off x="2751125" y="410686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rot="5400000">
            <a:off x="822299" y="410686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84019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Основные сетевые устройства. </a:t>
            </a:r>
            <a:r>
              <a:rPr lang="ru-RU" dirty="0" err="1" smtClean="0"/>
              <a:t>Маршрутизатор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401886"/>
          </a:xfrm>
        </p:spPr>
        <p:txBody>
          <a:bodyPr>
            <a:normAutofit fontScale="92500" lnSpcReduction="20000"/>
          </a:bodyPr>
          <a:lstStyle/>
          <a:p>
            <a:r>
              <a:rPr lang="ru-RU" dirty="0" err="1" smtClean="0"/>
              <a:t>Маршрутизатор</a:t>
            </a:r>
            <a:r>
              <a:rPr lang="ru-RU" dirty="0" smtClean="0"/>
              <a:t> (</a:t>
            </a:r>
            <a:r>
              <a:rPr lang="en-US" dirty="0" smtClean="0"/>
              <a:t>router</a:t>
            </a:r>
            <a:r>
              <a:rPr lang="ru-RU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устройство, объединяющее сети с общим протоколом, но разной архитектурой; выбирает оптимальный маршрут движения информации.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071810"/>
            <a:ext cx="3857652" cy="2893239"/>
          </a:xfrm>
          <a:prstGeom prst="rect">
            <a:avLst/>
          </a:prstGeom>
          <a:noFill/>
          <a:ln w="9525">
            <a:solidFill>
              <a:schemeClr val="accent4">
                <a:lumMod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312594"/>
            <a:ext cx="8534400" cy="758952"/>
          </a:xfrm>
        </p:spPr>
        <p:txBody>
          <a:bodyPr>
            <a:normAutofit/>
          </a:bodyPr>
          <a:lstStyle/>
          <a:p>
            <a:r>
              <a:rPr lang="ru-RU" dirty="0" smtClean="0"/>
              <a:t>Классификация компьютерных сетей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59472"/>
          </a:xfrm>
        </p:spPr>
        <p:txBody>
          <a:bodyPr>
            <a:normAutofit/>
          </a:bodyPr>
          <a:lstStyle/>
          <a:p>
            <a:r>
              <a:rPr lang="ru-RU" dirty="0" smtClean="0"/>
              <a:t>Локальная сеть (ЛВС – локальная вычислительная сеть, </a:t>
            </a:r>
            <a:r>
              <a:rPr lang="en-US" dirty="0" smtClean="0"/>
              <a:t>LAN – Local Area Network</a:t>
            </a:r>
            <a:r>
              <a:rPr lang="ru-RU" dirty="0" smtClean="0"/>
              <a:t>) – сеть, связывающая компьютеры </a:t>
            </a:r>
            <a:r>
              <a:rPr lang="ru-RU" smtClean="0"/>
              <a:t>в </a:t>
            </a:r>
            <a:r>
              <a:rPr lang="ru-RU" smtClean="0"/>
              <a:t>пределах </a:t>
            </a:r>
            <a:r>
              <a:rPr lang="ru-RU" dirty="0" smtClean="0"/>
              <a:t>одной комнаты/здания/предприятия.</a:t>
            </a:r>
          </a:p>
          <a:p>
            <a:r>
              <a:rPr lang="ru-RU" dirty="0" smtClean="0"/>
              <a:t>Глобальная вычислительная сеть (ГВС, </a:t>
            </a:r>
            <a:r>
              <a:rPr lang="en-US" dirty="0" smtClean="0"/>
              <a:t>WAN – World Area Network</a:t>
            </a:r>
            <a:r>
              <a:rPr lang="ru-RU" dirty="0" smtClean="0"/>
              <a:t>) – сеть, соединяющая компьютеры, удаленные географически на большие расстояния. Глобальная сети объединяет локальные сети.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Интернет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Интернет - всемирная система объединённых компьютерных сетей, построенная на использовании протокола IP и маршрутизации пакетов данных.</a:t>
            </a:r>
          </a:p>
          <a:p>
            <a:r>
              <a:rPr lang="ru-RU" dirty="0" smtClean="0"/>
              <a:t>Отдельные участки Интернета представляют собой сети с различной архитектурой, которые связываются между собой с помощью </a:t>
            </a:r>
            <a:r>
              <a:rPr lang="ru-RU" b="1" dirty="0" err="1" smtClean="0"/>
              <a:t>маршрутизаторов</a:t>
            </a:r>
            <a:r>
              <a:rPr lang="ru-RU" b="1" dirty="0" smtClean="0"/>
              <a:t>.</a:t>
            </a:r>
            <a:r>
              <a:rPr lang="ru-RU" dirty="0" smtClean="0"/>
              <a:t> Передаваемые данные разбиваются на небольшие порции – </a:t>
            </a:r>
            <a:r>
              <a:rPr lang="ru-RU" b="1" dirty="0" smtClean="0"/>
              <a:t>пакеты</a:t>
            </a:r>
            <a:r>
              <a:rPr lang="ru-RU" dirty="0" smtClean="0"/>
              <a:t>. Пакеты, составляющие сообщение, перемещается по сети независимо от друг от друга, затем объединяются в единый блок информации на целевой компьютере.</a:t>
            </a:r>
          </a:p>
          <a:p>
            <a:r>
              <a:rPr lang="ru-RU" dirty="0" smtClean="0"/>
              <a:t>Все компьютеры, подключенные к Интернету используют стек </a:t>
            </a:r>
            <a:r>
              <a:rPr lang="en-US" dirty="0" smtClean="0"/>
              <a:t>(</a:t>
            </a:r>
            <a:r>
              <a:rPr lang="ru-RU" dirty="0" smtClean="0"/>
              <a:t>объединение</a:t>
            </a:r>
            <a:r>
              <a:rPr lang="en-US" dirty="0" smtClean="0"/>
              <a:t>)</a:t>
            </a:r>
            <a:r>
              <a:rPr lang="ru-RU" dirty="0" smtClean="0"/>
              <a:t> протоколов </a:t>
            </a:r>
            <a:r>
              <a:rPr lang="en-US" dirty="0" smtClean="0"/>
              <a:t>TCP/IP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Стек протоколов </a:t>
            </a:r>
            <a:r>
              <a:rPr lang="en-US" dirty="0" smtClean="0"/>
              <a:t>TCP/IP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Протокол – правила взаимодействия функциональных блоков при передаче данных.</a:t>
            </a:r>
          </a:p>
          <a:p>
            <a:r>
              <a:rPr lang="ru-RU" dirty="0" smtClean="0"/>
              <a:t>Протокол </a:t>
            </a:r>
            <a:r>
              <a:rPr lang="en-US" dirty="0" smtClean="0"/>
              <a:t>TCP (Transmission Control Protocol) – </a:t>
            </a:r>
            <a:r>
              <a:rPr lang="ru-RU" dirty="0" smtClean="0"/>
              <a:t>протокол управления передачей данных, обеспечивающий повторную передачу пакетов, содержащих ошибки и отвечающий за разбиение передаваемой информации на пакеты и правильное восстановление информации из пакетов.</a:t>
            </a:r>
          </a:p>
          <a:p>
            <a:r>
              <a:rPr lang="ru-RU" dirty="0" smtClean="0"/>
              <a:t>Протокол </a:t>
            </a:r>
            <a:r>
              <a:rPr lang="en-US" dirty="0" smtClean="0"/>
              <a:t>IP </a:t>
            </a:r>
            <a:r>
              <a:rPr lang="ru-RU" dirty="0" smtClean="0"/>
              <a:t>(</a:t>
            </a:r>
            <a:r>
              <a:rPr lang="en-US" dirty="0" smtClean="0"/>
              <a:t>Internet Protocol</a:t>
            </a:r>
            <a:r>
              <a:rPr lang="ru-RU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протокол межсетевого взаимодействия, отвечающий за адресацию и позволяющий пакету на пути к целевому компьютеру проходить по нескольким сетям.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Схема передачи данных в сети Интернет</a:t>
            </a:r>
            <a:endParaRPr lang="ru-RU" dirty="0"/>
          </a:p>
        </p:txBody>
      </p:sp>
      <p:pic>
        <p:nvPicPr>
          <p:cNvPr id="4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510" y="3395659"/>
            <a:ext cx="1000132" cy="1000132"/>
          </a:xfrm>
          <a:prstGeom prst="rect">
            <a:avLst/>
          </a:prstGeom>
          <a:noFill/>
        </p:spPr>
      </p:pic>
      <p:pic>
        <p:nvPicPr>
          <p:cNvPr id="5" name="Picture 2" descr="H:\LMS\WpfApplication1\WpfApplication1\bin\Debug\Images\Biggest Windows 7's icons pack created by NhatPG\17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39111" y="3305174"/>
            <a:ext cx="1000132" cy="1000132"/>
          </a:xfrm>
          <a:prstGeom prst="rect">
            <a:avLst/>
          </a:prstGeom>
          <a:noFill/>
        </p:spPr>
      </p:pic>
      <p:sp>
        <p:nvSpPr>
          <p:cNvPr id="6" name="Облако 5"/>
          <p:cNvSpPr/>
          <p:nvPr/>
        </p:nvSpPr>
        <p:spPr>
          <a:xfrm>
            <a:off x="1643042" y="1714488"/>
            <a:ext cx="5857916" cy="450059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/>
              <a:t>Интернет</a:t>
            </a:r>
            <a:endParaRPr lang="ru-RU" dirty="0"/>
          </a:p>
        </p:txBody>
      </p:sp>
      <p:sp>
        <p:nvSpPr>
          <p:cNvPr id="7" name="Блок-схема: узел суммирования 6"/>
          <p:cNvSpPr/>
          <p:nvPr/>
        </p:nvSpPr>
        <p:spPr>
          <a:xfrm>
            <a:off x="2214546" y="3571876"/>
            <a:ext cx="642942" cy="642942"/>
          </a:xfrm>
          <a:prstGeom prst="flowChartSummingJunction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лок-схема: узел суммирования 7"/>
          <p:cNvSpPr/>
          <p:nvPr/>
        </p:nvSpPr>
        <p:spPr>
          <a:xfrm>
            <a:off x="4143372" y="2786058"/>
            <a:ext cx="642942" cy="642942"/>
          </a:xfrm>
          <a:prstGeom prst="flowChartSummingJunction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узел суммирования 8"/>
          <p:cNvSpPr/>
          <p:nvPr/>
        </p:nvSpPr>
        <p:spPr>
          <a:xfrm>
            <a:off x="4143372" y="5072074"/>
            <a:ext cx="642942" cy="642942"/>
          </a:xfrm>
          <a:prstGeom prst="flowChartSummingJunction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лок-схема: узел суммирования 9"/>
          <p:cNvSpPr/>
          <p:nvPr/>
        </p:nvSpPr>
        <p:spPr>
          <a:xfrm>
            <a:off x="4143372" y="3571876"/>
            <a:ext cx="642942" cy="642942"/>
          </a:xfrm>
          <a:prstGeom prst="flowChartSummingJunction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лок-схема: узел суммирования 10"/>
          <p:cNvSpPr/>
          <p:nvPr/>
        </p:nvSpPr>
        <p:spPr>
          <a:xfrm>
            <a:off x="6195996" y="3486151"/>
            <a:ext cx="642942" cy="642942"/>
          </a:xfrm>
          <a:prstGeom prst="flowChartSummingJunction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/>
          <p:cNvCxnSpPr>
            <a:stCxn id="4" idx="3"/>
            <a:endCxn id="7" idx="2"/>
          </p:cNvCxnSpPr>
          <p:nvPr/>
        </p:nvCxnSpPr>
        <p:spPr>
          <a:xfrm flipV="1">
            <a:off x="1290642" y="3893347"/>
            <a:ext cx="923904" cy="23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7" idx="7"/>
            <a:endCxn id="8" idx="2"/>
          </p:cNvCxnSpPr>
          <p:nvPr/>
        </p:nvCxnSpPr>
        <p:spPr>
          <a:xfrm rot="5400000" flipH="1" flipV="1">
            <a:off x="3174099" y="2696761"/>
            <a:ext cx="558504" cy="13800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6"/>
            <a:endCxn id="10" idx="2"/>
          </p:cNvCxnSpPr>
          <p:nvPr/>
        </p:nvCxnSpPr>
        <p:spPr>
          <a:xfrm>
            <a:off x="2857488" y="3893347"/>
            <a:ext cx="1285884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7" idx="5"/>
            <a:endCxn id="9" idx="2"/>
          </p:cNvCxnSpPr>
          <p:nvPr/>
        </p:nvCxnSpPr>
        <p:spPr>
          <a:xfrm rot="16200000" flipH="1">
            <a:off x="2816909" y="4067082"/>
            <a:ext cx="1272884" cy="13800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8" idx="4"/>
            <a:endCxn id="10" idx="0"/>
          </p:cNvCxnSpPr>
          <p:nvPr/>
        </p:nvCxnSpPr>
        <p:spPr>
          <a:xfrm rot="5400000">
            <a:off x="4393405" y="3500438"/>
            <a:ext cx="142876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0" idx="4"/>
            <a:endCxn id="9" idx="0"/>
          </p:cNvCxnSpPr>
          <p:nvPr/>
        </p:nvCxnSpPr>
        <p:spPr>
          <a:xfrm rot="5400000">
            <a:off x="4036215" y="4643446"/>
            <a:ext cx="857256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8" idx="6"/>
            <a:endCxn id="11" idx="1"/>
          </p:cNvCxnSpPr>
          <p:nvPr/>
        </p:nvCxnSpPr>
        <p:spPr>
          <a:xfrm>
            <a:off x="4786314" y="3107529"/>
            <a:ext cx="1503839" cy="4727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6"/>
            <a:endCxn id="11" idx="3"/>
          </p:cNvCxnSpPr>
          <p:nvPr/>
        </p:nvCxnSpPr>
        <p:spPr>
          <a:xfrm flipV="1">
            <a:off x="4786314" y="4034936"/>
            <a:ext cx="1503839" cy="13586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1" idx="6"/>
            <a:endCxn id="5" idx="1"/>
          </p:cNvCxnSpPr>
          <p:nvPr/>
        </p:nvCxnSpPr>
        <p:spPr>
          <a:xfrm flipV="1">
            <a:off x="6838938" y="3805240"/>
            <a:ext cx="1100173" cy="23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285984" y="428625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М1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4248134" y="5781681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М2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4819634" y="3705231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М3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4800584" y="2724156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М4</a:t>
            </a:r>
            <a:endParaRPr lang="ru-RU" dirty="0"/>
          </a:p>
        </p:txBody>
      </p:sp>
      <p:sp>
        <p:nvSpPr>
          <p:cNvPr id="54" name="TextBox 53"/>
          <p:cNvSpPr txBox="1"/>
          <p:nvPr/>
        </p:nvSpPr>
        <p:spPr>
          <a:xfrm>
            <a:off x="6219809" y="3086106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М5</a:t>
            </a:r>
            <a:endParaRPr lang="ru-RU" dirty="0"/>
          </a:p>
        </p:txBody>
      </p:sp>
      <p:cxnSp>
        <p:nvCxnSpPr>
          <p:cNvPr id="56" name="Прямая со стрелкой 55"/>
          <p:cNvCxnSpPr/>
          <p:nvPr/>
        </p:nvCxnSpPr>
        <p:spPr>
          <a:xfrm>
            <a:off x="1428728" y="3714752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 flipV="1">
            <a:off x="2786050" y="3000372"/>
            <a:ext cx="1285884" cy="5000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>
            <a:off x="2928926" y="3786190"/>
            <a:ext cx="114300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/>
          <p:nvPr/>
        </p:nvCxnSpPr>
        <p:spPr>
          <a:xfrm>
            <a:off x="2928926" y="4143380"/>
            <a:ext cx="1143008" cy="10001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/>
          <p:nvPr/>
        </p:nvCxnSpPr>
        <p:spPr>
          <a:xfrm rot="5400000">
            <a:off x="4000496" y="4643446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/>
          <p:nvPr/>
        </p:nvCxnSpPr>
        <p:spPr>
          <a:xfrm flipV="1">
            <a:off x="4857752" y="4000504"/>
            <a:ext cx="1285884" cy="11430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/>
          <p:nvPr/>
        </p:nvCxnSpPr>
        <p:spPr>
          <a:xfrm>
            <a:off x="4857752" y="3286124"/>
            <a:ext cx="1285884" cy="4286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357290" y="3286124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 1,2,3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3071802" y="2786058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 1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195627" y="4110033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 2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3357554" y="342900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 3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3824279" y="43624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 3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5367329" y="3543300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 1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4786314" y="4357694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 2,3</a:t>
            </a:r>
            <a:endParaRPr lang="ru-RU" dirty="0"/>
          </a:p>
        </p:txBody>
      </p:sp>
      <p:cxnSp>
        <p:nvCxnSpPr>
          <p:cNvPr id="77" name="Прямая со стрелкой 76"/>
          <p:cNvCxnSpPr/>
          <p:nvPr/>
        </p:nvCxnSpPr>
        <p:spPr>
          <a:xfrm>
            <a:off x="6929454" y="3643314"/>
            <a:ext cx="92869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919929" y="3138484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 1,2,3</a:t>
            </a:r>
            <a:endParaRPr lang="ru-RU" dirty="0"/>
          </a:p>
        </p:txBody>
      </p:sp>
      <p:sp>
        <p:nvSpPr>
          <p:cNvPr id="80" name="TextBox 79"/>
          <p:cNvSpPr txBox="1"/>
          <p:nvPr/>
        </p:nvSpPr>
        <p:spPr>
          <a:xfrm>
            <a:off x="357158" y="442913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 «А»</a:t>
            </a:r>
            <a:endParaRPr lang="ru-RU" dirty="0"/>
          </a:p>
        </p:txBody>
      </p:sp>
      <p:sp>
        <p:nvSpPr>
          <p:cNvPr id="81" name="TextBox 80"/>
          <p:cNvSpPr txBox="1"/>
          <p:nvPr/>
        </p:nvSpPr>
        <p:spPr>
          <a:xfrm>
            <a:off x="8072462" y="435769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 «Б»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Адресация в сети Интернет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830514"/>
          </a:xfrm>
        </p:spPr>
        <p:txBody>
          <a:bodyPr/>
          <a:lstStyle/>
          <a:p>
            <a:r>
              <a:rPr lang="ru-RU" dirty="0" smtClean="0"/>
              <a:t>Каждый компьютер в сети Интернет имеет как минимум 2 уникальных адреса.</a:t>
            </a:r>
          </a:p>
          <a:p>
            <a:r>
              <a:rPr lang="en-US" dirty="0" smtClean="0"/>
              <a:t>IP</a:t>
            </a:r>
            <a:r>
              <a:rPr lang="ru-RU" dirty="0" smtClean="0"/>
              <a:t>-адрес – четырёхбайтный адрес, включающий в себя адрес сети и адрес компьютера в этой сети.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928926" y="3357562"/>
            <a:ext cx="30235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 smtClean="0"/>
              <a:t>192.168.13.155</a:t>
            </a:r>
            <a:endParaRPr lang="ru-RU" sz="3000" b="1" dirty="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>
          <a:xfrm>
            <a:off x="357158" y="3929066"/>
            <a:ext cx="8503920" cy="92869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DNS-</a:t>
            </a:r>
            <a:r>
              <a:rPr kumimoji="0" lang="ru-RU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адрес</a:t>
            </a:r>
            <a:r>
              <a:rPr kumimoji="0" lang="ru-RU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доменный адрес, является символьным.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74750" y="4714884"/>
            <a:ext cx="2783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/>
              <a:t>www.mail.ru</a:t>
            </a:r>
            <a:endParaRPr lang="ru-RU" sz="3000" b="1" dirty="0"/>
          </a:p>
        </p:txBody>
      </p:sp>
      <p:sp>
        <p:nvSpPr>
          <p:cNvPr id="8" name="Содержимое 2"/>
          <p:cNvSpPr txBox="1">
            <a:spLocks/>
          </p:cNvSpPr>
          <p:nvPr/>
        </p:nvSpPr>
        <p:spPr>
          <a:xfrm>
            <a:off x="357158" y="5286388"/>
            <a:ext cx="8503920" cy="92869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ru-RU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 передаче данных доменный адрес преобразуется в</a:t>
            </a:r>
            <a:r>
              <a:rPr kumimoji="0" lang="ru-RU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IP</a:t>
            </a:r>
            <a:r>
              <a:rPr kumimoji="0" lang="ru-RU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с помощью протокола </a:t>
            </a:r>
            <a:r>
              <a:rPr kumimoji="0" lang="en-US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DNS</a:t>
            </a:r>
            <a:r>
              <a:rPr kumimoji="0" lang="ru-RU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World Wide Web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WWW – </a:t>
            </a:r>
            <a:r>
              <a:rPr lang="ru-RU" dirty="0" smtClean="0"/>
              <a:t>гипертекстовая </a:t>
            </a:r>
            <a:r>
              <a:rPr lang="ru-RU" dirty="0" err="1" smtClean="0"/>
              <a:t>гипермедийная</a:t>
            </a:r>
            <a:r>
              <a:rPr lang="ru-RU" dirty="0" smtClean="0"/>
              <a:t> информационная система поиска ресурсов сети Интернет и доступа к ним.</a:t>
            </a:r>
          </a:p>
          <a:p>
            <a:r>
              <a:rPr lang="en-US" dirty="0" smtClean="0"/>
              <a:t>WWW </a:t>
            </a:r>
            <a:r>
              <a:rPr lang="ru-RU" dirty="0" smtClean="0"/>
              <a:t>построена на протоколе передачи данных </a:t>
            </a:r>
            <a:r>
              <a:rPr lang="en-US" dirty="0" smtClean="0"/>
              <a:t>HTTP (Hyper Text Transfer Protocol)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Содержимое системы </a:t>
            </a:r>
            <a:r>
              <a:rPr lang="en-US" dirty="0" smtClean="0"/>
              <a:t>WWW </a:t>
            </a:r>
            <a:r>
              <a:rPr lang="ru-RU" dirty="0" smtClean="0"/>
              <a:t>состоит из </a:t>
            </a:r>
            <a:r>
              <a:rPr lang="en-US" dirty="0" smtClean="0"/>
              <a:t>WWW</a:t>
            </a:r>
            <a:r>
              <a:rPr lang="ru-RU" dirty="0" smtClean="0"/>
              <a:t>-страниц, называемых сайтами – набор гипертекстовых документов, расположенных на одном сервере, связанных взаимными ссылками.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Электронная почта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973390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Используется </a:t>
            </a:r>
            <a:r>
              <a:rPr lang="ru-RU" smtClean="0"/>
              <a:t>для передачи сообщений </a:t>
            </a:r>
            <a:r>
              <a:rPr lang="ru-RU" dirty="0" smtClean="0"/>
              <a:t>в пределах сети Интернет, а так же между другими сетями.</a:t>
            </a:r>
          </a:p>
          <a:p>
            <a:r>
              <a:rPr lang="ru-RU" dirty="0" smtClean="0"/>
              <a:t>Каждому абоненту присваивается уникальный электронный адрес следующего формата: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85720" y="3429000"/>
            <a:ext cx="913423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/>
              <a:t>&lt;</a:t>
            </a:r>
            <a:r>
              <a:rPr lang="ru-RU" sz="2500" b="1" dirty="0" smtClean="0"/>
              <a:t>имя пользователя</a:t>
            </a:r>
            <a:r>
              <a:rPr lang="en-US" sz="2500" b="1" dirty="0" smtClean="0"/>
              <a:t>&gt;@&lt;</a:t>
            </a:r>
            <a:r>
              <a:rPr lang="ru-RU" sz="2500" b="1" dirty="0" smtClean="0"/>
              <a:t>адрес почтового сервера</a:t>
            </a:r>
            <a:r>
              <a:rPr lang="en-US" sz="2500" b="1" dirty="0" smtClean="0"/>
              <a:t>&gt;</a:t>
            </a:r>
            <a:endParaRPr lang="ru-RU" sz="2500" b="1" dirty="0"/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285720" y="4000504"/>
            <a:ext cx="8503920" cy="197339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ru-RU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Сообщения, поступающие по электронной почте хранятся на специальном почтовом сервере в выделенной для пользователя области дисковой памяти,</a:t>
            </a:r>
            <a:r>
              <a:rPr kumimoji="0" lang="ru-RU" sz="2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называемой почтовым ящиком.</a:t>
            </a:r>
            <a:endParaRPr kumimoji="0" lang="ru-RU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lnDef>
      <a:spPr/>
      <a:bodyPr/>
      <a:lstStyle/>
      <a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309</TotalTime>
  <Words>812</Words>
  <Application>Microsoft Office PowerPoint</Application>
  <PresentationFormat>Экран (4:3)</PresentationFormat>
  <Paragraphs>113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Официальная</vt:lpstr>
      <vt:lpstr>Компьютерные сети</vt:lpstr>
      <vt:lpstr>Компьютерная сеть</vt:lpstr>
      <vt:lpstr>Линейная топология (топология шины)</vt:lpstr>
      <vt:lpstr>Топология кольца</vt:lpstr>
      <vt:lpstr>Топология звезды</vt:lpstr>
      <vt:lpstr>Топология расширенной звезды</vt:lpstr>
      <vt:lpstr>Ячеистая топология</vt:lpstr>
      <vt:lpstr>Полносвязная сеть</vt:lpstr>
      <vt:lpstr>Архитектура сетей</vt:lpstr>
      <vt:lpstr>Ethernet</vt:lpstr>
      <vt:lpstr>Среды передачи данных</vt:lpstr>
      <vt:lpstr>Основные сетевые устройства. Концентратор</vt:lpstr>
      <vt:lpstr>Основные сетевые устройства. Коммутатор</vt:lpstr>
      <vt:lpstr>Основные сетевые устройства. Маршрутизатор</vt:lpstr>
      <vt:lpstr>Классификация компьютерных сетей</vt:lpstr>
      <vt:lpstr>Интернет</vt:lpstr>
      <vt:lpstr>Стек протоколов TCP/IP</vt:lpstr>
      <vt:lpstr>Схема передачи данных в сети Интернет</vt:lpstr>
      <vt:lpstr>Адресация в сети Интернет</vt:lpstr>
      <vt:lpstr>World Wide Web</vt:lpstr>
      <vt:lpstr>Электронная почта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Компьютерные сети</dc:title>
  <dc:creator>student</dc:creator>
  <cp:lastModifiedBy>Александр</cp:lastModifiedBy>
  <cp:revision>27</cp:revision>
  <dcterms:created xsi:type="dcterms:W3CDTF">2011-11-08T12:38:39Z</dcterms:created>
  <dcterms:modified xsi:type="dcterms:W3CDTF">2012-10-26T05:22:29Z</dcterms:modified>
</cp:coreProperties>
</file>