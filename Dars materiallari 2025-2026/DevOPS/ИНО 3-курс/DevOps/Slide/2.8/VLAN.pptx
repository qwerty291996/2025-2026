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1"/>
  </p:notesMasterIdLst>
  <p:sldIdLst>
    <p:sldId id="256" r:id="rId2"/>
    <p:sldId id="294" r:id="rId3"/>
    <p:sldId id="257" r:id="rId4"/>
    <p:sldId id="268" r:id="rId5"/>
    <p:sldId id="269" r:id="rId6"/>
    <p:sldId id="271" r:id="rId7"/>
    <p:sldId id="272" r:id="rId8"/>
    <p:sldId id="273" r:id="rId9"/>
    <p:sldId id="274" r:id="rId10"/>
    <p:sldId id="275" r:id="rId11"/>
    <p:sldId id="276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58" autoAdjust="0"/>
    <p:restoredTop sz="87104" autoAdjust="0"/>
  </p:normalViewPr>
  <p:slideViewPr>
    <p:cSldViewPr>
      <p:cViewPr varScale="1">
        <p:scale>
          <a:sx n="100" d="100"/>
          <a:sy n="100" d="100"/>
        </p:scale>
        <p:origin x="172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93D1D4FB-B2E0-4656-9D0D-D9BC7FE8F117}" type="datetimeFigureOut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49AFE72-53D1-45A8-9C86-068EC79D7C5B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1126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2C4517-84C2-44F9-A665-0C3E0EA9B587}" type="slidenum">
              <a:rPr lang="ru-RU" altLang="ru-RU"/>
              <a:pPr/>
              <a:t>1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1126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2C4517-84C2-44F9-A665-0C3E0EA9B587}" type="slidenum">
              <a:rPr lang="ru-RU" altLang="ru-RU"/>
              <a:pPr/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3373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b="1" dirty="0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83A55EA-2EE9-4970-8C4D-EAD6650BF2A2}" type="slidenum">
              <a:rPr lang="ru-RU" altLang="ru-RU"/>
              <a:pPr/>
              <a:t>3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1536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ED84CBC-BB18-4B4E-B740-B6A62B5C895C}" type="slidenum">
              <a:rPr lang="ru-RU" altLang="ru-RU"/>
              <a:pPr/>
              <a:t>4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/>
          </a:p>
        </p:txBody>
      </p:sp>
      <p:sp>
        <p:nvSpPr>
          <p:cNvPr id="174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AFD574F-85C6-444E-A994-DCFB00107727}" type="slidenum">
              <a:rPr lang="ru-RU" altLang="ru-RU"/>
              <a:pPr/>
              <a:t>5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dirty="0"/>
              <a:t>Рассмотрим пример, показывающий эффективность использования логической сегментации сетей с помощью технологии </a:t>
            </a:r>
            <a:r>
              <a:rPr lang="en-US" altLang="ru-RU" dirty="0"/>
              <a:t>VLAN </a:t>
            </a:r>
            <a:r>
              <a:rPr lang="ru-RU" altLang="ru-RU" dirty="0"/>
              <a:t>при решении типовой задачи организации доступа в Интернет сотрудникам офиса, при условии изоляции трафика разных отделов.</a:t>
            </a:r>
          </a:p>
          <a:p>
            <a:endParaRPr lang="ru-RU" altLang="ru-RU" dirty="0"/>
          </a:p>
          <a:p>
            <a:r>
              <a:rPr lang="ru-RU" altLang="ru-RU" dirty="0"/>
              <a:t>Предположим, что в офисе находится несколько кабинетов, в каждом из которых располагается некоторое количество сотрудников. Каждый кабинет представляет собой отдельную рабочую группу.</a:t>
            </a:r>
          </a:p>
          <a:p>
            <a:r>
              <a:rPr lang="ru-RU" altLang="ru-RU" dirty="0"/>
              <a:t>При стандартном подходе к решению задачи с помощью физической сегментации трафика каждого отдела потребовалось бы в каждый кабинет устанавливать отдельный коммутатор, подключаемый к </a:t>
            </a:r>
            <a:r>
              <a:rPr lang="ru-RU" altLang="ru-RU" dirty="0" err="1"/>
              <a:t>маршрутизатору</a:t>
            </a:r>
            <a:r>
              <a:rPr lang="ru-RU" altLang="ru-RU" dirty="0"/>
              <a:t>, предоставляющему подключение в Интернет. При этом маршрутизатор должен обладать достаточным количеством портов, обеспечивающим возможность подключения всех физических сегментов (кабинетов) сети. Данное решение является плохо масштабируемым и дорогостоящим, так как при увеличении количества отделов, увеличивается количество необходимых коммутаторов, интерфейсов </a:t>
            </a:r>
            <a:r>
              <a:rPr lang="ru-RU" altLang="ru-RU" dirty="0" err="1"/>
              <a:t>маршрутизатора</a:t>
            </a:r>
            <a:r>
              <a:rPr lang="ru-RU" altLang="ru-RU" dirty="0"/>
              <a:t> и магистральных кабелей.</a:t>
            </a:r>
          </a:p>
          <a:p>
            <a:br>
              <a:rPr lang="ru-RU" altLang="ru-RU" dirty="0"/>
            </a:br>
            <a:endParaRPr lang="ru-RU" altLang="ru-RU" dirty="0"/>
          </a:p>
        </p:txBody>
      </p:sp>
      <p:sp>
        <p:nvSpPr>
          <p:cNvPr id="1946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7CFA6E7-B98C-4C1B-9EB0-8F609E8A560B}" type="slidenum">
              <a:rPr lang="ru-RU" altLang="ru-RU"/>
              <a:pPr/>
              <a:t>6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 dirty="0"/>
            </a:br>
            <a:r>
              <a:rPr lang="ru-RU" altLang="ru-RU" dirty="0"/>
              <a:t>При использовании виртуальных локальных сетей не требуется подключать пользователей одного отдела к отдельному коммутатору, что позволяет сократить количество используемых устройств и магистральных кабелей. Коммутатор, программное обеспечение которого поддерживает функцию виртуальных локальных сетей, позволяет выполнять логическую сегментацию сети путем соответствующей программной настройки. Благодаря этому можно подключать компьютеры, находящиеся в разных сегментах сети, к одному коммутатору, а также сократить количество необходимых физических интерфейсов на </a:t>
            </a:r>
            <a:r>
              <a:rPr lang="ru-RU" altLang="ru-RU" dirty="0" err="1"/>
              <a:t>маршрутизаторе</a:t>
            </a:r>
            <a:r>
              <a:rPr lang="ru-RU" altLang="ru-RU" dirty="0"/>
              <a:t>.</a:t>
            </a:r>
          </a:p>
          <a:p>
            <a:endParaRPr lang="ru-RU" altLang="ru-RU" dirty="0"/>
          </a:p>
        </p:txBody>
      </p:sp>
      <p:sp>
        <p:nvSpPr>
          <p:cNvPr id="2150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0721FFC-B796-4873-8366-D5D9777DE264}" type="slidenum">
              <a:rPr lang="ru-RU" altLang="ru-RU"/>
              <a:pPr/>
              <a:t>7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355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74A6F2F-7086-4D12-8198-CDE15F49AD4B}" type="slidenum">
              <a:rPr lang="ru-RU" altLang="ru-RU"/>
              <a:pPr/>
              <a:t>8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560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6E70AB6-8577-4C73-BCD3-9FB2A7A3A827}" type="slidenum">
              <a:rPr lang="ru-RU" altLang="ru-RU"/>
              <a:pPr/>
              <a:t>9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765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5FBB409-74B7-49BB-9589-D3AA54AF5576}" type="slidenum">
              <a:rPr lang="ru-RU" altLang="ru-RU"/>
              <a:pPr/>
              <a:t>10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D9ED65-4286-4865-B503-807E7C54D37B}" type="slidenum">
              <a:rPr lang="ru-RU" altLang="ru-RU"/>
              <a:pPr/>
              <a:t>11</a:t>
            </a:fld>
            <a:endParaRPr lang="ru-RU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D9ED65-4286-4865-B503-807E7C54D37B}" type="slidenum">
              <a:rPr lang="ru-RU" altLang="ru-RU"/>
              <a:pPr/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70636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D9ED65-4286-4865-B503-807E7C54D37B}" type="slidenum">
              <a:rPr lang="ru-RU" altLang="ru-RU"/>
              <a:pPr/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20027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D9ED65-4286-4865-B503-807E7C54D37B}" type="slidenum">
              <a:rPr lang="ru-RU" altLang="ru-RU"/>
              <a:pPr/>
              <a:t>14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25048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D9ED65-4286-4865-B503-807E7C54D37B}" type="slidenum">
              <a:rPr lang="ru-RU" altLang="ru-RU"/>
              <a:pPr/>
              <a:t>15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77410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D9ED65-4286-4865-B503-807E7C54D37B}" type="slidenum">
              <a:rPr lang="ru-RU" altLang="ru-RU"/>
              <a:pPr/>
              <a:t>16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4067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D9ED65-4286-4865-B503-807E7C54D37B}" type="slidenum">
              <a:rPr lang="ru-RU" altLang="ru-RU"/>
              <a:pPr/>
              <a:t>17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36737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D9ED65-4286-4865-B503-807E7C54D37B}" type="slidenum">
              <a:rPr lang="ru-RU" altLang="ru-RU"/>
              <a:pPr/>
              <a:t>18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34202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br>
              <a:rPr lang="ru-RU" altLang="ru-RU"/>
            </a:br>
            <a:endParaRPr lang="ru-RU" altLang="ru-RU"/>
          </a:p>
        </p:txBody>
      </p:sp>
      <p:sp>
        <p:nvSpPr>
          <p:cNvPr id="2970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D9ED65-4286-4865-B503-807E7C54D37B}" type="slidenum">
              <a:rPr lang="ru-RU" altLang="ru-RU"/>
              <a:pPr/>
              <a:t>19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29308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7" name="Дата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2C47C71-876E-46E0-A1C8-EF26C66355E2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10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B22A31-EBC8-4A0D-B234-4080C91463F9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C72F5-E9B8-4B1A-88D8-251183363DEB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6C00E2-6482-43BB-9D96-2285D58023B2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A7020-124E-4947-AA0B-0B1D926650C2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8" name="Номер слайда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FA874833-23E4-4F6B-A0E8-1DFBD176B4E7}" type="slidenum">
              <a:rPr lang="ru-RU" altLang="ru-RU"/>
              <a:pPr/>
              <a:t>‹#›</a:t>
            </a:fld>
            <a:endParaRPr lang="ru-RU" altLang="ru-RU"/>
          </a:p>
        </p:txBody>
      </p:sp>
      <p:sp>
        <p:nvSpPr>
          <p:cNvPr id="9" name="Нижний колонтитул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77EA838-353E-4AF9-9DB3-EF66F5E9EA71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6" name="Номер слайда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840EA8-CD21-4069-B483-FF24CF9E459A}" type="slidenum">
              <a:rPr lang="ru-RU" altLang="ru-RU"/>
              <a:pPr/>
              <a:t>‹#›</a:t>
            </a:fld>
            <a:endParaRPr lang="ru-RU" altLang="ru-RU"/>
          </a:p>
        </p:txBody>
      </p:sp>
      <p:sp>
        <p:nvSpPr>
          <p:cNvPr id="7" name="Нижний колонтитул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Дата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CE3FBA9-3CCC-4A66-A355-95D6E03FD158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8" name="Номер слайда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EBB862-C7B0-4D52-B0E6-16001C38D814}" type="slidenum">
              <a:rPr lang="ru-RU" altLang="ru-RU"/>
              <a:pPr/>
              <a:t>‹#›</a:t>
            </a:fld>
            <a:endParaRPr lang="ru-RU" altLang="ru-RU"/>
          </a:p>
        </p:txBody>
      </p:sp>
      <p:sp>
        <p:nvSpPr>
          <p:cNvPr id="9" name="Нижний колонтитул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344844-D28C-4F88-BA12-50ED1B2A9F8A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4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47E29-897A-442D-BFC9-E8EB8D8359E9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78F3F2-E3F7-4D85-9B9B-478129D5066B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541F36-5615-43A7-8BE7-AECF2A797600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15EEF-E382-4EF1-B6B8-FCB69B7ACB6A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D8ED36-D824-48B6-9438-C34C1B01466F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9" name="Дата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CEFF542-CFE2-45B2-9363-ABFE7A7F0FE9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10" name="Номер слайда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/>
          <a:lstStyle>
            <a:lvl1pPr>
              <a:defRPr sz="2800"/>
            </a:lvl1pPr>
          </a:lstStyle>
          <a:p>
            <a:fld id="{F13E627E-F543-4E87-9507-54C407E0A733}" type="slidenum">
              <a:rPr lang="ru-RU" altLang="ru-RU"/>
              <a:pPr/>
              <a:t>‹#›</a:t>
            </a:fld>
            <a:endParaRPr lang="ru-RU" altLang="ru-RU"/>
          </a:p>
        </p:txBody>
      </p:sp>
      <p:sp>
        <p:nvSpPr>
          <p:cNvPr id="11" name="Нижний колонтитул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03AB2-EA1D-45B4-A4F4-E2592C838D00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85122C-BEF4-4980-9860-6C380816FBAB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75F87-289D-4315-AB22-BCB2B8E74FDD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fld id="{E22B7040-0D6A-4AC1-B7FC-2D4C4FF6C779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en-US" altLang="ru-RU"/>
          </a:p>
        </p:txBody>
      </p:sp>
      <p:sp>
        <p:nvSpPr>
          <p:cNvPr id="1027" name="Текст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034519B2-583B-412A-A602-3F73671017D4}" type="datetime1">
              <a:rPr lang="ru-RU"/>
              <a:pPr>
                <a:defRPr/>
              </a:pPr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Прямоугольник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1400" b="1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fld id="{0C30F8A5-0A3C-4664-A207-17547CCB7ACE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15" r:id="rId2"/>
    <p:sldLayoutId id="2147484020" r:id="rId3"/>
    <p:sldLayoutId id="2147484021" r:id="rId4"/>
    <p:sldLayoutId id="2147484022" r:id="rId5"/>
    <p:sldLayoutId id="2147484016" r:id="rId6"/>
    <p:sldLayoutId id="2147484023" r:id="rId7"/>
    <p:sldLayoutId id="2147484017" r:id="rId8"/>
    <p:sldLayoutId id="2147484024" r:id="rId9"/>
    <p:sldLayoutId id="2147484018" r:id="rId10"/>
    <p:sldLayoutId id="214748402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9BBB59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8064A2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86535" y="1223755"/>
            <a:ext cx="8596313" cy="2408625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 </a:t>
            </a:r>
            <a:r>
              <a:rPr lang="ru-RU" sz="2800" b="1" dirty="0"/>
              <a:t>Тема 2: Компьютерные сети и технологии.</a:t>
            </a:r>
            <a:br>
              <a:rPr lang="ru-RU" sz="2800" dirty="0"/>
            </a:br>
            <a:r>
              <a:rPr lang="ru-RU" sz="2800" b="1" dirty="0"/>
              <a:t>Занятие-8. (Группа) </a:t>
            </a:r>
            <a:r>
              <a:rPr lang="uz-Cyrl-UZ" sz="2800" dirty="0"/>
              <a:t>Понятие VLAN и Trunk.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4572000" y="450850"/>
            <a:ext cx="4049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     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9763BD-B26C-4859-8F87-043B06B5C3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377" y="3879050"/>
            <a:ext cx="1191246" cy="1489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86535" y="1628800"/>
            <a:ext cx="8596313" cy="2408625"/>
          </a:xfrm>
        </p:spPr>
        <p:txBody>
          <a:bodyPr>
            <a:normAutofit/>
          </a:bodyPr>
          <a:lstStyle/>
          <a:p>
            <a:r>
              <a:rPr lang="ru-RU" sz="2800" dirty="0"/>
              <a:t> </a:t>
            </a:r>
            <a:r>
              <a:rPr lang="en-US" sz="2800" dirty="0"/>
              <a:t>			</a:t>
            </a:r>
            <a:r>
              <a:rPr lang="uz-Cyrl-UZ" sz="2800" dirty="0"/>
              <a:t>Учебные вопросы:</a:t>
            </a:r>
            <a:br>
              <a:rPr lang="en-US" sz="2800" dirty="0"/>
            </a:br>
            <a:br>
              <a:rPr lang="ru-RU" sz="2800" dirty="0"/>
            </a:br>
            <a:r>
              <a:rPr lang="en-US" sz="2800" dirty="0"/>
              <a:t>1. </a:t>
            </a:r>
            <a:r>
              <a:rPr lang="uz-Cyrl-UZ" sz="2800" dirty="0"/>
              <a:t>Доступ к VLAN, настройка.</a:t>
            </a:r>
            <a:br>
              <a:rPr lang="ru-RU" sz="2800" dirty="0"/>
            </a:br>
            <a:r>
              <a:rPr lang="en-US" sz="2800" dirty="0"/>
              <a:t>2. </a:t>
            </a:r>
            <a:r>
              <a:rPr lang="uz-Cyrl-UZ" sz="2800" dirty="0"/>
              <a:t>VTP (Vlan Trunking Protocol).</a:t>
            </a:r>
            <a:br>
              <a:rPr lang="ru-RU" sz="2800" dirty="0"/>
            </a:br>
            <a:r>
              <a:rPr lang="en-US" sz="2800" dirty="0"/>
              <a:t>3. </a:t>
            </a:r>
            <a:r>
              <a:rPr lang="uz-Cyrl-UZ" sz="2800" dirty="0"/>
              <a:t>Настроить VLAN и Trunk в Switch.</a:t>
            </a:r>
            <a:endParaRPr lang="ru-RU" sz="2800" dirty="0"/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4572000" y="450850"/>
            <a:ext cx="4049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     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B36277-9989-45F3-92AF-DB71BDE2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432" y="4419110"/>
            <a:ext cx="1111135" cy="111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2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pPr eaLnBrk="1" hangingPunct="1"/>
            <a:r>
              <a:rPr lang="en-US" sz="3200" dirty="0"/>
              <a:t>1. </a:t>
            </a:r>
            <a:r>
              <a:rPr lang="uz-Cyrl-UZ" sz="3200" dirty="0"/>
              <a:t>Доступ к VLAN, настройка.</a:t>
            </a:r>
            <a:endParaRPr lang="ru-RU" altLang="ru-RU" sz="3200" dirty="0"/>
          </a:p>
        </p:txBody>
      </p:sp>
      <p:sp>
        <p:nvSpPr>
          <p:cNvPr id="12291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E571DEFD-13F0-4532-BBFF-F0B21C44FCDB}" type="slidenum">
              <a:rPr lang="ru-RU" altLang="ru-RU" sz="1200"/>
              <a:pPr>
                <a:lnSpc>
                  <a:spcPct val="80000"/>
                </a:lnSpc>
              </a:pPr>
              <a:t>3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76350" y="6567487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12295" name="TextBox 10"/>
          <p:cNvSpPr txBox="1">
            <a:spLocks noChangeArrowheads="1"/>
          </p:cNvSpPr>
          <p:nvPr/>
        </p:nvSpPr>
        <p:spPr bwMode="auto">
          <a:xfrm>
            <a:off x="533400" y="1670050"/>
            <a:ext cx="8224838" cy="4888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altLang="ru-RU" sz="2000" dirty="0">
                <a:latin typeface="Calibri" pitchFamily="34" charset="0"/>
              </a:rPr>
              <a:t>Коммутатор </a:t>
            </a:r>
            <a:r>
              <a:rPr lang="en-US" altLang="ru-RU" sz="2000" dirty="0">
                <a:latin typeface="Calibri" pitchFamily="34" charset="0"/>
              </a:rPr>
              <a:t>Ethernet </a:t>
            </a:r>
            <a:r>
              <a:rPr lang="ru-RU" altLang="ru-RU" sz="2000" dirty="0">
                <a:latin typeface="Calibri" pitchFamily="34" charset="0"/>
              </a:rPr>
              <a:t>является устройством канального уровня. В соответствии с логикой работы рассылка широковещательных кадров будет осуществляться через все порты (за исключением порта-приемника такого кадра). Хотя трафик с конкретными адресами (соединения «точка - </a:t>
            </a:r>
            <a:r>
              <a:rPr lang="ru-RU" altLang="ru-RU" sz="2000" dirty="0" err="1">
                <a:latin typeface="Calibri" pitchFamily="34" charset="0"/>
              </a:rPr>
              <a:t>точка</a:t>
            </a:r>
            <a:r>
              <a:rPr lang="ru-RU" altLang="ru-RU" sz="2000" dirty="0">
                <a:latin typeface="Calibri" pitchFamily="34" charset="0"/>
              </a:rPr>
              <a:t>») изолирован парой портов, широковещательные кадры передаются во всю сеть (на каждый порт).</a:t>
            </a:r>
          </a:p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altLang="ru-RU" sz="2000" dirty="0">
                <a:latin typeface="Calibri" pitchFamily="34" charset="0"/>
              </a:rPr>
              <a:t>Широковещательные кадры используются при работе многих сетевых протоколов, таких как </a:t>
            </a:r>
            <a:r>
              <a:rPr lang="en-US" altLang="ru-RU" sz="2000" dirty="0">
                <a:latin typeface="Calibri" pitchFamily="34" charset="0"/>
              </a:rPr>
              <a:t>ARP</a:t>
            </a:r>
            <a:r>
              <a:rPr lang="ru-RU" altLang="ru-RU" sz="2000" dirty="0">
                <a:latin typeface="Calibri" pitchFamily="34" charset="0"/>
              </a:rPr>
              <a:t>, ВООТР или </a:t>
            </a:r>
            <a:r>
              <a:rPr lang="en-US" altLang="ru-RU" sz="2000" dirty="0">
                <a:latin typeface="Calibri" pitchFamily="34" charset="0"/>
              </a:rPr>
              <a:t>DHCP</a:t>
            </a:r>
            <a:r>
              <a:rPr lang="ru-RU" altLang="ru-RU" sz="2000" dirty="0">
                <a:latin typeface="Calibri" pitchFamily="34" charset="0"/>
              </a:rPr>
              <a:t>. Большой объем широковещательных кадров в сети приводит к нерациональному использованию полосы пропускания, особенно в крупных сетях. </a:t>
            </a:r>
            <a:endParaRPr lang="en-US" altLang="ru-RU" sz="2000" dirty="0">
              <a:latin typeface="Calibri" pitchFamily="34" charset="0"/>
            </a:endParaRPr>
          </a:p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altLang="ru-RU" sz="2000" dirty="0">
                <a:latin typeface="Calibri" pitchFamily="34" charset="0"/>
              </a:rPr>
              <a:t>Для снижения этого эффекта ограничивают область распространения широковещательного трафика (эта область называется </a:t>
            </a:r>
            <a:r>
              <a:rPr lang="ru-RU" altLang="ru-RU" sz="2000" i="1" dirty="0">
                <a:latin typeface="Calibri" pitchFamily="34" charset="0"/>
              </a:rPr>
              <a:t>широковещательным доменом); </a:t>
            </a:r>
            <a:r>
              <a:rPr lang="ru-RU" altLang="ru-RU" sz="2000" dirty="0">
                <a:latin typeface="Calibri" pitchFamily="34" charset="0"/>
              </a:rPr>
              <a:t>организуют небольшие широковещательные домены или виртуальные локальные сети (</a:t>
            </a:r>
            <a:r>
              <a:rPr lang="en-US" altLang="ru-RU" sz="2000" dirty="0">
                <a:latin typeface="Calibri" pitchFamily="34" charset="0"/>
              </a:rPr>
              <a:t>Virtual LAN</a:t>
            </a:r>
            <a:r>
              <a:rPr lang="ru-RU" altLang="ru-RU" sz="2000" dirty="0">
                <a:latin typeface="Calibri" pitchFamily="34" charset="0"/>
              </a:rPr>
              <a:t>, </a:t>
            </a:r>
            <a:r>
              <a:rPr lang="en-US" altLang="ru-RU" sz="2000" dirty="0">
                <a:latin typeface="Calibri" pitchFamily="34" charset="0"/>
              </a:rPr>
              <a:t>VLAN</a:t>
            </a:r>
            <a:r>
              <a:rPr lang="ru-RU" altLang="ru-RU" sz="2000" dirty="0">
                <a:latin typeface="Calibri" pitchFamily="34" charset="0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ru-RU" altLang="ru-RU" sz="3200"/>
              <a:t>Определение</a:t>
            </a:r>
          </a:p>
        </p:txBody>
      </p:sp>
      <p:sp>
        <p:nvSpPr>
          <p:cNvPr id="14339" name="TextBox 10"/>
          <p:cNvSpPr txBox="1">
            <a:spLocks noChangeArrowheads="1"/>
          </p:cNvSpPr>
          <p:nvPr/>
        </p:nvSpPr>
        <p:spPr bwMode="auto">
          <a:xfrm>
            <a:off x="571500" y="1784350"/>
            <a:ext cx="8001000" cy="4272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altLang="ru-RU" sz="2000" i="1" dirty="0">
                <a:latin typeface="Calibri" pitchFamily="34" charset="0"/>
              </a:rPr>
              <a:t>Виртуальной локальной сетью </a:t>
            </a:r>
            <a:r>
              <a:rPr lang="en-US" altLang="ru-RU" sz="2000" dirty="0">
                <a:latin typeface="Calibri" pitchFamily="34" charset="0"/>
              </a:rPr>
              <a:t>VLAN </a:t>
            </a:r>
            <a:r>
              <a:rPr lang="ru-RU" altLang="ru-RU" sz="2000" dirty="0">
                <a:latin typeface="Calibri" pitchFamily="34" charset="0"/>
              </a:rPr>
              <a:t>называется логическая группа узлов сети, трафик которой, в том числе и широковещательный, полностью изолирован от других узлов сети на канальном уровне. </a:t>
            </a:r>
            <a:endParaRPr lang="en-US" altLang="ru-RU" sz="2000" dirty="0">
              <a:latin typeface="Calibri" pitchFamily="34" charset="0"/>
            </a:endParaRPr>
          </a:p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altLang="ru-RU" sz="2000" dirty="0">
                <a:latin typeface="Calibri" pitchFamily="34" charset="0"/>
              </a:rPr>
              <a:t>Это означает, что передача кадров между разными виртуальными сетями на основании </a:t>
            </a:r>
            <a:r>
              <a:rPr lang="ru-RU" altLang="ru-RU" sz="2000" dirty="0" err="1">
                <a:latin typeface="Calibri" pitchFamily="34" charset="0"/>
              </a:rPr>
              <a:t>МАС-адреса</a:t>
            </a:r>
            <a:r>
              <a:rPr lang="ru-RU" altLang="ru-RU" sz="2000" dirty="0">
                <a:latin typeface="Calibri" pitchFamily="34" charset="0"/>
              </a:rPr>
              <a:t> невозможна независимо от типа адреса - индивидуального, группового или широковещательного. В то же время внутри виртуальной сети кадры передаются по технологии коммутации, то есть только на тот порт, который связан с </a:t>
            </a:r>
            <a:r>
              <a:rPr lang="ru-RU" altLang="ru-RU" sz="2000" dirty="0" err="1">
                <a:latin typeface="Calibri" pitchFamily="34" charset="0"/>
              </a:rPr>
              <a:t>МАС-адресом</a:t>
            </a:r>
            <a:r>
              <a:rPr lang="ru-RU" altLang="ru-RU" sz="2000" dirty="0">
                <a:latin typeface="Calibri" pitchFamily="34" charset="0"/>
              </a:rPr>
              <a:t> назначения кадра. </a:t>
            </a:r>
            <a:endParaRPr lang="en-US" altLang="ru-RU" sz="2000" dirty="0">
              <a:latin typeface="Calibri" pitchFamily="34" charset="0"/>
            </a:endParaRPr>
          </a:p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altLang="ru-RU" sz="2000" dirty="0">
                <a:latin typeface="Calibri" pitchFamily="34" charset="0"/>
              </a:rPr>
              <a:t>Таким образом, с помощью виртуальных сетей решается проблема распространения широковещательных кадров и вызываемых ими последствий, которые могут развиться в широковещательные штормы и существенно снизить производительность сети.</a:t>
            </a:r>
          </a:p>
        </p:txBody>
      </p:sp>
      <p:sp>
        <p:nvSpPr>
          <p:cNvPr id="14340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5649FE6F-1679-40B8-B76B-FB1A46C16AEA}" type="slidenum">
              <a:rPr lang="ru-RU" altLang="ru-RU" sz="1200"/>
              <a:pPr>
                <a:lnSpc>
                  <a:spcPct val="80000"/>
                </a:lnSpc>
              </a:pPr>
              <a:t>4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89759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ru-RU" altLang="ru-RU" sz="3200"/>
              <a:t>Преимущества </a:t>
            </a:r>
            <a:r>
              <a:rPr lang="en-US" altLang="ru-RU" sz="3200"/>
              <a:t>VLAN</a:t>
            </a:r>
            <a:endParaRPr lang="ru-RU" altLang="ru-RU" sz="3200"/>
          </a:p>
        </p:txBody>
      </p:sp>
      <p:sp>
        <p:nvSpPr>
          <p:cNvPr id="16387" name="TextBox 10"/>
          <p:cNvSpPr txBox="1">
            <a:spLocks noChangeArrowheads="1"/>
          </p:cNvSpPr>
          <p:nvPr/>
        </p:nvSpPr>
        <p:spPr bwMode="auto">
          <a:xfrm>
            <a:off x="571500" y="1784350"/>
            <a:ext cx="80010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1200"/>
              </a:spcBef>
              <a:buClr>
                <a:schemeClr val="accent2"/>
              </a:buClr>
              <a:buSzPct val="60000"/>
              <a:buFont typeface="Wingdings" pitchFamily="2" charset="2"/>
              <a:buNone/>
            </a:pPr>
            <a:r>
              <a:rPr lang="en-US" altLang="ru-RU" sz="2000" dirty="0">
                <a:latin typeface="Calibri" pitchFamily="34" charset="0"/>
              </a:rPr>
              <a:t>VLAN </a:t>
            </a:r>
            <a:r>
              <a:rPr lang="ru-RU" altLang="ru-RU" sz="2000" dirty="0">
                <a:latin typeface="Calibri" pitchFamily="34" charset="0"/>
              </a:rPr>
              <a:t>обладают следующими </a:t>
            </a:r>
            <a:r>
              <a:rPr lang="ru-RU" altLang="ru-RU" sz="2000" i="1" dirty="0">
                <a:latin typeface="Calibri" pitchFamily="34" charset="0"/>
              </a:rPr>
              <a:t>преимуществами</a:t>
            </a:r>
            <a:r>
              <a:rPr lang="ru-RU" altLang="ru-RU" sz="2000" dirty="0">
                <a:latin typeface="Calibri" pitchFamily="34" charset="0"/>
              </a:rPr>
              <a:t>:</a:t>
            </a:r>
          </a:p>
          <a:p>
            <a:pPr indent="361950">
              <a:spcBef>
                <a:spcPts val="120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altLang="ru-RU" sz="2000" i="1" dirty="0">
                <a:latin typeface="Calibri" pitchFamily="34" charset="0"/>
              </a:rPr>
              <a:t>гибкость внедрения - </a:t>
            </a:r>
            <a:r>
              <a:rPr lang="en-US" altLang="ru-RU" sz="2000" dirty="0">
                <a:latin typeface="Calibri" pitchFamily="34" charset="0"/>
              </a:rPr>
              <a:t>VLAN </a:t>
            </a:r>
            <a:r>
              <a:rPr lang="ru-RU" altLang="ru-RU" sz="2000" dirty="0">
                <a:latin typeface="Calibri" pitchFamily="34" charset="0"/>
              </a:rPr>
              <a:t>являются эффективным способом группировки сетевых пользователей в виртуальные рабочие группы независимо от их физического размещения в сети;</a:t>
            </a:r>
          </a:p>
          <a:p>
            <a:pPr indent="361950">
              <a:spcBef>
                <a:spcPts val="120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altLang="ru-RU" sz="2000" i="1" dirty="0">
                <a:latin typeface="Calibri" pitchFamily="34" charset="0"/>
              </a:rPr>
              <a:t>ограничивают распространение широковещательного трафика</a:t>
            </a:r>
            <a:r>
              <a:rPr lang="ru-RU" altLang="ru-RU" sz="2000" dirty="0">
                <a:latin typeface="Calibri" pitchFamily="34" charset="0"/>
              </a:rPr>
              <a:t>, что увеличивает полосу пропускания, доступную для пользователя;</a:t>
            </a:r>
          </a:p>
          <a:p>
            <a:pPr indent="361950">
              <a:spcBef>
                <a:spcPts val="120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altLang="ru-RU" sz="2000" i="1" dirty="0">
                <a:latin typeface="Calibri" pitchFamily="34" charset="0"/>
              </a:rPr>
              <a:t>позволяют повысить безопасность сети</a:t>
            </a:r>
            <a:r>
              <a:rPr lang="ru-RU" altLang="ru-RU" sz="2000" dirty="0">
                <a:latin typeface="Calibri" pitchFamily="34" charset="0"/>
              </a:rPr>
              <a:t>, определив с помощью фильтров, настроенных на коммутаторе или </a:t>
            </a:r>
            <a:r>
              <a:rPr lang="ru-RU" altLang="ru-RU" sz="2000" dirty="0" err="1">
                <a:latin typeface="Calibri" pitchFamily="34" charset="0"/>
              </a:rPr>
              <a:t>маршрутизаторе</a:t>
            </a:r>
            <a:r>
              <a:rPr lang="ru-RU" altLang="ru-RU" sz="2000" dirty="0">
                <a:latin typeface="Calibri" pitchFamily="34" charset="0"/>
              </a:rPr>
              <a:t>, политику взаимодействия пользователей из разных виртуальных сетей.</a:t>
            </a:r>
          </a:p>
        </p:txBody>
      </p:sp>
      <p:sp>
        <p:nvSpPr>
          <p:cNvPr id="16388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64C615EE-D45D-457D-A32A-34B81FD5DB55}" type="slidenum">
              <a:rPr lang="ru-RU" altLang="ru-RU" sz="1200"/>
              <a:pPr>
                <a:lnSpc>
                  <a:spcPct val="80000"/>
                </a:lnSpc>
              </a:pPr>
              <a:t>5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89759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ru-RU" altLang="ru-RU" sz="3200" dirty="0"/>
              <a:t>Эффективность использования логической сегментации сетей</a:t>
            </a:r>
          </a:p>
        </p:txBody>
      </p:sp>
      <p:sp>
        <p:nvSpPr>
          <p:cNvPr id="18435" name="TextBox 10"/>
          <p:cNvSpPr txBox="1">
            <a:spLocks noChangeArrowheads="1"/>
          </p:cNvSpPr>
          <p:nvPr/>
        </p:nvSpPr>
        <p:spPr bwMode="auto">
          <a:xfrm>
            <a:off x="571500" y="1673805"/>
            <a:ext cx="8001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altLang="ru-RU" sz="2000" dirty="0">
                <a:latin typeface="Calibri" pitchFamily="34" charset="0"/>
              </a:rPr>
              <a:t>Физическая сегментация сети</a:t>
            </a:r>
          </a:p>
        </p:txBody>
      </p:sp>
      <p:sp>
        <p:nvSpPr>
          <p:cNvPr id="18436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614480FF-E8FF-4254-B849-61178B25AFF4}" type="slidenum">
              <a:rPr lang="ru-RU" altLang="ru-RU" sz="1200"/>
              <a:pPr>
                <a:lnSpc>
                  <a:spcPct val="80000"/>
                </a:lnSpc>
              </a:pPr>
              <a:t>6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pic>
        <p:nvPicPr>
          <p:cNvPr id="18440" name="Рисунок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3466" y="2167681"/>
            <a:ext cx="5998864" cy="4051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ru-RU" altLang="ru-RU" sz="3200"/>
              <a:t>Эффективность использования логической сегментации сетей</a:t>
            </a:r>
          </a:p>
        </p:txBody>
      </p:sp>
      <p:sp>
        <p:nvSpPr>
          <p:cNvPr id="20483" name="TextBox 10"/>
          <p:cNvSpPr txBox="1">
            <a:spLocks noChangeArrowheads="1"/>
          </p:cNvSpPr>
          <p:nvPr/>
        </p:nvSpPr>
        <p:spPr bwMode="auto">
          <a:xfrm>
            <a:off x="571500" y="1673805"/>
            <a:ext cx="8001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altLang="ru-RU" sz="2000" dirty="0">
                <a:latin typeface="Calibri" pitchFamily="34" charset="0"/>
              </a:rPr>
              <a:t>Логическая группировка сетевых пользователей в </a:t>
            </a:r>
            <a:r>
              <a:rPr lang="en-US" altLang="ru-RU" sz="2000" dirty="0">
                <a:latin typeface="Calibri" pitchFamily="34" charset="0"/>
              </a:rPr>
              <a:t>VLAN</a:t>
            </a:r>
            <a:endParaRPr lang="ru-RU" altLang="ru-RU" sz="2000" dirty="0">
              <a:latin typeface="Calibri" pitchFamily="34" charset="0"/>
            </a:endParaRPr>
          </a:p>
        </p:txBody>
      </p:sp>
      <p:sp>
        <p:nvSpPr>
          <p:cNvPr id="20484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5E542F3F-F3B8-42C3-B826-FEB55F2637F5}" type="slidenum">
              <a:rPr lang="ru-RU" altLang="ru-RU" sz="1200"/>
              <a:pPr>
                <a:lnSpc>
                  <a:spcPct val="80000"/>
                </a:lnSpc>
              </a:pPr>
              <a:t>7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89759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pic>
        <p:nvPicPr>
          <p:cNvPr id="20488" name="Рисунок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5755" y="2168860"/>
            <a:ext cx="6016575" cy="4038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ru-RU" altLang="ru-RU" sz="3200"/>
              <a:t>Типы </a:t>
            </a:r>
            <a:r>
              <a:rPr lang="en-US" altLang="ru-RU" sz="3200"/>
              <a:t>VLAN</a:t>
            </a:r>
            <a:endParaRPr lang="ru-RU" altLang="ru-RU" sz="3200"/>
          </a:p>
        </p:txBody>
      </p:sp>
      <p:sp>
        <p:nvSpPr>
          <p:cNvPr id="22531" name="TextBox 10"/>
          <p:cNvSpPr txBox="1">
            <a:spLocks noChangeArrowheads="1"/>
          </p:cNvSpPr>
          <p:nvPr/>
        </p:nvSpPr>
        <p:spPr bwMode="auto">
          <a:xfrm>
            <a:off x="571500" y="1784350"/>
            <a:ext cx="8001000" cy="4196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None/>
            </a:pPr>
            <a:r>
              <a:rPr lang="ru-RU" altLang="ru-RU" sz="2000" dirty="0">
                <a:latin typeface="Calibri" pitchFamily="34" charset="0"/>
              </a:rPr>
              <a:t>В коммутаторах могут быть реализованы следующие типы </a:t>
            </a:r>
            <a:r>
              <a:rPr lang="en-US" altLang="ru-RU" sz="2000" dirty="0">
                <a:latin typeface="Calibri" pitchFamily="34" charset="0"/>
              </a:rPr>
              <a:t>VLAN</a:t>
            </a:r>
            <a:r>
              <a:rPr lang="ru-RU" altLang="ru-RU" sz="2000" dirty="0">
                <a:latin typeface="Calibri" pitchFamily="34" charset="0"/>
              </a:rPr>
              <a:t>:</a:t>
            </a:r>
          </a:p>
          <a:p>
            <a:pPr indent="265113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altLang="ru-RU" sz="2000" dirty="0">
                <a:latin typeface="Calibri" pitchFamily="34" charset="0"/>
              </a:rPr>
              <a:t>на основе портов;</a:t>
            </a:r>
          </a:p>
          <a:p>
            <a:pPr indent="265113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altLang="ru-RU" sz="2000" dirty="0">
                <a:latin typeface="Calibri" pitchFamily="34" charset="0"/>
              </a:rPr>
              <a:t>на основе стандарта </a:t>
            </a:r>
            <a:r>
              <a:rPr lang="en-US" altLang="ru-RU" sz="2000" dirty="0">
                <a:latin typeface="Calibri" pitchFamily="34" charset="0"/>
              </a:rPr>
              <a:t>IEEE</a:t>
            </a:r>
            <a:r>
              <a:rPr lang="ru-RU" altLang="ru-RU" sz="2000" dirty="0">
                <a:latin typeface="Calibri" pitchFamily="34" charset="0"/>
              </a:rPr>
              <a:t> 802.1</a:t>
            </a:r>
            <a:r>
              <a:rPr lang="en-US" altLang="ru-RU" sz="2000" dirty="0">
                <a:latin typeface="Calibri" pitchFamily="34" charset="0"/>
              </a:rPr>
              <a:t>Q</a:t>
            </a:r>
            <a:r>
              <a:rPr lang="ru-RU" altLang="ru-RU" sz="2000" dirty="0">
                <a:latin typeface="Calibri" pitchFamily="34" charset="0"/>
              </a:rPr>
              <a:t>;</a:t>
            </a:r>
          </a:p>
          <a:p>
            <a:pPr indent="265113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altLang="ru-RU" sz="2000" dirty="0">
                <a:latin typeface="Calibri" pitchFamily="34" charset="0"/>
              </a:rPr>
              <a:t>на основе стандарта </a:t>
            </a:r>
            <a:r>
              <a:rPr lang="en-US" altLang="ru-RU" sz="2000" dirty="0">
                <a:latin typeface="Calibri" pitchFamily="34" charset="0"/>
              </a:rPr>
              <a:t>IEEE</a:t>
            </a:r>
            <a:r>
              <a:rPr lang="ru-RU" altLang="ru-RU" sz="2000" dirty="0">
                <a:latin typeface="Calibri" pitchFamily="34" charset="0"/>
              </a:rPr>
              <a:t> 802. </a:t>
            </a:r>
            <a:r>
              <a:rPr lang="en-US" altLang="ru-RU" sz="2000" dirty="0">
                <a:latin typeface="Calibri" pitchFamily="34" charset="0"/>
              </a:rPr>
              <a:t>lad</a:t>
            </a:r>
            <a:r>
              <a:rPr lang="ru-RU" altLang="ru-RU" sz="2000" dirty="0">
                <a:latin typeface="Calibri" pitchFamily="34" charset="0"/>
              </a:rPr>
              <a:t> (</a:t>
            </a:r>
            <a:r>
              <a:rPr lang="en-US" altLang="ru-RU" sz="2000" dirty="0">
                <a:latin typeface="Calibri" pitchFamily="34" charset="0"/>
              </a:rPr>
              <a:t>Q</a:t>
            </a:r>
            <a:r>
              <a:rPr lang="ru-RU" altLang="ru-RU" sz="2000" dirty="0">
                <a:latin typeface="Calibri" pitchFamily="34" charset="0"/>
              </a:rPr>
              <a:t>-</a:t>
            </a:r>
            <a:r>
              <a:rPr lang="en-US" altLang="ru-RU" sz="2000" dirty="0">
                <a:latin typeface="Calibri" pitchFamily="34" charset="0"/>
              </a:rPr>
              <a:t>in</a:t>
            </a:r>
            <a:r>
              <a:rPr lang="ru-RU" altLang="ru-RU" sz="2000" dirty="0">
                <a:latin typeface="Calibri" pitchFamily="34" charset="0"/>
              </a:rPr>
              <a:t>-</a:t>
            </a:r>
            <a:r>
              <a:rPr lang="en-US" altLang="ru-RU" sz="2000" dirty="0">
                <a:latin typeface="Calibri" pitchFamily="34" charset="0"/>
              </a:rPr>
              <a:t>Q VLAN</a:t>
            </a:r>
            <a:r>
              <a:rPr lang="ru-RU" altLang="ru-RU" sz="2000" dirty="0">
                <a:latin typeface="Calibri" pitchFamily="34" charset="0"/>
              </a:rPr>
              <a:t>);</a:t>
            </a:r>
          </a:p>
          <a:p>
            <a:pPr indent="265113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altLang="ru-RU" sz="2000" dirty="0">
                <a:latin typeface="Calibri" pitchFamily="34" charset="0"/>
              </a:rPr>
              <a:t>на основе портов и протоколов </a:t>
            </a:r>
            <a:r>
              <a:rPr lang="en-US" altLang="ru-RU" sz="2000" dirty="0">
                <a:latin typeface="Calibri" pitchFamily="34" charset="0"/>
              </a:rPr>
              <a:t>IEEE</a:t>
            </a:r>
            <a:r>
              <a:rPr lang="ru-RU" altLang="ru-RU" sz="2000" dirty="0">
                <a:latin typeface="Calibri" pitchFamily="34" charset="0"/>
              </a:rPr>
              <a:t> 802. </a:t>
            </a:r>
            <a:r>
              <a:rPr lang="en-US" altLang="ru-RU" sz="2000" dirty="0" err="1">
                <a:latin typeface="Calibri" pitchFamily="34" charset="0"/>
              </a:rPr>
              <a:t>lv</a:t>
            </a:r>
            <a:r>
              <a:rPr lang="ru-RU" altLang="ru-RU" sz="2000" dirty="0">
                <a:latin typeface="Calibri" pitchFamily="34" charset="0"/>
              </a:rPr>
              <a:t>;</a:t>
            </a:r>
          </a:p>
          <a:p>
            <a:pPr indent="265113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altLang="ru-RU" sz="2000" dirty="0">
                <a:latin typeface="Calibri" pitchFamily="34" charset="0"/>
              </a:rPr>
              <a:t>на основе </a:t>
            </a:r>
            <a:r>
              <a:rPr lang="ru-RU" altLang="ru-RU" sz="2000" dirty="0" err="1">
                <a:latin typeface="Calibri" pitchFamily="34" charset="0"/>
              </a:rPr>
              <a:t>МАС-адресов</a:t>
            </a:r>
            <a:r>
              <a:rPr lang="ru-RU" altLang="ru-RU" sz="2000" dirty="0">
                <a:latin typeface="Calibri" pitchFamily="34" charset="0"/>
              </a:rPr>
              <a:t>;</a:t>
            </a:r>
          </a:p>
          <a:p>
            <a:pPr indent="265113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altLang="ru-RU" sz="2000" dirty="0">
                <a:latin typeface="Calibri" pitchFamily="34" charset="0"/>
              </a:rPr>
              <a:t>асимметричные.</a:t>
            </a:r>
          </a:p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endParaRPr lang="ru-RU" altLang="ru-RU" sz="2000" dirty="0">
              <a:latin typeface="Calibri" pitchFamily="34" charset="0"/>
            </a:endParaRPr>
          </a:p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altLang="ru-RU" sz="2000" dirty="0">
                <a:latin typeface="Calibri" pitchFamily="34" charset="0"/>
              </a:rPr>
              <a:t>Также для сегментации сети на канальном уровне модели </a:t>
            </a:r>
            <a:r>
              <a:rPr lang="en-US" altLang="ru-RU" sz="2000" dirty="0">
                <a:latin typeface="Calibri" pitchFamily="34" charset="0"/>
              </a:rPr>
              <a:t>OSI </a:t>
            </a:r>
            <a:r>
              <a:rPr lang="ru-RU" altLang="ru-RU" sz="2000" dirty="0">
                <a:latin typeface="Calibri" pitchFamily="34" charset="0"/>
              </a:rPr>
              <a:t>в коммутаторах могут использоваться другие функции, например </a:t>
            </a:r>
            <a:r>
              <a:rPr lang="en-US" altLang="ru-RU" sz="2000" i="1" dirty="0">
                <a:latin typeface="Calibri" pitchFamily="34" charset="0"/>
              </a:rPr>
              <a:t>Traffic Segmentation</a:t>
            </a:r>
            <a:r>
              <a:rPr lang="ru-RU" altLang="ru-RU" sz="2000" i="1" dirty="0">
                <a:latin typeface="Calibri" pitchFamily="34" charset="0"/>
              </a:rPr>
              <a:t>.</a:t>
            </a:r>
            <a:endParaRPr lang="ru-RU" altLang="ru-RU" sz="2000" dirty="0">
              <a:latin typeface="Calibri" pitchFamily="34" charset="0"/>
            </a:endParaRPr>
          </a:p>
        </p:txBody>
      </p:sp>
      <p:sp>
        <p:nvSpPr>
          <p:cNvPr id="22532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FAF10AA2-CA60-489F-A3C3-59321B43022C}" type="slidenum">
              <a:rPr lang="ru-RU" altLang="ru-RU" sz="1200"/>
              <a:pPr>
                <a:lnSpc>
                  <a:spcPct val="80000"/>
                </a:lnSpc>
              </a:pPr>
              <a:t>8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en-US" altLang="ru-RU" sz="3200"/>
              <a:t>VLAN </a:t>
            </a:r>
            <a:r>
              <a:rPr lang="ru-RU" altLang="ru-RU" sz="3200"/>
              <a:t>на основе портов</a:t>
            </a:r>
          </a:p>
        </p:txBody>
      </p:sp>
      <p:sp>
        <p:nvSpPr>
          <p:cNvPr id="24579" name="TextBox 10"/>
          <p:cNvSpPr txBox="1">
            <a:spLocks noChangeArrowheads="1"/>
          </p:cNvSpPr>
          <p:nvPr/>
        </p:nvSpPr>
        <p:spPr bwMode="auto">
          <a:xfrm>
            <a:off x="431540" y="1784350"/>
            <a:ext cx="3235415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None/>
            </a:pPr>
            <a:r>
              <a:rPr lang="ru-RU" sz="2000" dirty="0">
                <a:latin typeface="Calibri" pitchFamily="34" charset="0"/>
              </a:rPr>
              <a:t>При использовании </a:t>
            </a:r>
            <a:r>
              <a:rPr lang="en-US" sz="2000" dirty="0">
                <a:latin typeface="Calibri" pitchFamily="34" charset="0"/>
              </a:rPr>
              <a:t>VLAN </a:t>
            </a:r>
            <a:r>
              <a:rPr lang="ru-RU" sz="2000" dirty="0">
                <a:latin typeface="Calibri" pitchFamily="34" charset="0"/>
              </a:rPr>
              <a:t>на основе портов (</a:t>
            </a:r>
            <a:r>
              <a:rPr lang="en-US" sz="2000" dirty="0">
                <a:latin typeface="Calibri" pitchFamily="34" charset="0"/>
              </a:rPr>
              <a:t>Port</a:t>
            </a:r>
            <a:r>
              <a:rPr lang="ru-RU" sz="2000" dirty="0">
                <a:latin typeface="Calibri" pitchFamily="34" charset="0"/>
              </a:rPr>
              <a:t>-</a:t>
            </a:r>
            <a:r>
              <a:rPr lang="en-US" sz="2000" dirty="0">
                <a:latin typeface="Calibri" pitchFamily="34" charset="0"/>
              </a:rPr>
              <a:t>based VLAN</a:t>
            </a:r>
            <a:r>
              <a:rPr lang="ru-RU" sz="2000" dirty="0">
                <a:latin typeface="Calibri" pitchFamily="34" charset="0"/>
              </a:rPr>
              <a:t>), каждый порт назначается в определенную </a:t>
            </a:r>
            <a:r>
              <a:rPr lang="en-US" sz="2000" dirty="0">
                <a:latin typeface="Calibri" pitchFamily="34" charset="0"/>
              </a:rPr>
              <a:t>VLAN</a:t>
            </a:r>
            <a:r>
              <a:rPr lang="ru-RU" sz="2000" dirty="0">
                <a:latin typeface="Calibri" pitchFamily="34" charset="0"/>
              </a:rPr>
              <a:t>, независимо от того, какой компьютер подключен к этому порту. Это означает, что все пользователи, подключенные к этому порту, будут членами одной </a:t>
            </a:r>
            <a:r>
              <a:rPr lang="en-US" sz="2000" dirty="0">
                <a:latin typeface="Calibri" pitchFamily="34" charset="0"/>
              </a:rPr>
              <a:t>VLAN</a:t>
            </a:r>
            <a:r>
              <a:rPr lang="ru-RU" sz="2000" dirty="0">
                <a:latin typeface="Calibri" pitchFamily="34" charset="0"/>
              </a:rPr>
              <a:t>. Конфигурация портов - статическая и может быть изменена только вручную.</a:t>
            </a:r>
            <a:endParaRPr lang="ru-RU" altLang="ru-RU" sz="2000" dirty="0">
              <a:latin typeface="Calibri" pitchFamily="34" charset="0"/>
            </a:endParaRPr>
          </a:p>
        </p:txBody>
      </p:sp>
      <p:sp>
        <p:nvSpPr>
          <p:cNvPr id="24580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0A0C5725-A38A-4992-B15C-0A94666C5EF1}" type="slidenum">
              <a:rPr lang="ru-RU" altLang="ru-RU" sz="1200"/>
              <a:pPr>
                <a:lnSpc>
                  <a:spcPct val="80000"/>
                </a:lnSpc>
              </a:pPr>
              <a:t>9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pic>
        <p:nvPicPr>
          <p:cNvPr id="24584" name="Рисунок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1943835"/>
            <a:ext cx="5146229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ru-RU" sz="3200"/>
              <a:t>Основные характеристики </a:t>
            </a:r>
            <a:r>
              <a:rPr lang="en-US" sz="3200"/>
              <a:t>VLAN </a:t>
            </a:r>
            <a:r>
              <a:rPr lang="ru-RU" sz="3200"/>
              <a:t>на основе портов</a:t>
            </a:r>
            <a:endParaRPr lang="ru-RU" altLang="ru-RU" sz="3200"/>
          </a:p>
        </p:txBody>
      </p:sp>
      <p:sp>
        <p:nvSpPr>
          <p:cNvPr id="26627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2D54B20E-4A02-47B5-8328-F7A5F195C6F9}" type="slidenum">
              <a:rPr lang="ru-RU" altLang="ru-RU" sz="1200"/>
              <a:pPr>
                <a:lnSpc>
                  <a:spcPct val="80000"/>
                </a:lnSpc>
              </a:pPr>
              <a:t>10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26631" name="TextBox 10"/>
          <p:cNvSpPr txBox="1">
            <a:spLocks noChangeArrowheads="1"/>
          </p:cNvSpPr>
          <p:nvPr/>
        </p:nvSpPr>
        <p:spPr bwMode="auto">
          <a:xfrm>
            <a:off x="251520" y="1626906"/>
            <a:ext cx="864096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361950">
              <a:spcBef>
                <a:spcPts val="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sz="1700" dirty="0">
                <a:latin typeface="Calibri" pitchFamily="34" charset="0"/>
              </a:rPr>
              <a:t>Применяются в пределах одного коммутатора. Если необходимо организовать несколько рабочих групп небольшой сети на основе одного коммутатора, например, разделить технический отдел и отдел продаж, то </a:t>
            </a:r>
            <a:r>
              <a:rPr lang="en-US" sz="1700" dirty="0">
                <a:latin typeface="Calibri" pitchFamily="34" charset="0"/>
              </a:rPr>
              <a:t>VLAN </a:t>
            </a:r>
            <a:r>
              <a:rPr lang="ru-RU" sz="1700" dirty="0">
                <a:latin typeface="Calibri" pitchFamily="34" charset="0"/>
              </a:rPr>
              <a:t>на базе портов оптимально подходит для данной задачи.</a:t>
            </a:r>
          </a:p>
          <a:p>
            <a:pPr indent="361950">
              <a:spcBef>
                <a:spcPts val="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sz="1700" dirty="0">
                <a:latin typeface="Calibri" pitchFamily="34" charset="0"/>
              </a:rPr>
              <a:t>Простота настройки. Создание виртуальных сетей на основе группирования портов не требует от администратора большого объема ручной работы - достаточно всем портам, помещаемым в одну 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, присвоить одинаковый идентификатор 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 (</a:t>
            </a:r>
            <a:r>
              <a:rPr lang="en-US" sz="1700" dirty="0">
                <a:latin typeface="Calibri" pitchFamily="34" charset="0"/>
              </a:rPr>
              <a:t>VLAN ID</a:t>
            </a:r>
            <a:r>
              <a:rPr lang="ru-RU" sz="1700" dirty="0">
                <a:latin typeface="Calibri" pitchFamily="34" charset="0"/>
              </a:rPr>
              <a:t>).</a:t>
            </a:r>
          </a:p>
          <a:p>
            <a:pPr indent="361950">
              <a:spcBef>
                <a:spcPts val="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sz="1700" dirty="0">
                <a:latin typeface="Calibri" pitchFamily="34" charset="0"/>
              </a:rPr>
              <a:t>Возможность изменения логической топологии сети без физического перемещения станций. Достаточно изменить настройки порта, с одной 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 (например, 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 технического отдела) на другую (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 отдела продаж) и рабочая станция сразу же получает возможность совместно использовать ресурсы с членами новой 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. Таким образом, 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 обеспечивают гибкость при перемещениях, изменениях и наращивании сети.</a:t>
            </a:r>
          </a:p>
          <a:p>
            <a:pPr indent="361950">
              <a:spcBef>
                <a:spcPts val="0"/>
              </a:spcBef>
              <a:buClr>
                <a:schemeClr val="accent2"/>
              </a:buClr>
              <a:buSzPct val="60000"/>
              <a:buFont typeface="Wingdings" pitchFamily="2" charset="2"/>
              <a:buChar char="v"/>
            </a:pPr>
            <a:r>
              <a:rPr lang="ru-RU" sz="1700" dirty="0">
                <a:latin typeface="Calibri" pitchFamily="34" charset="0"/>
              </a:rPr>
              <a:t>Каждый порт может входить только в одну 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. Для объединения виртуальных подсетей как внутри одного коммутатора, так и между двумя коммутаторами, нужно использовать сетевой уровень </a:t>
            </a:r>
            <a:r>
              <a:rPr lang="en-US" sz="1700" dirty="0">
                <a:latin typeface="Calibri" pitchFamily="34" charset="0"/>
              </a:rPr>
              <a:t>OSI</a:t>
            </a:r>
            <a:r>
              <a:rPr lang="ru-RU" sz="1700" dirty="0">
                <a:latin typeface="Calibri" pitchFamily="34" charset="0"/>
              </a:rPr>
              <a:t>-модели. Один из портов каждой 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 подключается к интерфейсу </a:t>
            </a:r>
            <a:r>
              <a:rPr lang="ru-RU" sz="1700" dirty="0" err="1">
                <a:latin typeface="Calibri" pitchFamily="34" charset="0"/>
              </a:rPr>
              <a:t>маршрутизатора</a:t>
            </a:r>
            <a:r>
              <a:rPr lang="ru-RU" sz="1700" dirty="0">
                <a:latin typeface="Calibri" pitchFamily="34" charset="0"/>
              </a:rPr>
              <a:t>, который создает таблицу маршрутизации для пересылки кадров из одной подсети (</a:t>
            </a:r>
            <a:r>
              <a:rPr lang="en-US" sz="1700" dirty="0">
                <a:latin typeface="Calibri" pitchFamily="34" charset="0"/>
              </a:rPr>
              <a:t>VLAN</a:t>
            </a:r>
            <a:r>
              <a:rPr lang="ru-RU" sz="1700" dirty="0">
                <a:latin typeface="Calibri" pitchFamily="34" charset="0"/>
              </a:rPr>
              <a:t>) в другую </a:t>
            </a:r>
            <a:r>
              <a:rPr lang="en-US" sz="1700" dirty="0">
                <a:latin typeface="Calibri" pitchFamily="34" charset="0"/>
              </a:rPr>
              <a:t>(IP</a:t>
            </a:r>
            <a:r>
              <a:rPr lang="ru-RU" sz="1700" dirty="0">
                <a:latin typeface="Calibri" pitchFamily="34" charset="0"/>
              </a:rPr>
              <a:t>-адреса подсетей должны быть разными).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6D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ru-RU" sz="3200"/>
              <a:t>Основные характеристики </a:t>
            </a:r>
            <a:r>
              <a:rPr lang="en-US" sz="3200"/>
              <a:t>VLAN </a:t>
            </a:r>
            <a:r>
              <a:rPr lang="ru-RU" sz="3200"/>
              <a:t>на основе портов</a:t>
            </a:r>
            <a:endParaRPr lang="ru-RU" altLang="ru-RU" sz="3200"/>
          </a:p>
        </p:txBody>
      </p:sp>
      <p:sp>
        <p:nvSpPr>
          <p:cNvPr id="28675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3B7360F4-FC24-414D-B34F-755E8B789D45}" type="slidenum">
              <a:rPr lang="ru-RU" altLang="ru-RU" sz="1200"/>
              <a:pPr>
                <a:lnSpc>
                  <a:spcPct val="80000"/>
                </a:lnSpc>
              </a:pPr>
              <a:t>11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28679" name="TextBox 10"/>
          <p:cNvSpPr txBox="1">
            <a:spLocks noChangeArrowheads="1"/>
          </p:cNvSpPr>
          <p:nvPr/>
        </p:nvSpPr>
        <p:spPr bwMode="auto">
          <a:xfrm>
            <a:off x="296525" y="1708932"/>
            <a:ext cx="342038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ru-RU" dirty="0">
                <a:latin typeface="Calibri" pitchFamily="34" charset="0"/>
              </a:rPr>
              <a:t>Недостатком такого решения является то, что один порт каждой </a:t>
            </a:r>
            <a:r>
              <a:rPr lang="en-US" dirty="0">
                <a:latin typeface="Calibri" pitchFamily="34" charset="0"/>
              </a:rPr>
              <a:t>VLAN </a:t>
            </a:r>
            <a:r>
              <a:rPr lang="ru-RU" dirty="0">
                <a:latin typeface="Calibri" pitchFamily="34" charset="0"/>
              </a:rPr>
              <a:t>необходимо подключать к </a:t>
            </a:r>
            <a:r>
              <a:rPr lang="ru-RU" dirty="0" err="1">
                <a:latin typeface="Calibri" pitchFamily="34" charset="0"/>
              </a:rPr>
              <a:t>маршрутизатору</a:t>
            </a:r>
            <a:r>
              <a:rPr lang="ru-RU" dirty="0">
                <a:latin typeface="Calibri" pitchFamily="34" charset="0"/>
              </a:rPr>
              <a:t>, что приводит к дополнительным расходам на покупку кабелей и </a:t>
            </a:r>
            <a:r>
              <a:rPr lang="ru-RU" dirty="0" err="1">
                <a:latin typeface="Calibri" pitchFamily="34" charset="0"/>
              </a:rPr>
              <a:t>маршрутизатора</a:t>
            </a:r>
            <a:r>
              <a:rPr lang="ru-RU" dirty="0">
                <a:latin typeface="Calibri" pitchFamily="34" charset="0"/>
              </a:rPr>
              <a:t>, а также снижает количество свободных портов. Решить данную проблему можно двумя способами: использовать коммутаторы, которые позволяют включать порт в несколько </a:t>
            </a:r>
            <a:r>
              <a:rPr lang="en-US" dirty="0">
                <a:latin typeface="Calibri" pitchFamily="34" charset="0"/>
              </a:rPr>
              <a:t>VLAN</a:t>
            </a:r>
            <a:r>
              <a:rPr lang="ru-RU" dirty="0">
                <a:latin typeface="Calibri" pitchFamily="34" charset="0"/>
              </a:rPr>
              <a:t>, или использовать коммутаторы 3-го уровня.</a:t>
            </a:r>
          </a:p>
        </p:txBody>
      </p:sp>
      <p:pic>
        <p:nvPicPr>
          <p:cNvPr id="28680" name="Рисунок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06915" y="1853825"/>
            <a:ext cx="5084410" cy="3195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en-US" sz="3200" dirty="0"/>
              <a:t>2. </a:t>
            </a:r>
            <a:r>
              <a:rPr lang="uz-Cyrl-UZ" sz="3200" dirty="0"/>
              <a:t>VTP (Vlan Trunking Protocol).</a:t>
            </a:r>
            <a:endParaRPr lang="ru-RU" altLang="ru-RU" sz="3200" dirty="0"/>
          </a:p>
        </p:txBody>
      </p:sp>
      <p:sp>
        <p:nvSpPr>
          <p:cNvPr id="28675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3B7360F4-FC24-414D-B34F-755E8B789D45}" type="slidenum">
              <a:rPr lang="ru-RU" altLang="ru-RU" sz="1200"/>
              <a:pPr>
                <a:lnSpc>
                  <a:spcPct val="80000"/>
                </a:lnSpc>
              </a:pPr>
              <a:t>12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28679" name="TextBox 10"/>
          <p:cNvSpPr txBox="1">
            <a:spLocks noChangeArrowheads="1"/>
          </p:cNvSpPr>
          <p:nvPr/>
        </p:nvSpPr>
        <p:spPr bwMode="auto">
          <a:xfrm>
            <a:off x="431540" y="1628800"/>
            <a:ext cx="828092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1600" dirty="0"/>
              <a:t>Для того чтобы исключить вероятность таких ошибок и был разработан протокол VTP (</a:t>
            </a:r>
            <a:r>
              <a:rPr lang="en-US" sz="1600" dirty="0"/>
              <a:t>VLAN </a:t>
            </a:r>
            <a:r>
              <a:rPr lang="en-US" sz="1600" dirty="0" err="1"/>
              <a:t>Trunking</a:t>
            </a:r>
            <a:r>
              <a:rPr lang="en-US" sz="1600" dirty="0"/>
              <a:t> Protocol</a:t>
            </a:r>
            <a:r>
              <a:rPr lang="ru-RU" sz="1600" dirty="0"/>
              <a:t>), который позволяет устройствам автоматически делиться информацией о настроенных на них </a:t>
            </a:r>
            <a:r>
              <a:rPr lang="ru-RU" sz="1600" dirty="0" err="1"/>
              <a:t>VLAN’ах</a:t>
            </a:r>
            <a:r>
              <a:rPr lang="ru-RU" sz="1600" dirty="0"/>
              <a:t> и самостоятельно вносить изменения в конфигурацию.</a:t>
            </a:r>
            <a:endParaRPr lang="en-US" sz="1600" dirty="0"/>
          </a:p>
          <a:p>
            <a:r>
              <a:rPr lang="ru-RU" sz="1600" b="1" dirty="0"/>
              <a:t>Режимы работы VTP</a:t>
            </a:r>
            <a:endParaRPr lang="ru-RU" sz="1600" dirty="0"/>
          </a:p>
          <a:p>
            <a:r>
              <a:rPr lang="ru-RU" sz="1600" dirty="0"/>
              <a:t>VTP коммутатор имеет два режима работы:</a:t>
            </a:r>
          </a:p>
          <a:p>
            <a:r>
              <a:rPr lang="ru-RU" sz="1600" b="1" dirty="0" err="1"/>
              <a:t>Server</a:t>
            </a:r>
            <a:endParaRPr lang="ru-RU" sz="1600" dirty="0"/>
          </a:p>
          <a:p>
            <a:r>
              <a:rPr lang="ru-RU" sz="1600" dirty="0"/>
              <a:t>В этом режиме можно создавать новые и вносить изменения в существующие </a:t>
            </a:r>
            <a:r>
              <a:rPr lang="ru-RU" sz="1600" dirty="0" err="1"/>
              <a:t>VLAN’ы</a:t>
            </a:r>
            <a:r>
              <a:rPr lang="ru-RU" sz="1600" dirty="0"/>
              <a:t>.</a:t>
            </a:r>
          </a:p>
          <a:p>
            <a:r>
              <a:rPr lang="ru-RU" sz="1600" dirty="0"/>
              <a:t>Коммутатор будет обновлять свою базу </a:t>
            </a:r>
            <a:r>
              <a:rPr lang="ru-RU" sz="1600" dirty="0" err="1"/>
              <a:t>VLAN’ов</a:t>
            </a:r>
            <a:r>
              <a:rPr lang="ru-RU" sz="1600" dirty="0"/>
              <a:t> и сохранять информацию о настройках во </a:t>
            </a:r>
            <a:r>
              <a:rPr lang="ru-RU" sz="1600" dirty="0" err="1"/>
              <a:t>Flashпамяти</a:t>
            </a:r>
            <a:r>
              <a:rPr lang="ru-RU" sz="1600" dirty="0"/>
              <a:t> в файле vlan.dat.</a:t>
            </a:r>
          </a:p>
          <a:p>
            <a:r>
              <a:rPr lang="ru-RU" sz="1600" dirty="0"/>
              <a:t>Генерирует и передает сообщения как от других коммутаторов, работающих в режиме сервера, так и от клиентов</a:t>
            </a:r>
          </a:p>
          <a:p>
            <a:r>
              <a:rPr lang="ru-RU" sz="1600" b="1" dirty="0" err="1"/>
              <a:t>Client</a:t>
            </a:r>
            <a:endParaRPr lang="ru-RU" sz="1600" dirty="0"/>
          </a:p>
          <a:p>
            <a:r>
              <a:rPr lang="ru-RU" sz="1600" dirty="0"/>
              <a:t>Коммутатор в этом режиме будет передавать информацию о </a:t>
            </a:r>
            <a:r>
              <a:rPr lang="ru-RU" sz="1600" dirty="0" err="1"/>
              <a:t>VLAN’ах</a:t>
            </a:r>
            <a:r>
              <a:rPr lang="ru-RU" sz="1600" dirty="0"/>
              <a:t> полученную от других коммутаторов и синхронизировать свою базу </a:t>
            </a:r>
            <a:r>
              <a:rPr lang="ru-RU" sz="1600" dirty="0" err="1"/>
              <a:t>VLANпри</a:t>
            </a:r>
            <a:r>
              <a:rPr lang="ru-RU" sz="1600" dirty="0"/>
              <a:t> получении </a:t>
            </a:r>
            <a:r>
              <a:rPr lang="ru-RU" sz="1600" dirty="0" err="1"/>
              <a:t>VTPобновлений</a:t>
            </a:r>
            <a:r>
              <a:rPr lang="ru-RU" sz="1600" dirty="0"/>
              <a:t>. Настройки нельзя будет поменять через командную строку такого устройства.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858882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en-US" sz="3200" dirty="0"/>
              <a:t>2. </a:t>
            </a:r>
            <a:r>
              <a:rPr lang="uz-Cyrl-UZ" sz="3200" dirty="0"/>
              <a:t>VTP (Vlan Trunking Protocol).</a:t>
            </a:r>
            <a:endParaRPr lang="ru-RU" altLang="ru-RU" sz="3200" dirty="0"/>
          </a:p>
        </p:txBody>
      </p:sp>
      <p:sp>
        <p:nvSpPr>
          <p:cNvPr id="28675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3B7360F4-FC24-414D-B34F-755E8B789D45}" type="slidenum">
              <a:rPr lang="ru-RU" altLang="ru-RU" sz="1200"/>
              <a:pPr>
                <a:lnSpc>
                  <a:spcPct val="80000"/>
                </a:lnSpc>
              </a:pPr>
              <a:t>13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28679" name="TextBox 10"/>
          <p:cNvSpPr txBox="1">
            <a:spLocks noChangeArrowheads="1"/>
          </p:cNvSpPr>
          <p:nvPr/>
        </p:nvSpPr>
        <p:spPr bwMode="auto">
          <a:xfrm>
            <a:off x="431540" y="1628800"/>
            <a:ext cx="8280920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В данном режиме коммутатор будет передавать </a:t>
            </a:r>
            <a:r>
              <a:rPr lang="ru-RU" dirty="0" err="1"/>
              <a:t>VTPинформацию</a:t>
            </a:r>
            <a:r>
              <a:rPr lang="ru-RU" dirty="0"/>
              <a:t> другим участникам, не синхронизируя свою базу и не генерируя собственные обновления. Настройки VLAN можно поменять лишь для локального коммутатора.</a:t>
            </a:r>
          </a:p>
          <a:p>
            <a:r>
              <a:rPr lang="ru-RU" b="1" dirty="0"/>
              <a:t>Типы сообщений VTP</a:t>
            </a:r>
            <a:endParaRPr lang="ru-RU" dirty="0"/>
          </a:p>
          <a:p>
            <a:r>
              <a:rPr lang="ru-RU" dirty="0"/>
              <a:t>В </a:t>
            </a:r>
            <a:r>
              <a:rPr lang="ru-RU" dirty="0" err="1"/>
              <a:t>VTPсуществует</a:t>
            </a:r>
            <a:r>
              <a:rPr lang="ru-RU" dirty="0"/>
              <a:t> три типа сообщений:</a:t>
            </a:r>
          </a:p>
          <a:p>
            <a:r>
              <a:rPr lang="ru-RU" b="1" dirty="0" err="1"/>
              <a:t>Advertisement</a:t>
            </a:r>
            <a:r>
              <a:rPr lang="ru-RU" b="1" dirty="0"/>
              <a:t> </a:t>
            </a:r>
            <a:r>
              <a:rPr lang="ru-RU" b="1" dirty="0" err="1"/>
              <a:t>requests</a:t>
            </a:r>
            <a:endParaRPr lang="ru-RU" dirty="0"/>
          </a:p>
          <a:p>
            <a:r>
              <a:rPr lang="ru-RU" dirty="0"/>
              <a:t>Представляет из себя запрос от клиента к серверу на оповещение </a:t>
            </a:r>
            <a:r>
              <a:rPr lang="ru-RU" dirty="0" err="1"/>
              <a:t>SummaryAdvertisement</a:t>
            </a:r>
            <a:endParaRPr lang="ru-RU" dirty="0"/>
          </a:p>
          <a:p>
            <a:r>
              <a:rPr lang="ru-RU" b="1" dirty="0" err="1"/>
              <a:t>Summary</a:t>
            </a:r>
            <a:r>
              <a:rPr lang="ru-RU" b="1" dirty="0"/>
              <a:t> </a:t>
            </a:r>
            <a:r>
              <a:rPr lang="ru-RU" b="1" dirty="0" err="1"/>
              <a:t>advertisements</a:t>
            </a:r>
            <a:endParaRPr lang="ru-RU" dirty="0"/>
          </a:p>
          <a:p>
            <a:r>
              <a:rPr lang="ru-RU" dirty="0"/>
              <a:t>Данное сообщение по умолчанию сервер отправляет каждые 5 минут или сразу же после изменения конфигурации.</a:t>
            </a:r>
          </a:p>
          <a:p>
            <a:r>
              <a:rPr lang="ru-RU" b="1" dirty="0" err="1"/>
              <a:t>Subset</a:t>
            </a:r>
            <a:r>
              <a:rPr lang="ru-RU" b="1" dirty="0"/>
              <a:t> </a:t>
            </a:r>
            <a:r>
              <a:rPr lang="ru-RU" b="1" dirty="0" err="1"/>
              <a:t>advertisements</a:t>
            </a:r>
            <a:endParaRPr lang="ru-RU" dirty="0"/>
          </a:p>
          <a:p>
            <a:r>
              <a:rPr lang="ru-RU" dirty="0"/>
              <a:t>Отправляется сразу же после изменения конфигурации VLAN, а также после запроса на оповещение.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71791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en-US" sz="3200" dirty="0"/>
              <a:t>2. </a:t>
            </a:r>
            <a:r>
              <a:rPr lang="uz-Cyrl-UZ" sz="3200" dirty="0"/>
              <a:t>VTP (Vlan Trunking Protocol).</a:t>
            </a:r>
            <a:endParaRPr lang="ru-RU" altLang="ru-RU" sz="3200" dirty="0"/>
          </a:p>
        </p:txBody>
      </p:sp>
      <p:sp>
        <p:nvSpPr>
          <p:cNvPr id="28675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3B7360F4-FC24-414D-B34F-755E8B789D45}" type="slidenum">
              <a:rPr lang="ru-RU" altLang="ru-RU" sz="1200"/>
              <a:pPr>
                <a:lnSpc>
                  <a:spcPct val="80000"/>
                </a:lnSpc>
              </a:pPr>
              <a:t>14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28679" name="TextBox 10"/>
          <p:cNvSpPr txBox="1">
            <a:spLocks noChangeArrowheads="1"/>
          </p:cNvSpPr>
          <p:nvPr/>
        </p:nvSpPr>
        <p:spPr bwMode="auto">
          <a:xfrm>
            <a:off x="431540" y="1628800"/>
            <a:ext cx="828092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/>
              <a:t>Стоит отметить, что </a:t>
            </a:r>
            <a:r>
              <a:rPr lang="ru-RU" dirty="0" err="1"/>
              <a:t>VTPкоммутатор</a:t>
            </a:r>
            <a:r>
              <a:rPr lang="ru-RU" dirty="0"/>
              <a:t>, который получает информацию о новых </a:t>
            </a:r>
            <a:r>
              <a:rPr lang="ru-RU" dirty="0" err="1"/>
              <a:t>VLAN’ах</a:t>
            </a:r>
            <a:r>
              <a:rPr lang="ru-RU" dirty="0"/>
              <a:t>, внесет ее в свою конфигурацию только в том случае, если сообщение пришло от коммутатора с большим номером ревизии.</a:t>
            </a:r>
          </a:p>
          <a:p>
            <a:r>
              <a:rPr lang="ru-RU" b="1" dirty="0"/>
              <a:t>Номер ревизии</a:t>
            </a:r>
            <a:r>
              <a:rPr lang="ru-RU" dirty="0"/>
              <a:t> это некий идентификатор “свежести” базы VLAN. Коммутатор воспринимает базу с наивысшим номером ревизии как самую “свежую” и вносит изменения в свою конфигурацию.</a:t>
            </a:r>
          </a:p>
          <a:p>
            <a:r>
              <a:rPr lang="ru-RU" dirty="0"/>
              <a:t>Протокол </a:t>
            </a:r>
            <a:r>
              <a:rPr lang="ru-RU" dirty="0" err="1"/>
              <a:t>VTPявляется</a:t>
            </a:r>
            <a:r>
              <a:rPr lang="ru-RU" dirty="0"/>
              <a:t> проприетарным, </a:t>
            </a:r>
            <a:r>
              <a:rPr lang="ru-RU" dirty="0" err="1"/>
              <a:t>т.е</a:t>
            </a:r>
            <a:r>
              <a:rPr lang="ru-RU" dirty="0"/>
              <a:t> закрытым. Он сильно облегчает жизнь администраторам, работающим с оборудованием </a:t>
            </a:r>
            <a:r>
              <a:rPr lang="ru-RU" dirty="0" err="1"/>
              <a:t>Cisco</a:t>
            </a:r>
            <a:r>
              <a:rPr lang="ru-RU" dirty="0"/>
              <a:t>. </a:t>
            </a:r>
          </a:p>
          <a:p>
            <a:r>
              <a:rPr lang="ru-RU" dirty="0"/>
              <a:t>Для оборудования других производителей существует аналогичный открытый стандарт - GVRP (GARP VLAN </a:t>
            </a:r>
            <a:r>
              <a:rPr lang="ru-RU" dirty="0" err="1"/>
              <a:t>Registration</a:t>
            </a:r>
            <a:r>
              <a:rPr lang="ru-RU" dirty="0"/>
              <a:t> </a:t>
            </a:r>
            <a:r>
              <a:rPr lang="ru-RU" dirty="0" err="1"/>
              <a:t>Protocol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21374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en-US" sz="3200" dirty="0"/>
              <a:t>3. </a:t>
            </a:r>
            <a:r>
              <a:rPr lang="uz-Cyrl-UZ" sz="3200" dirty="0"/>
              <a:t>Настроить VLAN и Trunk в Switch.</a:t>
            </a:r>
            <a:endParaRPr lang="ru-RU" altLang="ru-RU" sz="3200" dirty="0"/>
          </a:p>
        </p:txBody>
      </p:sp>
      <p:sp>
        <p:nvSpPr>
          <p:cNvPr id="28675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3B7360F4-FC24-414D-B34F-755E8B789D45}" type="slidenum">
              <a:rPr lang="ru-RU" altLang="ru-RU" sz="1200"/>
              <a:pPr>
                <a:lnSpc>
                  <a:spcPct val="80000"/>
                </a:lnSpc>
              </a:pPr>
              <a:t>15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0350FC-0CB3-46B9-BDE8-6C87BD154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62" y="1747565"/>
            <a:ext cx="4458676" cy="474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32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en-US" sz="3200" dirty="0"/>
              <a:t>3. </a:t>
            </a:r>
            <a:r>
              <a:rPr lang="uz-Cyrl-UZ" sz="3200" dirty="0"/>
              <a:t>Настроить VLAN и Trunk в Switch.</a:t>
            </a:r>
            <a:endParaRPr lang="ru-RU" altLang="ru-RU" sz="3200" dirty="0"/>
          </a:p>
        </p:txBody>
      </p:sp>
      <p:sp>
        <p:nvSpPr>
          <p:cNvPr id="28675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3B7360F4-FC24-414D-B34F-755E8B789D45}" type="slidenum">
              <a:rPr lang="ru-RU" altLang="ru-RU" sz="1200"/>
              <a:pPr>
                <a:lnSpc>
                  <a:spcPct val="80000"/>
                </a:lnSpc>
              </a:pPr>
              <a:t>16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28679" name="TextBox 10"/>
          <p:cNvSpPr txBox="1">
            <a:spLocks noChangeArrowheads="1"/>
          </p:cNvSpPr>
          <p:nvPr/>
        </p:nvSpPr>
        <p:spPr bwMode="auto">
          <a:xfrm>
            <a:off x="431540" y="1997839"/>
            <a:ext cx="828092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Настройка </a:t>
            </a:r>
            <a:r>
              <a:rPr lang="en-US" b="1" dirty="0"/>
              <a:t>VLAN</a:t>
            </a:r>
          </a:p>
          <a:p>
            <a:endParaRPr lang="en-US" i="1" dirty="0"/>
          </a:p>
          <a:p>
            <a:r>
              <a:rPr lang="en-US" i="1" dirty="0"/>
              <a:t>Switch&gt;</a:t>
            </a:r>
            <a:r>
              <a:rPr lang="en-US" i="1" dirty="0" err="1"/>
              <a:t>en</a:t>
            </a:r>
            <a:endParaRPr lang="ru-RU" dirty="0"/>
          </a:p>
          <a:p>
            <a:r>
              <a:rPr lang="en-US" i="1" dirty="0" err="1"/>
              <a:t>Switch#conf</a:t>
            </a:r>
            <a:r>
              <a:rPr lang="en-US" i="1" dirty="0"/>
              <a:t> t</a:t>
            </a:r>
            <a:endParaRPr lang="ru-RU" dirty="0"/>
          </a:p>
          <a:p>
            <a:r>
              <a:rPr lang="en-US" i="1" dirty="0"/>
              <a:t>Switch(config)#</a:t>
            </a:r>
            <a:r>
              <a:rPr lang="en-US" i="1" dirty="0" err="1"/>
              <a:t>vlan</a:t>
            </a:r>
            <a:r>
              <a:rPr lang="en-US" i="1" dirty="0"/>
              <a:t> 10</a:t>
            </a:r>
            <a:endParaRPr lang="ru-RU" dirty="0"/>
          </a:p>
          <a:p>
            <a:r>
              <a:rPr lang="en-US" i="1" dirty="0"/>
              <a:t>Switch(config-</a:t>
            </a:r>
            <a:r>
              <a:rPr lang="en-US" i="1" dirty="0" err="1"/>
              <a:t>vlan</a:t>
            </a:r>
            <a:r>
              <a:rPr lang="en-US" i="1" dirty="0"/>
              <a:t>)#name lan1</a:t>
            </a:r>
            <a:endParaRPr lang="ru-RU" dirty="0"/>
          </a:p>
          <a:p>
            <a:r>
              <a:rPr lang="en-US" i="1" dirty="0"/>
              <a:t>Switch(config-</a:t>
            </a:r>
            <a:r>
              <a:rPr lang="en-US" i="1" dirty="0" err="1"/>
              <a:t>vlan</a:t>
            </a:r>
            <a:r>
              <a:rPr lang="en-US" i="1" dirty="0"/>
              <a:t>)#exit</a:t>
            </a:r>
            <a:endParaRPr lang="ru-RU" dirty="0"/>
          </a:p>
          <a:p>
            <a:r>
              <a:rPr lang="en-US" i="1" dirty="0"/>
              <a:t>Switch(config)#</a:t>
            </a:r>
            <a:r>
              <a:rPr lang="en-US" i="1" dirty="0" err="1"/>
              <a:t>vlan</a:t>
            </a:r>
            <a:r>
              <a:rPr lang="en-US" i="1" dirty="0"/>
              <a:t> 20</a:t>
            </a:r>
            <a:endParaRPr lang="ru-RU" dirty="0"/>
          </a:p>
          <a:p>
            <a:r>
              <a:rPr lang="en-US" i="1" dirty="0"/>
              <a:t>Switch(config-</a:t>
            </a:r>
            <a:r>
              <a:rPr lang="en-US" i="1" dirty="0" err="1"/>
              <a:t>vlan</a:t>
            </a:r>
            <a:r>
              <a:rPr lang="en-US" i="1" dirty="0"/>
              <a:t>)#name lan2</a:t>
            </a:r>
            <a:endParaRPr lang="ru-RU" dirty="0"/>
          </a:p>
          <a:p>
            <a:r>
              <a:rPr lang="en-US" i="1" dirty="0"/>
              <a:t>Switch(config-</a:t>
            </a:r>
            <a:r>
              <a:rPr lang="en-US" i="1" dirty="0" err="1"/>
              <a:t>vlan</a:t>
            </a:r>
            <a:r>
              <a:rPr lang="en-US" i="1" dirty="0"/>
              <a:t>)#exit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DBD857-ACAE-4F7B-B4F8-DF088A0A2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75" y="5073268"/>
            <a:ext cx="23812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5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en-US" sz="3200" dirty="0"/>
              <a:t>3. </a:t>
            </a:r>
            <a:r>
              <a:rPr lang="uz-Cyrl-UZ" sz="3200" dirty="0"/>
              <a:t>Настроить VLAN и Trunk в Switch.</a:t>
            </a:r>
            <a:endParaRPr lang="ru-RU" altLang="ru-RU" sz="3200" dirty="0"/>
          </a:p>
        </p:txBody>
      </p:sp>
      <p:sp>
        <p:nvSpPr>
          <p:cNvPr id="28675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3B7360F4-FC24-414D-B34F-755E8B789D45}" type="slidenum">
              <a:rPr lang="ru-RU" altLang="ru-RU" sz="1200"/>
              <a:pPr>
                <a:lnSpc>
                  <a:spcPct val="80000"/>
                </a:lnSpc>
              </a:pPr>
              <a:t>17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28679" name="TextBox 10"/>
          <p:cNvSpPr txBox="1">
            <a:spLocks noChangeArrowheads="1"/>
          </p:cNvSpPr>
          <p:nvPr/>
        </p:nvSpPr>
        <p:spPr bwMode="auto">
          <a:xfrm>
            <a:off x="431540" y="1997839"/>
            <a:ext cx="828092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Настройка порты к </a:t>
            </a:r>
            <a:r>
              <a:rPr lang="en-US" b="1" dirty="0"/>
              <a:t>VLAN</a:t>
            </a:r>
            <a:r>
              <a:rPr lang="ru-RU" b="1" dirty="0" err="1"/>
              <a:t>ам</a:t>
            </a:r>
            <a:endParaRPr lang="en-US" b="1" dirty="0"/>
          </a:p>
          <a:p>
            <a:endParaRPr lang="en-US" i="1" dirty="0"/>
          </a:p>
          <a:p>
            <a:r>
              <a:rPr lang="en-US" i="1" dirty="0"/>
              <a:t>Switch(config)#int range fa0/1-10</a:t>
            </a:r>
            <a:endParaRPr lang="ru-RU" dirty="0"/>
          </a:p>
          <a:p>
            <a:r>
              <a:rPr lang="en-US" i="1" dirty="0"/>
              <a:t>Switch(config-if-range)#switchport mode access </a:t>
            </a:r>
            <a:endParaRPr lang="ru-RU" dirty="0"/>
          </a:p>
          <a:p>
            <a:r>
              <a:rPr lang="en-US" i="1" dirty="0"/>
              <a:t>Switch(config-if-range)#switchport access </a:t>
            </a:r>
            <a:r>
              <a:rPr lang="en-US" i="1" dirty="0" err="1"/>
              <a:t>vlan</a:t>
            </a:r>
            <a:r>
              <a:rPr lang="en-US" i="1" dirty="0"/>
              <a:t> 10</a:t>
            </a:r>
            <a:endParaRPr lang="ru-RU" dirty="0"/>
          </a:p>
          <a:p>
            <a:r>
              <a:rPr lang="en-US" i="1" dirty="0"/>
              <a:t>Switch(config-if-range)#ex</a:t>
            </a:r>
            <a:endParaRPr lang="ru-RU" dirty="0"/>
          </a:p>
          <a:p>
            <a:r>
              <a:rPr lang="en-US" i="1" dirty="0"/>
              <a:t>Switch(config)#int range fa0/11-20</a:t>
            </a:r>
            <a:endParaRPr lang="ru-RU" dirty="0"/>
          </a:p>
          <a:p>
            <a:r>
              <a:rPr lang="en-US" i="1" dirty="0"/>
              <a:t>Switch(config-if-range)#switchport mode access </a:t>
            </a:r>
            <a:endParaRPr lang="ru-RU" dirty="0"/>
          </a:p>
          <a:p>
            <a:r>
              <a:rPr lang="en-US" i="1" dirty="0"/>
              <a:t>Switch(config-if-range)#switchport access </a:t>
            </a:r>
            <a:r>
              <a:rPr lang="en-US" i="1" dirty="0" err="1"/>
              <a:t>vlan</a:t>
            </a:r>
            <a:r>
              <a:rPr lang="en-US" i="1" dirty="0"/>
              <a:t> 20</a:t>
            </a:r>
            <a:endParaRPr lang="ru-RU" dirty="0"/>
          </a:p>
          <a:p>
            <a:r>
              <a:rPr lang="en-US" i="1" dirty="0"/>
              <a:t>Switch(config-if-range)#ex</a:t>
            </a:r>
            <a:endParaRPr lang="ru-RU" dirty="0"/>
          </a:p>
          <a:p>
            <a:r>
              <a:rPr lang="en-US" i="1" dirty="0"/>
              <a:t>Switch(config)#end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274C08-03E4-4751-8641-AAB2490961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396" y="4863332"/>
            <a:ext cx="1511207" cy="151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10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Заголовок 1"/>
          <p:cNvSpPr>
            <a:spLocks noGrp="1"/>
          </p:cNvSpPr>
          <p:nvPr>
            <p:ph type="title"/>
          </p:nvPr>
        </p:nvSpPr>
        <p:spPr>
          <a:xfrm>
            <a:off x="1193800" y="127000"/>
            <a:ext cx="7689850" cy="990600"/>
          </a:xfrm>
        </p:spPr>
        <p:txBody>
          <a:bodyPr/>
          <a:lstStyle/>
          <a:p>
            <a:r>
              <a:rPr lang="en-US" sz="3200" dirty="0"/>
              <a:t>3. </a:t>
            </a:r>
            <a:r>
              <a:rPr lang="uz-Cyrl-UZ" sz="3200" dirty="0"/>
              <a:t>Настроить VLAN и Trunk в Switch.</a:t>
            </a:r>
            <a:endParaRPr lang="ru-RU" altLang="ru-RU" sz="3200" dirty="0"/>
          </a:p>
        </p:txBody>
      </p:sp>
      <p:sp>
        <p:nvSpPr>
          <p:cNvPr id="28675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3B7360F4-FC24-414D-B34F-755E8B789D45}" type="slidenum">
              <a:rPr lang="ru-RU" altLang="ru-RU" sz="1200"/>
              <a:pPr>
                <a:lnSpc>
                  <a:spcPct val="80000"/>
                </a:lnSpc>
              </a:pPr>
              <a:t>18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28679" name="TextBox 10"/>
          <p:cNvSpPr txBox="1">
            <a:spLocks noChangeArrowheads="1"/>
          </p:cNvSpPr>
          <p:nvPr/>
        </p:nvSpPr>
        <p:spPr bwMode="auto">
          <a:xfrm>
            <a:off x="431540" y="1997839"/>
            <a:ext cx="828092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Настройка </a:t>
            </a:r>
            <a:r>
              <a:rPr lang="en-US" b="1" dirty="0"/>
              <a:t>TRUNK</a:t>
            </a:r>
          </a:p>
          <a:p>
            <a:endParaRPr lang="en-US" i="1" dirty="0"/>
          </a:p>
          <a:p>
            <a:r>
              <a:rPr lang="en-US" i="1" dirty="0" err="1"/>
              <a:t>Switch#conf</a:t>
            </a:r>
            <a:r>
              <a:rPr lang="en-US" i="1" dirty="0"/>
              <a:t> t</a:t>
            </a:r>
            <a:endParaRPr lang="ru-RU" dirty="0"/>
          </a:p>
          <a:p>
            <a:r>
              <a:rPr lang="en-US" i="1" dirty="0"/>
              <a:t>Switch(config)#int fa0/21</a:t>
            </a:r>
            <a:endParaRPr lang="ru-RU" dirty="0"/>
          </a:p>
          <a:p>
            <a:r>
              <a:rPr lang="en-US" i="1" dirty="0"/>
              <a:t>Switch(config-if)#switchport mode trunk </a:t>
            </a:r>
            <a:endParaRPr lang="ru-RU" dirty="0"/>
          </a:p>
          <a:p>
            <a:r>
              <a:rPr lang="en-US" i="1" dirty="0"/>
              <a:t>Switch(config-if)#switchport trunk allowed </a:t>
            </a:r>
            <a:r>
              <a:rPr lang="en-US" i="1" dirty="0" err="1"/>
              <a:t>vlan</a:t>
            </a:r>
            <a:r>
              <a:rPr lang="en-US" i="1" dirty="0"/>
              <a:t> 10,20</a:t>
            </a:r>
            <a:endParaRPr lang="ru-RU" dirty="0"/>
          </a:p>
          <a:p>
            <a:r>
              <a:rPr lang="en-US" i="1" dirty="0"/>
              <a:t>Switch(config-if)#end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5590C9-0EB2-42CC-B752-59B040A5FB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941" y="4694844"/>
            <a:ext cx="1918118" cy="113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30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Номер слайда 1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</a:pPr>
            <a:fld id="{3B7360F4-FC24-414D-B34F-755E8B789D45}" type="slidenum">
              <a:rPr lang="ru-RU" altLang="ru-RU" sz="1200"/>
              <a:pPr>
                <a:lnSpc>
                  <a:spcPct val="80000"/>
                </a:lnSpc>
              </a:pPr>
              <a:t>19</a:t>
            </a:fld>
            <a:endParaRPr lang="ru-RU" altLang="ru-RU" sz="1200"/>
          </a:p>
        </p:txBody>
      </p:sp>
      <p:sp>
        <p:nvSpPr>
          <p:cNvPr id="14" name="Прямоугольник 13"/>
          <p:cNvSpPr/>
          <p:nvPr/>
        </p:nvSpPr>
        <p:spPr>
          <a:xfrm>
            <a:off x="41275" y="6502400"/>
            <a:ext cx="1141413" cy="290513"/>
          </a:xfrm>
          <a:prstGeom prst="rect">
            <a:avLst/>
          </a:prstGeom>
          <a:solidFill>
            <a:schemeClr val="accent2">
              <a:lumMod val="75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ctr" eaLnBrk="1" hangingPunct="1">
              <a:lnSpc>
                <a:spcPct val="114000"/>
              </a:lnSpc>
              <a:defRPr/>
            </a:pPr>
            <a:r>
              <a:rPr lang="ru-RU" sz="1200" b="1" dirty="0">
                <a:latin typeface="Tw Cen MT" pitchFamily="34" charset="0"/>
              </a:rPr>
              <a:t>ВТ</a:t>
            </a:r>
            <a:endParaRPr lang="en-US" b="1" dirty="0">
              <a:latin typeface="Tw Cen MT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238250" y="6496050"/>
            <a:ext cx="7867650" cy="290513"/>
          </a:xfrm>
          <a:prstGeom prst="rect">
            <a:avLst/>
          </a:prstGeom>
          <a:solidFill>
            <a:schemeClr val="tx2">
              <a:lumMod val="60000"/>
              <a:lumOff val="40000"/>
              <a:alpha val="94000"/>
            </a:schemeClr>
          </a:solidFill>
          <a:ln w="57150">
            <a:solidFill>
              <a:schemeClr val="bg1"/>
            </a:solidFill>
          </a:ln>
        </p:spPr>
        <p:txBody>
          <a:bodyPr>
            <a:spAutoFit/>
          </a:bodyPr>
          <a:lstStyle/>
          <a:p>
            <a:pPr marL="342900" indent="-342900" algn="r" eaLnBrk="1" hangingPunct="1">
              <a:lnSpc>
                <a:spcPct val="114000"/>
              </a:lnSpc>
              <a:defRPr/>
            </a:pPr>
            <a:endParaRPr lang="en-US" sz="1200" b="1" dirty="0">
              <a:latin typeface="Tw Cen MT" pitchFamily="34" charset="0"/>
            </a:endParaRPr>
          </a:p>
        </p:txBody>
      </p:sp>
      <p:sp>
        <p:nvSpPr>
          <p:cNvPr id="28679" name="TextBox 10"/>
          <p:cNvSpPr txBox="1">
            <a:spLocks noChangeArrowheads="1"/>
          </p:cNvSpPr>
          <p:nvPr/>
        </p:nvSpPr>
        <p:spPr bwMode="auto">
          <a:xfrm>
            <a:off x="1489157" y="1898830"/>
            <a:ext cx="6165685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dirty="0"/>
              <a:t>Контрольные вопросы</a:t>
            </a:r>
            <a:r>
              <a:rPr lang="en-US" dirty="0"/>
              <a:t>:</a:t>
            </a:r>
            <a:endParaRPr lang="ru-RU" dirty="0"/>
          </a:p>
          <a:p>
            <a:endParaRPr lang="en-US" i="1" dirty="0"/>
          </a:p>
          <a:p>
            <a:pPr lvl="0"/>
            <a:r>
              <a:rPr lang="en-US" dirty="0"/>
              <a:t>1. </a:t>
            </a:r>
            <a:r>
              <a:rPr lang="ru-RU" dirty="0"/>
              <a:t>Что такое </a:t>
            </a:r>
            <a:r>
              <a:rPr lang="en-US" dirty="0"/>
              <a:t>VLAN?</a:t>
            </a:r>
            <a:endParaRPr lang="ru-RU" dirty="0"/>
          </a:p>
          <a:p>
            <a:pPr lvl="0"/>
            <a:r>
              <a:rPr lang="en-US" dirty="0"/>
              <a:t>2. </a:t>
            </a:r>
            <a:r>
              <a:rPr lang="ru-RU" dirty="0"/>
              <a:t>Для чего нужен </a:t>
            </a:r>
            <a:r>
              <a:rPr lang="en-US" dirty="0"/>
              <a:t>VLAN</a:t>
            </a:r>
            <a:r>
              <a:rPr lang="ru-RU" dirty="0"/>
              <a:t>?</a:t>
            </a:r>
          </a:p>
          <a:p>
            <a:pPr lvl="0"/>
            <a:r>
              <a:rPr lang="en-US" dirty="0"/>
              <a:t>3. </a:t>
            </a:r>
            <a:r>
              <a:rPr lang="ru-RU" dirty="0"/>
              <a:t>Что такое </a:t>
            </a:r>
            <a:r>
              <a:rPr lang="en-US" dirty="0"/>
              <a:t>VTP</a:t>
            </a:r>
            <a:r>
              <a:rPr lang="ru-RU" dirty="0"/>
              <a:t>?</a:t>
            </a:r>
          </a:p>
          <a:p>
            <a:pPr lvl="0"/>
            <a:r>
              <a:rPr lang="en-US" dirty="0"/>
              <a:t>4. </a:t>
            </a:r>
            <a:r>
              <a:rPr lang="ru-RU" dirty="0"/>
              <a:t>Режимы работы VTP</a:t>
            </a:r>
            <a:r>
              <a:rPr lang="en-US" dirty="0"/>
              <a:t>.</a:t>
            </a:r>
            <a:endParaRPr lang="ru-RU" dirty="0"/>
          </a:p>
          <a:p>
            <a:pPr lvl="0"/>
            <a:r>
              <a:rPr lang="en-US" dirty="0"/>
              <a:t>5. </a:t>
            </a:r>
            <a:r>
              <a:rPr lang="ru-RU" dirty="0"/>
              <a:t>Типы сообщений VTP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620F17-96C0-4002-9A64-3F86E994B3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617" y="4554125"/>
            <a:ext cx="1256763" cy="148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468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быч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бычная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Обычная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4280</TotalTime>
  <Words>1608</Words>
  <Application>Microsoft Office PowerPoint</Application>
  <PresentationFormat>Экран (4:3)</PresentationFormat>
  <Paragraphs>175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Tw Cen MT</vt:lpstr>
      <vt:lpstr>Wingdings</vt:lpstr>
      <vt:lpstr>Wingdings 2</vt:lpstr>
      <vt:lpstr>Обычная</vt:lpstr>
      <vt:lpstr> Тема 2: Компьютерные сети и технологии. Занятие-8. (Группа) Понятие VLAN и Trunk. </vt:lpstr>
      <vt:lpstr>    Учебные вопросы:  1. Доступ к VLAN, настройка. 2. VTP (Vlan Trunking Protocol). 3. Настроить VLAN и Trunk в Switch.</vt:lpstr>
      <vt:lpstr>1. Доступ к VLAN, настройка.</vt:lpstr>
      <vt:lpstr>Определение</vt:lpstr>
      <vt:lpstr>Преимущества VLAN</vt:lpstr>
      <vt:lpstr>Эффективность использования логической сегментации сетей</vt:lpstr>
      <vt:lpstr>Эффективность использования логической сегментации сетей</vt:lpstr>
      <vt:lpstr>Типы VLAN</vt:lpstr>
      <vt:lpstr>VLAN на основе портов</vt:lpstr>
      <vt:lpstr>Основные характеристики VLAN на основе портов</vt:lpstr>
      <vt:lpstr>Основные характеристики VLAN на основе портов</vt:lpstr>
      <vt:lpstr>2. VTP (Vlan Trunking Protocol).</vt:lpstr>
      <vt:lpstr>2. VTP (Vlan Trunking Protocol).</vt:lpstr>
      <vt:lpstr>2. VTP (Vlan Trunking Protocol).</vt:lpstr>
      <vt:lpstr>3. Настроить VLAN и Trunk в Switch.</vt:lpstr>
      <vt:lpstr>3. Настроить VLAN и Trunk в Switch.</vt:lpstr>
      <vt:lpstr>3. Настроить VLAN и Trunk в Switch.</vt:lpstr>
      <vt:lpstr>3. Настроить VLAN и Trunk в Switch.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Маршрутизация</dc:title>
  <dc:creator>Переверзев В.А.</dc:creator>
  <cp:lastModifiedBy>Пользователь</cp:lastModifiedBy>
  <cp:revision>317</cp:revision>
  <dcterms:created xsi:type="dcterms:W3CDTF">2013-11-28T11:35:39Z</dcterms:created>
  <dcterms:modified xsi:type="dcterms:W3CDTF">2025-11-11T05:27:42Z</dcterms:modified>
</cp:coreProperties>
</file>