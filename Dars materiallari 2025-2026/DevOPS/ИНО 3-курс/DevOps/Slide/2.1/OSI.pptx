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48" r:id="rId1"/>
  </p:sldMasterIdLst>
  <p:notesMasterIdLst>
    <p:notesMasterId r:id="rId43"/>
  </p:notesMasterIdLst>
  <p:sldIdLst>
    <p:sldId id="264" r:id="rId2"/>
    <p:sldId id="265" r:id="rId3"/>
    <p:sldId id="266"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Lst>
  <p:sldSz cx="9144000" cy="6858000" type="screen4x3"/>
  <p:notesSz cx="6888163" cy="100203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0118" autoAdjust="0"/>
  </p:normalViewPr>
  <p:slideViewPr>
    <p:cSldViewPr>
      <p:cViewPr>
        <p:scale>
          <a:sx n="100" d="100"/>
          <a:sy n="100" d="100"/>
        </p:scale>
        <p:origin x="-1314" y="-138"/>
      </p:cViewPr>
      <p:guideLst>
        <p:guide orient="horz" pos="2160"/>
        <p:guide pos="2880"/>
      </p:guideLst>
    </p:cSldViewPr>
  </p:slideViewPr>
  <p:notesTextViewPr>
    <p:cViewPr>
      <p:scale>
        <a:sx n="100" d="100"/>
        <a:sy n="100" d="100"/>
      </p:scale>
      <p:origin x="0" y="0"/>
    </p:cViewPr>
  </p:notesTextViewPr>
  <p:notesViewPr>
    <p:cSldViewPr>
      <p:cViewPr varScale="1">
        <p:scale>
          <a:sx n="78" d="100"/>
          <a:sy n="78" d="100"/>
        </p:scale>
        <p:origin x="-3348" y="-102"/>
      </p:cViewPr>
      <p:guideLst>
        <p:guide orient="horz" pos="3156"/>
        <p:guide pos="2169"/>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78CA5C17-F42D-4FED-844A-DE4E72DFFA47}" type="datetimeFigureOut">
              <a:rPr lang="ru-RU" smtClean="0"/>
              <a:pPr/>
              <a:t>21.02.2013</a:t>
            </a:fld>
            <a:endParaRPr lang="ru-RU"/>
          </a:p>
        </p:txBody>
      </p:sp>
      <p:sp>
        <p:nvSpPr>
          <p:cNvPr id="4" name="Образ слайда 3"/>
          <p:cNvSpPr>
            <a:spLocks noGrp="1" noRot="1" noChangeAspect="1"/>
          </p:cNvSpPr>
          <p:nvPr>
            <p:ph type="sldImg" idx="2"/>
          </p:nvPr>
        </p:nvSpPr>
        <p:spPr>
          <a:xfrm>
            <a:off x="939800" y="750888"/>
            <a:ext cx="5008563" cy="3757612"/>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8975" y="4759325"/>
            <a:ext cx="5510213" cy="451008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95D94D9D-3927-4505-850F-2C8C016321E5}" type="slidenum">
              <a:rPr lang="ru-RU" smtClean="0"/>
              <a:pPr/>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a:p>
        </p:txBody>
      </p:sp>
      <p:sp>
        <p:nvSpPr>
          <p:cNvPr id="4" name="Номер слайда 3"/>
          <p:cNvSpPr>
            <a:spLocks noGrp="1"/>
          </p:cNvSpPr>
          <p:nvPr>
            <p:ph type="sldNum" sz="quarter" idx="10"/>
          </p:nvPr>
        </p:nvSpPr>
        <p:spPr/>
        <p:txBody>
          <a:bodyPr/>
          <a:lstStyle/>
          <a:p>
            <a:fld id="{95D94D9D-3927-4505-850F-2C8C016321E5}" type="slidenum">
              <a:rPr lang="ru-RU" smtClean="0"/>
              <a:pPr/>
              <a:t>1</a:t>
            </a:fld>
            <a:endParaRPr lang="ru-R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5</a:t>
            </a:fld>
            <a:endParaRPr lang="ru-R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6</a:t>
            </a:fld>
            <a:endParaRPr lang="ru-R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7</a:t>
            </a:fld>
            <a:endParaRPr lang="ru-R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8</a:t>
            </a:fld>
            <a:endParaRPr lang="ru-R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9</a:t>
            </a:fld>
            <a:endParaRPr lang="ru-R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10</a:t>
            </a:fld>
            <a:endParaRPr lang="ru-R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11</a:t>
            </a:fld>
            <a:endParaRPr lang="ru-R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12</a:t>
            </a:fld>
            <a:endParaRPr lang="ru-R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13</a:t>
            </a:fld>
            <a:endParaRPr lang="ru-R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14</a:t>
            </a:fld>
            <a:endParaRPr lang="ru-R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15</a:t>
            </a:fld>
            <a:endParaRPr lang="ru-R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16</a:t>
            </a:fld>
            <a:endParaRPr lang="ru-R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17</a:t>
            </a:fld>
            <a:endParaRPr lang="ru-R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18</a:t>
            </a:fld>
            <a:endParaRPr lang="ru-R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19</a:t>
            </a:fld>
            <a:endParaRPr lang="ru-R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20</a:t>
            </a:fld>
            <a:endParaRPr lang="ru-R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21</a:t>
            </a:fld>
            <a:endParaRPr lang="ru-R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22</a:t>
            </a:fld>
            <a:endParaRPr lang="ru-RU"/>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23</a:t>
            </a:fld>
            <a:endParaRPr lang="ru-RU"/>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24</a:t>
            </a:fld>
            <a:endParaRPr lang="ru-RU"/>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25</a:t>
            </a:fld>
            <a:endParaRPr lang="ru-RU"/>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26</a:t>
            </a:fld>
            <a:endParaRPr lang="ru-RU"/>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27</a:t>
            </a:fld>
            <a:endParaRPr lang="ru-RU"/>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28</a:t>
            </a:fld>
            <a:endParaRPr lang="ru-RU"/>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29</a:t>
            </a:fld>
            <a:endParaRPr lang="ru-RU"/>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30</a:t>
            </a:fld>
            <a:endParaRPr lang="ru-RU"/>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31</a:t>
            </a:fld>
            <a:endParaRPr lang="ru-RU"/>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32</a:t>
            </a:fld>
            <a:endParaRPr lang="ru-RU"/>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33</a:t>
            </a:fld>
            <a:endParaRPr lang="ru-RU"/>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34</a:t>
            </a:fld>
            <a:endParaRPr lang="ru-RU"/>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35</a:t>
            </a:fld>
            <a:endParaRPr lang="ru-RU"/>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36</a:t>
            </a:fld>
            <a:endParaRPr lang="ru-RU"/>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37</a:t>
            </a:fld>
            <a:endParaRPr lang="ru-RU"/>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38</a:t>
            </a:fld>
            <a:endParaRPr lang="ru-RU"/>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39</a:t>
            </a:fld>
            <a:endParaRPr lang="ru-RU"/>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40</a:t>
            </a:fld>
            <a:endParaRPr lang="ru-RU"/>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95D94D9D-3927-4505-850F-2C8C016321E5}" type="slidenum">
              <a:rPr lang="ru-RU" smtClean="0"/>
              <a:pPr/>
              <a:t>41</a:t>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21.02.2013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21.02.2013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5B106E36-FD25-4E2D-B0AA-010F637433A0}" type="datetimeFigureOut">
              <a:rPr lang="ru-RU" smtClean="0"/>
              <a:pPr/>
              <a:t>21.02.2013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5B106E36-FD25-4E2D-B0AA-010F637433A0}" type="datetimeFigureOut">
              <a:rPr lang="ru-RU" smtClean="0"/>
              <a:pPr/>
              <a:t>21.02.2013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5B106E36-FD25-4E2D-B0AA-010F637433A0}" type="datetimeFigureOut">
              <a:rPr lang="ru-RU" smtClean="0"/>
              <a:pPr/>
              <a:t>21.02.2013</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5B106E36-FD25-4E2D-B0AA-010F637433A0}" type="datetimeFigureOut">
              <a:rPr lang="ru-RU" smtClean="0"/>
              <a:pPr/>
              <a:t>21.02.2013</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5B106E36-FD25-4E2D-B0AA-010F637433A0}" type="datetimeFigureOut">
              <a:rPr lang="ru-RU" smtClean="0"/>
              <a:pPr/>
              <a:t>21.02.2013</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5B106E36-FD25-4E2D-B0AA-010F637433A0}" type="datetimeFigureOut">
              <a:rPr lang="ru-RU" smtClean="0"/>
              <a:pPr/>
              <a:t>21.02.2013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5B106E36-FD25-4E2D-B0AA-010F637433A0}" type="datetimeFigureOut">
              <a:rPr lang="ru-RU" smtClean="0"/>
              <a:pPr/>
              <a:t>21.02.2013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21.02.2013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21.02.2013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106E36-FD25-4E2D-B0AA-010F637433A0}" type="datetimeFigureOut">
              <a:rPr lang="ru-RU" smtClean="0"/>
              <a:pPr/>
              <a:t>21.02.2013</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5C68B6-61C2-468F-89AB-4B9F7531AA68}"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1928802"/>
            <a:ext cx="9144000" cy="1281138"/>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4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Семиуровневая</a:t>
            </a:r>
            <a:r>
              <a:rPr kumimoji="0" lang="ru-RU" sz="4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модель </a:t>
            </a:r>
            <a:r>
              <a:rPr kumimoji="0" lang="en-US" sz="4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OSI</a:t>
            </a:r>
            <a:endParaRPr kumimoji="0" lang="ru-RU" sz="4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7" name="Прямоугольник 6"/>
          <p:cNvSpPr/>
          <p:nvPr/>
        </p:nvSpPr>
        <p:spPr>
          <a:xfrm>
            <a:off x="571472" y="428604"/>
            <a:ext cx="8143932" cy="523220"/>
          </a:xfrm>
          <a:prstGeom prst="rect">
            <a:avLst/>
          </a:prstGeom>
        </p:spPr>
        <p:txBody>
          <a:bodyPr wrap="square">
            <a:spAutoFit/>
          </a:bodyPr>
          <a:lstStyle/>
          <a:p>
            <a:pPr algn="just"/>
            <a:r>
              <a:rPr lang="ru-RU" sz="2800" b="1" dirty="0" smtClean="0">
                <a:latin typeface="Times New Roman" pitchFamily="18" charset="0"/>
                <a:cs typeface="Times New Roman" pitchFamily="18" charset="0"/>
              </a:rPr>
              <a:t>	</a:t>
            </a:r>
            <a:endParaRPr lang="ru-RU" sz="2800" b="1" dirty="0" smtClean="0">
              <a:solidFill>
                <a:srgbClr val="FF00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Семиуровневая модель </a:t>
            </a:r>
            <a:r>
              <a:rPr kumimoji="0" lang="en-US" sz="2800" b="1" i="0" u="none" strike="noStrike" kern="1200" cap="all" spc="0" normalizeH="0" baseline="0" noProof="0" dirty="0" err="1"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osi</a:t>
            </a:r>
            <a:endParaRPr kumimoji="0" lang="ru-RU" sz="28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p:cNvSpPr/>
          <p:nvPr/>
        </p:nvSpPr>
        <p:spPr>
          <a:xfrm>
            <a:off x="428596" y="928670"/>
            <a:ext cx="8215370" cy="5016758"/>
          </a:xfrm>
          <a:prstGeom prst="rect">
            <a:avLst/>
          </a:prstGeom>
        </p:spPr>
        <p:txBody>
          <a:bodyPr wrap="square">
            <a:spAutoFit/>
          </a:bodyPr>
          <a:lstStyle/>
          <a:p>
            <a:pPr algn="just"/>
            <a:r>
              <a:rPr lang="ru-RU" sz="3200" i="1" dirty="0" smtClean="0">
                <a:latin typeface="Times New Roman" pitchFamily="18" charset="0"/>
                <a:cs typeface="Times New Roman" pitchFamily="18" charset="0"/>
              </a:rPr>
              <a:t>	</a:t>
            </a:r>
            <a:r>
              <a:rPr lang="ru-RU" sz="3200" dirty="0" smtClean="0">
                <a:latin typeface="Times New Roman" pitchFamily="18" charset="0"/>
                <a:cs typeface="Times New Roman" pitchFamily="18" charset="0"/>
              </a:rPr>
              <a:t>Для единого представления данных в сетях с неоднородными устройствами и программным обеспечением международная организация по стандартам ISO (</a:t>
            </a:r>
            <a:r>
              <a:rPr lang="en-US" sz="3200" dirty="0" smtClean="0">
                <a:latin typeface="Times New Roman" pitchFamily="18" charset="0"/>
                <a:cs typeface="Times New Roman" pitchFamily="18" charset="0"/>
              </a:rPr>
              <a:t>International Standardization Organization</a:t>
            </a:r>
            <a:r>
              <a:rPr lang="ru-RU" sz="3200" dirty="0" smtClean="0">
                <a:latin typeface="Times New Roman" pitchFamily="18" charset="0"/>
                <a:cs typeface="Times New Roman" pitchFamily="18" charset="0"/>
              </a:rPr>
              <a:t>) разработала базовую модель связи открытых систем OSI (</a:t>
            </a:r>
            <a:r>
              <a:rPr lang="en-US" sz="3200" dirty="0" smtClean="0">
                <a:latin typeface="Times New Roman" pitchFamily="18" charset="0"/>
                <a:cs typeface="Times New Roman" pitchFamily="18" charset="0"/>
              </a:rPr>
              <a:t>Open System Interconnection</a:t>
            </a:r>
            <a:r>
              <a:rPr lang="ru-RU" sz="3200" dirty="0" smtClean="0">
                <a:latin typeface="Times New Roman" pitchFamily="18" charset="0"/>
                <a:cs typeface="Times New Roman" pitchFamily="18" charset="0"/>
              </a:rPr>
              <a:t>). Эта модель описывает правила и процедуры передачи данных в различных сетевых средах при организации сеанса связи. </a:t>
            </a:r>
            <a:endParaRPr lang="ru-RU" sz="3200" b="1" dirty="0">
              <a:solidFill>
                <a:srgbClr val="FF00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Семиуровневая модель </a:t>
            </a:r>
            <a:r>
              <a:rPr kumimoji="0" lang="en-US" sz="2800" b="1" i="0" u="none" strike="noStrike" kern="1200" cap="all" spc="0" normalizeH="0" baseline="0" noProof="0" dirty="0" err="1"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osi</a:t>
            </a:r>
            <a:endParaRPr kumimoji="0" lang="ru-RU" sz="28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7" name="Прямоугольник 6"/>
          <p:cNvSpPr/>
          <p:nvPr/>
        </p:nvSpPr>
        <p:spPr>
          <a:xfrm>
            <a:off x="2643174" y="571480"/>
            <a:ext cx="3820341" cy="461665"/>
          </a:xfrm>
          <a:prstGeom prst="rect">
            <a:avLst/>
          </a:prstGeom>
        </p:spPr>
        <p:txBody>
          <a:bodyPr wrap="none">
            <a:spAutoFit/>
          </a:bodyPr>
          <a:lstStyle/>
          <a:p>
            <a:r>
              <a:rPr lang="ru-RU" sz="2400" b="1" dirty="0" smtClean="0">
                <a:solidFill>
                  <a:srgbClr val="FF0000"/>
                </a:solidFill>
                <a:latin typeface="Times New Roman" pitchFamily="18" charset="0"/>
                <a:cs typeface="Times New Roman" pitchFamily="18" charset="0"/>
              </a:rPr>
              <a:t>структура базовой модели</a:t>
            </a:r>
            <a:endParaRPr lang="ru-RU" sz="2400" b="1" dirty="0">
              <a:solidFill>
                <a:srgbClr val="FF0000"/>
              </a:solidFill>
              <a:latin typeface="Times New Roman" pitchFamily="18" charset="0"/>
              <a:cs typeface="Times New Roman" pitchFamily="18" charset="0"/>
            </a:endParaRPr>
          </a:p>
        </p:txBody>
      </p:sp>
      <p:pic>
        <p:nvPicPr>
          <p:cNvPr id="43010" name="Picture 2" descr="R7"/>
          <p:cNvPicPr>
            <a:picLocks noChangeAspect="1" noChangeArrowheads="1"/>
          </p:cNvPicPr>
          <p:nvPr/>
        </p:nvPicPr>
        <p:blipFill>
          <a:blip r:embed="rId2"/>
          <a:srcRect/>
          <a:stretch>
            <a:fillRect/>
          </a:stretch>
        </p:blipFill>
        <p:spPr bwMode="auto">
          <a:xfrm>
            <a:off x="1785918" y="1000108"/>
            <a:ext cx="5500726" cy="4203184"/>
          </a:xfrm>
          <a:prstGeom prst="rect">
            <a:avLst/>
          </a:prstGeom>
          <a:noFill/>
          <a:ln w="9525">
            <a:noFill/>
            <a:miter lim="800000"/>
            <a:headEnd/>
            <a:tailEnd/>
          </a:ln>
        </p:spPr>
      </p:pic>
      <p:sp>
        <p:nvSpPr>
          <p:cNvPr id="8" name="Прямоугольник 7"/>
          <p:cNvSpPr/>
          <p:nvPr/>
        </p:nvSpPr>
        <p:spPr>
          <a:xfrm>
            <a:off x="428596" y="5214950"/>
            <a:ext cx="8358246" cy="1384995"/>
          </a:xfrm>
          <a:prstGeom prst="rect">
            <a:avLst/>
          </a:prstGeom>
        </p:spPr>
        <p:txBody>
          <a:bodyPr wrap="square">
            <a:spAutoFit/>
          </a:bodyPr>
          <a:lstStyle/>
          <a:p>
            <a:pPr algn="ctr"/>
            <a:r>
              <a:rPr lang="ru-RU" sz="2800" dirty="0" smtClean="0">
                <a:solidFill>
                  <a:srgbClr val="FF0000"/>
                </a:solidFill>
                <a:latin typeface="Times New Roman" pitchFamily="18" charset="0"/>
                <a:cs typeface="Times New Roman" pitchFamily="18" charset="0"/>
              </a:rPr>
              <a:t>Модель OSI описывает только системные средства взаимодействия, не касаясь приложений конечных пользователей.</a:t>
            </a:r>
            <a:endParaRPr lang="ru-RU" sz="2800" dirty="0">
              <a:solidFill>
                <a:srgbClr val="FF00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Взаимодействие уровней модели </a:t>
            </a:r>
            <a:r>
              <a:rPr kumimoji="0" lang="en-US"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OSI</a:t>
            </a:r>
            <a:endParaRPr kumimoji="0" lang="ru-RU" sz="28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9" name="Прямоугольник 8"/>
          <p:cNvSpPr/>
          <p:nvPr/>
        </p:nvSpPr>
        <p:spPr>
          <a:xfrm>
            <a:off x="571472" y="571480"/>
            <a:ext cx="8143932" cy="461665"/>
          </a:xfrm>
          <a:prstGeom prst="rect">
            <a:avLst/>
          </a:prstGeom>
        </p:spPr>
        <p:txBody>
          <a:bodyPr wrap="square">
            <a:spAutoFit/>
          </a:bodyPr>
          <a:lstStyle/>
          <a:p>
            <a:pPr algn="ctr"/>
            <a:r>
              <a:rPr lang="ru-RU" sz="2400" dirty="0" smtClean="0">
                <a:solidFill>
                  <a:srgbClr val="FF0000"/>
                </a:solidFill>
                <a:latin typeface="Times New Roman" pitchFamily="18" charset="0"/>
                <a:cs typeface="Times New Roman" pitchFamily="18" charset="0"/>
              </a:rPr>
              <a:t>Модель </a:t>
            </a:r>
            <a:r>
              <a:rPr lang="en-US" sz="2400" dirty="0" smtClean="0">
                <a:solidFill>
                  <a:srgbClr val="FF0000"/>
                </a:solidFill>
                <a:latin typeface="Times New Roman" pitchFamily="18" charset="0"/>
                <a:cs typeface="Times New Roman" pitchFamily="18" charset="0"/>
              </a:rPr>
              <a:t>OSI</a:t>
            </a:r>
            <a:r>
              <a:rPr lang="ru-RU" sz="2400" dirty="0" smtClean="0">
                <a:solidFill>
                  <a:srgbClr val="FF0000"/>
                </a:solidFill>
                <a:latin typeface="Times New Roman" pitchFamily="18" charset="0"/>
                <a:cs typeface="Times New Roman" pitchFamily="18" charset="0"/>
              </a:rPr>
              <a:t> можно разделить на две различных модели</a:t>
            </a:r>
            <a:endParaRPr lang="ru-RU" sz="2400" dirty="0">
              <a:solidFill>
                <a:srgbClr val="FF0000"/>
              </a:solidFill>
              <a:latin typeface="Times New Roman" pitchFamily="18" charset="0"/>
              <a:cs typeface="Times New Roman" pitchFamily="18" charset="0"/>
            </a:endParaRPr>
          </a:p>
        </p:txBody>
      </p:sp>
      <p:pic>
        <p:nvPicPr>
          <p:cNvPr id="44034" name="Picture 2" descr="R2"/>
          <p:cNvPicPr>
            <a:picLocks noChangeAspect="1" noChangeArrowheads="1"/>
          </p:cNvPicPr>
          <p:nvPr/>
        </p:nvPicPr>
        <p:blipFill>
          <a:blip r:embed="rId2"/>
          <a:srcRect/>
          <a:stretch>
            <a:fillRect/>
          </a:stretch>
        </p:blipFill>
        <p:spPr bwMode="auto">
          <a:xfrm>
            <a:off x="1643042" y="1000108"/>
            <a:ext cx="6715172" cy="3890962"/>
          </a:xfrm>
          <a:prstGeom prst="rect">
            <a:avLst/>
          </a:prstGeom>
          <a:noFill/>
          <a:ln w="9525">
            <a:noFill/>
            <a:miter lim="800000"/>
            <a:headEnd/>
            <a:tailEnd/>
          </a:ln>
        </p:spPr>
      </p:pic>
      <p:sp>
        <p:nvSpPr>
          <p:cNvPr id="10" name="Прямоугольник 9"/>
          <p:cNvSpPr/>
          <p:nvPr/>
        </p:nvSpPr>
        <p:spPr>
          <a:xfrm>
            <a:off x="357158" y="4929198"/>
            <a:ext cx="8643998" cy="1631216"/>
          </a:xfrm>
          <a:prstGeom prst="rect">
            <a:avLst/>
          </a:prstGeom>
        </p:spPr>
        <p:txBody>
          <a:bodyPr wrap="square">
            <a:spAutoFit/>
          </a:bodyPr>
          <a:lstStyle/>
          <a:p>
            <a:pPr marL="342900" indent="-342900" algn="just">
              <a:buFont typeface="+mj-lt"/>
              <a:buAutoNum type="arabicPeriod"/>
            </a:pPr>
            <a:r>
              <a:rPr lang="ru-RU" sz="2000" b="1" dirty="0" smtClean="0">
                <a:latin typeface="Times New Roman" pitchFamily="18" charset="0"/>
                <a:cs typeface="Times New Roman" pitchFamily="18" charset="0"/>
              </a:rPr>
              <a:t>горизонтальную модель на базе протоколов, обеспечивающую механизм взаимодействия программ и процессов на различных машинах; </a:t>
            </a:r>
          </a:p>
          <a:p>
            <a:pPr marL="342900" indent="-342900" algn="just">
              <a:buFont typeface="+mj-lt"/>
              <a:buAutoNum type="arabicPeriod"/>
            </a:pPr>
            <a:r>
              <a:rPr lang="ru-RU" sz="2000" b="1" dirty="0" smtClean="0">
                <a:latin typeface="Times New Roman" pitchFamily="18" charset="0"/>
                <a:cs typeface="Times New Roman" pitchFamily="18" charset="0"/>
              </a:rPr>
              <a:t>вертикальную модель на основе услуг, обеспечиваемых соседними уровнями друг другу на одной машине</a:t>
            </a:r>
            <a:endParaRPr lang="ru-RU" sz="2000" b="1"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Взаимодействие уровней модели </a:t>
            </a:r>
            <a:r>
              <a:rPr kumimoji="0" lang="en-US"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OSI</a:t>
            </a:r>
            <a:endParaRPr kumimoji="0" lang="ru-RU" sz="28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7" name="Прямоугольник 6"/>
          <p:cNvSpPr/>
          <p:nvPr/>
        </p:nvSpPr>
        <p:spPr>
          <a:xfrm>
            <a:off x="500034" y="785794"/>
            <a:ext cx="8215370" cy="2308324"/>
          </a:xfrm>
          <a:prstGeom prst="rect">
            <a:avLst/>
          </a:prstGeom>
        </p:spPr>
        <p:txBody>
          <a:bodyPr wrap="square">
            <a:spAutoFit/>
          </a:bodyPr>
          <a:lstStyle/>
          <a:p>
            <a:pPr algn="just"/>
            <a:r>
              <a:rPr lang="en-US" sz="2400" b="1" dirty="0" smtClean="0">
                <a:latin typeface="Times New Roman" pitchFamily="18" charset="0"/>
                <a:cs typeface="Times New Roman" pitchFamily="18" charset="0"/>
              </a:rPr>
              <a:t>	</a:t>
            </a:r>
            <a:r>
              <a:rPr lang="ru-RU" sz="2400" b="1" dirty="0" smtClean="0">
                <a:latin typeface="Times New Roman" pitchFamily="18" charset="0"/>
                <a:cs typeface="Times New Roman" pitchFamily="18" charset="0"/>
              </a:rPr>
              <a:t>Каждый уровень компьютера–отправителя взаимодействует с таким же уровнем компьютера-получателя, как будто он связан напрямую. Такая связь называется логической или виртуальной связью. В действительности взаимодействие осуществляется между смежными уровнями одного компьютера.</a:t>
            </a:r>
            <a:endParaRPr lang="ru-RU" sz="2400" b="1" dirty="0">
              <a:latin typeface="Times New Roman" pitchFamily="18" charset="0"/>
              <a:cs typeface="Times New Roman" pitchFamily="18" charset="0"/>
            </a:endParaRPr>
          </a:p>
        </p:txBody>
      </p:sp>
      <p:sp>
        <p:nvSpPr>
          <p:cNvPr id="8" name="Прямоугольник 7"/>
          <p:cNvSpPr/>
          <p:nvPr/>
        </p:nvSpPr>
        <p:spPr>
          <a:xfrm>
            <a:off x="642910" y="3143248"/>
            <a:ext cx="8072494" cy="1200329"/>
          </a:xfrm>
          <a:prstGeom prst="rect">
            <a:avLst/>
          </a:prstGeom>
        </p:spPr>
        <p:txBody>
          <a:bodyPr wrap="square">
            <a:spAutoFit/>
          </a:bodyPr>
          <a:lstStyle/>
          <a:p>
            <a:pPr algn="ctr"/>
            <a:r>
              <a:rPr lang="ru-RU" dirty="0" smtClean="0">
                <a:latin typeface="Times New Roman" pitchFamily="18" charset="0"/>
                <a:cs typeface="Times New Roman" pitchFamily="18" charset="0"/>
              </a:rPr>
              <a:t>информация на компьютере-отправителе должна пройти через все уровни. Затем она передается по физической среде до компьютера–получателя и опять проходит сквозь все слои, пока не доходит до того же уровня, с которого она была послана на компьютере-отправителе.</a:t>
            </a:r>
            <a:endParaRPr lang="ru-RU" dirty="0">
              <a:latin typeface="Times New Roman" pitchFamily="18" charset="0"/>
              <a:cs typeface="Times New Roman" pitchFamily="18" charset="0"/>
            </a:endParaRPr>
          </a:p>
        </p:txBody>
      </p:sp>
      <p:sp>
        <p:nvSpPr>
          <p:cNvPr id="11" name="Прямоугольник 10"/>
          <p:cNvSpPr/>
          <p:nvPr/>
        </p:nvSpPr>
        <p:spPr>
          <a:xfrm>
            <a:off x="500034" y="4429132"/>
            <a:ext cx="8215370" cy="2308324"/>
          </a:xfrm>
          <a:prstGeom prst="rect">
            <a:avLst/>
          </a:prstGeom>
        </p:spPr>
        <p:txBody>
          <a:bodyPr wrap="square">
            <a:spAutoFit/>
          </a:bodyPr>
          <a:lstStyle/>
          <a:p>
            <a:pPr algn="just"/>
            <a:r>
              <a:rPr lang="en-US" sz="2400" b="1" dirty="0" smtClean="0">
                <a:latin typeface="Times New Roman" pitchFamily="18" charset="0"/>
                <a:cs typeface="Times New Roman" pitchFamily="18" charset="0"/>
              </a:rPr>
              <a:t>	</a:t>
            </a:r>
            <a:r>
              <a:rPr lang="ru-RU" sz="2400" b="1" dirty="0" smtClean="0">
                <a:latin typeface="Times New Roman" pitchFamily="18" charset="0"/>
                <a:cs typeface="Times New Roman" pitchFamily="18" charset="0"/>
              </a:rPr>
              <a:t>В </a:t>
            </a:r>
            <a:r>
              <a:rPr lang="ru-RU" sz="2400" b="1" dirty="0" smtClean="0">
                <a:solidFill>
                  <a:srgbClr val="FF0000"/>
                </a:solidFill>
                <a:latin typeface="Times New Roman" pitchFamily="18" charset="0"/>
                <a:cs typeface="Times New Roman" pitchFamily="18" charset="0"/>
              </a:rPr>
              <a:t>горизонтальной</a:t>
            </a:r>
            <a:r>
              <a:rPr lang="ru-RU" sz="2400" b="1" dirty="0" smtClean="0">
                <a:latin typeface="Times New Roman" pitchFamily="18" charset="0"/>
                <a:cs typeface="Times New Roman" pitchFamily="18" charset="0"/>
              </a:rPr>
              <a:t> модели двум программам требуется общий протокол для обмена данными. </a:t>
            </a:r>
            <a:endParaRPr lang="en-US" sz="2400" b="1" dirty="0" smtClean="0">
              <a:latin typeface="Times New Roman" pitchFamily="18" charset="0"/>
              <a:cs typeface="Times New Roman" pitchFamily="18" charset="0"/>
            </a:endParaRPr>
          </a:p>
          <a:p>
            <a:pPr algn="just"/>
            <a:r>
              <a:rPr lang="en-US" sz="2400" b="1" dirty="0" smtClean="0">
                <a:latin typeface="Times New Roman" pitchFamily="18" charset="0"/>
                <a:cs typeface="Times New Roman" pitchFamily="18" charset="0"/>
              </a:rPr>
              <a:t>	</a:t>
            </a:r>
            <a:r>
              <a:rPr lang="ru-RU" sz="2400" b="1" dirty="0" smtClean="0">
                <a:latin typeface="Times New Roman" pitchFamily="18" charset="0"/>
                <a:cs typeface="Times New Roman" pitchFamily="18" charset="0"/>
              </a:rPr>
              <a:t>В </a:t>
            </a:r>
            <a:r>
              <a:rPr lang="ru-RU" sz="2400" b="1" dirty="0" smtClean="0">
                <a:solidFill>
                  <a:srgbClr val="FF0000"/>
                </a:solidFill>
                <a:latin typeface="Times New Roman" pitchFamily="18" charset="0"/>
                <a:cs typeface="Times New Roman" pitchFamily="18" charset="0"/>
              </a:rPr>
              <a:t>вертикальной</a:t>
            </a:r>
            <a:r>
              <a:rPr lang="ru-RU" sz="2400" b="1" dirty="0" smtClean="0">
                <a:latin typeface="Times New Roman" pitchFamily="18" charset="0"/>
                <a:cs typeface="Times New Roman" pitchFamily="18" charset="0"/>
              </a:rPr>
              <a:t> модели соседние уровни обмениваются данными с использованием интерфейсов прикладных программ API (</a:t>
            </a:r>
            <a:r>
              <a:rPr lang="en-US" sz="2400" b="1" dirty="0" smtClean="0">
                <a:latin typeface="Times New Roman" pitchFamily="18" charset="0"/>
                <a:cs typeface="Times New Roman" pitchFamily="18" charset="0"/>
              </a:rPr>
              <a:t>Application Programming Interface</a:t>
            </a:r>
            <a:r>
              <a:rPr lang="ru-RU" sz="2400" b="1" dirty="0" smtClean="0">
                <a:latin typeface="Times New Roman" pitchFamily="18" charset="0"/>
                <a:cs typeface="Times New Roman" pitchFamily="18" charset="0"/>
              </a:rPr>
              <a:t>).</a:t>
            </a:r>
            <a:endParaRPr lang="ru-RU" sz="2400" b="1"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Взаимодействие уровней модели </a:t>
            </a:r>
            <a:r>
              <a:rPr kumimoji="0" lang="en-US"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OSI</a:t>
            </a:r>
            <a:endParaRPr kumimoji="0" lang="ru-RU" sz="28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9" name="Прямоугольник 8"/>
          <p:cNvSpPr/>
          <p:nvPr/>
        </p:nvSpPr>
        <p:spPr>
          <a:xfrm>
            <a:off x="642910" y="1000108"/>
            <a:ext cx="7929618" cy="5262979"/>
          </a:xfrm>
          <a:prstGeom prst="rect">
            <a:avLst/>
          </a:prstGeom>
        </p:spPr>
        <p:txBody>
          <a:bodyPr wrap="square">
            <a:spAutoFit/>
          </a:bodyPr>
          <a:lstStyle/>
          <a:p>
            <a:pPr algn="just"/>
            <a:r>
              <a:rPr lang="en-US" sz="2800" b="1" dirty="0" smtClean="0">
                <a:latin typeface="Times New Roman" pitchFamily="18" charset="0"/>
                <a:cs typeface="Times New Roman" pitchFamily="18" charset="0"/>
              </a:rPr>
              <a:t>	</a:t>
            </a:r>
            <a:r>
              <a:rPr lang="ru-RU" sz="2800" b="1" dirty="0" smtClean="0">
                <a:latin typeface="Times New Roman" pitchFamily="18" charset="0"/>
                <a:cs typeface="Times New Roman" pitchFamily="18" charset="0"/>
              </a:rPr>
              <a:t>Перед подачей в сеть данные разбиваются на пакеты. Пакет (</a:t>
            </a:r>
            <a:r>
              <a:rPr lang="en-US" sz="2800" b="1" dirty="0" smtClean="0">
                <a:latin typeface="Times New Roman" pitchFamily="18" charset="0"/>
                <a:cs typeface="Times New Roman" pitchFamily="18" charset="0"/>
              </a:rPr>
              <a:t>packet</a:t>
            </a:r>
            <a:r>
              <a:rPr lang="ru-RU" sz="2800" b="1" dirty="0" smtClean="0">
                <a:latin typeface="Times New Roman" pitchFamily="18" charset="0"/>
                <a:cs typeface="Times New Roman" pitchFamily="18" charset="0"/>
              </a:rPr>
              <a:t>) – это единица информации, передаваемая между станциями сети. При отправке данных пакет проходит последовательно через все уровни программного обеспечения. </a:t>
            </a:r>
            <a:endParaRPr lang="en-US" sz="2800" b="1" dirty="0" smtClean="0">
              <a:latin typeface="Times New Roman" pitchFamily="18" charset="0"/>
              <a:cs typeface="Times New Roman" pitchFamily="18" charset="0"/>
            </a:endParaRPr>
          </a:p>
          <a:p>
            <a:pPr algn="just"/>
            <a:r>
              <a:rPr lang="en-US" sz="2800" b="1" dirty="0" smtClean="0">
                <a:latin typeface="Times New Roman" pitchFamily="18" charset="0"/>
                <a:cs typeface="Times New Roman" pitchFamily="18" charset="0"/>
              </a:rPr>
              <a:t>	</a:t>
            </a:r>
            <a:r>
              <a:rPr lang="ru-RU" sz="2800" b="1" dirty="0" smtClean="0">
                <a:latin typeface="Times New Roman" pitchFamily="18" charset="0"/>
                <a:cs typeface="Times New Roman" pitchFamily="18" charset="0"/>
              </a:rPr>
              <a:t>На каждом уровне к пакету добавляется управляющая информация данного уровня (заголовок), которая необходима для успешной передачи данных по сети, как это показано на </a:t>
            </a:r>
            <a:r>
              <a:rPr lang="en-US" sz="2800" b="1" dirty="0" smtClean="0">
                <a:latin typeface="Times New Roman" pitchFamily="18" charset="0"/>
                <a:cs typeface="Times New Roman" pitchFamily="18" charset="0"/>
              </a:rPr>
              <a:t>(</a:t>
            </a:r>
            <a:r>
              <a:rPr lang="ru-RU" sz="2800" b="1" dirty="0" smtClean="0">
                <a:latin typeface="Times New Roman" pitchFamily="18" charset="0"/>
                <a:cs typeface="Times New Roman" pitchFamily="18" charset="0"/>
              </a:rPr>
              <a:t>рис.</a:t>
            </a:r>
            <a:r>
              <a:rPr lang="en-US" sz="2800" b="1" dirty="0" smtClean="0">
                <a:latin typeface="Times New Roman" pitchFamily="18" charset="0"/>
                <a:cs typeface="Times New Roman" pitchFamily="18" charset="0"/>
              </a:rPr>
              <a:t>)</a:t>
            </a:r>
            <a:r>
              <a:rPr lang="ru-RU" sz="2800" b="1" dirty="0" smtClean="0">
                <a:latin typeface="Times New Roman" pitchFamily="18" charset="0"/>
                <a:cs typeface="Times New Roman" pitchFamily="18" charset="0"/>
              </a:rPr>
              <a:t> где </a:t>
            </a:r>
            <a:r>
              <a:rPr lang="ru-RU" sz="2800" b="1" i="1" dirty="0" err="1" smtClean="0">
                <a:latin typeface="Times New Roman" pitchFamily="18" charset="0"/>
                <a:cs typeface="Times New Roman" pitchFamily="18" charset="0"/>
              </a:rPr>
              <a:t>Заг</a:t>
            </a:r>
            <a:r>
              <a:rPr lang="ru-RU" sz="2800" b="1" dirty="0" smtClean="0">
                <a:latin typeface="Times New Roman" pitchFamily="18" charset="0"/>
                <a:cs typeface="Times New Roman" pitchFamily="18" charset="0"/>
              </a:rPr>
              <a:t> – заголовок пакета, </a:t>
            </a:r>
            <a:r>
              <a:rPr lang="ru-RU" sz="2800" b="1" i="1" dirty="0" smtClean="0">
                <a:latin typeface="Times New Roman" pitchFamily="18" charset="0"/>
                <a:cs typeface="Times New Roman" pitchFamily="18" charset="0"/>
              </a:rPr>
              <a:t>Кон</a:t>
            </a:r>
            <a:r>
              <a:rPr lang="ru-RU" sz="2800" b="1" dirty="0" smtClean="0">
                <a:latin typeface="Times New Roman" pitchFamily="18" charset="0"/>
                <a:cs typeface="Times New Roman" pitchFamily="18" charset="0"/>
              </a:rPr>
              <a:t> – конец пакета.</a:t>
            </a:r>
            <a:endParaRPr lang="ru-RU" sz="2800" b="1"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Взаимодействие уровней модели </a:t>
            </a:r>
            <a:r>
              <a:rPr kumimoji="0" lang="en-US"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OSI</a:t>
            </a:r>
            <a:endParaRPr kumimoji="0" lang="ru-RU" sz="28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46081" name="Object 1"/>
          <p:cNvGraphicFramePr>
            <a:graphicFrameLocks noChangeAspect="1"/>
          </p:cNvGraphicFramePr>
          <p:nvPr/>
        </p:nvGraphicFramePr>
        <p:xfrm>
          <a:off x="500034" y="714356"/>
          <a:ext cx="8212393" cy="4429156"/>
        </p:xfrm>
        <a:graphic>
          <a:graphicData uri="http://schemas.openxmlformats.org/presentationml/2006/ole">
            <p:oleObj spid="_x0000_s46081" name="Visio" r:id="rId4" imgW="6181344" imgH="3328416" progId="Visio.Drawing.11">
              <p:embed/>
            </p:oleObj>
          </a:graphicData>
        </a:graphic>
      </p:graphicFrame>
      <p:sp>
        <p:nvSpPr>
          <p:cNvPr id="7" name="Прямоугольник 6"/>
          <p:cNvSpPr/>
          <p:nvPr/>
        </p:nvSpPr>
        <p:spPr>
          <a:xfrm>
            <a:off x="571472" y="5286388"/>
            <a:ext cx="8072494" cy="830997"/>
          </a:xfrm>
          <a:prstGeom prst="rect">
            <a:avLst/>
          </a:prstGeom>
        </p:spPr>
        <p:txBody>
          <a:bodyPr wrap="square">
            <a:spAutoFit/>
          </a:bodyPr>
          <a:lstStyle/>
          <a:p>
            <a:pPr algn="ctr"/>
            <a:r>
              <a:rPr lang="ru-RU" sz="2400" dirty="0" smtClean="0">
                <a:solidFill>
                  <a:srgbClr val="FF0000"/>
                </a:solidFill>
                <a:latin typeface="Times New Roman" pitchFamily="18" charset="0"/>
                <a:cs typeface="Times New Roman" pitchFamily="18" charset="0"/>
              </a:rPr>
              <a:t>Каждый уровень модели выполняет свою функцию. Чем выше уровень, тем более сложную задачу он решает.</a:t>
            </a:r>
            <a:endParaRPr lang="ru-RU" sz="2400" dirty="0">
              <a:solidFill>
                <a:srgbClr val="FF0000"/>
              </a:solidFill>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Взаимодействие уровней модели </a:t>
            </a:r>
            <a:r>
              <a:rPr kumimoji="0" lang="en-US"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OSI</a:t>
            </a:r>
            <a:endParaRPr kumimoji="0" lang="ru-RU" sz="28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5325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53251" name="Object 3"/>
          <p:cNvGraphicFramePr>
            <a:graphicFrameLocks noChangeAspect="1"/>
          </p:cNvGraphicFramePr>
          <p:nvPr/>
        </p:nvGraphicFramePr>
        <p:xfrm>
          <a:off x="1714480" y="714356"/>
          <a:ext cx="5929354" cy="5715016"/>
        </p:xfrm>
        <a:graphic>
          <a:graphicData uri="http://schemas.openxmlformats.org/presentationml/2006/ole">
            <p:oleObj spid="_x0000_s53251" name="Visio" r:id="rId4" imgW="4847844" imgH="4847844" progId="Visio.Drawing.11">
              <p:embed/>
            </p:oleObj>
          </a:graphicData>
        </a:graphic>
      </p:graphicFrame>
    </p:spTree>
  </p:cSld>
  <p:clrMapOvr>
    <a:masterClrMapping/>
  </p:clrMapOvr>
  <p:transition spd="slow">
    <p:wedg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Взаимодействие уровней модели </a:t>
            </a:r>
            <a:r>
              <a:rPr kumimoji="0" lang="en-US"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OSI</a:t>
            </a:r>
            <a:endParaRPr kumimoji="0" lang="ru-RU" sz="28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785786" y="733246"/>
            <a:ext cx="7786742" cy="5693866"/>
          </a:xfrm>
          <a:prstGeom prst="rect">
            <a:avLst/>
          </a:prstGeom>
        </p:spPr>
        <p:txBody>
          <a:bodyPr wrap="square">
            <a:spAutoFit/>
          </a:bodyPr>
          <a:lstStyle/>
          <a:p>
            <a:pPr algn="just"/>
            <a:r>
              <a:rPr lang="en-US" sz="2800" b="1" dirty="0" smtClean="0">
                <a:latin typeface="Times New Roman" pitchFamily="18" charset="0"/>
                <a:cs typeface="Times New Roman" pitchFamily="18" charset="0"/>
              </a:rPr>
              <a:t>	</a:t>
            </a:r>
            <a:r>
              <a:rPr lang="ru-RU" sz="2800" dirty="0" smtClean="0">
                <a:solidFill>
                  <a:srgbClr val="FF0000"/>
                </a:solidFill>
                <a:latin typeface="Times New Roman" pitchFamily="18" charset="0"/>
                <a:cs typeface="Times New Roman" pitchFamily="18" charset="0"/>
              </a:rPr>
              <a:t>Рассматриваемая модель определяет взаимодействие открытых систем разных производителей в одной сети. Поэтому она выполняет для них координирующие действия по:</a:t>
            </a:r>
            <a:endParaRPr lang="en-US" sz="2800" dirty="0" smtClean="0">
              <a:solidFill>
                <a:srgbClr val="FF0000"/>
              </a:solidFill>
              <a:latin typeface="Times New Roman" pitchFamily="18" charset="0"/>
              <a:cs typeface="Times New Roman" pitchFamily="18" charset="0"/>
            </a:endParaRPr>
          </a:p>
          <a:p>
            <a:pPr algn="just">
              <a:buFont typeface="Wingdings" pitchFamily="2" charset="2"/>
              <a:buChar char="v"/>
            </a:pPr>
            <a:r>
              <a:rPr lang="en-US" sz="2800" b="1" dirty="0" smtClean="0">
                <a:latin typeface="Times New Roman" pitchFamily="18" charset="0"/>
                <a:cs typeface="Times New Roman" pitchFamily="18" charset="0"/>
              </a:rPr>
              <a:t> </a:t>
            </a:r>
            <a:r>
              <a:rPr lang="ru-RU" sz="2800" b="1" dirty="0" smtClean="0">
                <a:latin typeface="Times New Roman" pitchFamily="18" charset="0"/>
                <a:cs typeface="Times New Roman" pitchFamily="18" charset="0"/>
              </a:rPr>
              <a:t>взаимодействию прикладных процессов; </a:t>
            </a:r>
          </a:p>
          <a:p>
            <a:pPr algn="just">
              <a:buFont typeface="Wingdings" pitchFamily="2" charset="2"/>
              <a:buChar char="v"/>
            </a:pPr>
            <a:r>
              <a:rPr lang="en-US" sz="2800" b="1" dirty="0" smtClean="0">
                <a:latin typeface="Times New Roman" pitchFamily="18" charset="0"/>
                <a:cs typeface="Times New Roman" pitchFamily="18" charset="0"/>
              </a:rPr>
              <a:t> </a:t>
            </a:r>
            <a:r>
              <a:rPr lang="ru-RU" sz="2800" b="1" dirty="0" smtClean="0">
                <a:latin typeface="Times New Roman" pitchFamily="18" charset="0"/>
                <a:cs typeface="Times New Roman" pitchFamily="18" charset="0"/>
              </a:rPr>
              <a:t>формам представления данных; </a:t>
            </a:r>
          </a:p>
          <a:p>
            <a:pPr algn="just">
              <a:buFont typeface="Wingdings" pitchFamily="2" charset="2"/>
              <a:buChar char="v"/>
            </a:pPr>
            <a:r>
              <a:rPr lang="en-US" sz="2800" b="1" dirty="0" smtClean="0">
                <a:latin typeface="Times New Roman" pitchFamily="18" charset="0"/>
                <a:cs typeface="Times New Roman" pitchFamily="18" charset="0"/>
              </a:rPr>
              <a:t> </a:t>
            </a:r>
            <a:r>
              <a:rPr lang="ru-RU" sz="2800" b="1" dirty="0" smtClean="0">
                <a:latin typeface="Times New Roman" pitchFamily="18" charset="0"/>
                <a:cs typeface="Times New Roman" pitchFamily="18" charset="0"/>
              </a:rPr>
              <a:t>единообразному хранению данных; </a:t>
            </a:r>
          </a:p>
          <a:p>
            <a:pPr algn="just">
              <a:buFont typeface="Wingdings" pitchFamily="2" charset="2"/>
              <a:buChar char="v"/>
            </a:pPr>
            <a:r>
              <a:rPr lang="en-US" sz="2800" b="1" dirty="0" smtClean="0">
                <a:latin typeface="Times New Roman" pitchFamily="18" charset="0"/>
                <a:cs typeface="Times New Roman" pitchFamily="18" charset="0"/>
              </a:rPr>
              <a:t> </a:t>
            </a:r>
            <a:r>
              <a:rPr lang="ru-RU" sz="2800" b="1" dirty="0" smtClean="0">
                <a:latin typeface="Times New Roman" pitchFamily="18" charset="0"/>
                <a:cs typeface="Times New Roman" pitchFamily="18" charset="0"/>
              </a:rPr>
              <a:t>управлению сетевыми ресурсами; </a:t>
            </a:r>
          </a:p>
          <a:p>
            <a:pPr algn="just">
              <a:buFont typeface="Wingdings" pitchFamily="2" charset="2"/>
              <a:buChar char="v"/>
            </a:pPr>
            <a:r>
              <a:rPr lang="en-US" sz="2800" b="1" dirty="0" smtClean="0">
                <a:latin typeface="Times New Roman" pitchFamily="18" charset="0"/>
                <a:cs typeface="Times New Roman" pitchFamily="18" charset="0"/>
              </a:rPr>
              <a:t> </a:t>
            </a:r>
            <a:r>
              <a:rPr lang="ru-RU" sz="2800" b="1" dirty="0" smtClean="0">
                <a:latin typeface="Times New Roman" pitchFamily="18" charset="0"/>
                <a:cs typeface="Times New Roman" pitchFamily="18" charset="0"/>
              </a:rPr>
              <a:t>безопасности данных и защите информации; </a:t>
            </a:r>
          </a:p>
          <a:p>
            <a:pPr algn="just">
              <a:buFont typeface="Wingdings" pitchFamily="2" charset="2"/>
              <a:buChar char="v"/>
            </a:pPr>
            <a:r>
              <a:rPr lang="en-US" sz="2800" b="1" dirty="0" smtClean="0">
                <a:latin typeface="Times New Roman" pitchFamily="18" charset="0"/>
                <a:cs typeface="Times New Roman" pitchFamily="18" charset="0"/>
              </a:rPr>
              <a:t> </a:t>
            </a:r>
            <a:r>
              <a:rPr lang="ru-RU" sz="2800" b="1" dirty="0" smtClean="0">
                <a:latin typeface="Times New Roman" pitchFamily="18" charset="0"/>
                <a:cs typeface="Times New Roman" pitchFamily="18" charset="0"/>
              </a:rPr>
              <a:t>диагностике программ и технических средств.</a:t>
            </a:r>
            <a:endParaRPr lang="ru-RU" sz="2800" b="1"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Прикладной уровень (</a:t>
            </a:r>
            <a:r>
              <a:rPr kumimoji="0" lang="en-US"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Application layer</a:t>
            </a: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8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571472" y="642918"/>
            <a:ext cx="8143932" cy="6001643"/>
          </a:xfrm>
          <a:prstGeom prst="rect">
            <a:avLst/>
          </a:prstGeom>
        </p:spPr>
        <p:txBody>
          <a:bodyPr wrap="square">
            <a:spAutoFit/>
          </a:bodyPr>
          <a:lstStyle/>
          <a:p>
            <a:pPr algn="just"/>
            <a:r>
              <a:rPr lang="en-US" sz="2400" dirty="0" smtClean="0">
                <a:latin typeface="Times New Roman" pitchFamily="18" charset="0"/>
                <a:cs typeface="Times New Roman" pitchFamily="18" charset="0"/>
              </a:rPr>
              <a:t>	</a:t>
            </a:r>
            <a:r>
              <a:rPr lang="ru-RU" sz="2400" b="1" dirty="0" smtClean="0">
                <a:solidFill>
                  <a:srgbClr val="FF0000"/>
                </a:solidFill>
                <a:latin typeface="Times New Roman" pitchFamily="18" charset="0"/>
                <a:cs typeface="Times New Roman" pitchFamily="18" charset="0"/>
              </a:rPr>
              <a:t>Прикладной уровень </a:t>
            </a:r>
            <a:r>
              <a:rPr lang="ru-RU" sz="2400" dirty="0" smtClean="0">
                <a:latin typeface="Times New Roman" pitchFamily="18" charset="0"/>
                <a:cs typeface="Times New Roman" pitchFamily="18" charset="0"/>
              </a:rPr>
              <a:t>обеспечивает прикладным процессам средства доступа к области взаимодействия, является верхним (седьмым) уровнем и непосредственно примыкает к прикладным процессам. В действительности прикладной уровень – это набор разнообразных протоколов, с помощью которых пользователи сети получают доступ к разделяемым ресурсам, таким как файлы, принтеры или гипертекстовые Web-страницы и т.п.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Специальные элементы прикладного сервиса обеспечивают сервис для конкретных прикладных программ, таких как программы пересылки файлов и эмуляции терминалов. Если, например программе необходимо переслать файлы, то обязательно будет использован </a:t>
            </a:r>
            <a:r>
              <a:rPr lang="ru-RU" sz="2400" i="1" dirty="0" smtClean="0">
                <a:latin typeface="Times New Roman" pitchFamily="18" charset="0"/>
                <a:cs typeface="Times New Roman" pitchFamily="18" charset="0"/>
              </a:rPr>
              <a:t>протокол передачи, доступа и управления файлами</a:t>
            </a:r>
            <a:r>
              <a:rPr lang="ru-RU" sz="2400" dirty="0" smtClean="0">
                <a:latin typeface="Times New Roman" pitchFamily="18" charset="0"/>
                <a:cs typeface="Times New Roman" pitchFamily="18" charset="0"/>
              </a:rPr>
              <a:t> FTAM (</a:t>
            </a:r>
            <a:r>
              <a:rPr lang="en-US" sz="2400" dirty="0" smtClean="0">
                <a:latin typeface="Times New Roman" pitchFamily="18" charset="0"/>
                <a:cs typeface="Times New Roman" pitchFamily="18" charset="0"/>
              </a:rPr>
              <a:t>File Transfer</a:t>
            </a:r>
            <a:r>
              <a:rPr lang="ru-RU"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Access</a:t>
            </a:r>
            <a:r>
              <a:rPr lang="ru-RU"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and Management</a:t>
            </a:r>
            <a:r>
              <a:rPr lang="ru-RU"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a:t>
            </a:r>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Прикладной уровень (</a:t>
            </a:r>
            <a:r>
              <a:rPr kumimoji="0" lang="en-US"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Application layer</a:t>
            </a: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8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785786" y="1571612"/>
            <a:ext cx="7715304" cy="4154984"/>
          </a:xfrm>
          <a:prstGeom prst="rect">
            <a:avLst/>
          </a:prstGeom>
        </p:spPr>
        <p:txBody>
          <a:bodyPr wrap="square">
            <a:spAutoFit/>
          </a:bodyPr>
          <a:lstStyle/>
          <a:p>
            <a:pPr algn="just"/>
            <a:r>
              <a:rPr lang="ru-RU" sz="2400" dirty="0" smtClean="0">
                <a:latin typeface="Times New Roman" pitchFamily="18" charset="0"/>
                <a:cs typeface="Times New Roman" pitchFamily="18" charset="0"/>
              </a:rPr>
              <a:t>В модели OSI </a:t>
            </a:r>
            <a:r>
              <a:rPr lang="ru-RU" sz="2400" i="1" dirty="0" smtClean="0">
                <a:latin typeface="Times New Roman" pitchFamily="18" charset="0"/>
                <a:cs typeface="Times New Roman" pitchFamily="18" charset="0"/>
              </a:rPr>
              <a:t>прикладная программа</a:t>
            </a:r>
            <a:r>
              <a:rPr lang="ru-RU" sz="2400" dirty="0" smtClean="0">
                <a:latin typeface="Times New Roman" pitchFamily="18" charset="0"/>
                <a:cs typeface="Times New Roman" pitchFamily="18" charset="0"/>
              </a:rPr>
              <a:t>, которой нужно выполнить конкретную задачу (например, обновить базу данных на компьютере), посылает конкретные данные в виде </a:t>
            </a:r>
            <a:r>
              <a:rPr lang="ru-RU" sz="2400" i="1" dirty="0" smtClean="0">
                <a:latin typeface="Times New Roman" pitchFamily="18" charset="0"/>
                <a:cs typeface="Times New Roman" pitchFamily="18" charset="0"/>
              </a:rPr>
              <a:t>Дейтаграммы</a:t>
            </a:r>
            <a:r>
              <a:rPr lang="ru-RU" sz="2400" dirty="0" smtClean="0">
                <a:latin typeface="Times New Roman" pitchFamily="18" charset="0"/>
                <a:cs typeface="Times New Roman" pitchFamily="18" charset="0"/>
              </a:rPr>
              <a:t> на </a:t>
            </a:r>
            <a:r>
              <a:rPr lang="ru-RU" sz="2400" i="1" dirty="0" smtClean="0">
                <a:latin typeface="Times New Roman" pitchFamily="18" charset="0"/>
                <a:cs typeface="Times New Roman" pitchFamily="18" charset="0"/>
              </a:rPr>
              <a:t>прикладной уровень</a:t>
            </a:r>
            <a:r>
              <a:rPr lang="ru-RU"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Единица данных, которой оперирует прикладной уровень, обычно называется сообщением (</a:t>
            </a:r>
            <a:r>
              <a:rPr lang="en-US" sz="2400" dirty="0" smtClean="0">
                <a:latin typeface="Times New Roman" pitchFamily="18" charset="0"/>
                <a:cs typeface="Times New Roman" pitchFamily="18" charset="0"/>
              </a:rPr>
              <a:t>message</a:t>
            </a:r>
            <a:r>
              <a:rPr lang="ru-RU" sz="2400" dirty="0" smtClean="0">
                <a:latin typeface="Times New Roman" pitchFamily="18" charset="0"/>
                <a:cs typeface="Times New Roman" pitchFamily="18" charset="0"/>
              </a:rPr>
              <a:t>).</a:t>
            </a:r>
          </a:p>
          <a:p>
            <a:pPr algn="just"/>
            <a:endParaRPr lang="ru-RU" sz="2400" dirty="0" smtClean="0">
              <a:latin typeface="Times New Roman" pitchFamily="18" charset="0"/>
              <a:cs typeface="Times New Roman" pitchFamily="18" charset="0"/>
            </a:endParaRPr>
          </a:p>
          <a:p>
            <a:pPr algn="just"/>
            <a:r>
              <a:rPr lang="ru-RU" sz="2400" b="1" dirty="0" smtClean="0"/>
              <a:t>	Дейтаграмма - пакет, передаваемый через сеть без предварительной организации пути его следования и независимо от других пакетов. </a:t>
            </a:r>
          </a:p>
          <a:p>
            <a:pPr algn="just"/>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Прикладной уровень (</a:t>
            </a:r>
            <a:r>
              <a:rPr kumimoji="0" lang="en-US"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Application layer</a:t>
            </a: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8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642910" y="928670"/>
            <a:ext cx="8072494" cy="5262979"/>
          </a:xfrm>
          <a:prstGeom prst="rect">
            <a:avLst/>
          </a:prstGeom>
        </p:spPr>
        <p:txBody>
          <a:bodyPr wrap="square">
            <a:spAutoFit/>
          </a:bodyPr>
          <a:lstStyle/>
          <a:p>
            <a:pPr algn="just"/>
            <a:r>
              <a:rPr lang="ru-RU" sz="2400" b="1" dirty="0" smtClean="0">
                <a:solidFill>
                  <a:srgbClr val="FF0000"/>
                </a:solidFill>
                <a:latin typeface="Times New Roman" pitchFamily="18" charset="0"/>
                <a:cs typeface="Times New Roman" pitchFamily="18" charset="0"/>
              </a:rPr>
              <a:t>Прикладной уровень выполняет следующие функции: </a:t>
            </a:r>
          </a:p>
          <a:p>
            <a:pPr lvl="0" algn="just"/>
            <a:r>
              <a:rPr lang="ru-RU" sz="2400" dirty="0" smtClean="0">
                <a:latin typeface="Times New Roman" pitchFamily="18" charset="0"/>
                <a:cs typeface="Times New Roman" pitchFamily="18" charset="0"/>
              </a:rPr>
              <a:t>1. Выполнение различных видов работ:</a:t>
            </a:r>
          </a:p>
          <a:p>
            <a:pPr algn="just"/>
            <a:r>
              <a:rPr lang="ru-RU" sz="2400" dirty="0" smtClean="0">
                <a:latin typeface="Times New Roman" pitchFamily="18" charset="0"/>
                <a:cs typeface="Times New Roman" pitchFamily="18" charset="0"/>
              </a:rPr>
              <a:t>	- передача файлов;</a:t>
            </a:r>
          </a:p>
          <a:p>
            <a:pPr algn="just"/>
            <a:r>
              <a:rPr lang="ru-RU" sz="2400" dirty="0" smtClean="0">
                <a:latin typeface="Times New Roman" pitchFamily="18" charset="0"/>
                <a:cs typeface="Times New Roman" pitchFamily="18" charset="0"/>
              </a:rPr>
              <a:t>	- управление заданиями;</a:t>
            </a:r>
          </a:p>
          <a:p>
            <a:pPr algn="just"/>
            <a:r>
              <a:rPr lang="ru-RU" sz="2400" dirty="0" smtClean="0">
                <a:latin typeface="Times New Roman" pitchFamily="18" charset="0"/>
                <a:cs typeface="Times New Roman" pitchFamily="18" charset="0"/>
              </a:rPr>
              <a:t>	- управление системой и т.д.</a:t>
            </a:r>
          </a:p>
          <a:p>
            <a:pPr lvl="0" algn="just"/>
            <a:r>
              <a:rPr lang="ru-RU" sz="2400" dirty="0" smtClean="0">
                <a:latin typeface="Times New Roman" pitchFamily="18" charset="0"/>
                <a:cs typeface="Times New Roman" pitchFamily="18" charset="0"/>
              </a:rPr>
              <a:t>2. Идентификация пользователей по их паролям, адресам, электронным подписям;</a:t>
            </a:r>
          </a:p>
          <a:p>
            <a:pPr lvl="0" algn="just"/>
            <a:r>
              <a:rPr lang="ru-RU" sz="2400" dirty="0" smtClean="0">
                <a:latin typeface="Times New Roman" pitchFamily="18" charset="0"/>
                <a:cs typeface="Times New Roman" pitchFamily="18" charset="0"/>
              </a:rPr>
              <a:t>3. Определение функционирующих абонентов и возможности доступа к новым прикладным процессам;</a:t>
            </a:r>
          </a:p>
          <a:p>
            <a:pPr lvl="0" algn="just"/>
            <a:r>
              <a:rPr lang="ru-RU" sz="2400" dirty="0" smtClean="0">
                <a:latin typeface="Times New Roman" pitchFamily="18" charset="0"/>
                <a:cs typeface="Times New Roman" pitchFamily="18" charset="0"/>
              </a:rPr>
              <a:t>4. Определение достаточности имеющихся ресурсов;</a:t>
            </a:r>
          </a:p>
          <a:p>
            <a:pPr lvl="0" algn="just"/>
            <a:r>
              <a:rPr lang="ru-RU" sz="2400" dirty="0" smtClean="0">
                <a:latin typeface="Times New Roman" pitchFamily="18" charset="0"/>
                <a:cs typeface="Times New Roman" pitchFamily="18" charset="0"/>
              </a:rPr>
              <a:t>5. Организация запросов на соединение с другими прикладными процессами;</a:t>
            </a:r>
          </a:p>
          <a:p>
            <a:pPr lvl="0" algn="just"/>
            <a:r>
              <a:rPr lang="ru-RU" sz="2400" dirty="0" smtClean="0">
                <a:latin typeface="Times New Roman" pitchFamily="18" charset="0"/>
                <a:cs typeface="Times New Roman" pitchFamily="18" charset="0"/>
              </a:rPr>
              <a:t>6. Передача заявок представительскому уровню на необходимые методы описания информации;</a:t>
            </a:r>
          </a:p>
        </p:txBody>
      </p:sp>
    </p:spTree>
  </p:cSld>
  <p:clrMapOvr>
    <a:masterClrMapping/>
  </p:clrMapOvr>
  <p:transition spd="slow">
    <p:wedg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Прикладной уровень (</a:t>
            </a:r>
            <a:r>
              <a:rPr kumimoji="0" lang="en-US"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Application layer</a:t>
            </a: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8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500034" y="714356"/>
            <a:ext cx="8143932" cy="6001643"/>
          </a:xfrm>
          <a:prstGeom prst="rect">
            <a:avLst/>
          </a:prstGeom>
        </p:spPr>
        <p:txBody>
          <a:bodyPr wrap="square">
            <a:spAutoFit/>
          </a:bodyPr>
          <a:lstStyle/>
          <a:p>
            <a:pPr lvl="0" algn="just"/>
            <a:r>
              <a:rPr lang="ru-RU" sz="2400" dirty="0" smtClean="0">
                <a:latin typeface="Times New Roman" pitchFamily="18" charset="0"/>
                <a:cs typeface="Times New Roman" pitchFamily="18" charset="0"/>
              </a:rPr>
              <a:t>7. Выбор процедур планируемого диалога процессов;</a:t>
            </a:r>
          </a:p>
          <a:p>
            <a:pPr lvl="0" algn="just"/>
            <a:r>
              <a:rPr lang="ru-RU" sz="2400" dirty="0" smtClean="0">
                <a:latin typeface="Times New Roman" pitchFamily="18" charset="0"/>
                <a:cs typeface="Times New Roman" pitchFamily="18" charset="0"/>
              </a:rPr>
              <a:t>8. Управление данными, которыми обмениваются прикладные процессы и синхронизация взаимодействия прикладных процессов;</a:t>
            </a:r>
          </a:p>
          <a:p>
            <a:pPr lvl="0" algn="just"/>
            <a:r>
              <a:rPr lang="ru-RU" sz="2400" dirty="0" smtClean="0">
                <a:latin typeface="Times New Roman" pitchFamily="18" charset="0"/>
                <a:cs typeface="Times New Roman" pitchFamily="18" charset="0"/>
              </a:rPr>
              <a:t>9. Определение качества обслуживания (время доставки блоков данных, допустимой частоты ошибок);</a:t>
            </a:r>
          </a:p>
          <a:p>
            <a:pPr lvl="0" algn="just"/>
            <a:r>
              <a:rPr lang="ru-RU" sz="2400" dirty="0" smtClean="0">
                <a:latin typeface="Times New Roman" pitchFamily="18" charset="0"/>
                <a:cs typeface="Times New Roman" pitchFamily="18" charset="0"/>
              </a:rPr>
              <a:t>10. Соглашение об исправлении ошибок и определении достоверности данных;</a:t>
            </a:r>
          </a:p>
          <a:p>
            <a:pPr lvl="0" algn="just"/>
            <a:r>
              <a:rPr lang="ru-RU" sz="2400" dirty="0" smtClean="0">
                <a:latin typeface="Times New Roman" pitchFamily="18" charset="0"/>
                <a:cs typeface="Times New Roman" pitchFamily="18" charset="0"/>
              </a:rPr>
              <a:t>11. Согласование ограничений, накладываемых на синтаксис (наборы символов, структура данных).</a:t>
            </a:r>
          </a:p>
          <a:p>
            <a:pPr algn="just"/>
            <a:r>
              <a:rPr lang="ru-RU" sz="2400" dirty="0" smtClean="0">
                <a:latin typeface="Times New Roman" pitchFamily="18" charset="0"/>
                <a:cs typeface="Times New Roman" pitchFamily="18" charset="0"/>
              </a:rPr>
              <a:t>	Указанные функции определяют виды сервиса, которые прикладной уровень предоставляет прикладным процессам. Кроме этого, прикладной уровень передает прикладным процессам сервис, предоставляемый физическим, канальным, сетевым, транспортным, сеансовым и представительским уровнями. </a:t>
            </a:r>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Прикладной уровень (</a:t>
            </a:r>
            <a:r>
              <a:rPr kumimoji="0" lang="en-US"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Application layer</a:t>
            </a: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8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642910" y="1500174"/>
            <a:ext cx="8001056" cy="3970318"/>
          </a:xfrm>
          <a:prstGeom prst="rect">
            <a:avLst/>
          </a:prstGeom>
        </p:spPr>
        <p:txBody>
          <a:bodyPr wrap="square">
            <a:spAutoFit/>
          </a:bodyPr>
          <a:lstStyle/>
          <a:p>
            <a:pPr algn="just"/>
            <a:r>
              <a:rPr lang="ru-RU" sz="2800" dirty="0" smtClean="0">
                <a:latin typeface="Times New Roman" pitchFamily="18" charset="0"/>
                <a:cs typeface="Times New Roman" pitchFamily="18" charset="0"/>
              </a:rPr>
              <a:t>	На </a:t>
            </a:r>
            <a:r>
              <a:rPr lang="ru-RU" sz="2800" i="1" dirty="0" smtClean="0">
                <a:solidFill>
                  <a:srgbClr val="FF0000"/>
                </a:solidFill>
                <a:latin typeface="Times New Roman" pitchFamily="18" charset="0"/>
                <a:cs typeface="Times New Roman" pitchFamily="18" charset="0"/>
              </a:rPr>
              <a:t>прикладном </a:t>
            </a:r>
            <a:r>
              <a:rPr lang="ru-RU" sz="2800" i="1" dirty="0" smtClean="0">
                <a:latin typeface="Times New Roman" pitchFamily="18" charset="0"/>
                <a:cs typeface="Times New Roman" pitchFamily="18" charset="0"/>
              </a:rPr>
              <a:t>уровне</a:t>
            </a:r>
            <a:r>
              <a:rPr lang="ru-RU" sz="2800" dirty="0" smtClean="0">
                <a:latin typeface="Times New Roman" pitchFamily="18" charset="0"/>
                <a:cs typeface="Times New Roman" pitchFamily="18" charset="0"/>
              </a:rPr>
              <a:t> необходимо предоставить в распоряжение пользователей уже переработанную информацию. С этим может справиться системное и пользовательское программное обеспечение.</a:t>
            </a:r>
          </a:p>
          <a:p>
            <a:pPr algn="just"/>
            <a:r>
              <a:rPr lang="ru-RU" sz="2800" dirty="0" smtClean="0">
                <a:latin typeface="Times New Roman" pitchFamily="18" charset="0"/>
                <a:cs typeface="Times New Roman" pitchFamily="18" charset="0"/>
              </a:rPr>
              <a:t>	</a:t>
            </a:r>
            <a:r>
              <a:rPr lang="ru-RU" sz="2800" i="1" dirty="0" smtClean="0">
                <a:solidFill>
                  <a:srgbClr val="FF0000"/>
                </a:solidFill>
                <a:latin typeface="Times New Roman" pitchFamily="18" charset="0"/>
                <a:cs typeface="Times New Roman" pitchFamily="18" charset="0"/>
              </a:rPr>
              <a:t>Прикладной</a:t>
            </a:r>
            <a:r>
              <a:rPr lang="ru-RU" sz="2800" i="1" dirty="0" smtClean="0">
                <a:latin typeface="Times New Roman" pitchFamily="18" charset="0"/>
                <a:cs typeface="Times New Roman" pitchFamily="18" charset="0"/>
              </a:rPr>
              <a:t> </a:t>
            </a:r>
            <a:r>
              <a:rPr lang="ru-RU" sz="2800" dirty="0" smtClean="0">
                <a:latin typeface="Times New Roman" pitchFamily="18" charset="0"/>
                <a:cs typeface="Times New Roman" pitchFamily="18" charset="0"/>
              </a:rPr>
              <a:t>уровень отвечает за доступ приложений в сеть. Задачами этого уровня является перенос файлов, обмен почтовыми сообщениями и управление сетью.</a:t>
            </a:r>
            <a:endParaRPr lang="ru-RU" sz="28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Прикладной уровень (</a:t>
            </a:r>
            <a:r>
              <a:rPr kumimoji="0" lang="en-US"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Application layer</a:t>
            </a:r>
            <a:r>
              <a:rPr kumimoji="0" lang="ru-RU" sz="28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8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2705" name="Rectangle 1"/>
          <p:cNvSpPr>
            <a:spLocks noChangeArrowheads="1"/>
          </p:cNvSpPr>
          <p:nvPr/>
        </p:nvSpPr>
        <p:spPr bwMode="auto">
          <a:xfrm>
            <a:off x="500034" y="785794"/>
            <a:ext cx="8215370" cy="58477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0850" algn="just" defTabSz="914400" rtl="0" eaLnBrk="1" fontAlgn="base" latinLnBrk="0" hangingPunct="1">
              <a:lnSpc>
                <a:spcPct val="100000"/>
              </a:lnSpc>
              <a:spcBef>
                <a:spcPct val="0"/>
              </a:spcBef>
              <a:spcAft>
                <a:spcPct val="0"/>
              </a:spcAft>
              <a:buClrTx/>
              <a:buSzTx/>
              <a:buFontTx/>
              <a:buNone/>
              <a:tabLst>
                <a:tab pos="228600" algn="l"/>
              </a:tabLst>
            </a:pPr>
            <a:r>
              <a:rPr kumimoji="0" lang="ru-RU" sz="2200" b="0" i="0" u="none" strike="noStrike" cap="none" normalizeH="0" baseline="0" dirty="0" smtClean="0">
                <a:ln>
                  <a:noFill/>
                </a:ln>
                <a:solidFill>
                  <a:srgbClr val="FF0000"/>
                </a:solidFill>
                <a:effectLst/>
                <a:latin typeface="Times New Roman" pitchFamily="18" charset="0"/>
                <a:ea typeface="Times New Roman" pitchFamily="18" charset="0"/>
                <a:cs typeface="Times New Roman" pitchFamily="18" charset="0"/>
              </a:rPr>
              <a:t>К числу наиболее распространенных протоколов верхних трех уровней относятся:</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endParaRPr kumimoji="0" lang="ru-RU" sz="2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 algn="l"/>
              </a:tabLst>
            </a:pP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FTP (File Transfer Protocol) </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протокол</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передачи</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файлов</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t>
            </a:r>
            <a:endParaRPr kumimoji="0" lang="ru-RU" sz="2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 algn="l"/>
              </a:tabLst>
            </a:pP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TFTP (Trivial File Transfer Protocol) </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простейший</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протокол</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пересылки</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файлов</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t>
            </a:r>
            <a:endParaRPr kumimoji="0" lang="ru-RU" sz="2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 algn="l"/>
              </a:tabLst>
            </a:pP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X.400 электронная почта;</a:t>
            </a:r>
            <a:endParaRPr kumimoji="0" lang="ru-RU" sz="2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 algn="l"/>
              </a:tabLst>
            </a:pP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Telnet</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работа с удаленным терминалом;</a:t>
            </a:r>
            <a:endParaRPr kumimoji="0" lang="ru-RU" sz="2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 algn="l"/>
              </a:tabLst>
            </a:pP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SMTP (</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Simple Mail Transfer Protocol</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простой протокол почтового обмена;</a:t>
            </a:r>
            <a:endParaRPr kumimoji="0" lang="ru-RU" sz="2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 algn="l"/>
              </a:tabLst>
            </a:pP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CMIP</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Common Management Information Protocol</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общий протокол управления информацией;</a:t>
            </a:r>
            <a:endParaRPr kumimoji="0" lang="ru-RU" sz="2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 algn="l"/>
              </a:tabLst>
            </a:pP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SL</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IP </a:t>
            </a:r>
            <a:r>
              <a:rPr kumimoji="0" lang="ru-RU" sz="22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Serial Line</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IP) IP для последовательных линий. Протокол последовательной посимвольной передачи данных;</a:t>
            </a:r>
            <a:endParaRPr kumimoji="0" lang="ru-RU" sz="2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 algn="l"/>
              </a:tabLst>
            </a:pP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SNMP (</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Simple Network Management Protocol</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простой протокол сетевого управления;</a:t>
            </a:r>
            <a:endParaRPr kumimoji="0" lang="ru-RU" sz="2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 algn="l"/>
              </a:tabLst>
            </a:pP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FTAM (</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File Transfer</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Access</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and Management</a:t>
            </a:r>
            <a:r>
              <a:rPr kumimoji="0" lang="ru-RU"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протокол передачи, доступа и управления файлами.</a:t>
            </a:r>
            <a:endParaRPr kumimoji="0" lang="ru-RU" sz="22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Уровень представления</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данных (</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Presentation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642910" y="928670"/>
            <a:ext cx="8001056" cy="4524315"/>
          </a:xfrm>
          <a:prstGeom prst="rect">
            <a:avLst/>
          </a:prstGeom>
        </p:spPr>
        <p:txBody>
          <a:bodyPr wrap="square">
            <a:spAutoFit/>
          </a:bodyPr>
          <a:lstStyle/>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Уровень </a:t>
            </a:r>
            <a:r>
              <a:rPr lang="ru-RU" sz="2400" i="1" dirty="0" smtClean="0">
                <a:solidFill>
                  <a:srgbClr val="FF0000"/>
                </a:solidFill>
                <a:latin typeface="Times New Roman" pitchFamily="18" charset="0"/>
                <a:cs typeface="Times New Roman" pitchFamily="18" charset="0"/>
              </a:rPr>
              <a:t>представления данных </a:t>
            </a:r>
            <a:r>
              <a:rPr lang="ru-RU" sz="2400" dirty="0" smtClean="0">
                <a:latin typeface="Times New Roman" pitchFamily="18" charset="0"/>
                <a:cs typeface="Times New Roman" pitchFamily="18" charset="0"/>
              </a:rPr>
              <a:t>или представительский уровень представляет данные, передаваемые между прикладными процессами, в нужной форме данные.</a:t>
            </a:r>
          </a:p>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Этот уровень обеспечивает то, что информация, передаваемая прикладным уровнем, будет понятна прикладному уровню в другой системе. В случаях необходимости уровень представления в момент передачи информации выполняет преобразование форматов данных в некоторый общий формат представления, а в момент приема, соответственно, выполняет обратное преобразование. </a:t>
            </a:r>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Уровень представления</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данных (</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Presentation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642910" y="1000108"/>
            <a:ext cx="8001056" cy="4893647"/>
          </a:xfrm>
          <a:prstGeom prst="rect">
            <a:avLst/>
          </a:prstGeom>
        </p:spPr>
        <p:txBody>
          <a:bodyPr wrap="square">
            <a:spAutoFit/>
          </a:bodyPr>
          <a:lstStyle/>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В основу общего представления данных положена единая для всех уровней модели система ASN.1. Эта система служит для описания структуры файлов, а также позволяет решить проблему шифрования данных. На этом уровне может выполняться шифрование и дешифрование данных, благодаря которым секретность обмена данными обеспечивается сразу для всех прикладных сервисов. </a:t>
            </a:r>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Примером такого протокола является протокол </a:t>
            </a:r>
            <a:r>
              <a:rPr lang="en-US" sz="2400" i="1" dirty="0" smtClean="0">
                <a:latin typeface="Times New Roman" pitchFamily="18" charset="0"/>
                <a:cs typeface="Times New Roman" pitchFamily="18" charset="0"/>
              </a:rPr>
              <a:t>Secure Socket Layer</a:t>
            </a:r>
            <a:r>
              <a:rPr lang="ru-RU" sz="2400" i="1" dirty="0" smtClean="0">
                <a:latin typeface="Times New Roman" pitchFamily="18" charset="0"/>
                <a:cs typeface="Times New Roman" pitchFamily="18" charset="0"/>
              </a:rPr>
              <a:t> (SSL),</a:t>
            </a:r>
            <a:r>
              <a:rPr lang="ru-RU" sz="2400" dirty="0" smtClean="0">
                <a:latin typeface="Times New Roman" pitchFamily="18" charset="0"/>
                <a:cs typeface="Times New Roman" pitchFamily="18" charset="0"/>
              </a:rPr>
              <a:t> который обеспечивает секретный обмен сообщениями для протоколов прикладного уровня стека TCP/IP. Этот уровень обеспечивает преобразование данных (кодирование, компрессия и т.п.) прикладного уровня в поток информации для транспортного уровня. </a:t>
            </a:r>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Уровень представления</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данных (</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Presentation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642910" y="857232"/>
            <a:ext cx="7858180" cy="5632311"/>
          </a:xfrm>
          <a:prstGeom prst="rect">
            <a:avLst/>
          </a:prstGeom>
        </p:spPr>
        <p:txBody>
          <a:bodyPr wrap="square">
            <a:spAutoFit/>
          </a:bodyPr>
          <a:lstStyle/>
          <a:p>
            <a:pPr algn="just"/>
            <a:r>
              <a:rPr lang="ru-RU" sz="2400" b="1" dirty="0" smtClean="0">
                <a:solidFill>
                  <a:srgbClr val="FF0000"/>
                </a:solidFill>
                <a:latin typeface="Times New Roman" pitchFamily="18" charset="0"/>
                <a:cs typeface="Times New Roman" pitchFamily="18" charset="0"/>
              </a:rPr>
              <a:t>Представительный уровень выполняет следующие основные функции:</a:t>
            </a:r>
            <a:r>
              <a:rPr lang="ru-RU" sz="2400" dirty="0" smtClean="0">
                <a:latin typeface="Times New Roman" pitchFamily="18" charset="0"/>
                <a:cs typeface="Times New Roman" pitchFamily="18" charset="0"/>
              </a:rPr>
              <a:t> </a:t>
            </a:r>
          </a:p>
          <a:p>
            <a:pPr lvl="0" algn="just"/>
            <a:r>
              <a:rPr lang="en-US" sz="2400" dirty="0" smtClean="0">
                <a:latin typeface="Times New Roman" pitchFamily="18" charset="0"/>
                <a:cs typeface="Times New Roman" pitchFamily="18" charset="0"/>
              </a:rPr>
              <a:t>	1. </a:t>
            </a:r>
            <a:r>
              <a:rPr lang="ru-RU" sz="2400" dirty="0" smtClean="0">
                <a:latin typeface="Times New Roman" pitchFamily="18" charset="0"/>
                <a:cs typeface="Times New Roman" pitchFamily="18" charset="0"/>
              </a:rPr>
              <a:t>Генерация запросов на установление сеансов взаимодействия прикладных процессов.</a:t>
            </a:r>
          </a:p>
          <a:p>
            <a:pPr lvl="0" algn="just"/>
            <a:r>
              <a:rPr lang="en-US" sz="2400" dirty="0" smtClean="0">
                <a:latin typeface="Times New Roman" pitchFamily="18" charset="0"/>
                <a:cs typeface="Times New Roman" pitchFamily="18" charset="0"/>
              </a:rPr>
              <a:t>	2. </a:t>
            </a:r>
            <a:r>
              <a:rPr lang="ru-RU" sz="2400" dirty="0" smtClean="0">
                <a:latin typeface="Times New Roman" pitchFamily="18" charset="0"/>
                <a:cs typeface="Times New Roman" pitchFamily="18" charset="0"/>
              </a:rPr>
              <a:t>Согласование представления данных между прикладными процессами.</a:t>
            </a:r>
          </a:p>
          <a:p>
            <a:pPr lvl="0" algn="just"/>
            <a:r>
              <a:rPr lang="en-US" sz="2400" dirty="0" smtClean="0">
                <a:latin typeface="Times New Roman" pitchFamily="18" charset="0"/>
                <a:cs typeface="Times New Roman" pitchFamily="18" charset="0"/>
              </a:rPr>
              <a:t>	3. </a:t>
            </a:r>
            <a:r>
              <a:rPr lang="ru-RU" sz="2400" dirty="0" smtClean="0">
                <a:latin typeface="Times New Roman" pitchFamily="18" charset="0"/>
                <a:cs typeface="Times New Roman" pitchFamily="18" charset="0"/>
              </a:rPr>
              <a:t>Реализация форм представления данных.</a:t>
            </a:r>
          </a:p>
          <a:p>
            <a:pPr lvl="0" algn="just"/>
            <a:r>
              <a:rPr lang="en-US" sz="2400" dirty="0" smtClean="0">
                <a:latin typeface="Times New Roman" pitchFamily="18" charset="0"/>
                <a:cs typeface="Times New Roman" pitchFamily="18" charset="0"/>
              </a:rPr>
              <a:t>	4. </a:t>
            </a:r>
            <a:r>
              <a:rPr lang="ru-RU" sz="2400" dirty="0" smtClean="0">
                <a:latin typeface="Times New Roman" pitchFamily="18" charset="0"/>
                <a:cs typeface="Times New Roman" pitchFamily="18" charset="0"/>
              </a:rPr>
              <a:t>Представление графического материала (чертежей, рисунков, схем).</a:t>
            </a:r>
          </a:p>
          <a:p>
            <a:pPr lvl="0" algn="just"/>
            <a:r>
              <a:rPr lang="en-US" sz="2400" dirty="0" smtClean="0">
                <a:latin typeface="Times New Roman" pitchFamily="18" charset="0"/>
                <a:cs typeface="Times New Roman" pitchFamily="18" charset="0"/>
              </a:rPr>
              <a:t>	5.    </a:t>
            </a:r>
            <a:r>
              <a:rPr lang="ru-RU" sz="2400" dirty="0" smtClean="0">
                <a:latin typeface="Times New Roman" pitchFamily="18" charset="0"/>
                <a:cs typeface="Times New Roman" pitchFamily="18" charset="0"/>
              </a:rPr>
              <a:t>Засекречивание данных.</a:t>
            </a:r>
          </a:p>
          <a:p>
            <a:pPr lvl="0" algn="just"/>
            <a:r>
              <a:rPr lang="en-US" sz="2400" dirty="0" smtClean="0">
                <a:latin typeface="Times New Roman" pitchFamily="18" charset="0"/>
                <a:cs typeface="Times New Roman" pitchFamily="18" charset="0"/>
              </a:rPr>
              <a:t>	6. </a:t>
            </a:r>
            <a:r>
              <a:rPr lang="ru-RU" sz="2400" dirty="0" smtClean="0">
                <a:latin typeface="Times New Roman" pitchFamily="18" charset="0"/>
                <a:cs typeface="Times New Roman" pitchFamily="18" charset="0"/>
              </a:rPr>
              <a:t>Передача запросов на прекращение сеансов.</a:t>
            </a:r>
          </a:p>
          <a:p>
            <a:pPr algn="just"/>
            <a:r>
              <a:rPr lang="en-US"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Протоколы уровня представления данных обычно являются составной частью протоколов трех верхних уровней модели.</a:t>
            </a:r>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Сеансовый </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Уровень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session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642910" y="785794"/>
            <a:ext cx="7929618" cy="6001643"/>
          </a:xfrm>
          <a:prstGeom prst="rect">
            <a:avLst/>
          </a:prstGeom>
        </p:spPr>
        <p:txBody>
          <a:bodyPr wrap="square">
            <a:spAutoFit/>
          </a:bodyPr>
          <a:lstStyle/>
          <a:p>
            <a:pPr algn="just"/>
            <a:r>
              <a:rPr lang="en-US" sz="2400" dirty="0" smtClean="0">
                <a:latin typeface="Times New Roman" pitchFamily="18" charset="0"/>
                <a:cs typeface="Times New Roman" pitchFamily="18" charset="0"/>
              </a:rPr>
              <a:t>	</a:t>
            </a:r>
            <a:r>
              <a:rPr lang="ru-RU" sz="2400" b="1" i="1" dirty="0" smtClean="0">
                <a:solidFill>
                  <a:srgbClr val="FF0000"/>
                </a:solidFill>
                <a:latin typeface="Times New Roman" pitchFamily="18" charset="0"/>
                <a:cs typeface="Times New Roman" pitchFamily="18" charset="0"/>
              </a:rPr>
              <a:t>Сеансовый уровень </a:t>
            </a:r>
            <a:r>
              <a:rPr lang="ru-RU" sz="2400" dirty="0" smtClean="0">
                <a:latin typeface="Times New Roman" pitchFamily="18" charset="0"/>
                <a:cs typeface="Times New Roman" pitchFamily="18" charset="0"/>
              </a:rPr>
              <a:t>– это уровень, определяющий процедуру проведения сеансов между пользователями или прикладными процессами.</a:t>
            </a:r>
          </a:p>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Сеансовый уровень обеспечивает управление диалогом для того, чтобы фиксировать, какая из сторон является активной в настоящий момент, а также предоставляет средства синхронизации. Последние позволяют вставлять контрольные точки в длинные передачи, чтобы в случае отказа можно было вернуться назад к последней контрольной точке, вместо того чтобы начинать все сначала. На практике немногие приложения используют сеансовый уровень, и он редко реализуется.</a:t>
            </a:r>
          </a:p>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Сеансовый уровень управляет передачей информации между прикладными процессами, координирует прием, передачу и выдачу одного сеанса связи.</a:t>
            </a:r>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21429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Сеансовый </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Уровень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session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571472" y="857232"/>
            <a:ext cx="8001056" cy="4893647"/>
          </a:xfrm>
          <a:prstGeom prst="rect">
            <a:avLst/>
          </a:prstGeom>
        </p:spPr>
        <p:txBody>
          <a:bodyPr wrap="square">
            <a:spAutoFit/>
          </a:bodyPr>
          <a:lstStyle/>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На сеансовом уровне определяется, какой будет передача между двумя прикладными процессами:</a:t>
            </a:r>
          </a:p>
          <a:p>
            <a:pPr algn="just"/>
            <a:r>
              <a:rPr lang="en-US" sz="2400" i="1" dirty="0" smtClean="0">
                <a:latin typeface="Times New Roman" pitchFamily="18" charset="0"/>
                <a:cs typeface="Times New Roman" pitchFamily="18" charset="0"/>
              </a:rPr>
              <a:t>	- </a:t>
            </a:r>
            <a:r>
              <a:rPr lang="ru-RU" sz="2400" i="1" dirty="0" smtClean="0">
                <a:solidFill>
                  <a:srgbClr val="FF0000"/>
                </a:solidFill>
                <a:latin typeface="Times New Roman" pitchFamily="18" charset="0"/>
                <a:cs typeface="Times New Roman" pitchFamily="18" charset="0"/>
              </a:rPr>
              <a:t>полудуплексной</a:t>
            </a:r>
            <a:r>
              <a:rPr lang="ru-RU" sz="2400" dirty="0" smtClean="0">
                <a:solidFill>
                  <a:srgbClr val="FF0000"/>
                </a:solidFill>
                <a:latin typeface="Times New Roman" pitchFamily="18" charset="0"/>
                <a:cs typeface="Times New Roman" pitchFamily="18" charset="0"/>
              </a:rPr>
              <a:t> </a:t>
            </a:r>
            <a:r>
              <a:rPr lang="ru-RU" sz="2400" dirty="0" smtClean="0">
                <a:latin typeface="Times New Roman" pitchFamily="18" charset="0"/>
                <a:cs typeface="Times New Roman" pitchFamily="18" charset="0"/>
              </a:rPr>
              <a:t>(процессы будут передавать и принимать данные по очереди);</a:t>
            </a:r>
          </a:p>
          <a:p>
            <a:pPr algn="just"/>
            <a:r>
              <a:rPr lang="en-US" sz="2400" i="1" dirty="0" smtClean="0">
                <a:latin typeface="Times New Roman" pitchFamily="18" charset="0"/>
                <a:cs typeface="Times New Roman" pitchFamily="18" charset="0"/>
              </a:rPr>
              <a:t>	- </a:t>
            </a:r>
            <a:r>
              <a:rPr lang="ru-RU" sz="2400" i="1" dirty="0" smtClean="0">
                <a:solidFill>
                  <a:srgbClr val="FF0000"/>
                </a:solidFill>
                <a:latin typeface="Times New Roman" pitchFamily="18" charset="0"/>
                <a:cs typeface="Times New Roman" pitchFamily="18" charset="0"/>
              </a:rPr>
              <a:t>дуплексной</a:t>
            </a:r>
            <a:r>
              <a:rPr lang="ru-RU" sz="2400" dirty="0" smtClean="0">
                <a:solidFill>
                  <a:srgbClr val="FF0000"/>
                </a:solidFill>
                <a:latin typeface="Times New Roman" pitchFamily="18" charset="0"/>
                <a:cs typeface="Times New Roman" pitchFamily="18" charset="0"/>
              </a:rPr>
              <a:t> </a:t>
            </a:r>
            <a:r>
              <a:rPr lang="ru-RU" sz="2400" dirty="0" smtClean="0">
                <a:latin typeface="Times New Roman" pitchFamily="18" charset="0"/>
                <a:cs typeface="Times New Roman" pitchFamily="18" charset="0"/>
              </a:rPr>
              <a:t>(процессы будут передавать данные, и принимать их одновременно).</a:t>
            </a:r>
          </a:p>
          <a:p>
            <a:pPr algn="just"/>
            <a:r>
              <a:rPr lang="en-US"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В полудуплексном режиме сеансовый уровень выдает тому процессу, который начинает передачу, </a:t>
            </a:r>
            <a:r>
              <a:rPr lang="ru-RU" sz="2400" i="1" dirty="0" smtClean="0">
                <a:latin typeface="Times New Roman" pitchFamily="18" charset="0"/>
                <a:cs typeface="Times New Roman" pitchFamily="18" charset="0"/>
              </a:rPr>
              <a:t>маркер данных</a:t>
            </a:r>
            <a:r>
              <a:rPr lang="ru-RU" sz="2400" dirty="0" smtClean="0">
                <a:latin typeface="Times New Roman" pitchFamily="18" charset="0"/>
                <a:cs typeface="Times New Roman" pitchFamily="18" charset="0"/>
              </a:rPr>
              <a:t>. Когда второму процессу приходит время отвечать, маркер данных передается ему. Сеансовый уровень разрешает передачу только той стороне, которая обладает маркером данных.</a:t>
            </a:r>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Сеансовый </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Уровень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session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714348" y="571480"/>
            <a:ext cx="7786742" cy="5632311"/>
          </a:xfrm>
          <a:prstGeom prst="rect">
            <a:avLst/>
          </a:prstGeom>
        </p:spPr>
        <p:txBody>
          <a:bodyPr wrap="square">
            <a:spAutoFit/>
          </a:bodyPr>
          <a:lstStyle/>
          <a:p>
            <a:pPr algn="just"/>
            <a:r>
              <a:rPr lang="en-US" sz="2400" dirty="0" smtClean="0">
                <a:latin typeface="Times New Roman" pitchFamily="18" charset="0"/>
                <a:cs typeface="Times New Roman" pitchFamily="18" charset="0"/>
              </a:rPr>
              <a:t>	</a:t>
            </a:r>
            <a:r>
              <a:rPr lang="ru-RU" sz="2400" b="1" dirty="0" smtClean="0">
                <a:solidFill>
                  <a:srgbClr val="FF0000"/>
                </a:solidFill>
                <a:latin typeface="Times New Roman" pitchFamily="18" charset="0"/>
                <a:cs typeface="Times New Roman" pitchFamily="18" charset="0"/>
              </a:rPr>
              <a:t>Сеансовый уровень обеспечивает выполнение следующих функций: </a:t>
            </a:r>
          </a:p>
          <a:p>
            <a:pPr lvl="0" algn="just"/>
            <a:r>
              <a:rPr lang="en-US" sz="2400" dirty="0" smtClean="0">
                <a:latin typeface="Times New Roman" pitchFamily="18" charset="0"/>
                <a:cs typeface="Times New Roman" pitchFamily="18" charset="0"/>
              </a:rPr>
              <a:t>	1. </a:t>
            </a:r>
            <a:r>
              <a:rPr lang="ru-RU" sz="2400" dirty="0" smtClean="0">
                <a:latin typeface="Times New Roman" pitchFamily="18" charset="0"/>
                <a:cs typeface="Times New Roman" pitchFamily="18" charset="0"/>
              </a:rPr>
              <a:t>Установление и завершение на сеансовом уровне соединения между взаимодействующими системами.</a:t>
            </a:r>
          </a:p>
          <a:p>
            <a:pPr lvl="0" algn="just"/>
            <a:r>
              <a:rPr lang="en-US" sz="2400" dirty="0" smtClean="0">
                <a:latin typeface="Times New Roman" pitchFamily="18" charset="0"/>
                <a:cs typeface="Times New Roman" pitchFamily="18" charset="0"/>
              </a:rPr>
              <a:t>	2. </a:t>
            </a:r>
            <a:r>
              <a:rPr lang="ru-RU" sz="2400" dirty="0" smtClean="0">
                <a:latin typeface="Times New Roman" pitchFamily="18" charset="0"/>
                <a:cs typeface="Times New Roman" pitchFamily="18" charset="0"/>
              </a:rPr>
              <a:t>Выполнение нормального и срочного обмена данными между прикладными процессами.</a:t>
            </a:r>
          </a:p>
          <a:p>
            <a:pPr lvl="0" algn="just"/>
            <a:r>
              <a:rPr lang="en-US" sz="2400" dirty="0" smtClean="0">
                <a:latin typeface="Times New Roman" pitchFamily="18" charset="0"/>
                <a:cs typeface="Times New Roman" pitchFamily="18" charset="0"/>
              </a:rPr>
              <a:t>	3. </a:t>
            </a:r>
            <a:r>
              <a:rPr lang="ru-RU" sz="2400" dirty="0" smtClean="0">
                <a:latin typeface="Times New Roman" pitchFamily="18" charset="0"/>
                <a:cs typeface="Times New Roman" pitchFamily="18" charset="0"/>
              </a:rPr>
              <a:t>Управление взаимодействием прикладных процессов.</a:t>
            </a:r>
          </a:p>
          <a:p>
            <a:pPr lvl="0" algn="just"/>
            <a:r>
              <a:rPr lang="en-US" sz="2400" dirty="0" smtClean="0">
                <a:latin typeface="Times New Roman" pitchFamily="18" charset="0"/>
                <a:cs typeface="Times New Roman" pitchFamily="18" charset="0"/>
              </a:rPr>
              <a:t>	4. </a:t>
            </a:r>
            <a:r>
              <a:rPr lang="ru-RU" sz="2400" dirty="0" smtClean="0">
                <a:latin typeface="Times New Roman" pitchFamily="18" charset="0"/>
                <a:cs typeface="Times New Roman" pitchFamily="18" charset="0"/>
              </a:rPr>
              <a:t>Синхронизация сеансовых соединений.</a:t>
            </a:r>
          </a:p>
          <a:p>
            <a:pPr lvl="0" algn="just"/>
            <a:r>
              <a:rPr lang="en-US" sz="2400" dirty="0" smtClean="0">
                <a:latin typeface="Times New Roman" pitchFamily="18" charset="0"/>
                <a:cs typeface="Times New Roman" pitchFamily="18" charset="0"/>
              </a:rPr>
              <a:t>	5. </a:t>
            </a:r>
            <a:r>
              <a:rPr lang="ru-RU" sz="2400" dirty="0" smtClean="0">
                <a:latin typeface="Times New Roman" pitchFamily="18" charset="0"/>
                <a:cs typeface="Times New Roman" pitchFamily="18" charset="0"/>
              </a:rPr>
              <a:t>Извещение прикладных процессов об исключительных ситуациях.</a:t>
            </a:r>
          </a:p>
          <a:p>
            <a:pPr lvl="0" algn="just"/>
            <a:r>
              <a:rPr lang="en-US" sz="2400" dirty="0" smtClean="0">
                <a:latin typeface="Times New Roman" pitchFamily="18" charset="0"/>
                <a:cs typeface="Times New Roman" pitchFamily="18" charset="0"/>
              </a:rPr>
              <a:t>	6. </a:t>
            </a:r>
            <a:r>
              <a:rPr lang="ru-RU" sz="2400" dirty="0" smtClean="0">
                <a:latin typeface="Times New Roman" pitchFamily="18" charset="0"/>
                <a:cs typeface="Times New Roman" pitchFamily="18" charset="0"/>
              </a:rPr>
              <a:t>Установление в прикладном процессе меток, позволяющих после отказа либо ошибки восстановить его выполнение от ближайшей метки.</a:t>
            </a:r>
          </a:p>
        </p:txBody>
      </p:sp>
    </p:spTree>
  </p:cSld>
  <p:clrMapOvr>
    <a:masterClrMapping/>
  </p:clrMapOvr>
  <p:transition spd="slow">
    <p:wedg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Сеансовый </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Уровень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session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642910" y="714356"/>
            <a:ext cx="8001056" cy="3785652"/>
          </a:xfrm>
          <a:prstGeom prst="rect">
            <a:avLst/>
          </a:prstGeom>
        </p:spPr>
        <p:txBody>
          <a:bodyPr wrap="square">
            <a:spAutoFit/>
          </a:bodyPr>
          <a:lstStyle/>
          <a:p>
            <a:pPr lvl="0" algn="just"/>
            <a:r>
              <a:rPr lang="en-US" sz="2400" dirty="0" smtClean="0">
                <a:latin typeface="Times New Roman" pitchFamily="18" charset="0"/>
                <a:cs typeface="Times New Roman" pitchFamily="18" charset="0"/>
              </a:rPr>
              <a:t>	7. </a:t>
            </a:r>
            <a:r>
              <a:rPr lang="ru-RU" sz="2400" dirty="0" smtClean="0">
                <a:latin typeface="Times New Roman" pitchFamily="18" charset="0"/>
                <a:cs typeface="Times New Roman" pitchFamily="18" charset="0"/>
              </a:rPr>
              <a:t>Прерывание в нужных случаях прикладного процесса и его корректное возобновление.</a:t>
            </a:r>
          </a:p>
          <a:p>
            <a:pPr lvl="0" algn="just"/>
            <a:r>
              <a:rPr lang="en-US" sz="2400" dirty="0" smtClean="0">
                <a:latin typeface="Times New Roman" pitchFamily="18" charset="0"/>
                <a:cs typeface="Times New Roman" pitchFamily="18" charset="0"/>
              </a:rPr>
              <a:t>	8. </a:t>
            </a:r>
            <a:r>
              <a:rPr lang="ru-RU" sz="2400" dirty="0" smtClean="0">
                <a:latin typeface="Times New Roman" pitchFamily="18" charset="0"/>
                <a:cs typeface="Times New Roman" pitchFamily="18" charset="0"/>
              </a:rPr>
              <a:t>Прекращение сеанса без потери данных.</a:t>
            </a:r>
          </a:p>
          <a:p>
            <a:pPr lvl="0" algn="just"/>
            <a:r>
              <a:rPr lang="en-US" sz="2400" dirty="0" smtClean="0">
                <a:latin typeface="Times New Roman" pitchFamily="18" charset="0"/>
                <a:cs typeface="Times New Roman" pitchFamily="18" charset="0"/>
              </a:rPr>
              <a:t>	9. </a:t>
            </a:r>
            <a:r>
              <a:rPr lang="ru-RU" sz="2400" dirty="0" smtClean="0">
                <a:latin typeface="Times New Roman" pitchFamily="18" charset="0"/>
                <a:cs typeface="Times New Roman" pitchFamily="18" charset="0"/>
              </a:rPr>
              <a:t>Передача особых сообщений о ходе проведения сеанса.</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Сеансовый уровень отвечает за организацию сеансов обмена данными между оконечными машинами. Протоколы сеансового уровня обычно являются составной частью протоколов трех верхних уровней модели.</a:t>
            </a:r>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Транспортный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transport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2705" name="Rectangle 1"/>
          <p:cNvSpPr>
            <a:spLocks noChangeArrowheads="1"/>
          </p:cNvSpPr>
          <p:nvPr/>
        </p:nvSpPr>
        <p:spPr bwMode="auto">
          <a:xfrm>
            <a:off x="571472" y="500042"/>
            <a:ext cx="8215370" cy="60016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ru-RU" sz="2400" b="1" i="1" u="none" strike="noStrike" cap="none" normalizeH="0" baseline="0" dirty="0" smtClean="0">
                <a:ln>
                  <a:noFill/>
                </a:ln>
                <a:solidFill>
                  <a:srgbClr val="FF0000"/>
                </a:solidFill>
                <a:effectLst/>
                <a:latin typeface="Times New Roman" pitchFamily="18" charset="0"/>
                <a:ea typeface="Times New Roman" pitchFamily="18" charset="0"/>
                <a:cs typeface="Times New Roman" pitchFamily="18" charset="0"/>
              </a:rPr>
              <a:t>Транспортный уровень </a:t>
            </a:r>
            <a:r>
              <a:rPr kumimoji="0" lang="ru-RU"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предназначен для передачи пакетов через коммуникационную сеть. На транспортном уровне пакеты разбиваются на блоки.</a:t>
            </a:r>
            <a:endParaRPr kumimoji="0" lang="ru-RU"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ru-RU"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На пути от отправителя к получателю пакеты могут быть искажены или утеряны.</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ru-RU"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Работа транспортного уровня заключается в том, чтобы обеспечить приложениям или верхним уровням модели (прикладному и сеансовому) передачу данных с той степенью надежности, которая им требуется. </a:t>
            </a:r>
            <a:endPar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endParaRPr>
          </a:p>
          <a:p>
            <a:pPr marL="0" marR="0" lvl="0" algn="just" defTabSz="914400" rtl="0" eaLnBrk="0" fontAlgn="base" latinLnBrk="0" hangingPunct="0">
              <a:lnSpc>
                <a:spcPct val="100000"/>
              </a:lnSpc>
              <a:spcBef>
                <a:spcPct val="0"/>
              </a:spcBef>
              <a:spcAft>
                <a:spcPct val="0"/>
              </a:spcAft>
              <a:buClrTx/>
              <a:buSzTx/>
              <a:buFontTx/>
              <a:buNone/>
              <a:tabLst/>
            </a:pPr>
            <a:r>
              <a:rPr lang="en-US" sz="2400" dirty="0" smtClean="0">
                <a:latin typeface="Times New Roman" pitchFamily="18" charset="0"/>
                <a:ea typeface="Times New Roman" pitchFamily="18" charset="0"/>
                <a:cs typeface="Times New Roman" pitchFamily="18" charset="0"/>
              </a:rPr>
              <a:t>	</a:t>
            </a:r>
            <a:r>
              <a:rPr kumimoji="0" lang="ru-RU"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Эти виды сервиса отличаются качеством предоставляемых услуг: </a:t>
            </a:r>
            <a:endPar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endParaRPr>
          </a:p>
          <a:p>
            <a:pPr marL="0" marR="0" lvl="0" algn="just" defTabSz="914400" rtl="0" eaLnBrk="0" fontAlgn="base" latinLnBrk="0" hangingPunct="0">
              <a:lnSpc>
                <a:spcPct val="100000"/>
              </a:lnSpc>
              <a:spcBef>
                <a:spcPct val="0"/>
              </a:spcBef>
              <a:spcAft>
                <a:spcPct val="0"/>
              </a:spcAft>
              <a:buClrTx/>
              <a:buSzTx/>
              <a:buFontTx/>
              <a:buNone/>
              <a:tabLst/>
            </a:pPr>
            <a:r>
              <a:rPr kumimoji="0" lang="ru-RU"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срочностью, возможностью восстановления прерванной связи, наличием средств мультиплексирования нескольких соединений между различными прикладными протоколами через общий транспортный протокол, способностью к обнаружению и исправлению ошибок передачи. </a:t>
            </a:r>
            <a:endParaRPr kumimoji="0" lang="ru-RU"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Транспортный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transport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428596" y="500042"/>
            <a:ext cx="8358246" cy="6001643"/>
          </a:xfrm>
          <a:prstGeom prst="rect">
            <a:avLst/>
          </a:prstGeom>
        </p:spPr>
        <p:txBody>
          <a:bodyPr wrap="square">
            <a:spAutoFit/>
          </a:bodyPr>
          <a:lstStyle/>
          <a:p>
            <a:pPr algn="just"/>
            <a:r>
              <a:rPr lang="ru-RU" sz="2400" b="1" dirty="0" smtClean="0">
                <a:solidFill>
                  <a:srgbClr val="FF0000"/>
                </a:solidFill>
                <a:latin typeface="Times New Roman" pitchFamily="18" charset="0"/>
                <a:cs typeface="Times New Roman" pitchFamily="18" charset="0"/>
              </a:rPr>
              <a:t>В функции транспортного уровня входят:</a:t>
            </a:r>
            <a:r>
              <a:rPr lang="ru-RU" sz="2400" dirty="0" smtClean="0">
                <a:latin typeface="Times New Roman" pitchFamily="18" charset="0"/>
                <a:cs typeface="Times New Roman" pitchFamily="18" charset="0"/>
              </a:rPr>
              <a:t> </a:t>
            </a:r>
          </a:p>
          <a:p>
            <a:pPr lvl="0" algn="just"/>
            <a:r>
              <a:rPr lang="en-US" sz="2400" dirty="0" smtClean="0">
                <a:latin typeface="Times New Roman" pitchFamily="18" charset="0"/>
                <a:cs typeface="Times New Roman" pitchFamily="18" charset="0"/>
              </a:rPr>
              <a:t>	1. </a:t>
            </a:r>
            <a:r>
              <a:rPr lang="ru-RU" sz="2400" dirty="0" smtClean="0">
                <a:latin typeface="Times New Roman" pitchFamily="18" charset="0"/>
                <a:cs typeface="Times New Roman" pitchFamily="18" charset="0"/>
              </a:rPr>
              <a:t>Управление передачей по сети и обеспечение целостности блоков данных.</a:t>
            </a:r>
          </a:p>
          <a:p>
            <a:pPr lvl="0" algn="just"/>
            <a:r>
              <a:rPr lang="en-US" sz="2400" dirty="0" smtClean="0">
                <a:latin typeface="Times New Roman" pitchFamily="18" charset="0"/>
                <a:cs typeface="Times New Roman" pitchFamily="18" charset="0"/>
              </a:rPr>
              <a:t>	2. </a:t>
            </a:r>
            <a:r>
              <a:rPr lang="ru-RU" sz="2400" dirty="0" smtClean="0">
                <a:latin typeface="Times New Roman" pitchFamily="18" charset="0"/>
                <a:cs typeface="Times New Roman" pitchFamily="18" charset="0"/>
              </a:rPr>
              <a:t>Обнаружение ошибок, частичная их ликвидация и сообщение о неисправленных ошибках.</a:t>
            </a:r>
          </a:p>
          <a:p>
            <a:pPr lvl="0" algn="just"/>
            <a:r>
              <a:rPr lang="en-US" sz="2400" dirty="0" smtClean="0">
                <a:latin typeface="Times New Roman" pitchFamily="18" charset="0"/>
                <a:cs typeface="Times New Roman" pitchFamily="18" charset="0"/>
              </a:rPr>
              <a:t>	3. </a:t>
            </a:r>
            <a:r>
              <a:rPr lang="ru-RU" sz="2400" dirty="0" smtClean="0">
                <a:latin typeface="Times New Roman" pitchFamily="18" charset="0"/>
                <a:cs typeface="Times New Roman" pitchFamily="18" charset="0"/>
              </a:rPr>
              <a:t>Восстановление передачи после отказов и неисправностей.</a:t>
            </a:r>
          </a:p>
          <a:p>
            <a:pPr lvl="0" algn="just"/>
            <a:r>
              <a:rPr lang="en-US" sz="2400" dirty="0" smtClean="0">
                <a:latin typeface="Times New Roman" pitchFamily="18" charset="0"/>
                <a:cs typeface="Times New Roman" pitchFamily="18" charset="0"/>
              </a:rPr>
              <a:t>	4. </a:t>
            </a:r>
            <a:r>
              <a:rPr lang="ru-RU" sz="2400" dirty="0" smtClean="0">
                <a:latin typeface="Times New Roman" pitchFamily="18" charset="0"/>
                <a:cs typeface="Times New Roman" pitchFamily="18" charset="0"/>
              </a:rPr>
              <a:t>Укрупнение или разделение блоков данных.</a:t>
            </a:r>
          </a:p>
          <a:p>
            <a:pPr lvl="0" algn="just"/>
            <a:r>
              <a:rPr lang="en-US" sz="2400" dirty="0" smtClean="0">
                <a:latin typeface="Times New Roman" pitchFamily="18" charset="0"/>
                <a:cs typeface="Times New Roman" pitchFamily="18" charset="0"/>
              </a:rPr>
              <a:t>	5. </a:t>
            </a:r>
            <a:r>
              <a:rPr lang="ru-RU" sz="2400" dirty="0" smtClean="0">
                <a:latin typeface="Times New Roman" pitchFamily="18" charset="0"/>
                <a:cs typeface="Times New Roman" pitchFamily="18" charset="0"/>
              </a:rPr>
              <a:t>Предоставление приоритетов при передаче блоков (нормальная или срочная).</a:t>
            </a:r>
          </a:p>
          <a:p>
            <a:pPr lvl="0" algn="just"/>
            <a:r>
              <a:rPr lang="en-US" sz="2400" dirty="0" smtClean="0">
                <a:latin typeface="Times New Roman" pitchFamily="18" charset="0"/>
                <a:cs typeface="Times New Roman" pitchFamily="18" charset="0"/>
              </a:rPr>
              <a:t>	6. </a:t>
            </a:r>
            <a:r>
              <a:rPr lang="ru-RU" sz="2400" dirty="0" smtClean="0">
                <a:latin typeface="Times New Roman" pitchFamily="18" charset="0"/>
                <a:cs typeface="Times New Roman" pitchFamily="18" charset="0"/>
              </a:rPr>
              <a:t>Подтверждение передачи.</a:t>
            </a:r>
          </a:p>
          <a:p>
            <a:pPr lvl="0" algn="just"/>
            <a:r>
              <a:rPr lang="en-US" sz="2400" dirty="0" smtClean="0">
                <a:latin typeface="Times New Roman" pitchFamily="18" charset="0"/>
                <a:cs typeface="Times New Roman" pitchFamily="18" charset="0"/>
              </a:rPr>
              <a:t>	7. </a:t>
            </a:r>
            <a:r>
              <a:rPr lang="ru-RU" sz="2400" dirty="0" smtClean="0">
                <a:latin typeface="Times New Roman" pitchFamily="18" charset="0"/>
                <a:cs typeface="Times New Roman" pitchFamily="18" charset="0"/>
              </a:rPr>
              <a:t>Ликвидация блоков при тупиковых ситуациях в сети.</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Начиная с транспортного уровня, все вышележащие протоколы реализуются программными средствами, обычно включаемыми в состав сетевой операционной системы.</a:t>
            </a:r>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Транспортный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transport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642910" y="785794"/>
            <a:ext cx="8001056" cy="4524315"/>
          </a:xfrm>
          <a:prstGeom prst="rect">
            <a:avLst/>
          </a:prstGeom>
        </p:spPr>
        <p:txBody>
          <a:bodyPr wrap="square">
            <a:spAutoFit/>
          </a:bodyPr>
          <a:lstStyle/>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Наиболее распространенные протоколы транспортного уровня включают в себя:</a:t>
            </a:r>
          </a:p>
          <a:p>
            <a:pPr algn="just"/>
            <a:r>
              <a:rPr lang="en-US" sz="2400" dirty="0" smtClean="0">
                <a:latin typeface="Times New Roman" pitchFamily="18" charset="0"/>
                <a:cs typeface="Times New Roman" pitchFamily="18" charset="0"/>
              </a:rPr>
              <a:t>	- </a:t>
            </a:r>
            <a:r>
              <a:rPr lang="ru-RU" sz="2400" dirty="0" smtClean="0">
                <a:latin typeface="Times New Roman" pitchFamily="18" charset="0"/>
                <a:cs typeface="Times New Roman" pitchFamily="18" charset="0"/>
              </a:rPr>
              <a:t>TCP (</a:t>
            </a:r>
            <a:r>
              <a:rPr lang="en-US" sz="2400" dirty="0" smtClean="0">
                <a:latin typeface="Times New Roman" pitchFamily="18" charset="0"/>
                <a:cs typeface="Times New Roman" pitchFamily="18" charset="0"/>
              </a:rPr>
              <a:t>Transmission Control Protocol</a:t>
            </a:r>
            <a:r>
              <a:rPr lang="ru-RU" sz="2400" dirty="0" smtClean="0">
                <a:latin typeface="Times New Roman" pitchFamily="18" charset="0"/>
                <a:cs typeface="Times New Roman" pitchFamily="18" charset="0"/>
              </a:rPr>
              <a:t>) протокол управления передачей стека TCP/IP;</a:t>
            </a:r>
          </a:p>
          <a:p>
            <a:pPr algn="just"/>
            <a:r>
              <a:rPr lang="en-US" sz="2400" dirty="0" smtClean="0">
                <a:latin typeface="Times New Roman" pitchFamily="18" charset="0"/>
                <a:cs typeface="Times New Roman" pitchFamily="18" charset="0"/>
              </a:rPr>
              <a:t>	- </a:t>
            </a:r>
            <a:r>
              <a:rPr lang="ru-RU" sz="2400" dirty="0" smtClean="0">
                <a:latin typeface="Times New Roman" pitchFamily="18" charset="0"/>
                <a:cs typeface="Times New Roman" pitchFamily="18" charset="0"/>
              </a:rPr>
              <a:t>UDP (</a:t>
            </a:r>
            <a:r>
              <a:rPr lang="en-US" sz="2400" dirty="0" smtClean="0">
                <a:latin typeface="Times New Roman" pitchFamily="18" charset="0"/>
                <a:cs typeface="Times New Roman" pitchFamily="18" charset="0"/>
              </a:rPr>
              <a:t>User Datagram Protocol</a:t>
            </a:r>
            <a:r>
              <a:rPr lang="ru-RU" sz="2400" dirty="0" smtClean="0">
                <a:latin typeface="Times New Roman" pitchFamily="18" charset="0"/>
                <a:cs typeface="Times New Roman" pitchFamily="18" charset="0"/>
              </a:rPr>
              <a:t>) пользовательский протокол дейтаграмм стека TCP/IP;</a:t>
            </a:r>
          </a:p>
          <a:p>
            <a:pPr algn="just"/>
            <a:r>
              <a:rPr lang="en-US" sz="2400" dirty="0" smtClean="0">
                <a:latin typeface="Times New Roman" pitchFamily="18" charset="0"/>
                <a:cs typeface="Times New Roman" pitchFamily="18" charset="0"/>
              </a:rPr>
              <a:t>	- </a:t>
            </a:r>
            <a:r>
              <a:rPr lang="ru-RU" sz="2400" dirty="0" smtClean="0">
                <a:latin typeface="Times New Roman" pitchFamily="18" charset="0"/>
                <a:cs typeface="Times New Roman" pitchFamily="18" charset="0"/>
              </a:rPr>
              <a:t>NCP (</a:t>
            </a:r>
            <a:r>
              <a:rPr lang="en-US" sz="2400" dirty="0" smtClean="0">
                <a:latin typeface="Times New Roman" pitchFamily="18" charset="0"/>
                <a:cs typeface="Times New Roman" pitchFamily="18" charset="0"/>
              </a:rPr>
              <a:t>NetWare Core Protocol</a:t>
            </a:r>
            <a:r>
              <a:rPr lang="ru-RU" sz="2400" dirty="0" smtClean="0">
                <a:latin typeface="Times New Roman" pitchFamily="18" charset="0"/>
                <a:cs typeface="Times New Roman" pitchFamily="18" charset="0"/>
              </a:rPr>
              <a:t>) базовый протокол сетей </a:t>
            </a:r>
            <a:r>
              <a:rPr lang="en-US" sz="2400" dirty="0" smtClean="0">
                <a:latin typeface="Times New Roman" pitchFamily="18" charset="0"/>
                <a:cs typeface="Times New Roman" pitchFamily="18" charset="0"/>
              </a:rPr>
              <a:t>NetWare</a:t>
            </a:r>
            <a:r>
              <a:rPr lang="ru-RU" sz="2400" dirty="0" smtClean="0">
                <a:latin typeface="Times New Roman" pitchFamily="18" charset="0"/>
                <a:cs typeface="Times New Roman" pitchFamily="18" charset="0"/>
              </a:rPr>
              <a:t>;</a:t>
            </a:r>
          </a:p>
          <a:p>
            <a:pPr algn="just"/>
            <a:r>
              <a:rPr lang="en-US" sz="2400" dirty="0" smtClean="0">
                <a:latin typeface="Times New Roman" pitchFamily="18" charset="0"/>
                <a:cs typeface="Times New Roman" pitchFamily="18" charset="0"/>
              </a:rPr>
              <a:t>	- </a:t>
            </a:r>
            <a:r>
              <a:rPr lang="ru-RU" sz="2400" dirty="0" smtClean="0">
                <a:latin typeface="Times New Roman" pitchFamily="18" charset="0"/>
                <a:cs typeface="Times New Roman" pitchFamily="18" charset="0"/>
              </a:rPr>
              <a:t>SPX (</a:t>
            </a:r>
            <a:r>
              <a:rPr lang="en-US" sz="2400" dirty="0" smtClean="0">
                <a:latin typeface="Times New Roman" pitchFamily="18" charset="0"/>
                <a:cs typeface="Times New Roman" pitchFamily="18" charset="0"/>
              </a:rPr>
              <a:t>Sequenced Packet </a:t>
            </a:r>
            <a:r>
              <a:rPr lang="en-US" sz="2400" dirty="0" err="1" smtClean="0">
                <a:latin typeface="Times New Roman" pitchFamily="18" charset="0"/>
                <a:cs typeface="Times New Roman" pitchFamily="18" charset="0"/>
              </a:rPr>
              <a:t>eXchange</a:t>
            </a:r>
            <a:r>
              <a:rPr lang="ru-RU" sz="2400" dirty="0" smtClean="0">
                <a:latin typeface="Times New Roman" pitchFamily="18" charset="0"/>
                <a:cs typeface="Times New Roman" pitchFamily="18" charset="0"/>
              </a:rPr>
              <a:t>) упорядоченный обмен пакетами стека </a:t>
            </a:r>
            <a:r>
              <a:rPr lang="en-US" sz="2400" dirty="0" smtClean="0">
                <a:latin typeface="Times New Roman" pitchFamily="18" charset="0"/>
                <a:cs typeface="Times New Roman" pitchFamily="18" charset="0"/>
              </a:rPr>
              <a:t>Novell</a:t>
            </a:r>
            <a:r>
              <a:rPr lang="ru-RU" sz="2400" dirty="0" smtClean="0">
                <a:latin typeface="Times New Roman" pitchFamily="18" charset="0"/>
                <a:cs typeface="Times New Roman" pitchFamily="18" charset="0"/>
              </a:rPr>
              <a:t>;</a:t>
            </a:r>
          </a:p>
          <a:p>
            <a:pPr algn="just"/>
            <a:r>
              <a:rPr lang="en-US" sz="2400" dirty="0" smtClean="0">
                <a:latin typeface="Times New Roman" pitchFamily="18" charset="0"/>
                <a:cs typeface="Times New Roman" pitchFamily="18" charset="0"/>
              </a:rPr>
              <a:t>	- </a:t>
            </a:r>
            <a:r>
              <a:rPr lang="ru-RU" sz="2400" dirty="0" smtClean="0">
                <a:latin typeface="Times New Roman" pitchFamily="18" charset="0"/>
                <a:cs typeface="Times New Roman" pitchFamily="18" charset="0"/>
              </a:rPr>
              <a:t>TP4 (</a:t>
            </a:r>
            <a:r>
              <a:rPr lang="en-US" sz="2400" dirty="0" smtClean="0">
                <a:latin typeface="Times New Roman" pitchFamily="18" charset="0"/>
                <a:cs typeface="Times New Roman" pitchFamily="18" charset="0"/>
              </a:rPr>
              <a:t>Transmission Protocol</a:t>
            </a:r>
            <a:r>
              <a:rPr lang="ru-RU" sz="2400" dirty="0" smtClean="0">
                <a:latin typeface="Times New Roman" pitchFamily="18" charset="0"/>
                <a:cs typeface="Times New Roman" pitchFamily="18" charset="0"/>
              </a:rPr>
              <a:t>) – протокол передачи класса 4.</a:t>
            </a:r>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сетевой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network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571472" y="571480"/>
            <a:ext cx="8072494" cy="6001643"/>
          </a:xfrm>
          <a:prstGeom prst="rect">
            <a:avLst/>
          </a:prstGeom>
        </p:spPr>
        <p:txBody>
          <a:bodyPr wrap="square">
            <a:spAutoFit/>
          </a:bodyPr>
          <a:lstStyle/>
          <a:p>
            <a:pPr algn="just"/>
            <a:r>
              <a:rPr lang="en-US" sz="2400" dirty="0" smtClean="0">
                <a:latin typeface="Times New Roman" pitchFamily="18" charset="0"/>
                <a:cs typeface="Times New Roman" pitchFamily="18" charset="0"/>
              </a:rPr>
              <a:t>	</a:t>
            </a:r>
            <a:r>
              <a:rPr lang="ru-RU" sz="2400" b="1" i="1" dirty="0" smtClean="0">
                <a:solidFill>
                  <a:srgbClr val="FF0000"/>
                </a:solidFill>
                <a:latin typeface="Times New Roman" pitchFamily="18" charset="0"/>
                <a:cs typeface="Times New Roman" pitchFamily="18" charset="0"/>
              </a:rPr>
              <a:t>Сетевой уровень </a:t>
            </a:r>
            <a:r>
              <a:rPr lang="ru-RU" sz="2400" dirty="0" smtClean="0">
                <a:latin typeface="Times New Roman" pitchFamily="18" charset="0"/>
                <a:cs typeface="Times New Roman" pitchFamily="18" charset="0"/>
              </a:rPr>
              <a:t>обеспечивает прокладку каналов, соединяющих абонентские и административные системы через коммуникационную сеть, выбор маршрута наиболее быстрого и надежного пути.</a:t>
            </a:r>
          </a:p>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Сетевой уровень устанавливает связь в вычислительной сети между двумя системами и обеспечивает прокладку виртуальных каналов между ними. </a:t>
            </a:r>
            <a:r>
              <a:rPr lang="en-US" sz="2400" dirty="0" smtClean="0">
                <a:latin typeface="Times New Roman" pitchFamily="18" charset="0"/>
                <a:cs typeface="Times New Roman" pitchFamily="18" charset="0"/>
              </a:rPr>
              <a:t>	</a:t>
            </a:r>
            <a:r>
              <a:rPr lang="ru-RU" sz="2400" i="1" dirty="0" smtClean="0">
                <a:solidFill>
                  <a:srgbClr val="FF0000"/>
                </a:solidFill>
                <a:latin typeface="Times New Roman" pitchFamily="18" charset="0"/>
                <a:cs typeface="Times New Roman" pitchFamily="18" charset="0"/>
              </a:rPr>
              <a:t>Виртуальный или логический канал</a:t>
            </a:r>
            <a:r>
              <a:rPr lang="ru-RU" sz="2400" dirty="0" smtClean="0">
                <a:solidFill>
                  <a:srgbClr val="FF0000"/>
                </a:solidFill>
                <a:latin typeface="Times New Roman" pitchFamily="18" charset="0"/>
                <a:cs typeface="Times New Roman" pitchFamily="18" charset="0"/>
              </a:rPr>
              <a:t> </a:t>
            </a:r>
            <a:r>
              <a:rPr lang="ru-RU" sz="2400" dirty="0" smtClean="0">
                <a:latin typeface="Times New Roman" pitchFamily="18" charset="0"/>
                <a:cs typeface="Times New Roman" pitchFamily="18" charset="0"/>
              </a:rPr>
              <a:t>- это такое функционирование компонентов сети, которое создает взаимодействующим компонентам иллюзию прокладки между ними нужного тракта. Кроме этого, сетевой уровень сообщает транспортному уровню о появляющихся ошибках. </a:t>
            </a:r>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Сообщения сетевого уровня принято называть </a:t>
            </a:r>
            <a:r>
              <a:rPr lang="ru-RU" sz="2400" i="1" dirty="0" smtClean="0">
                <a:latin typeface="Times New Roman" pitchFamily="18" charset="0"/>
                <a:cs typeface="Times New Roman" pitchFamily="18" charset="0"/>
              </a:rPr>
              <a:t>пакетами</a:t>
            </a:r>
            <a:r>
              <a:rPr lang="ru-RU"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packet</a:t>
            </a:r>
            <a:r>
              <a:rPr lang="ru-RU" sz="2400" dirty="0" smtClean="0">
                <a:latin typeface="Times New Roman" pitchFamily="18" charset="0"/>
                <a:cs typeface="Times New Roman" pitchFamily="18" charset="0"/>
              </a:rPr>
              <a:t>). В них помещаются фрагменты данных. Сетевой уровень отвечает за их адресацию и доставку.</a:t>
            </a:r>
          </a:p>
          <a:p>
            <a:pPr algn="just"/>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сетевой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network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571472" y="714356"/>
            <a:ext cx="8001056" cy="5262979"/>
          </a:xfrm>
          <a:prstGeom prst="rect">
            <a:avLst/>
          </a:prstGeom>
        </p:spPr>
        <p:txBody>
          <a:bodyPr wrap="square">
            <a:spAutoFit/>
          </a:bodyPr>
          <a:lstStyle/>
          <a:p>
            <a:pPr algn="just"/>
            <a:r>
              <a:rPr lang="en-US" sz="2800" dirty="0" smtClean="0">
                <a:latin typeface="Times New Roman" pitchFamily="18" charset="0"/>
                <a:cs typeface="Times New Roman" pitchFamily="18" charset="0"/>
              </a:rPr>
              <a:t>	</a:t>
            </a:r>
            <a:r>
              <a:rPr lang="ru-RU" sz="2800" dirty="0" smtClean="0">
                <a:latin typeface="Times New Roman" pitchFamily="18" charset="0"/>
                <a:cs typeface="Times New Roman" pitchFamily="18" charset="0"/>
              </a:rPr>
              <a:t>Прокладка наилучшего пути для передачи данных называется </a:t>
            </a:r>
            <a:r>
              <a:rPr lang="ru-RU" sz="2800" i="1" dirty="0" smtClean="0">
                <a:latin typeface="Times New Roman" pitchFamily="18" charset="0"/>
                <a:cs typeface="Times New Roman" pitchFamily="18" charset="0"/>
              </a:rPr>
              <a:t>маршрутизацией</a:t>
            </a:r>
            <a:r>
              <a:rPr lang="ru-RU" sz="2800" dirty="0" smtClean="0">
                <a:latin typeface="Times New Roman" pitchFamily="18" charset="0"/>
                <a:cs typeface="Times New Roman" pitchFamily="18" charset="0"/>
              </a:rPr>
              <a:t>, и ее решение является главной задачей сетевого уровня. Эта проблема осложняется тем, что самый короткий путь не всегда самый лучший. Часто критерием при выборе маршрута является время передачи данных по этому маршруту оно зависит от пропускной способности каналов связи и интенсивности трафика, которая может изменяться с течением времени. </a:t>
            </a:r>
            <a:r>
              <a:rPr lang="en-US" sz="2800" dirty="0" smtClean="0">
                <a:latin typeface="Times New Roman" pitchFamily="18" charset="0"/>
                <a:cs typeface="Times New Roman" pitchFamily="18" charset="0"/>
              </a:rPr>
              <a:t>	</a:t>
            </a:r>
            <a:r>
              <a:rPr lang="ru-RU" sz="2800" dirty="0" smtClean="0">
                <a:latin typeface="Times New Roman" pitchFamily="18" charset="0"/>
                <a:cs typeface="Times New Roman" pitchFamily="18" charset="0"/>
              </a:rPr>
              <a:t>Выбор маршрута может осуществляться и по другим критериям, например, надежности передачи.</a:t>
            </a:r>
            <a:r>
              <a:rPr lang="en-US" sz="2800" dirty="0" smtClean="0">
                <a:latin typeface="Times New Roman" pitchFamily="18" charset="0"/>
                <a:cs typeface="Times New Roman" pitchFamily="18" charset="0"/>
              </a:rPr>
              <a:t>	</a:t>
            </a:r>
            <a:endParaRPr lang="ru-RU" sz="2800" dirty="0" smtClean="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сетевой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network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428596" y="357166"/>
            <a:ext cx="8286808" cy="6370975"/>
          </a:xfrm>
          <a:prstGeom prst="rect">
            <a:avLst/>
          </a:prstGeom>
        </p:spPr>
        <p:txBody>
          <a:bodyPr wrap="square">
            <a:spAutoFit/>
          </a:bodyPr>
          <a:lstStyle/>
          <a:p>
            <a:pPr algn="just"/>
            <a:r>
              <a:rPr lang="ru-RU" sz="2400" dirty="0" smtClean="0">
                <a:latin typeface="Times New Roman" pitchFamily="18" charset="0"/>
                <a:cs typeface="Times New Roman" pitchFamily="18" charset="0"/>
              </a:rPr>
              <a:t>	Внутри сети доставка данных регулируется канальным уровнем, а вот доставкой данных между сетями занимается сетевой уровень. При организации доставки пакетов на сетевом уровне используется понятие </a:t>
            </a:r>
            <a:r>
              <a:rPr lang="ru-RU" sz="2400" i="1" dirty="0" smtClean="0">
                <a:latin typeface="Times New Roman" pitchFamily="18" charset="0"/>
                <a:cs typeface="Times New Roman" pitchFamily="18" charset="0"/>
              </a:rPr>
              <a:t>номер сети.</a:t>
            </a:r>
            <a:r>
              <a:rPr lang="ru-RU" sz="2400" dirty="0" smtClean="0">
                <a:latin typeface="Times New Roman" pitchFamily="18" charset="0"/>
                <a:cs typeface="Times New Roman" pitchFamily="18" charset="0"/>
              </a:rPr>
              <a:t> В этом случае </a:t>
            </a:r>
            <a:r>
              <a:rPr lang="ru-RU" sz="2400" i="1" dirty="0" smtClean="0">
                <a:latin typeface="Times New Roman" pitchFamily="18" charset="0"/>
                <a:cs typeface="Times New Roman" pitchFamily="18" charset="0"/>
              </a:rPr>
              <a:t>адрес</a:t>
            </a:r>
            <a:r>
              <a:rPr lang="ru-RU" sz="2400" dirty="0" smtClean="0">
                <a:latin typeface="Times New Roman" pitchFamily="18" charset="0"/>
                <a:cs typeface="Times New Roman" pitchFamily="18" charset="0"/>
              </a:rPr>
              <a:t> получателя состоит из </a:t>
            </a:r>
            <a:r>
              <a:rPr lang="ru-RU" sz="2400" i="1" dirty="0" smtClean="0">
                <a:latin typeface="Times New Roman" pitchFamily="18" charset="0"/>
                <a:cs typeface="Times New Roman" pitchFamily="18" charset="0"/>
              </a:rPr>
              <a:t>номера сети</a:t>
            </a:r>
            <a:r>
              <a:rPr lang="ru-RU" sz="2400" dirty="0" smtClean="0">
                <a:latin typeface="Times New Roman" pitchFamily="18" charset="0"/>
                <a:cs typeface="Times New Roman" pitchFamily="18" charset="0"/>
              </a:rPr>
              <a:t> и </a:t>
            </a:r>
            <a:r>
              <a:rPr lang="ru-RU" sz="2400" i="1" dirty="0" smtClean="0">
                <a:latin typeface="Times New Roman" pitchFamily="18" charset="0"/>
                <a:cs typeface="Times New Roman" pitchFamily="18" charset="0"/>
              </a:rPr>
              <a:t>номера компьютера</a:t>
            </a:r>
            <a:r>
              <a:rPr lang="ru-RU" sz="2400" dirty="0" smtClean="0">
                <a:latin typeface="Times New Roman" pitchFamily="18" charset="0"/>
                <a:cs typeface="Times New Roman" pitchFamily="18" charset="0"/>
              </a:rPr>
              <a:t> в этой сети.</a:t>
            </a:r>
          </a:p>
          <a:p>
            <a:pPr algn="just"/>
            <a:r>
              <a:rPr lang="ru-RU" sz="2400" dirty="0" smtClean="0">
                <a:latin typeface="Times New Roman" pitchFamily="18" charset="0"/>
                <a:cs typeface="Times New Roman" pitchFamily="18" charset="0"/>
              </a:rPr>
              <a:t>	Сети соединяются между собой специальными устройствами, называемыми </a:t>
            </a:r>
            <a:r>
              <a:rPr lang="ru-RU" sz="2400" dirty="0" err="1" smtClean="0">
                <a:latin typeface="Times New Roman" pitchFamily="18" charset="0"/>
                <a:cs typeface="Times New Roman" pitchFamily="18" charset="0"/>
              </a:rPr>
              <a:t>маршрутизаторами</a:t>
            </a:r>
            <a:r>
              <a:rPr lang="ru-RU" sz="2400" dirty="0" smtClean="0">
                <a:latin typeface="Times New Roman" pitchFamily="18" charset="0"/>
                <a:cs typeface="Times New Roman" pitchFamily="18" charset="0"/>
              </a:rPr>
              <a:t>. 	</a:t>
            </a:r>
            <a:r>
              <a:rPr lang="ru-RU" sz="2400" i="1" dirty="0" err="1" smtClean="0">
                <a:solidFill>
                  <a:srgbClr val="FF0000"/>
                </a:solidFill>
                <a:latin typeface="Times New Roman" pitchFamily="18" charset="0"/>
                <a:cs typeface="Times New Roman" pitchFamily="18" charset="0"/>
              </a:rPr>
              <a:t>Маршрутизатор</a:t>
            </a:r>
            <a:r>
              <a:rPr lang="ru-RU" sz="2400" dirty="0" smtClean="0">
                <a:latin typeface="Times New Roman" pitchFamily="18" charset="0"/>
                <a:cs typeface="Times New Roman" pitchFamily="18" charset="0"/>
              </a:rPr>
              <a:t> это устройство, которое собирает информацию о топологии межсетевых соединений и на ее основании пересылает пакеты сетевого уровня в сеть назначения. </a:t>
            </a:r>
          </a:p>
          <a:p>
            <a:pPr algn="just"/>
            <a:r>
              <a:rPr lang="ru-RU" sz="2400" dirty="0" smtClean="0">
                <a:latin typeface="Times New Roman" pitchFamily="18" charset="0"/>
                <a:cs typeface="Times New Roman" pitchFamily="18" charset="0"/>
              </a:rPr>
              <a:t>	Сетевой уровень отвечает за деление пользователей на группы и маршрутизацию пакетов на основе преобразования MAC-адресов в сетевые адреса. Сетевой уровень обеспечивает также прозрачную передачу пакетов на транспортный уровень. </a:t>
            </a:r>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сетевой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network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571472" y="1000108"/>
            <a:ext cx="8072494" cy="4832092"/>
          </a:xfrm>
          <a:prstGeom prst="rect">
            <a:avLst/>
          </a:prstGeom>
        </p:spPr>
        <p:txBody>
          <a:bodyPr wrap="square">
            <a:spAutoFit/>
          </a:bodyPr>
          <a:lstStyle/>
          <a:p>
            <a:pPr algn="just"/>
            <a:r>
              <a:rPr lang="ru-RU" sz="2800" dirty="0" smtClean="0">
                <a:solidFill>
                  <a:srgbClr val="FF0000"/>
                </a:solidFill>
                <a:latin typeface="Times New Roman" pitchFamily="18" charset="0"/>
                <a:cs typeface="Times New Roman" pitchFamily="18" charset="0"/>
              </a:rPr>
              <a:t>Сетевой уровень выполняет функции:</a:t>
            </a:r>
          </a:p>
          <a:p>
            <a:pPr lvl="1" algn="just"/>
            <a:r>
              <a:rPr lang="ru-RU" sz="2800" dirty="0" smtClean="0">
                <a:latin typeface="Times New Roman" pitchFamily="18" charset="0"/>
                <a:cs typeface="Times New Roman" pitchFamily="18" charset="0"/>
              </a:rPr>
              <a:t>1. Создание сетевых соединений и идентификация их портов.</a:t>
            </a:r>
          </a:p>
          <a:p>
            <a:pPr lvl="1" algn="just"/>
            <a:r>
              <a:rPr lang="ru-RU" sz="2800" dirty="0" smtClean="0">
                <a:latin typeface="Times New Roman" pitchFamily="18" charset="0"/>
                <a:cs typeface="Times New Roman" pitchFamily="18" charset="0"/>
              </a:rPr>
              <a:t>2. Обнаружение и исправление ошибок, возникающих при передаче через коммуникационную сеть.</a:t>
            </a:r>
          </a:p>
          <a:p>
            <a:pPr lvl="1" algn="just"/>
            <a:r>
              <a:rPr lang="ru-RU" sz="2800" dirty="0" smtClean="0">
                <a:latin typeface="Times New Roman" pitchFamily="18" charset="0"/>
                <a:cs typeface="Times New Roman" pitchFamily="18" charset="0"/>
              </a:rPr>
              <a:t>3. Управление потоками пакетов.</a:t>
            </a:r>
          </a:p>
          <a:p>
            <a:pPr lvl="1" algn="just"/>
            <a:r>
              <a:rPr lang="ru-RU" sz="2800" dirty="0" smtClean="0">
                <a:latin typeface="Times New Roman" pitchFamily="18" charset="0"/>
                <a:cs typeface="Times New Roman" pitchFamily="18" charset="0"/>
              </a:rPr>
              <a:t>4. Организация (упорядочение) последовательностей пакетов.</a:t>
            </a:r>
          </a:p>
          <a:p>
            <a:pPr lvl="1" algn="just"/>
            <a:r>
              <a:rPr lang="ru-RU" sz="2800" dirty="0" smtClean="0">
                <a:latin typeface="Times New Roman" pitchFamily="18" charset="0"/>
                <a:cs typeface="Times New Roman" pitchFamily="18" charset="0"/>
              </a:rPr>
              <a:t>5. Маршрутизация и коммутация.</a:t>
            </a:r>
          </a:p>
          <a:p>
            <a:pPr lvl="1" algn="just"/>
            <a:r>
              <a:rPr lang="ru-RU" sz="2800" dirty="0" smtClean="0">
                <a:latin typeface="Times New Roman" pitchFamily="18" charset="0"/>
                <a:cs typeface="Times New Roman" pitchFamily="18" charset="0"/>
              </a:rPr>
              <a:t>6. Сегментирование и объединение пакетов.</a:t>
            </a:r>
            <a:endParaRPr lang="ru-RU" sz="28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сетевой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network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428596" y="571480"/>
            <a:ext cx="8286808" cy="5693866"/>
          </a:xfrm>
          <a:prstGeom prst="rect">
            <a:avLst/>
          </a:prstGeom>
        </p:spPr>
        <p:txBody>
          <a:bodyPr wrap="square">
            <a:spAutoFit/>
          </a:bodyPr>
          <a:lstStyle/>
          <a:p>
            <a:pPr algn="just"/>
            <a:r>
              <a:rPr lang="ru-RU" sz="2600" dirty="0" smtClean="0">
                <a:latin typeface="Times New Roman" pitchFamily="18" charset="0"/>
                <a:cs typeface="Times New Roman" pitchFamily="18" charset="0"/>
              </a:rPr>
              <a:t>	На сетевом уровне определяется два вида протоколов. 	Первый вид относится к определению </a:t>
            </a:r>
            <a:r>
              <a:rPr lang="ru-RU" sz="2600" i="1" dirty="0" smtClean="0">
                <a:latin typeface="Times New Roman" pitchFamily="18" charset="0"/>
                <a:cs typeface="Times New Roman" pitchFamily="18" charset="0"/>
              </a:rPr>
              <a:t>правил передачи пакетов</a:t>
            </a:r>
            <a:r>
              <a:rPr lang="ru-RU" sz="2600" dirty="0" smtClean="0">
                <a:latin typeface="Times New Roman" pitchFamily="18" charset="0"/>
                <a:cs typeface="Times New Roman" pitchFamily="18" charset="0"/>
              </a:rPr>
              <a:t> с данными конечных узлов от узла к </a:t>
            </a:r>
            <a:r>
              <a:rPr lang="ru-RU" sz="2600" dirty="0" err="1" smtClean="0">
                <a:latin typeface="Times New Roman" pitchFamily="18" charset="0"/>
                <a:cs typeface="Times New Roman" pitchFamily="18" charset="0"/>
              </a:rPr>
              <a:t>маршрутизатору</a:t>
            </a:r>
            <a:r>
              <a:rPr lang="ru-RU" sz="2600" dirty="0" smtClean="0">
                <a:latin typeface="Times New Roman" pitchFamily="18" charset="0"/>
                <a:cs typeface="Times New Roman" pitchFamily="18" charset="0"/>
              </a:rPr>
              <a:t> и между </a:t>
            </a:r>
            <a:r>
              <a:rPr lang="ru-RU" sz="2600" dirty="0" err="1" smtClean="0">
                <a:latin typeface="Times New Roman" pitchFamily="18" charset="0"/>
                <a:cs typeface="Times New Roman" pitchFamily="18" charset="0"/>
              </a:rPr>
              <a:t>маршрутизаторами</a:t>
            </a:r>
            <a:r>
              <a:rPr lang="ru-RU" sz="2600" dirty="0" smtClean="0">
                <a:latin typeface="Times New Roman" pitchFamily="18" charset="0"/>
                <a:cs typeface="Times New Roman" pitchFamily="18" charset="0"/>
              </a:rPr>
              <a:t>. Именно эти протоколы обычно имеют в виду, когда говорят о протоколах сетевого уровня. </a:t>
            </a:r>
          </a:p>
          <a:p>
            <a:pPr algn="just"/>
            <a:r>
              <a:rPr lang="ru-RU" sz="2600" dirty="0" smtClean="0">
                <a:latin typeface="Times New Roman" pitchFamily="18" charset="0"/>
                <a:cs typeface="Times New Roman" pitchFamily="18" charset="0"/>
              </a:rPr>
              <a:t>	Другой вид протоколов, называемые </a:t>
            </a:r>
            <a:r>
              <a:rPr lang="ru-RU" sz="2600" i="1" dirty="0" smtClean="0">
                <a:latin typeface="Times New Roman" pitchFamily="18" charset="0"/>
                <a:cs typeface="Times New Roman" pitchFamily="18" charset="0"/>
              </a:rPr>
              <a:t>протоколами обмена маршрутной информацией</a:t>
            </a:r>
            <a:r>
              <a:rPr lang="ru-RU" sz="2600" dirty="0" smtClean="0">
                <a:latin typeface="Times New Roman" pitchFamily="18" charset="0"/>
                <a:cs typeface="Times New Roman" pitchFamily="18" charset="0"/>
              </a:rPr>
              <a:t>. С помощью этих протоколов </a:t>
            </a:r>
            <a:r>
              <a:rPr lang="ru-RU" sz="2600" dirty="0" err="1" smtClean="0">
                <a:latin typeface="Times New Roman" pitchFamily="18" charset="0"/>
                <a:cs typeface="Times New Roman" pitchFamily="18" charset="0"/>
              </a:rPr>
              <a:t>маршрутизаторы</a:t>
            </a:r>
            <a:r>
              <a:rPr lang="ru-RU" sz="2600" dirty="0" smtClean="0">
                <a:latin typeface="Times New Roman" pitchFamily="18" charset="0"/>
                <a:cs typeface="Times New Roman" pitchFamily="18" charset="0"/>
              </a:rPr>
              <a:t> собирают информацию о топологии межсетевых соединений. </a:t>
            </a:r>
          </a:p>
          <a:p>
            <a:pPr algn="just"/>
            <a:r>
              <a:rPr lang="ru-RU" sz="2600" dirty="0" smtClean="0">
                <a:latin typeface="Times New Roman" pitchFamily="18" charset="0"/>
                <a:cs typeface="Times New Roman" pitchFamily="18" charset="0"/>
              </a:rPr>
              <a:t>	Протоколы сетевого уровня реализуются программными модулями операционной системы, а также программными и аппаратными средствами </a:t>
            </a:r>
            <a:r>
              <a:rPr lang="ru-RU" sz="2600" dirty="0" err="1" smtClean="0">
                <a:latin typeface="Times New Roman" pitchFamily="18" charset="0"/>
                <a:cs typeface="Times New Roman" pitchFamily="18" charset="0"/>
              </a:rPr>
              <a:t>маршрутизаторов</a:t>
            </a:r>
            <a:r>
              <a:rPr lang="ru-RU" sz="2600" dirty="0" smtClean="0">
                <a:latin typeface="Times New Roman" pitchFamily="18" charset="0"/>
                <a:cs typeface="Times New Roman" pitchFamily="18" charset="0"/>
              </a:rPr>
              <a:t>.</a:t>
            </a:r>
          </a:p>
        </p:txBody>
      </p:sp>
    </p:spTree>
  </p:cSld>
  <p:clrMapOvr>
    <a:masterClrMapping/>
  </p:clrMapOvr>
  <p:transition spd="slow">
    <p:wedg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сетевой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network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500034" y="500042"/>
            <a:ext cx="8143932" cy="6124754"/>
          </a:xfrm>
          <a:prstGeom prst="rect">
            <a:avLst/>
          </a:prstGeom>
        </p:spPr>
        <p:txBody>
          <a:bodyPr wrap="square">
            <a:spAutoFit/>
          </a:bodyPr>
          <a:lstStyle/>
          <a:p>
            <a:pPr algn="just"/>
            <a:r>
              <a:rPr lang="ru-RU" sz="2800" dirty="0" smtClean="0">
                <a:latin typeface="Times New Roman" pitchFamily="18" charset="0"/>
                <a:cs typeface="Times New Roman" pitchFamily="18" charset="0"/>
              </a:rPr>
              <a:t>	Наиболее часто на сетевом уровне используются протоколы: </a:t>
            </a:r>
          </a:p>
          <a:p>
            <a:pPr algn="just"/>
            <a:r>
              <a:rPr lang="ru-RU" sz="2800" i="1" dirty="0" smtClean="0">
                <a:solidFill>
                  <a:srgbClr val="FF0000"/>
                </a:solidFill>
                <a:latin typeface="Times New Roman" pitchFamily="18" charset="0"/>
                <a:cs typeface="Times New Roman" pitchFamily="18" charset="0"/>
              </a:rPr>
              <a:t>IP (</a:t>
            </a:r>
            <a:r>
              <a:rPr lang="en-US" sz="2800" i="1" dirty="0" smtClean="0">
                <a:solidFill>
                  <a:srgbClr val="FF0000"/>
                </a:solidFill>
                <a:latin typeface="Times New Roman" pitchFamily="18" charset="0"/>
                <a:cs typeface="Times New Roman" pitchFamily="18" charset="0"/>
              </a:rPr>
              <a:t>Internet Protocol</a:t>
            </a:r>
            <a:r>
              <a:rPr lang="ru-RU" sz="2800" i="1" dirty="0" smtClean="0">
                <a:solidFill>
                  <a:srgbClr val="FF0000"/>
                </a:solidFill>
                <a:latin typeface="Times New Roman" pitchFamily="18" charset="0"/>
                <a:cs typeface="Times New Roman" pitchFamily="18" charset="0"/>
              </a:rPr>
              <a:t>) </a:t>
            </a:r>
            <a:r>
              <a:rPr lang="ru-RU" sz="2800" dirty="0" smtClean="0">
                <a:latin typeface="Times New Roman" pitchFamily="18" charset="0"/>
                <a:cs typeface="Times New Roman" pitchFamily="18" charset="0"/>
              </a:rPr>
              <a:t>протокол </a:t>
            </a:r>
            <a:r>
              <a:rPr lang="en-US" sz="2800" dirty="0" smtClean="0">
                <a:latin typeface="Times New Roman" pitchFamily="18" charset="0"/>
                <a:cs typeface="Times New Roman" pitchFamily="18" charset="0"/>
              </a:rPr>
              <a:t>Internet</a:t>
            </a:r>
            <a:r>
              <a:rPr lang="ru-RU" sz="2800" dirty="0" smtClean="0">
                <a:latin typeface="Times New Roman" pitchFamily="18" charset="0"/>
                <a:cs typeface="Times New Roman" pitchFamily="18" charset="0"/>
              </a:rPr>
              <a:t>, сетевой протокол стека </a:t>
            </a:r>
            <a:r>
              <a:rPr lang="en-US" sz="2800" dirty="0" smtClean="0">
                <a:latin typeface="Times New Roman" pitchFamily="18" charset="0"/>
                <a:cs typeface="Times New Roman" pitchFamily="18" charset="0"/>
              </a:rPr>
              <a:t>TCP</a:t>
            </a:r>
            <a:r>
              <a:rPr lang="ru-RU" sz="2800" dirty="0" smtClean="0">
                <a:latin typeface="Times New Roman" pitchFamily="18" charset="0"/>
                <a:cs typeface="Times New Roman" pitchFamily="18" charset="0"/>
              </a:rPr>
              <a:t>/</a:t>
            </a:r>
            <a:r>
              <a:rPr lang="en-US" sz="2800" dirty="0" smtClean="0">
                <a:latin typeface="Times New Roman" pitchFamily="18" charset="0"/>
                <a:cs typeface="Times New Roman" pitchFamily="18" charset="0"/>
              </a:rPr>
              <a:t>IP</a:t>
            </a:r>
            <a:r>
              <a:rPr lang="ru-RU" sz="2800" dirty="0" smtClean="0">
                <a:latin typeface="Times New Roman" pitchFamily="18" charset="0"/>
                <a:cs typeface="Times New Roman" pitchFamily="18" charset="0"/>
              </a:rPr>
              <a:t>, который предоставляет адресную и маршрутную информацию; </a:t>
            </a:r>
          </a:p>
          <a:p>
            <a:pPr algn="just"/>
            <a:r>
              <a:rPr lang="ru-RU" sz="2800" i="1" dirty="0" smtClean="0">
                <a:solidFill>
                  <a:srgbClr val="FF0000"/>
                </a:solidFill>
                <a:latin typeface="Times New Roman" pitchFamily="18" charset="0"/>
                <a:cs typeface="Times New Roman" pitchFamily="18" charset="0"/>
              </a:rPr>
              <a:t>IPX (</a:t>
            </a:r>
            <a:r>
              <a:rPr lang="en-US" sz="2800" i="1" dirty="0" smtClean="0">
                <a:solidFill>
                  <a:srgbClr val="FF0000"/>
                </a:solidFill>
                <a:latin typeface="Times New Roman" pitchFamily="18" charset="0"/>
                <a:cs typeface="Times New Roman" pitchFamily="18" charset="0"/>
              </a:rPr>
              <a:t>Internetwork Packet Exchange</a:t>
            </a:r>
            <a:r>
              <a:rPr lang="ru-RU" sz="2800" i="1" dirty="0" smtClean="0">
                <a:solidFill>
                  <a:srgbClr val="FF0000"/>
                </a:solidFill>
                <a:latin typeface="Times New Roman" pitchFamily="18" charset="0"/>
                <a:cs typeface="Times New Roman" pitchFamily="18" charset="0"/>
              </a:rPr>
              <a:t>) </a:t>
            </a:r>
            <a:r>
              <a:rPr lang="ru-RU" sz="2800" dirty="0" smtClean="0">
                <a:latin typeface="Times New Roman" pitchFamily="18" charset="0"/>
                <a:cs typeface="Times New Roman" pitchFamily="18" charset="0"/>
              </a:rPr>
              <a:t>протокол межсетевого обмена пакетами, предназначенный для адресации и маршрутизации пакетов в сетях </a:t>
            </a:r>
            <a:r>
              <a:rPr lang="en-US" sz="2800" dirty="0" smtClean="0">
                <a:latin typeface="Times New Roman" pitchFamily="18" charset="0"/>
                <a:cs typeface="Times New Roman" pitchFamily="18" charset="0"/>
              </a:rPr>
              <a:t>Novell</a:t>
            </a:r>
            <a:r>
              <a:rPr lang="ru-RU" sz="2800" dirty="0" smtClean="0">
                <a:latin typeface="Times New Roman" pitchFamily="18" charset="0"/>
                <a:cs typeface="Times New Roman" pitchFamily="18" charset="0"/>
              </a:rPr>
              <a:t>; </a:t>
            </a:r>
          </a:p>
          <a:p>
            <a:pPr algn="just"/>
            <a:r>
              <a:rPr lang="ru-RU" sz="2800" i="1" dirty="0" smtClean="0">
                <a:solidFill>
                  <a:srgbClr val="FF0000"/>
                </a:solidFill>
                <a:latin typeface="Times New Roman" pitchFamily="18" charset="0"/>
                <a:cs typeface="Times New Roman" pitchFamily="18" charset="0"/>
              </a:rPr>
              <a:t>X.25</a:t>
            </a:r>
            <a:r>
              <a:rPr lang="ru-RU" sz="2800" dirty="0" smtClean="0">
                <a:latin typeface="Times New Roman" pitchFamily="18" charset="0"/>
                <a:cs typeface="Times New Roman" pitchFamily="18" charset="0"/>
              </a:rPr>
              <a:t> международный стандарт для глобальных коммуникаций с коммутацией пакетов (частично этот протокол реализован на уровне 2); </a:t>
            </a:r>
          </a:p>
          <a:p>
            <a:pPr algn="just"/>
            <a:r>
              <a:rPr lang="ru-RU" sz="2800" i="1" dirty="0" smtClean="0">
                <a:solidFill>
                  <a:srgbClr val="FF0000"/>
                </a:solidFill>
                <a:latin typeface="Times New Roman" pitchFamily="18" charset="0"/>
                <a:cs typeface="Times New Roman" pitchFamily="18" charset="0"/>
              </a:rPr>
              <a:t>CLNP (</a:t>
            </a:r>
            <a:r>
              <a:rPr lang="en-US" sz="2800" i="1" dirty="0" smtClean="0">
                <a:solidFill>
                  <a:srgbClr val="FF0000"/>
                </a:solidFill>
                <a:latin typeface="Times New Roman" pitchFamily="18" charset="0"/>
                <a:cs typeface="Times New Roman" pitchFamily="18" charset="0"/>
              </a:rPr>
              <a:t>Connection Less Network Protocol</a:t>
            </a:r>
            <a:r>
              <a:rPr lang="ru-RU" sz="2800" i="1" dirty="0" smtClean="0">
                <a:solidFill>
                  <a:srgbClr val="FF0000"/>
                </a:solidFill>
                <a:latin typeface="Times New Roman" pitchFamily="18" charset="0"/>
                <a:cs typeface="Times New Roman" pitchFamily="18" charset="0"/>
              </a:rPr>
              <a:t>)</a:t>
            </a:r>
            <a:r>
              <a:rPr lang="ru-RU" sz="2800" dirty="0" smtClean="0">
                <a:latin typeface="Times New Roman" pitchFamily="18" charset="0"/>
                <a:cs typeface="Times New Roman" pitchFamily="18" charset="0"/>
              </a:rPr>
              <a:t> сетевой протокол без организации соединений.</a:t>
            </a:r>
            <a:endParaRPr lang="ru-RU" sz="28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канальный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data link</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642910" y="1071546"/>
            <a:ext cx="8001056" cy="4401205"/>
          </a:xfrm>
          <a:prstGeom prst="rect">
            <a:avLst/>
          </a:prstGeom>
        </p:spPr>
        <p:txBody>
          <a:bodyPr wrap="square">
            <a:spAutoFit/>
          </a:bodyPr>
          <a:lstStyle/>
          <a:p>
            <a:pPr algn="just"/>
            <a:r>
              <a:rPr lang="en-US" sz="2800" dirty="0" smtClean="0">
                <a:latin typeface="Times New Roman" pitchFamily="18" charset="0"/>
                <a:cs typeface="Times New Roman" pitchFamily="18" charset="0"/>
              </a:rPr>
              <a:t>	</a:t>
            </a:r>
            <a:r>
              <a:rPr lang="ru-RU" sz="2800" dirty="0" smtClean="0">
                <a:latin typeface="Times New Roman" pitchFamily="18" charset="0"/>
                <a:cs typeface="Times New Roman" pitchFamily="18" charset="0"/>
              </a:rPr>
              <a:t>Единицей информации канального уровня являются </a:t>
            </a:r>
            <a:r>
              <a:rPr lang="ru-RU" sz="2800" i="1" dirty="0" smtClean="0">
                <a:latin typeface="Times New Roman" pitchFamily="18" charset="0"/>
                <a:cs typeface="Times New Roman" pitchFamily="18" charset="0"/>
              </a:rPr>
              <a:t>кадры (</a:t>
            </a:r>
            <a:r>
              <a:rPr lang="en-US" sz="2800" i="1" dirty="0" smtClean="0">
                <a:latin typeface="Times New Roman" pitchFamily="18" charset="0"/>
                <a:cs typeface="Times New Roman" pitchFamily="18" charset="0"/>
              </a:rPr>
              <a:t>frame</a:t>
            </a:r>
            <a:r>
              <a:rPr lang="ru-RU" sz="2800" i="1" dirty="0" smtClean="0">
                <a:latin typeface="Times New Roman" pitchFamily="18" charset="0"/>
                <a:cs typeface="Times New Roman" pitchFamily="18" charset="0"/>
              </a:rPr>
              <a:t>). </a:t>
            </a:r>
            <a:r>
              <a:rPr lang="ru-RU" sz="2800" dirty="0" smtClean="0">
                <a:latin typeface="Times New Roman" pitchFamily="18" charset="0"/>
                <a:cs typeface="Times New Roman" pitchFamily="18" charset="0"/>
              </a:rPr>
              <a:t>Кадры – это логически организованная структура, в которую можно помещать данные. Задача канального уровня передавать кадры от сетевого уровня к физическому уровню.</a:t>
            </a:r>
          </a:p>
          <a:p>
            <a:pPr algn="just"/>
            <a:r>
              <a:rPr lang="en-US" sz="2800" dirty="0" smtClean="0">
                <a:latin typeface="Times New Roman" pitchFamily="18" charset="0"/>
                <a:cs typeface="Times New Roman" pitchFamily="18" charset="0"/>
              </a:rPr>
              <a:t>	</a:t>
            </a:r>
            <a:r>
              <a:rPr lang="ru-RU" sz="2800" dirty="0" smtClean="0">
                <a:latin typeface="Times New Roman" pitchFamily="18" charset="0"/>
                <a:cs typeface="Times New Roman" pitchFamily="18" charset="0"/>
              </a:rPr>
              <a:t>Одной из задач канального уровня является проверка доступности среды передачи. Другой задачей канального уровня является реализация механизмов обнаружения и коррекции ошибок. </a:t>
            </a:r>
            <a:endParaRPr lang="ru-RU" sz="28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канальный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data link</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571472" y="428604"/>
            <a:ext cx="8001056" cy="6001643"/>
          </a:xfrm>
          <a:prstGeom prst="rect">
            <a:avLst/>
          </a:prstGeom>
        </p:spPr>
        <p:txBody>
          <a:bodyPr wrap="square">
            <a:spAutoFit/>
          </a:bodyPr>
          <a:lstStyle/>
          <a:p>
            <a:pPr algn="just"/>
            <a:r>
              <a:rPr lang="ru-RU" sz="2400" dirty="0" smtClean="0">
                <a:latin typeface="Times New Roman" pitchFamily="18" charset="0"/>
                <a:cs typeface="Times New Roman" pitchFamily="18" charset="0"/>
              </a:rPr>
              <a:t>	Канальный уровень обеспечивает корректность передачи каждого кадра, помещая специальную последовательность бит, в начало и конец каждого кадра, чтобы отметить его, а также вычисляет контрольную сумму, суммируя все байты кадра определенным способом и добавляя контрольную сумму к кадру. Когда кадр приходит, получатель снова вычисляет контрольную сумму полученных данных и сравнивает результат с контрольной суммой из кадра. Если они совпадают, кадр считается правильным и принимается. Если же контрольные суммы не совпадают, то фиксируется ошибка.</a:t>
            </a:r>
          </a:p>
          <a:p>
            <a:pPr algn="just"/>
            <a:r>
              <a:rPr lang="ru-RU" sz="2400" dirty="0" smtClean="0">
                <a:latin typeface="Times New Roman" pitchFamily="18" charset="0"/>
                <a:cs typeface="Times New Roman" pitchFamily="18" charset="0"/>
              </a:rPr>
              <a:t>	Задача канального уровня - брать пакеты, поступающие с сетевого уровня и готовить их к передаче, укладывая в кадр соответствующего размера. Этот уровень обязан определить, где начинается и где заканчивается блок, а также обнаруживать ошибки передачи.</a:t>
            </a:r>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канальный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data link</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642910" y="785794"/>
            <a:ext cx="7929618" cy="5293757"/>
          </a:xfrm>
          <a:prstGeom prst="rect">
            <a:avLst/>
          </a:prstGeom>
        </p:spPr>
        <p:txBody>
          <a:bodyPr wrap="square">
            <a:spAutoFit/>
          </a:bodyPr>
          <a:lstStyle/>
          <a:p>
            <a:pPr algn="just"/>
            <a:r>
              <a:rPr lang="ru-RU" sz="2600" dirty="0" smtClean="0">
                <a:latin typeface="Times New Roman" pitchFamily="18" charset="0"/>
                <a:cs typeface="Times New Roman" pitchFamily="18" charset="0"/>
              </a:rPr>
              <a:t>	Спецификации IEEE 802.Х делят канальный уровень на два подуровня:</a:t>
            </a:r>
          </a:p>
          <a:p>
            <a:pPr algn="just"/>
            <a:r>
              <a:rPr lang="ru-RU" sz="2600" i="1" dirty="0" smtClean="0">
                <a:latin typeface="Times New Roman" pitchFamily="18" charset="0"/>
                <a:cs typeface="Times New Roman" pitchFamily="18" charset="0"/>
              </a:rPr>
              <a:t>	- </a:t>
            </a:r>
            <a:r>
              <a:rPr lang="ru-RU" sz="2600" i="1" dirty="0" smtClean="0">
                <a:solidFill>
                  <a:srgbClr val="FF0000"/>
                </a:solidFill>
                <a:latin typeface="Times New Roman" pitchFamily="18" charset="0"/>
                <a:cs typeface="Times New Roman" pitchFamily="18" charset="0"/>
              </a:rPr>
              <a:t>LLC</a:t>
            </a:r>
            <a:r>
              <a:rPr lang="ru-RU" sz="2600" dirty="0" smtClean="0">
                <a:solidFill>
                  <a:srgbClr val="FF0000"/>
                </a:solidFill>
                <a:latin typeface="Times New Roman" pitchFamily="18" charset="0"/>
                <a:cs typeface="Times New Roman" pitchFamily="18" charset="0"/>
              </a:rPr>
              <a:t> (</a:t>
            </a:r>
            <a:r>
              <a:rPr lang="en-US" sz="2600" i="1" dirty="0" smtClean="0">
                <a:solidFill>
                  <a:srgbClr val="FF0000"/>
                </a:solidFill>
                <a:latin typeface="Times New Roman" pitchFamily="18" charset="0"/>
                <a:cs typeface="Times New Roman" pitchFamily="18" charset="0"/>
              </a:rPr>
              <a:t>Logical Link Control</a:t>
            </a:r>
            <a:r>
              <a:rPr lang="ru-RU" sz="2600" dirty="0" smtClean="0">
                <a:solidFill>
                  <a:srgbClr val="FF0000"/>
                </a:solidFill>
                <a:latin typeface="Times New Roman" pitchFamily="18" charset="0"/>
                <a:cs typeface="Times New Roman" pitchFamily="18" charset="0"/>
              </a:rPr>
              <a:t>) </a:t>
            </a:r>
            <a:r>
              <a:rPr lang="ru-RU" sz="2600" dirty="0" smtClean="0">
                <a:latin typeface="Times New Roman" pitchFamily="18" charset="0"/>
                <a:cs typeface="Times New Roman" pitchFamily="18" charset="0"/>
              </a:rPr>
              <a:t>управление логическим каналом осуществляет логический контроль связи. Подуровень LLC обеспечивает обслуживание сетевого уровня и связан с передачей и приемом пользовательских сообщений. </a:t>
            </a:r>
          </a:p>
          <a:p>
            <a:pPr algn="just"/>
            <a:r>
              <a:rPr lang="ru-RU" sz="2600" i="1" dirty="0" smtClean="0">
                <a:latin typeface="Times New Roman" pitchFamily="18" charset="0"/>
                <a:cs typeface="Times New Roman" pitchFamily="18" charset="0"/>
              </a:rPr>
              <a:t>	- </a:t>
            </a:r>
            <a:r>
              <a:rPr lang="ru-RU" sz="2600" i="1" dirty="0" smtClean="0">
                <a:solidFill>
                  <a:srgbClr val="FF0000"/>
                </a:solidFill>
                <a:latin typeface="Times New Roman" pitchFamily="18" charset="0"/>
                <a:cs typeface="Times New Roman" pitchFamily="18" charset="0"/>
              </a:rPr>
              <a:t>MAC</a:t>
            </a:r>
            <a:r>
              <a:rPr lang="ru-RU" sz="2600" dirty="0" smtClean="0">
                <a:solidFill>
                  <a:srgbClr val="FF0000"/>
                </a:solidFill>
                <a:latin typeface="Times New Roman" pitchFamily="18" charset="0"/>
                <a:cs typeface="Times New Roman" pitchFamily="18" charset="0"/>
              </a:rPr>
              <a:t> (</a:t>
            </a:r>
            <a:r>
              <a:rPr lang="en-US" sz="2600" i="1" dirty="0" smtClean="0">
                <a:solidFill>
                  <a:srgbClr val="FF0000"/>
                </a:solidFill>
                <a:latin typeface="Times New Roman" pitchFamily="18" charset="0"/>
                <a:cs typeface="Times New Roman" pitchFamily="18" charset="0"/>
              </a:rPr>
              <a:t>Media Assess Control</a:t>
            </a:r>
            <a:r>
              <a:rPr lang="ru-RU" sz="2600" i="1" dirty="0" smtClean="0">
                <a:solidFill>
                  <a:srgbClr val="FF0000"/>
                </a:solidFill>
                <a:latin typeface="Times New Roman" pitchFamily="18" charset="0"/>
                <a:cs typeface="Times New Roman" pitchFamily="18" charset="0"/>
              </a:rPr>
              <a:t>)</a:t>
            </a:r>
            <a:r>
              <a:rPr lang="ru-RU" sz="2600" dirty="0" smtClean="0">
                <a:solidFill>
                  <a:srgbClr val="FF0000"/>
                </a:solidFill>
                <a:latin typeface="Times New Roman" pitchFamily="18" charset="0"/>
                <a:cs typeface="Times New Roman" pitchFamily="18" charset="0"/>
              </a:rPr>
              <a:t> </a:t>
            </a:r>
            <a:r>
              <a:rPr lang="ru-RU" sz="2600" dirty="0" smtClean="0">
                <a:latin typeface="Times New Roman" pitchFamily="18" charset="0"/>
                <a:cs typeface="Times New Roman" pitchFamily="18" charset="0"/>
              </a:rPr>
              <a:t>контроль доступа к среде. Подуровень MAC регулирует доступ к разделяемой физической среде (передача маркера или обнаружение коллизий или столкновений) и управляет доступом к каналу связи. Подуровень </a:t>
            </a:r>
            <a:r>
              <a:rPr lang="ru-RU" sz="2600" i="1" dirty="0" smtClean="0">
                <a:latin typeface="Times New Roman" pitchFamily="18" charset="0"/>
                <a:cs typeface="Times New Roman" pitchFamily="18" charset="0"/>
              </a:rPr>
              <a:t>LLC</a:t>
            </a:r>
            <a:r>
              <a:rPr lang="ru-RU" sz="2600" dirty="0" smtClean="0">
                <a:latin typeface="Times New Roman" pitchFamily="18" charset="0"/>
                <a:cs typeface="Times New Roman" pitchFamily="18" charset="0"/>
              </a:rPr>
              <a:t> находится выше подуровня </a:t>
            </a:r>
            <a:r>
              <a:rPr lang="ru-RU" sz="2600" i="1" dirty="0" smtClean="0">
                <a:latin typeface="Times New Roman" pitchFamily="18" charset="0"/>
                <a:cs typeface="Times New Roman" pitchFamily="18" charset="0"/>
              </a:rPr>
              <a:t>МАC.</a:t>
            </a:r>
            <a:endParaRPr lang="ru-RU" sz="26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канальный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data link</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214282" y="500042"/>
            <a:ext cx="8572560" cy="830997"/>
          </a:xfrm>
          <a:prstGeom prst="rect">
            <a:avLst/>
          </a:prstGeom>
        </p:spPr>
        <p:txBody>
          <a:bodyPr wrap="square">
            <a:spAutoFit/>
          </a:bodyPr>
          <a:lstStyle/>
          <a:p>
            <a:pPr algn="ctr"/>
            <a:r>
              <a:rPr lang="ru-RU" sz="2400" dirty="0" smtClean="0">
                <a:solidFill>
                  <a:srgbClr val="FF0000"/>
                </a:solidFill>
                <a:latin typeface="Times New Roman" pitchFamily="18" charset="0"/>
                <a:cs typeface="Times New Roman" pitchFamily="18" charset="0"/>
              </a:rPr>
              <a:t>В компьютерах функции канального уровня реализуются совместными усилиями сетевых адаптеров и их драйверов.</a:t>
            </a:r>
            <a:endParaRPr lang="ru-RU" sz="2400" dirty="0">
              <a:solidFill>
                <a:srgbClr val="FF0000"/>
              </a:solidFill>
              <a:latin typeface="Times New Roman" pitchFamily="18" charset="0"/>
              <a:cs typeface="Times New Roman" pitchFamily="18" charset="0"/>
            </a:endParaRPr>
          </a:p>
        </p:txBody>
      </p:sp>
      <p:sp>
        <p:nvSpPr>
          <p:cNvPr id="9" name="Прямоугольник 8"/>
          <p:cNvSpPr/>
          <p:nvPr/>
        </p:nvSpPr>
        <p:spPr>
          <a:xfrm>
            <a:off x="428596" y="1357298"/>
            <a:ext cx="8286808" cy="4832092"/>
          </a:xfrm>
          <a:prstGeom prst="rect">
            <a:avLst/>
          </a:prstGeom>
        </p:spPr>
        <p:txBody>
          <a:bodyPr wrap="square">
            <a:spAutoFit/>
          </a:bodyPr>
          <a:lstStyle/>
          <a:p>
            <a:pPr algn="just"/>
            <a:r>
              <a:rPr lang="ru-RU" sz="2800" dirty="0" smtClean="0">
                <a:latin typeface="Times New Roman" pitchFamily="18" charset="0"/>
                <a:cs typeface="Times New Roman" pitchFamily="18" charset="0"/>
              </a:rPr>
              <a:t>	Канальный уровень может выполнять следующие виды функций: </a:t>
            </a:r>
          </a:p>
          <a:p>
            <a:pPr lvl="0" algn="just"/>
            <a:r>
              <a:rPr lang="ru-RU" sz="2800" dirty="0" smtClean="0">
                <a:latin typeface="Times New Roman" pitchFamily="18" charset="0"/>
                <a:cs typeface="Times New Roman" pitchFamily="18" charset="0"/>
              </a:rPr>
              <a:t>	1. Организация (установление, управление, расторжение) канальных соединений и идентификация их портов.</a:t>
            </a:r>
          </a:p>
          <a:p>
            <a:pPr lvl="0" algn="just"/>
            <a:r>
              <a:rPr lang="ru-RU" sz="2800" dirty="0" smtClean="0">
                <a:latin typeface="Times New Roman" pitchFamily="18" charset="0"/>
                <a:cs typeface="Times New Roman" pitchFamily="18" charset="0"/>
              </a:rPr>
              <a:t>	2. Организация и передача кадров.</a:t>
            </a:r>
          </a:p>
          <a:p>
            <a:pPr lvl="0" algn="just"/>
            <a:r>
              <a:rPr lang="ru-RU" sz="2800" dirty="0" smtClean="0">
                <a:latin typeface="Times New Roman" pitchFamily="18" charset="0"/>
                <a:cs typeface="Times New Roman" pitchFamily="18" charset="0"/>
              </a:rPr>
              <a:t>	3. Обнаружение и исправление ошибок.</a:t>
            </a:r>
          </a:p>
          <a:p>
            <a:pPr lvl="0" algn="just"/>
            <a:r>
              <a:rPr lang="ru-RU" sz="2800" dirty="0" smtClean="0">
                <a:latin typeface="Times New Roman" pitchFamily="18" charset="0"/>
                <a:cs typeface="Times New Roman" pitchFamily="18" charset="0"/>
              </a:rPr>
              <a:t>	4. Управление потоками данных.</a:t>
            </a:r>
          </a:p>
          <a:p>
            <a:pPr algn="just"/>
            <a:r>
              <a:rPr lang="ru-RU" sz="2800" dirty="0" smtClean="0">
                <a:latin typeface="Times New Roman" pitchFamily="18" charset="0"/>
                <a:cs typeface="Times New Roman" pitchFamily="18" charset="0"/>
              </a:rPr>
              <a:t>	5. Обеспечение прозрачности логических каналов (передачи по ним данных, закодированных любым способом).</a:t>
            </a:r>
            <a:endParaRPr lang="ru-RU" sz="28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канальный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data link</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500034" y="714356"/>
            <a:ext cx="8286808" cy="5632311"/>
          </a:xfrm>
          <a:prstGeom prst="rect">
            <a:avLst/>
          </a:prstGeom>
        </p:spPr>
        <p:txBody>
          <a:bodyPr wrap="square">
            <a:spAutoFit/>
          </a:bodyPr>
          <a:lstStyle/>
          <a:p>
            <a:pPr algn="just"/>
            <a:r>
              <a:rPr lang="ru-RU" sz="2000" b="1" dirty="0" smtClean="0">
                <a:latin typeface="Times New Roman" pitchFamily="18" charset="0"/>
                <a:cs typeface="Times New Roman" pitchFamily="18" charset="0"/>
              </a:rPr>
              <a:t>	Наиболее часто используемые протоколы на канальном уровне включают:</a:t>
            </a:r>
          </a:p>
          <a:p>
            <a:pPr algn="just"/>
            <a:r>
              <a:rPr lang="ru-RU" sz="2000" dirty="0" smtClean="0">
                <a:latin typeface="Times New Roman" pitchFamily="18" charset="0"/>
                <a:cs typeface="Times New Roman" pitchFamily="18" charset="0"/>
              </a:rPr>
              <a:t>	- </a:t>
            </a:r>
            <a:r>
              <a:rPr lang="ru-RU" sz="2000" i="1" dirty="0" smtClean="0">
                <a:solidFill>
                  <a:srgbClr val="FF0000"/>
                </a:solidFill>
                <a:latin typeface="Times New Roman" pitchFamily="18" charset="0"/>
                <a:cs typeface="Times New Roman" pitchFamily="18" charset="0"/>
              </a:rPr>
              <a:t>HDLC (</a:t>
            </a:r>
            <a:r>
              <a:rPr lang="en-US" sz="2000" i="1" dirty="0" smtClean="0">
                <a:solidFill>
                  <a:srgbClr val="FF0000"/>
                </a:solidFill>
                <a:latin typeface="Times New Roman" pitchFamily="18" charset="0"/>
                <a:cs typeface="Times New Roman" pitchFamily="18" charset="0"/>
              </a:rPr>
              <a:t>High Level Data Link Control</a:t>
            </a:r>
            <a:r>
              <a:rPr lang="ru-RU" sz="2000" i="1" dirty="0" smtClean="0">
                <a:solidFill>
                  <a:srgbClr val="FF0000"/>
                </a:solidFill>
                <a:latin typeface="Times New Roman" pitchFamily="18" charset="0"/>
                <a:cs typeface="Times New Roman" pitchFamily="18" charset="0"/>
              </a:rPr>
              <a:t>) </a:t>
            </a:r>
            <a:r>
              <a:rPr lang="ru-RU" sz="2000" dirty="0" smtClean="0">
                <a:latin typeface="Times New Roman" pitchFamily="18" charset="0"/>
                <a:cs typeface="Times New Roman" pitchFamily="18" charset="0"/>
              </a:rPr>
              <a:t>протокол управления каналом передачи данных высокого уровня, для последовательных соединений;</a:t>
            </a:r>
          </a:p>
          <a:p>
            <a:pPr algn="just"/>
            <a:r>
              <a:rPr lang="ru-RU" sz="2000" dirty="0" smtClean="0">
                <a:latin typeface="Times New Roman" pitchFamily="18" charset="0"/>
                <a:cs typeface="Times New Roman" pitchFamily="18" charset="0"/>
              </a:rPr>
              <a:t>	- </a:t>
            </a:r>
            <a:r>
              <a:rPr lang="ru-RU" sz="2000" i="1" dirty="0" smtClean="0">
                <a:solidFill>
                  <a:srgbClr val="FF0000"/>
                </a:solidFill>
                <a:latin typeface="Times New Roman" pitchFamily="18" charset="0"/>
                <a:cs typeface="Times New Roman" pitchFamily="18" charset="0"/>
              </a:rPr>
              <a:t>IEEE 802.2 LLC</a:t>
            </a:r>
            <a:r>
              <a:rPr lang="ru-RU" sz="2000" dirty="0" smtClean="0">
                <a:latin typeface="Times New Roman" pitchFamily="18" charset="0"/>
                <a:cs typeface="Times New Roman" pitchFamily="18" charset="0"/>
              </a:rPr>
              <a:t> (тип I и тип II) обеспечивают MAC для сред 802.x;</a:t>
            </a:r>
          </a:p>
          <a:p>
            <a:pPr algn="just"/>
            <a:r>
              <a:rPr lang="ru-RU" sz="2000" dirty="0" smtClean="0">
                <a:latin typeface="Times New Roman" pitchFamily="18" charset="0"/>
                <a:cs typeface="Times New Roman" pitchFamily="18" charset="0"/>
              </a:rPr>
              <a:t>	- </a:t>
            </a:r>
            <a:r>
              <a:rPr lang="en-US" sz="2000" dirty="0" smtClean="0">
                <a:latin typeface="Times New Roman" pitchFamily="18" charset="0"/>
                <a:cs typeface="Times New Roman" pitchFamily="18" charset="0"/>
              </a:rPr>
              <a:t>Ethernet</a:t>
            </a:r>
            <a:r>
              <a:rPr lang="ru-RU" sz="2000" dirty="0" smtClean="0">
                <a:latin typeface="Times New Roman" pitchFamily="18" charset="0"/>
                <a:cs typeface="Times New Roman" pitchFamily="18" charset="0"/>
              </a:rPr>
              <a:t> сетевая технология по стандарту </a:t>
            </a:r>
            <a:r>
              <a:rPr lang="en-US" sz="2000" i="1" dirty="0" smtClean="0">
                <a:solidFill>
                  <a:srgbClr val="FF0000"/>
                </a:solidFill>
                <a:latin typeface="Times New Roman" pitchFamily="18" charset="0"/>
                <a:cs typeface="Times New Roman" pitchFamily="18" charset="0"/>
              </a:rPr>
              <a:t>IEEE</a:t>
            </a:r>
            <a:r>
              <a:rPr lang="ru-RU" sz="2000" i="1" dirty="0" smtClean="0">
                <a:solidFill>
                  <a:srgbClr val="FF0000"/>
                </a:solidFill>
                <a:latin typeface="Times New Roman" pitchFamily="18" charset="0"/>
                <a:cs typeface="Times New Roman" pitchFamily="18" charset="0"/>
              </a:rPr>
              <a:t> 802.3</a:t>
            </a:r>
            <a:r>
              <a:rPr lang="ru-RU" sz="2000" dirty="0" smtClean="0">
                <a:latin typeface="Times New Roman" pitchFamily="18" charset="0"/>
                <a:cs typeface="Times New Roman" pitchFamily="18" charset="0"/>
              </a:rPr>
              <a:t> для сетей, использующая шинную топологию и коллективный доступ с прослушиванием несущей и обнаружением конфликтов;</a:t>
            </a:r>
          </a:p>
          <a:p>
            <a:pPr algn="just"/>
            <a:r>
              <a:rPr lang="ru-RU" sz="2000" dirty="0" smtClean="0">
                <a:latin typeface="Times New Roman" pitchFamily="18" charset="0"/>
                <a:cs typeface="Times New Roman" pitchFamily="18" charset="0"/>
              </a:rPr>
              <a:t>	- </a:t>
            </a:r>
            <a:r>
              <a:rPr lang="en-US" sz="2000" dirty="0" smtClean="0">
                <a:latin typeface="Times New Roman" pitchFamily="18" charset="0"/>
                <a:cs typeface="Times New Roman" pitchFamily="18" charset="0"/>
              </a:rPr>
              <a:t>Token ring</a:t>
            </a:r>
            <a:r>
              <a:rPr lang="ru-RU" sz="2000" dirty="0" smtClean="0">
                <a:latin typeface="Times New Roman" pitchFamily="18" charset="0"/>
                <a:cs typeface="Times New Roman" pitchFamily="18" charset="0"/>
              </a:rPr>
              <a:t> сетевая технология по стандарту </a:t>
            </a:r>
            <a:r>
              <a:rPr lang="en-US" sz="2000" i="1" dirty="0" smtClean="0">
                <a:solidFill>
                  <a:srgbClr val="FF0000"/>
                </a:solidFill>
                <a:latin typeface="Times New Roman" pitchFamily="18" charset="0"/>
                <a:cs typeface="Times New Roman" pitchFamily="18" charset="0"/>
              </a:rPr>
              <a:t>IEEE</a:t>
            </a:r>
            <a:r>
              <a:rPr lang="ru-RU" sz="2000" i="1" dirty="0" smtClean="0">
                <a:solidFill>
                  <a:srgbClr val="FF0000"/>
                </a:solidFill>
                <a:latin typeface="Times New Roman" pitchFamily="18" charset="0"/>
                <a:cs typeface="Times New Roman" pitchFamily="18" charset="0"/>
              </a:rPr>
              <a:t> 802.5</a:t>
            </a:r>
            <a:r>
              <a:rPr lang="ru-RU" sz="2000" dirty="0" smtClean="0">
                <a:latin typeface="Times New Roman" pitchFamily="18" charset="0"/>
                <a:cs typeface="Times New Roman" pitchFamily="18" charset="0"/>
              </a:rPr>
              <a:t>, использующая кольцевую топологию и метод доступа к кольцу с передачей маркера;</a:t>
            </a:r>
          </a:p>
          <a:p>
            <a:pPr algn="just"/>
            <a:r>
              <a:rPr lang="ru-RU" sz="2000" dirty="0" smtClean="0">
                <a:latin typeface="Times New Roman" pitchFamily="18" charset="0"/>
                <a:cs typeface="Times New Roman" pitchFamily="18" charset="0"/>
              </a:rPr>
              <a:t>	- </a:t>
            </a:r>
            <a:r>
              <a:rPr lang="ru-RU" sz="2000" i="1" dirty="0" smtClean="0">
                <a:solidFill>
                  <a:srgbClr val="FF0000"/>
                </a:solidFill>
                <a:latin typeface="Times New Roman" pitchFamily="18" charset="0"/>
                <a:cs typeface="Times New Roman" pitchFamily="18" charset="0"/>
              </a:rPr>
              <a:t>FDDI </a:t>
            </a:r>
            <a:r>
              <a:rPr lang="ru-RU"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Fiber Distributed Date Interface Station</a:t>
            </a:r>
            <a:r>
              <a:rPr lang="ru-RU" sz="2000" dirty="0" smtClean="0">
                <a:latin typeface="Times New Roman" pitchFamily="18" charset="0"/>
                <a:cs typeface="Times New Roman" pitchFamily="18" charset="0"/>
              </a:rPr>
              <a:t>) сетевая технология по стандарту </a:t>
            </a:r>
            <a:r>
              <a:rPr lang="en-US" sz="2000" dirty="0" smtClean="0">
                <a:latin typeface="Times New Roman" pitchFamily="18" charset="0"/>
                <a:cs typeface="Times New Roman" pitchFamily="18" charset="0"/>
              </a:rPr>
              <a:t>IEEE</a:t>
            </a:r>
            <a:r>
              <a:rPr lang="ru-RU" sz="2000" dirty="0" smtClean="0">
                <a:latin typeface="Times New Roman" pitchFamily="18" charset="0"/>
                <a:cs typeface="Times New Roman" pitchFamily="18" charset="0"/>
              </a:rPr>
              <a:t> 802.6, использующая оптоволоконный носитель;</a:t>
            </a:r>
          </a:p>
          <a:p>
            <a:pPr algn="just"/>
            <a:r>
              <a:rPr lang="ru-RU" sz="2000" dirty="0" smtClean="0">
                <a:latin typeface="Times New Roman" pitchFamily="18" charset="0"/>
                <a:cs typeface="Times New Roman" pitchFamily="18" charset="0"/>
              </a:rPr>
              <a:t>	- </a:t>
            </a:r>
            <a:r>
              <a:rPr lang="ru-RU" sz="2000" i="1" dirty="0" smtClean="0">
                <a:solidFill>
                  <a:srgbClr val="FF0000"/>
                </a:solidFill>
                <a:latin typeface="Times New Roman" pitchFamily="18" charset="0"/>
                <a:cs typeface="Times New Roman" pitchFamily="18" charset="0"/>
              </a:rPr>
              <a:t>X.25 </a:t>
            </a:r>
            <a:r>
              <a:rPr lang="ru-RU" sz="2000" dirty="0" smtClean="0">
                <a:latin typeface="Times New Roman" pitchFamily="18" charset="0"/>
                <a:cs typeface="Times New Roman" pitchFamily="18" charset="0"/>
              </a:rPr>
              <a:t>международный стандарт для глобальных коммуникаций с коммутацией пакетов;</a:t>
            </a:r>
          </a:p>
          <a:p>
            <a:pPr algn="just"/>
            <a:r>
              <a:rPr lang="ru-RU" sz="2000" dirty="0" smtClean="0">
                <a:latin typeface="Times New Roman" pitchFamily="18" charset="0"/>
                <a:cs typeface="Times New Roman" pitchFamily="18" charset="0"/>
              </a:rPr>
              <a:t>	- </a:t>
            </a:r>
            <a:r>
              <a:rPr lang="en-US" sz="2000" dirty="0" smtClean="0">
                <a:latin typeface="Times New Roman" pitchFamily="18" charset="0"/>
                <a:cs typeface="Times New Roman" pitchFamily="18" charset="0"/>
              </a:rPr>
              <a:t>Frame relay</a:t>
            </a:r>
            <a:r>
              <a:rPr lang="ru-RU" sz="2000" dirty="0" smtClean="0">
                <a:latin typeface="Times New Roman" pitchFamily="18" charset="0"/>
                <a:cs typeface="Times New Roman" pitchFamily="18" charset="0"/>
              </a:rPr>
              <a:t> сеть, организованная из технологий </a:t>
            </a:r>
            <a:r>
              <a:rPr lang="ru-RU" sz="2000" i="1" dirty="0" smtClean="0">
                <a:solidFill>
                  <a:srgbClr val="FF0000"/>
                </a:solidFill>
                <a:latin typeface="Times New Roman" pitchFamily="18" charset="0"/>
                <a:cs typeface="Times New Roman" pitchFamily="18" charset="0"/>
              </a:rPr>
              <a:t>Х25 </a:t>
            </a:r>
            <a:r>
              <a:rPr lang="ru-RU" sz="2000" dirty="0" smtClean="0">
                <a:latin typeface="Times New Roman" pitchFamily="18" charset="0"/>
                <a:cs typeface="Times New Roman" pitchFamily="18" charset="0"/>
              </a:rPr>
              <a:t>и </a:t>
            </a:r>
            <a:r>
              <a:rPr lang="en-US" sz="2000" i="1" dirty="0" smtClean="0">
                <a:solidFill>
                  <a:srgbClr val="FF0000"/>
                </a:solidFill>
                <a:latin typeface="Times New Roman" pitchFamily="18" charset="0"/>
                <a:cs typeface="Times New Roman" pitchFamily="18" charset="0"/>
              </a:rPr>
              <a:t>ISDN</a:t>
            </a:r>
            <a:r>
              <a:rPr lang="ru-RU"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физический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physical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500034" y="335846"/>
            <a:ext cx="8286808" cy="6001643"/>
          </a:xfrm>
          <a:prstGeom prst="rect">
            <a:avLst/>
          </a:prstGeom>
        </p:spPr>
        <p:txBody>
          <a:bodyPr wrap="square">
            <a:spAutoFit/>
          </a:bodyPr>
          <a:lstStyle/>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Физический </a:t>
            </a:r>
            <a:r>
              <a:rPr lang="ru-RU" sz="2400" dirty="0" smtClean="0">
                <a:latin typeface="Times New Roman" pitchFamily="18" charset="0"/>
                <a:cs typeface="Times New Roman" pitchFamily="18" charset="0"/>
              </a:rPr>
              <a:t>уровень предназначен для сопряжения с </a:t>
            </a:r>
            <a:r>
              <a:rPr lang="ru-RU" sz="2400" i="1" dirty="0" smtClean="0">
                <a:solidFill>
                  <a:srgbClr val="FF0000"/>
                </a:solidFill>
                <a:latin typeface="Times New Roman" pitchFamily="18" charset="0"/>
                <a:cs typeface="Times New Roman" pitchFamily="18" charset="0"/>
              </a:rPr>
              <a:t>физическими средствами соединения</a:t>
            </a:r>
            <a:r>
              <a:rPr lang="ru-RU" sz="2400" dirty="0" smtClean="0">
                <a:latin typeface="Times New Roman" pitchFamily="18" charset="0"/>
                <a:cs typeface="Times New Roman" pitchFamily="18" charset="0"/>
              </a:rPr>
              <a:t>. </a:t>
            </a:r>
            <a:r>
              <a:rPr lang="ru-RU" sz="2400" i="1" dirty="0" smtClean="0">
                <a:solidFill>
                  <a:srgbClr val="FF0000"/>
                </a:solidFill>
                <a:latin typeface="Times New Roman" pitchFamily="18" charset="0"/>
                <a:cs typeface="Times New Roman" pitchFamily="18" charset="0"/>
              </a:rPr>
              <a:t>Физические средства соединения</a:t>
            </a:r>
            <a:r>
              <a:rPr lang="ru-RU" sz="2400" dirty="0" smtClean="0">
                <a:latin typeface="Times New Roman" pitchFamily="18" charset="0"/>
                <a:cs typeface="Times New Roman" pitchFamily="18" charset="0"/>
              </a:rPr>
              <a:t> – это совокупность </a:t>
            </a:r>
            <a:r>
              <a:rPr lang="ru-RU" sz="2400" i="1" dirty="0" smtClean="0">
                <a:solidFill>
                  <a:srgbClr val="FF0000"/>
                </a:solidFill>
                <a:latin typeface="Times New Roman" pitchFamily="18" charset="0"/>
                <a:cs typeface="Times New Roman" pitchFamily="18" charset="0"/>
              </a:rPr>
              <a:t>физической среды</a:t>
            </a:r>
            <a:r>
              <a:rPr lang="ru-RU" sz="2400" dirty="0" smtClean="0">
                <a:latin typeface="Times New Roman" pitchFamily="18" charset="0"/>
                <a:cs typeface="Times New Roman" pitchFamily="18" charset="0"/>
              </a:rPr>
              <a:t>, аппаратных и программных средств, обеспечивающая передачу сигналов между системами. </a:t>
            </a:r>
            <a:r>
              <a:rPr lang="ru-RU" sz="2400" i="1" dirty="0" smtClean="0">
                <a:solidFill>
                  <a:srgbClr val="FF0000"/>
                </a:solidFill>
                <a:latin typeface="Times New Roman" pitchFamily="18" charset="0"/>
                <a:cs typeface="Times New Roman" pitchFamily="18" charset="0"/>
              </a:rPr>
              <a:t>Физическая среда</a:t>
            </a:r>
            <a:r>
              <a:rPr lang="ru-RU" sz="2400" dirty="0" smtClean="0">
                <a:solidFill>
                  <a:srgbClr val="FF0000"/>
                </a:solidFill>
                <a:latin typeface="Times New Roman" pitchFamily="18" charset="0"/>
                <a:cs typeface="Times New Roman" pitchFamily="18" charset="0"/>
              </a:rPr>
              <a:t> </a:t>
            </a:r>
            <a:r>
              <a:rPr lang="ru-RU" sz="2400" dirty="0" smtClean="0">
                <a:latin typeface="Times New Roman" pitchFamily="18" charset="0"/>
                <a:cs typeface="Times New Roman" pitchFamily="18" charset="0"/>
              </a:rPr>
              <a:t>– это материальная субстанция, через которую осуществляется передача сигналов. Физическая среда является основой, на которой строятся физические средства соединения. В качестве физической среды широко используются эфир, металлы, оптическое стекло и кварц. </a:t>
            </a:r>
          </a:p>
          <a:p>
            <a:pPr algn="just"/>
            <a:r>
              <a:rPr lang="ru-RU" sz="2400" dirty="0" smtClean="0">
                <a:latin typeface="Times New Roman" pitchFamily="18" charset="0"/>
                <a:cs typeface="Times New Roman" pitchFamily="18" charset="0"/>
              </a:rPr>
              <a:t>Физический уровень состоит из </a:t>
            </a:r>
            <a:r>
              <a:rPr lang="ru-RU" sz="2400" i="1" dirty="0" smtClean="0">
                <a:solidFill>
                  <a:srgbClr val="FF0000"/>
                </a:solidFill>
                <a:latin typeface="Times New Roman" pitchFamily="18" charset="0"/>
                <a:cs typeface="Times New Roman" pitchFamily="18" charset="0"/>
              </a:rPr>
              <a:t>Подуровня стыковки со средой</a:t>
            </a:r>
            <a:r>
              <a:rPr lang="ru-RU" sz="2400" dirty="0" smtClean="0">
                <a:latin typeface="Times New Roman" pitchFamily="18" charset="0"/>
                <a:cs typeface="Times New Roman" pitchFamily="18" charset="0"/>
              </a:rPr>
              <a:t> и </a:t>
            </a:r>
            <a:r>
              <a:rPr lang="ru-RU" sz="2400" i="1" dirty="0" smtClean="0">
                <a:solidFill>
                  <a:srgbClr val="FF0000"/>
                </a:solidFill>
                <a:latin typeface="Times New Roman" pitchFamily="18" charset="0"/>
                <a:cs typeface="Times New Roman" pitchFamily="18" charset="0"/>
              </a:rPr>
              <a:t>Подуровня преобразования передачи.</a:t>
            </a:r>
            <a:endParaRPr lang="ru-RU" sz="2400" dirty="0" smtClean="0">
              <a:solidFill>
                <a:srgbClr val="FF0000"/>
              </a:solidFill>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Первый </a:t>
            </a:r>
            <a:r>
              <a:rPr lang="ru-RU" sz="2400" dirty="0" smtClean="0">
                <a:latin typeface="Times New Roman" pitchFamily="18" charset="0"/>
                <a:cs typeface="Times New Roman" pitchFamily="18" charset="0"/>
              </a:rPr>
              <a:t>из них обеспечивает сопряжение потока данных с используемым физическим каналом связи. Второй осуществляет преобразования, связанные с применяемыми протоколами. </a:t>
            </a:r>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физический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physical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642910" y="714356"/>
            <a:ext cx="7929618" cy="5262979"/>
          </a:xfrm>
          <a:prstGeom prst="rect">
            <a:avLst/>
          </a:prstGeom>
        </p:spPr>
        <p:txBody>
          <a:bodyPr wrap="square">
            <a:spAutoFit/>
          </a:bodyPr>
          <a:lstStyle/>
          <a:p>
            <a:pPr algn="just"/>
            <a:r>
              <a:rPr lang="ru-RU" sz="2800" b="1" dirty="0" smtClean="0">
                <a:solidFill>
                  <a:srgbClr val="FF0000"/>
                </a:solidFill>
                <a:latin typeface="Times New Roman" pitchFamily="18" charset="0"/>
                <a:cs typeface="Times New Roman" pitchFamily="18" charset="0"/>
              </a:rPr>
              <a:t>Физический уровень выполняет следующие функции:</a:t>
            </a:r>
            <a:r>
              <a:rPr lang="ru-RU" sz="2800" dirty="0" smtClean="0">
                <a:latin typeface="Times New Roman" pitchFamily="18" charset="0"/>
                <a:cs typeface="Times New Roman" pitchFamily="18" charset="0"/>
              </a:rPr>
              <a:t> </a:t>
            </a:r>
            <a:endParaRPr lang="en-US" sz="2800" dirty="0" smtClean="0">
              <a:latin typeface="Times New Roman" pitchFamily="18" charset="0"/>
              <a:cs typeface="Times New Roman" pitchFamily="18" charset="0"/>
            </a:endParaRPr>
          </a:p>
          <a:p>
            <a:pPr algn="just"/>
            <a:endParaRPr lang="ru-RU" sz="2800" dirty="0" smtClean="0">
              <a:latin typeface="Times New Roman" pitchFamily="18" charset="0"/>
              <a:cs typeface="Times New Roman" pitchFamily="18" charset="0"/>
            </a:endParaRPr>
          </a:p>
          <a:p>
            <a:pPr lvl="0" algn="just"/>
            <a:r>
              <a:rPr lang="en-US" sz="2800" dirty="0" smtClean="0">
                <a:latin typeface="Times New Roman" pitchFamily="18" charset="0"/>
                <a:cs typeface="Times New Roman" pitchFamily="18" charset="0"/>
              </a:rPr>
              <a:t>	1. </a:t>
            </a:r>
            <a:r>
              <a:rPr lang="ru-RU" sz="2800" dirty="0" smtClean="0">
                <a:latin typeface="Times New Roman" pitchFamily="18" charset="0"/>
                <a:cs typeface="Times New Roman" pitchFamily="18" charset="0"/>
              </a:rPr>
              <a:t>Установление </a:t>
            </a:r>
            <a:r>
              <a:rPr lang="ru-RU" sz="2800" dirty="0" smtClean="0">
                <a:latin typeface="Times New Roman" pitchFamily="18" charset="0"/>
                <a:cs typeface="Times New Roman" pitchFamily="18" charset="0"/>
              </a:rPr>
              <a:t>и разъединение физических соединений.</a:t>
            </a:r>
          </a:p>
          <a:p>
            <a:pPr lvl="0" algn="just"/>
            <a:r>
              <a:rPr lang="en-US" sz="2800" dirty="0" smtClean="0">
                <a:latin typeface="Times New Roman" pitchFamily="18" charset="0"/>
                <a:cs typeface="Times New Roman" pitchFamily="18" charset="0"/>
              </a:rPr>
              <a:t>	2. </a:t>
            </a:r>
            <a:r>
              <a:rPr lang="ru-RU" sz="2800" dirty="0" smtClean="0">
                <a:latin typeface="Times New Roman" pitchFamily="18" charset="0"/>
                <a:cs typeface="Times New Roman" pitchFamily="18" charset="0"/>
              </a:rPr>
              <a:t>Передача </a:t>
            </a:r>
            <a:r>
              <a:rPr lang="ru-RU" sz="2800" dirty="0" smtClean="0">
                <a:latin typeface="Times New Roman" pitchFamily="18" charset="0"/>
                <a:cs typeface="Times New Roman" pitchFamily="18" charset="0"/>
              </a:rPr>
              <a:t>сигналов в последовательном коде и прием.</a:t>
            </a:r>
          </a:p>
          <a:p>
            <a:pPr lvl="0" algn="just"/>
            <a:r>
              <a:rPr lang="en-US" sz="2800" dirty="0" smtClean="0">
                <a:latin typeface="Times New Roman" pitchFamily="18" charset="0"/>
                <a:cs typeface="Times New Roman" pitchFamily="18" charset="0"/>
              </a:rPr>
              <a:t>	3. </a:t>
            </a:r>
            <a:r>
              <a:rPr lang="ru-RU" sz="2800" dirty="0" smtClean="0">
                <a:latin typeface="Times New Roman" pitchFamily="18" charset="0"/>
                <a:cs typeface="Times New Roman" pitchFamily="18" charset="0"/>
              </a:rPr>
              <a:t>Прослушивание</a:t>
            </a:r>
            <a:r>
              <a:rPr lang="ru-RU" sz="2800" dirty="0" smtClean="0">
                <a:latin typeface="Times New Roman" pitchFamily="18" charset="0"/>
                <a:cs typeface="Times New Roman" pitchFamily="18" charset="0"/>
              </a:rPr>
              <a:t>, в нужных случаях, каналов.</a:t>
            </a:r>
          </a:p>
          <a:p>
            <a:pPr lvl="0" algn="just"/>
            <a:r>
              <a:rPr lang="en-US" sz="2800" dirty="0" smtClean="0">
                <a:latin typeface="Times New Roman" pitchFamily="18" charset="0"/>
                <a:cs typeface="Times New Roman" pitchFamily="18" charset="0"/>
              </a:rPr>
              <a:t>	4. </a:t>
            </a:r>
            <a:r>
              <a:rPr lang="ru-RU" sz="2800" dirty="0" smtClean="0">
                <a:latin typeface="Times New Roman" pitchFamily="18" charset="0"/>
                <a:cs typeface="Times New Roman" pitchFamily="18" charset="0"/>
              </a:rPr>
              <a:t>Идентификация </a:t>
            </a:r>
            <a:r>
              <a:rPr lang="ru-RU" sz="2800" dirty="0" smtClean="0">
                <a:latin typeface="Times New Roman" pitchFamily="18" charset="0"/>
                <a:cs typeface="Times New Roman" pitchFamily="18" charset="0"/>
              </a:rPr>
              <a:t>каналов.</a:t>
            </a:r>
          </a:p>
          <a:p>
            <a:pPr lvl="0" algn="just"/>
            <a:r>
              <a:rPr lang="en-US" sz="2800" dirty="0" smtClean="0">
                <a:latin typeface="Times New Roman" pitchFamily="18" charset="0"/>
                <a:cs typeface="Times New Roman" pitchFamily="18" charset="0"/>
              </a:rPr>
              <a:t>	5. </a:t>
            </a:r>
            <a:r>
              <a:rPr lang="ru-RU" sz="2800" dirty="0" smtClean="0">
                <a:latin typeface="Times New Roman" pitchFamily="18" charset="0"/>
                <a:cs typeface="Times New Roman" pitchFamily="18" charset="0"/>
              </a:rPr>
              <a:t>Оповещение </a:t>
            </a:r>
            <a:r>
              <a:rPr lang="ru-RU" sz="2800" dirty="0" smtClean="0">
                <a:latin typeface="Times New Roman" pitchFamily="18" charset="0"/>
                <a:cs typeface="Times New Roman" pitchFamily="18" charset="0"/>
              </a:rPr>
              <a:t>о появлении неисправностей и отказов.</a:t>
            </a:r>
            <a:endParaRPr lang="ru-RU" sz="28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физический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physical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714348" y="642918"/>
            <a:ext cx="7786742" cy="6001643"/>
          </a:xfrm>
          <a:prstGeom prst="rect">
            <a:avLst/>
          </a:prstGeom>
        </p:spPr>
        <p:txBody>
          <a:bodyPr wrap="square">
            <a:spAutoFit/>
          </a:bodyPr>
          <a:lstStyle/>
          <a:p>
            <a:pPr algn="just"/>
            <a:r>
              <a:rPr lang="en-US" sz="3200" dirty="0" smtClean="0">
                <a:latin typeface="Times New Roman" pitchFamily="18" charset="0"/>
                <a:cs typeface="Times New Roman" pitchFamily="18" charset="0"/>
              </a:rPr>
              <a:t>	</a:t>
            </a:r>
            <a:r>
              <a:rPr lang="ru-RU" sz="3200" dirty="0" smtClean="0">
                <a:latin typeface="Times New Roman" pitchFamily="18" charset="0"/>
                <a:cs typeface="Times New Roman" pitchFamily="18" charset="0"/>
              </a:rPr>
              <a:t>Физический </a:t>
            </a:r>
            <a:r>
              <a:rPr lang="ru-RU" sz="3200" dirty="0" smtClean="0">
                <a:latin typeface="Times New Roman" pitchFamily="18" charset="0"/>
                <a:cs typeface="Times New Roman" pitchFamily="18" charset="0"/>
              </a:rPr>
              <a:t>уровень может обеспечивать как </a:t>
            </a:r>
            <a:r>
              <a:rPr lang="ru-RU" sz="3200" dirty="0" smtClean="0">
                <a:solidFill>
                  <a:srgbClr val="FF0000"/>
                </a:solidFill>
                <a:latin typeface="Times New Roman" pitchFamily="18" charset="0"/>
                <a:cs typeface="Times New Roman" pitchFamily="18" charset="0"/>
              </a:rPr>
              <a:t>асинхронную</a:t>
            </a:r>
            <a:r>
              <a:rPr lang="ru-RU" sz="3200" dirty="0" smtClean="0">
                <a:latin typeface="Times New Roman" pitchFamily="18" charset="0"/>
                <a:cs typeface="Times New Roman" pitchFamily="18" charset="0"/>
              </a:rPr>
              <a:t> (последовательную) так и </a:t>
            </a:r>
            <a:r>
              <a:rPr lang="ru-RU" sz="3200" dirty="0" smtClean="0">
                <a:solidFill>
                  <a:srgbClr val="FF0000"/>
                </a:solidFill>
                <a:latin typeface="Times New Roman" pitchFamily="18" charset="0"/>
                <a:cs typeface="Times New Roman" pitchFamily="18" charset="0"/>
              </a:rPr>
              <a:t>синхронную</a:t>
            </a:r>
            <a:r>
              <a:rPr lang="ru-RU" sz="3200" dirty="0" smtClean="0">
                <a:latin typeface="Times New Roman" pitchFamily="18" charset="0"/>
                <a:cs typeface="Times New Roman" pitchFamily="18" charset="0"/>
              </a:rPr>
              <a:t> (параллельную) передачу, которая применяется для некоторых </a:t>
            </a:r>
            <a:r>
              <a:rPr lang="ru-RU" sz="3200" dirty="0" err="1" smtClean="0">
                <a:latin typeface="Times New Roman" pitchFamily="18" charset="0"/>
                <a:cs typeface="Times New Roman" pitchFamily="18" charset="0"/>
              </a:rPr>
              <a:t>мэйнфреймов</a:t>
            </a:r>
            <a:r>
              <a:rPr lang="ru-RU" sz="3200" dirty="0" smtClean="0">
                <a:latin typeface="Times New Roman" pitchFamily="18" charset="0"/>
                <a:cs typeface="Times New Roman" pitchFamily="18" charset="0"/>
              </a:rPr>
              <a:t> и мини - компьютеров. </a:t>
            </a:r>
            <a:endParaRPr lang="en-US" sz="3200" dirty="0" smtClean="0">
              <a:latin typeface="Times New Roman" pitchFamily="18" charset="0"/>
              <a:cs typeface="Times New Roman" pitchFamily="18" charset="0"/>
            </a:endParaRPr>
          </a:p>
          <a:p>
            <a:pPr algn="just"/>
            <a:r>
              <a:rPr lang="en-US" sz="3200" dirty="0" smtClean="0">
                <a:latin typeface="Times New Roman" pitchFamily="18" charset="0"/>
                <a:cs typeface="Times New Roman" pitchFamily="18" charset="0"/>
              </a:rPr>
              <a:t>	</a:t>
            </a:r>
            <a:r>
              <a:rPr lang="ru-RU" sz="3200" dirty="0" smtClean="0">
                <a:latin typeface="Times New Roman" pitchFamily="18" charset="0"/>
                <a:cs typeface="Times New Roman" pitchFamily="18" charset="0"/>
              </a:rPr>
              <a:t>На </a:t>
            </a:r>
            <a:r>
              <a:rPr lang="ru-RU" sz="3200" dirty="0" smtClean="0">
                <a:latin typeface="Times New Roman" pitchFamily="18" charset="0"/>
                <a:cs typeface="Times New Roman" pitchFamily="18" charset="0"/>
              </a:rPr>
              <a:t>Физическом уровне должна быть определена схема кодирования для представления двоичных значений с целью их передачи по каналу связи. Во многих локальных сетях используется манчестерское кодирование.</a:t>
            </a:r>
            <a:endParaRPr lang="ru-RU" sz="32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физический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physical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2705" name="Rectangle 1"/>
          <p:cNvSpPr>
            <a:spLocks noChangeArrowheads="1"/>
          </p:cNvSpPr>
          <p:nvPr/>
        </p:nvSpPr>
        <p:spPr bwMode="auto">
          <a:xfrm>
            <a:off x="428596" y="642918"/>
            <a:ext cx="8072494" cy="5509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0850" algn="just" defTabSz="914400" rtl="0" eaLnBrk="1" fontAlgn="base" latinLnBrk="0" hangingPunct="1">
              <a:lnSpc>
                <a:spcPct val="100000"/>
              </a:lnSpc>
              <a:spcBef>
                <a:spcPct val="0"/>
              </a:spcBef>
              <a:spcAft>
                <a:spcPct val="0"/>
              </a:spcAft>
              <a:buClrTx/>
              <a:buSzTx/>
              <a:buFontTx/>
              <a:buNone/>
              <a:tabLst/>
            </a:pPr>
            <a:r>
              <a:rPr kumimoji="0" lang="ru-RU" sz="3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Примером протокола физического уровня может служить спецификация 10Base-T технологии </a:t>
            </a:r>
            <a:r>
              <a:rPr kumimoji="0" lang="en-US" sz="3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Ethernet</a:t>
            </a:r>
            <a:r>
              <a:rPr kumimoji="0" lang="ru-RU" sz="3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которая определяет в качестве используемого кабеля неэкранированную витую пару категории 3 с волновым сопротивлением 100 Ом, разъем RJ-45, максимальную длину физического сегмента 100 метров, манчестерский код для представления данных на кабеле, и другие характеристики среды и электрических сигналов.</a:t>
            </a:r>
            <a:endParaRPr kumimoji="0" lang="ru-RU" sz="32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p:cNvSpPr txBox="1">
            <a:spLocks/>
          </p:cNvSpPr>
          <p:nvPr/>
        </p:nvSpPr>
        <p:spPr>
          <a:xfrm>
            <a:off x="0" y="0"/>
            <a:ext cx="9144000" cy="423882"/>
          </a:xfrm>
          <a:prstGeom prst="rect">
            <a:avLst/>
          </a:prstGeom>
        </p:spPr>
        <p:txBody>
          <a:bodyPr vert="horz" lIns="45720" tIns="0" rIns="45720" bIns="0" anchor="b">
            <a:noAutofit/>
            <a:scene3d>
              <a:camera prst="orthographicFront"/>
              <a:lightRig rig="soft" dir="t">
                <a:rot lat="0" lon="0" rev="17220000"/>
              </a:lightRig>
            </a:scene3d>
            <a:sp3d prstMaterial="softEdge">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ru-RU" sz="2400" b="1" cap="all" dirty="0" smtClean="0">
                <a:ln w="6350">
                  <a:noFill/>
                </a:ln>
                <a:solidFill>
                  <a:schemeClr val="bg2">
                    <a:lumMod val="50000"/>
                  </a:schemeClr>
                </a:solidFill>
                <a:effectLst>
                  <a:outerShdw blurRad="127000" dist="200000" dir="2700000" algn="tl" rotWithShape="0">
                    <a:srgbClr val="000000">
                      <a:alpha val="30000"/>
                    </a:srgbClr>
                  </a:outerShdw>
                </a:effectLst>
                <a:latin typeface="+mj-lt"/>
                <a:ea typeface="+mj-ea"/>
                <a:cs typeface="+mj-cs"/>
              </a:rPr>
              <a:t>физический</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уровень</a:t>
            </a:r>
            <a:r>
              <a:rPr kumimoji="0" lang="ru-RU" sz="2400" b="1" i="0" u="none" strike="noStrike" kern="1200" cap="all" spc="0" normalizeH="0" baseline="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 </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r>
              <a:rPr kumimoji="0" lang="en-US"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physical layer</a:t>
            </a:r>
            <a:r>
              <a:rPr kumimoji="0" lang="ru-RU" sz="2400" b="1" i="0" u="none" strike="noStrike" kern="1200" cap="all" spc="0" normalizeH="0" noProof="0" dirty="0" smtClean="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rPr>
              <a:t>)</a:t>
            </a:r>
            <a:endParaRPr kumimoji="0" lang="ru-RU" sz="2400" b="1" i="0" u="none" strike="noStrike" kern="1200" cap="all" spc="0" normalizeH="0" baseline="0" noProof="0" dirty="0">
              <a:ln w="6350">
                <a:noFill/>
              </a:ln>
              <a:solidFill>
                <a:schemeClr val="bg2">
                  <a:lumMod val="50000"/>
                </a:schemeClr>
              </a:solidFill>
              <a:effectLst>
                <a:outerShdw blurRad="127000" dist="200000" dir="2700000" algn="tl" rotWithShape="0">
                  <a:srgbClr val="000000">
                    <a:alpha val="30000"/>
                  </a:srgbClr>
                </a:outerShdw>
              </a:effectLst>
              <a:uLnTx/>
              <a:uFillTx/>
              <a:latin typeface="+mj-lt"/>
              <a:ea typeface="+mj-ea"/>
              <a:cs typeface="+mj-cs"/>
            </a:endParaRPr>
          </a:p>
        </p:txBody>
      </p:sp>
      <p:sp>
        <p:nvSpPr>
          <p:cNvPr id="1028" name="AutoShape 4" descr="mk:@MSITStore:\\Aegis\My%20documents\Вычислительные%20машины,%20комплексы,%20системы%20и%20сети\Операционные%20системы%20и%20среды\Руководство%20по%20системному%20администрированию%20Red%20Hat%20Enterprise%20Linux.chm::/figs/lvmintro/lvg.png"/>
          <p:cNvSpPr>
            <a:spLocks noChangeAspect="1" noChangeArrowheads="1"/>
          </p:cNvSpPr>
          <p:nvPr/>
        </p:nvSpPr>
        <p:spPr bwMode="auto">
          <a:xfrm>
            <a:off x="155575" y="22225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500034" y="612845"/>
            <a:ext cx="8215370" cy="5632311"/>
          </a:xfrm>
          <a:prstGeom prst="rect">
            <a:avLst/>
          </a:prstGeom>
        </p:spPr>
        <p:txBody>
          <a:bodyPr wrap="square">
            <a:spAutoFit/>
          </a:bodyPr>
          <a:lstStyle/>
          <a:p>
            <a:pPr algn="just"/>
            <a:r>
              <a:rPr lang="en-US" sz="2400" b="1" dirty="0" smtClean="0">
                <a:solidFill>
                  <a:srgbClr val="FF0000"/>
                </a:solidFill>
                <a:latin typeface="Times New Roman" pitchFamily="18" charset="0"/>
                <a:cs typeface="Times New Roman" pitchFamily="18" charset="0"/>
              </a:rPr>
              <a:t>	</a:t>
            </a:r>
            <a:r>
              <a:rPr lang="ru-RU" sz="2400" b="1" dirty="0" smtClean="0">
                <a:solidFill>
                  <a:srgbClr val="FF0000"/>
                </a:solidFill>
                <a:latin typeface="Times New Roman" pitchFamily="18" charset="0"/>
                <a:cs typeface="Times New Roman" pitchFamily="18" charset="0"/>
              </a:rPr>
              <a:t>К </a:t>
            </a:r>
            <a:r>
              <a:rPr lang="ru-RU" sz="2400" b="1" dirty="0" smtClean="0">
                <a:solidFill>
                  <a:srgbClr val="FF0000"/>
                </a:solidFill>
                <a:latin typeface="Times New Roman" pitchFamily="18" charset="0"/>
                <a:cs typeface="Times New Roman" pitchFamily="18" charset="0"/>
              </a:rPr>
              <a:t>числу наиболее распространенных спецификаций физического уровня относятся:</a:t>
            </a:r>
            <a:r>
              <a:rPr lang="ru-RU"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	- </a:t>
            </a:r>
            <a:r>
              <a:rPr lang="ru-RU" sz="2400" b="1" dirty="0" smtClean="0">
                <a:latin typeface="Times New Roman" pitchFamily="18" charset="0"/>
                <a:cs typeface="Times New Roman" pitchFamily="18" charset="0"/>
              </a:rPr>
              <a:t>EIA-RS-232-C</a:t>
            </a:r>
            <a:r>
              <a:rPr lang="ru-RU" sz="2400" b="1" dirty="0" smtClean="0">
                <a:latin typeface="Times New Roman" pitchFamily="18" charset="0"/>
                <a:cs typeface="Times New Roman" pitchFamily="18" charset="0"/>
              </a:rPr>
              <a:t>, CCITT V.24/V.28</a:t>
            </a:r>
            <a:r>
              <a:rPr lang="ru-RU" sz="2400" dirty="0" smtClean="0">
                <a:latin typeface="Times New Roman" pitchFamily="18" charset="0"/>
                <a:cs typeface="Times New Roman" pitchFamily="18" charset="0"/>
              </a:rPr>
              <a:t> - механические/электрические характеристики несбалансированного последовательного интерфейса; </a:t>
            </a:r>
          </a:p>
          <a:p>
            <a:pPr algn="just"/>
            <a:r>
              <a:rPr lang="en-US" sz="2400" dirty="0" smtClean="0">
                <a:latin typeface="Times New Roman" pitchFamily="18" charset="0"/>
                <a:cs typeface="Times New Roman" pitchFamily="18" charset="0"/>
              </a:rPr>
              <a:t>	- </a:t>
            </a:r>
            <a:r>
              <a:rPr lang="ru-RU" sz="2400" b="1" dirty="0" smtClean="0">
                <a:latin typeface="Times New Roman" pitchFamily="18" charset="0"/>
                <a:cs typeface="Times New Roman" pitchFamily="18" charset="0"/>
              </a:rPr>
              <a:t>EIA-RS-422/449</a:t>
            </a:r>
            <a:r>
              <a:rPr lang="ru-RU" sz="2400" b="1" dirty="0" smtClean="0">
                <a:latin typeface="Times New Roman" pitchFamily="18" charset="0"/>
                <a:cs typeface="Times New Roman" pitchFamily="18" charset="0"/>
              </a:rPr>
              <a:t>, CCITT V.10</a:t>
            </a:r>
            <a:r>
              <a:rPr lang="ru-RU" sz="2400" dirty="0" smtClean="0">
                <a:latin typeface="Times New Roman" pitchFamily="18" charset="0"/>
                <a:cs typeface="Times New Roman" pitchFamily="18" charset="0"/>
              </a:rPr>
              <a:t> - механические, электрические и оптические характеристики сбалансированного последовательного интерфейса;</a:t>
            </a:r>
          </a:p>
          <a:p>
            <a:pPr algn="just"/>
            <a:r>
              <a:rPr lang="en-US" sz="2400" dirty="0" smtClean="0">
                <a:latin typeface="Times New Roman" pitchFamily="18" charset="0"/>
                <a:cs typeface="Times New Roman" pitchFamily="18" charset="0"/>
              </a:rPr>
              <a:t>	- </a:t>
            </a:r>
            <a:r>
              <a:rPr lang="en-US" sz="2400" b="1" dirty="0" smtClean="0">
                <a:latin typeface="Times New Roman" pitchFamily="18" charset="0"/>
                <a:cs typeface="Times New Roman" pitchFamily="18" charset="0"/>
              </a:rPr>
              <a:t>Ethernet</a:t>
            </a:r>
            <a:r>
              <a:rPr lang="ru-RU"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 сетевая технология по стандарту </a:t>
            </a:r>
            <a:r>
              <a:rPr lang="en-US" sz="2400" dirty="0" smtClean="0">
                <a:latin typeface="Times New Roman" pitchFamily="18" charset="0"/>
                <a:cs typeface="Times New Roman" pitchFamily="18" charset="0"/>
              </a:rPr>
              <a:t>IEEE</a:t>
            </a:r>
            <a:r>
              <a:rPr lang="ru-RU" sz="2400" dirty="0" smtClean="0">
                <a:latin typeface="Times New Roman" pitchFamily="18" charset="0"/>
                <a:cs typeface="Times New Roman" pitchFamily="18" charset="0"/>
              </a:rPr>
              <a:t> 802.3 для сетей, использующая шинную топологию и коллективный доступ с прослушиванием несущей и обнаружением конфликтов;</a:t>
            </a:r>
          </a:p>
          <a:p>
            <a:pPr algn="just"/>
            <a:r>
              <a:rPr lang="en-US" sz="2400" dirty="0" smtClean="0">
                <a:latin typeface="Times New Roman" pitchFamily="18" charset="0"/>
                <a:cs typeface="Times New Roman" pitchFamily="18" charset="0"/>
              </a:rPr>
              <a:t>	- </a:t>
            </a:r>
            <a:r>
              <a:rPr lang="en-US" sz="2400" b="1" dirty="0" smtClean="0">
                <a:latin typeface="Times New Roman" pitchFamily="18" charset="0"/>
                <a:cs typeface="Times New Roman" pitchFamily="18" charset="0"/>
              </a:rPr>
              <a:t>Token </a:t>
            </a:r>
            <a:r>
              <a:rPr lang="en-US" sz="2400" b="1" dirty="0" smtClean="0">
                <a:latin typeface="Times New Roman" pitchFamily="18" charset="0"/>
                <a:cs typeface="Times New Roman" pitchFamily="18" charset="0"/>
              </a:rPr>
              <a:t>ring</a:t>
            </a:r>
            <a:r>
              <a:rPr lang="ru-RU" sz="2400" dirty="0" smtClean="0">
                <a:latin typeface="Times New Roman" pitchFamily="18" charset="0"/>
                <a:cs typeface="Times New Roman" pitchFamily="18" charset="0"/>
              </a:rPr>
              <a:t> – сетевая технология по стандарту </a:t>
            </a:r>
            <a:r>
              <a:rPr lang="en-US" sz="2400" dirty="0" smtClean="0">
                <a:latin typeface="Times New Roman" pitchFamily="18" charset="0"/>
                <a:cs typeface="Times New Roman" pitchFamily="18" charset="0"/>
              </a:rPr>
              <a:t>IEEE</a:t>
            </a:r>
            <a:r>
              <a:rPr lang="ru-RU" sz="2400" dirty="0" smtClean="0">
                <a:latin typeface="Times New Roman" pitchFamily="18" charset="0"/>
                <a:cs typeface="Times New Roman" pitchFamily="18" charset="0"/>
              </a:rPr>
              <a:t> 802.5, использующая кольцевую топологию и метод доступа к кольцу с передачей маркера;</a:t>
            </a:r>
            <a:endParaRPr lang="ru-RU" sz="2400" dirty="0">
              <a:latin typeface="Times New Roman" pitchFamily="18" charset="0"/>
              <a:cs typeface="Times New Roman" pitchFamily="18" charset="0"/>
            </a:endParaRPr>
          </a:p>
        </p:txBody>
      </p:sp>
    </p:spTree>
  </p:cSld>
  <p:clrMapOvr>
    <a:masterClrMapping/>
  </p:clrMapOvr>
  <p:transition spd="slow">
    <p:wedge/>
  </p:transition>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7034</TotalTime>
  <Words>744</Words>
  <PresentationFormat>Экран (4:3)</PresentationFormat>
  <Paragraphs>248</Paragraphs>
  <Slides>41</Slides>
  <Notes>38</Notes>
  <HiddenSlides>0</HiddenSlides>
  <MMClips>0</MMClips>
  <ScaleCrop>false</ScaleCrop>
  <HeadingPairs>
    <vt:vector size="6" baseType="variant">
      <vt:variant>
        <vt:lpstr>Тема</vt:lpstr>
      </vt:variant>
      <vt:variant>
        <vt:i4>1</vt:i4>
      </vt:variant>
      <vt:variant>
        <vt:lpstr>Внедренные серверы OLE</vt:lpstr>
      </vt:variant>
      <vt:variant>
        <vt:i4>1</vt:i4>
      </vt:variant>
      <vt:variant>
        <vt:lpstr>Заголовки слайдов</vt:lpstr>
      </vt:variant>
      <vt:variant>
        <vt:i4>41</vt:i4>
      </vt:variant>
    </vt:vector>
  </HeadingPairs>
  <TitlesOfParts>
    <vt:vector size="43" baseType="lpstr">
      <vt:lpstr>Тема Office</vt:lpstr>
      <vt:lpstr>Visio</vt:lpstr>
      <vt:lpstr>Слайд 1</vt:lpstr>
      <vt:lpstr>Слайд 2</vt:lpstr>
      <vt:lpstr>Слайд 3</vt:lpstr>
      <vt:lpstr>Слайд 4</vt:lpstr>
      <vt:lpstr>Слайд 5</vt:lpstr>
      <vt:lpstr>Слайд 6</vt:lpstr>
      <vt:lpstr>Слайд 7</vt:lpstr>
      <vt:lpstr>Слайд 8</vt:lpstr>
      <vt:lpstr>Слайд 9</vt:lpstr>
      <vt:lpstr>Слайд 10</vt:lpstr>
      <vt:lpstr>Слайд 11</vt:lpstr>
      <vt:lpstr>Слайд 12</vt:lpstr>
      <vt:lpstr>Слайд 13</vt:lpstr>
      <vt:lpstr>Слайд 14</vt:lpstr>
      <vt:lpstr>Слайд 15</vt:lpstr>
      <vt:lpstr>Слайд 16</vt:lpstr>
      <vt:lpstr>Слайд 17</vt:lpstr>
      <vt:lpstr>Слайд 18</vt:lpstr>
      <vt:lpstr>Слайд 19</vt:lpstr>
      <vt:lpstr>Слайд 20</vt:lpstr>
      <vt:lpstr>Слайд 21</vt:lpstr>
      <vt:lpstr>Слайд 22</vt:lpstr>
      <vt:lpstr>Слайд 23</vt:lpstr>
      <vt:lpstr>Слайд 24</vt:lpstr>
      <vt:lpstr>Слайд 25</vt:lpstr>
      <vt:lpstr>Слайд 26</vt:lpstr>
      <vt:lpstr>Слайд 27</vt:lpstr>
      <vt:lpstr>Слайд 28</vt:lpstr>
      <vt:lpstr>Слайд 29</vt:lpstr>
      <vt:lpstr>Слайд 30</vt:lpstr>
      <vt:lpstr>Слайд 31</vt:lpstr>
      <vt:lpstr>Слайд 32</vt:lpstr>
      <vt:lpstr>Слайд 33</vt:lpstr>
      <vt:lpstr>Слайд 34</vt:lpstr>
      <vt:lpstr>Слайд 35</vt:lpstr>
      <vt:lpstr>Слайд 36</vt:lpstr>
      <vt:lpstr>Слайд 37</vt:lpstr>
      <vt:lpstr>Слайд 38</vt:lpstr>
      <vt:lpstr>Слайд 39</vt:lpstr>
      <vt:lpstr>Слайд 40</vt:lpstr>
      <vt:lpstr>Слайд 41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cp:lastModifiedBy>andrey</cp:lastModifiedBy>
  <cp:revision>583</cp:revision>
  <dcterms:modified xsi:type="dcterms:W3CDTF">2013-02-20T23:27:42Z</dcterms:modified>
</cp:coreProperties>
</file>