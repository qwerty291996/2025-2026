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64" r:id="rId2"/>
    <p:sldId id="420" r:id="rId3"/>
    <p:sldId id="366" r:id="rId4"/>
    <p:sldId id="422" r:id="rId5"/>
    <p:sldId id="418" r:id="rId6"/>
    <p:sldId id="423" r:id="rId7"/>
    <p:sldId id="424" r:id="rId8"/>
    <p:sldId id="421" r:id="rId9"/>
    <p:sldId id="371" r:id="rId10"/>
    <p:sldId id="367" r:id="rId11"/>
    <p:sldId id="368" r:id="rId12"/>
    <p:sldId id="369" r:id="rId13"/>
    <p:sldId id="370" r:id="rId14"/>
    <p:sldId id="387" r:id="rId15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99795"/>
    <a:srgbClr val="99FF99"/>
    <a:srgbClr val="F9FBA7"/>
    <a:srgbClr val="09251A"/>
    <a:srgbClr val="1D4335"/>
    <a:srgbClr val="99FFCC"/>
    <a:srgbClr val="000000"/>
    <a:srgbClr val="AEF8F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36" autoAdjust="0"/>
    <p:restoredTop sz="94660"/>
  </p:normalViewPr>
  <p:slideViewPr>
    <p:cSldViewPr>
      <p:cViewPr varScale="1">
        <p:scale>
          <a:sx n="114" d="100"/>
          <a:sy n="114" d="100"/>
        </p:scale>
        <p:origin x="184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Relationship Id="rId4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34D37E5-E648-4922-9C94-D7A29FE1A3DF}" type="datetimeFigureOut">
              <a:rPr lang="ru-RU"/>
              <a:pPr>
                <a:defRPr/>
              </a:pPr>
              <a:t>23.10.2025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A6C2487-4B74-474E-8834-297071F38CD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209667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6C2487-4B74-474E-8834-297071F38CDC}" type="slidenum">
              <a:rPr lang="ru-RU" altLang="ru-RU" smtClean="0"/>
              <a:pPr>
                <a:defRPr/>
              </a:pPr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4159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6C2487-4B74-474E-8834-297071F38CDC}" type="slidenum">
              <a:rPr lang="ru-RU" altLang="ru-RU" smtClean="0"/>
              <a:pPr>
                <a:defRPr/>
              </a:pPr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61897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6C2487-4B74-474E-8834-297071F38CDC}" type="slidenum">
              <a:rPr lang="ru-RU" altLang="ru-RU" smtClean="0"/>
              <a:pPr>
                <a:defRPr/>
              </a:pPr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94755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6C2487-4B74-474E-8834-297071F38CDC}" type="slidenum">
              <a:rPr lang="ru-RU" altLang="ru-RU" smtClean="0"/>
              <a:pPr>
                <a:defRPr/>
              </a:pPr>
              <a:t>13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63279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A0CF39-6CA4-4864-BC0C-ADAD7A36628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64144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25344"/>
            <a:ext cx="2133600" cy="332656"/>
          </a:xfrm>
          <a:ln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8C026209-B0B6-4909-96DC-43B037B15FDD}" type="slidenum">
              <a:rPr lang="ru-RU" altLang="ru-RU" smtClean="0"/>
              <a:pPr>
                <a:defRPr/>
              </a:pPr>
              <a:t>‹#›</a:t>
            </a:fld>
            <a:r>
              <a:rPr lang="en-US" altLang="ru-RU" dirty="0"/>
              <a:t>/</a:t>
            </a:r>
            <a:r>
              <a:rPr lang="ru-RU" altLang="ru-RU" dirty="0"/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27870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162AE0-E3CF-4837-804C-01AA69176C0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44371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98893" y="6525344"/>
            <a:ext cx="2133600" cy="332656"/>
          </a:xfrm>
          <a:ln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40A0D95C-20EA-4413-85A5-56022AD9D959}" type="slidenum">
              <a:rPr lang="ru-RU" altLang="ru-RU" smtClean="0"/>
              <a:pPr>
                <a:defRPr/>
              </a:pPr>
              <a:t>‹#›</a:t>
            </a:fld>
            <a:r>
              <a:rPr lang="en-US" altLang="ru-RU" dirty="0"/>
              <a:t>/</a:t>
            </a:r>
            <a:r>
              <a:rPr lang="ru-RU" altLang="ru-RU" dirty="0"/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19282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F41DD-503A-4BF4-A361-6498A941388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9747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5AF5B-CEC6-4A50-BA75-452D1AC878E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43162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D7535-3E33-401D-A89B-90EB06A948E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8200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46006-7E7D-4AF8-B41B-DD4C215B812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7619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04344-5D3A-4FF7-8CF5-ADB5A068A01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41172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37A0E-5607-4370-8756-9592ADC891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42801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EBD8B-C813-4F65-BF7F-766D86C0D04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39070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751933-289B-40FB-944D-A81EF6856A4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0957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22026" y="6525344"/>
            <a:ext cx="2133600" cy="332656"/>
          </a:xfrm>
          <a:ln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5AB685C1-FBD2-423E-A464-23E7C526678D}" type="slidenum">
              <a:rPr lang="ru-RU" altLang="ru-RU" smtClean="0"/>
              <a:pPr>
                <a:defRPr/>
              </a:pPr>
              <a:t>‹#›</a:t>
            </a:fld>
            <a:r>
              <a:rPr lang="en-US" altLang="ru-RU" dirty="0"/>
              <a:t>/</a:t>
            </a:r>
            <a:r>
              <a:rPr lang="ru-RU" altLang="ru-RU" dirty="0"/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83381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908C9D8-2337-4850-A16E-956D3EE3630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8.emf"/><Relationship Id="rId4" Type="http://schemas.openxmlformats.org/officeDocument/2006/relationships/image" Target="../media/image5.emf"/><Relationship Id="rId9" Type="http://schemas.openxmlformats.org/officeDocument/2006/relationships/package" Target="../embeddings/Microsoft_Visio_Drawing.vsd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3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Прямоугольник 3"/>
          <p:cNvSpPr>
            <a:spLocks noChangeArrowheads="1"/>
          </p:cNvSpPr>
          <p:nvPr/>
        </p:nvSpPr>
        <p:spPr bwMode="auto">
          <a:xfrm>
            <a:off x="0" y="0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Общие сведения о протоколе</a:t>
            </a:r>
            <a:r>
              <a:rPr lang="ru-RU" altLang="ru-RU" sz="2400" b="1" dirty="0">
                <a:latin typeface="Times New Roman" panose="02020603050405020304" pitchFamily="18" charset="0"/>
              </a:rPr>
              <a:t> </a:t>
            </a:r>
            <a:r>
              <a:rPr lang="ru-RU" altLang="ru-RU" sz="2400" b="1" i="1" dirty="0">
                <a:latin typeface="Times New Roman" panose="02020603050405020304" pitchFamily="18" charset="0"/>
              </a:rPr>
              <a:t>SSH</a:t>
            </a:r>
            <a:endParaRPr lang="ru-RU" alt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771" name="Picture 7" descr="IETF_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176" y="1412776"/>
            <a:ext cx="26670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Прямоугольник 2"/>
          <p:cNvSpPr>
            <a:spLocks noChangeArrowheads="1"/>
          </p:cNvSpPr>
          <p:nvPr/>
        </p:nvSpPr>
        <p:spPr bwMode="auto">
          <a:xfrm>
            <a:off x="0" y="569966"/>
            <a:ext cx="9144000" cy="393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0" rIns="144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SSH</a:t>
            </a:r>
            <a:r>
              <a:rPr lang="ru-RU" altLang="ru-RU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</a:rPr>
              <a:t>(англ. «</a:t>
            </a:r>
            <a:r>
              <a:rPr lang="ru-RU" altLang="ru-RU" sz="2000" i="1" dirty="0" err="1">
                <a:latin typeface="Times New Roman" panose="02020603050405020304" pitchFamily="18" charset="0"/>
              </a:rPr>
              <a:t>Secure</a:t>
            </a:r>
            <a:r>
              <a:rPr lang="ru-RU" altLang="ru-RU" sz="2000" i="1" dirty="0">
                <a:latin typeface="Times New Roman" panose="02020603050405020304" pitchFamily="18" charset="0"/>
              </a:rPr>
              <a:t> </a:t>
            </a:r>
            <a:r>
              <a:rPr lang="ru-RU" altLang="ru-RU" sz="2000" i="1" dirty="0" err="1">
                <a:latin typeface="Times New Roman" panose="02020603050405020304" pitchFamily="18" charset="0"/>
              </a:rPr>
              <a:t>Shell</a:t>
            </a:r>
            <a:r>
              <a:rPr lang="ru-RU" altLang="ru-RU" sz="2000" dirty="0">
                <a:latin typeface="Times New Roman" panose="02020603050405020304" pitchFamily="18" charset="0"/>
              </a:rPr>
              <a:t>» – безопасная оболочка) – сетевой протокол прикладного уровня, позволяющий производить защищенный доступ по открытому каналу к приложениям удаленного узла.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Протокол </a:t>
            </a:r>
            <a:r>
              <a:rPr lang="ru-RU" altLang="ru-RU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SSH</a:t>
            </a:r>
            <a:r>
              <a:rPr lang="ru-RU" altLang="ru-RU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обеспечивает: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– шифрование с помощью симметричных алгоритмов;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– аутентификацию;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– сжатие данных.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i="1" dirty="0">
                <a:latin typeface="Times New Roman" panose="02020603050405020304" pitchFamily="18" charset="0"/>
              </a:rPr>
              <a:t>SSH </a:t>
            </a:r>
            <a:r>
              <a:rPr lang="ru-RU" altLang="ru-RU" sz="2000" dirty="0">
                <a:latin typeface="Times New Roman" panose="02020603050405020304" pitchFamily="18" charset="0"/>
              </a:rPr>
              <a:t>не требует системы управления ключами и инфраструктуры сертификатов, но поддерживает ее (например, </a:t>
            </a:r>
            <a:r>
              <a:rPr lang="en-US" altLang="ru-RU" sz="2000" i="1" dirty="0">
                <a:latin typeface="Times New Roman" panose="02020603050405020304" pitchFamily="18" charset="0"/>
              </a:rPr>
              <a:t>DNSSEC</a:t>
            </a:r>
            <a:r>
              <a:rPr lang="ru-RU" altLang="ru-RU" sz="2000" dirty="0">
                <a:latin typeface="Times New Roman" panose="02020603050405020304" pitchFamily="18" charset="0"/>
              </a:rPr>
              <a:t>).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Обмен ключами производится с помощью асимметричных криптосистем </a:t>
            </a:r>
            <a:r>
              <a:rPr lang="ru-RU" altLang="ru-RU" sz="2000" dirty="0" err="1">
                <a:latin typeface="Times New Roman" panose="02020603050405020304" pitchFamily="18" charset="0"/>
              </a:rPr>
              <a:t>Диффи</a:t>
            </a:r>
            <a:r>
              <a:rPr lang="ru-RU" altLang="ru-RU" sz="2000" dirty="0">
                <a:latin typeface="Times New Roman" panose="02020603050405020304" pitchFamily="18" charset="0"/>
              </a:rPr>
              <a:t>–</a:t>
            </a:r>
            <a:r>
              <a:rPr lang="ru-RU" altLang="ru-RU" sz="2000" dirty="0" err="1">
                <a:latin typeface="Times New Roman" panose="02020603050405020304" pitchFamily="18" charset="0"/>
              </a:rPr>
              <a:t>Хеллмана</a:t>
            </a:r>
            <a:r>
              <a:rPr lang="ru-RU" altLang="ru-RU" sz="2000" dirty="0">
                <a:latin typeface="Times New Roman" panose="02020603050405020304" pitchFamily="18" charset="0"/>
              </a:rPr>
              <a:t> или </a:t>
            </a:r>
            <a:r>
              <a:rPr lang="en-US" altLang="ru-RU" sz="2000" i="1" dirty="0">
                <a:latin typeface="Times New Roman" panose="02020603050405020304" pitchFamily="18" charset="0"/>
              </a:rPr>
              <a:t>RSA</a:t>
            </a:r>
            <a:r>
              <a:rPr lang="ru-RU" altLang="ru-RU" sz="2000" i="1" dirty="0">
                <a:latin typeface="Times New Roman" panose="02020603050405020304" pitchFamily="18" charset="0"/>
              </a:rPr>
              <a:t>.</a:t>
            </a:r>
            <a:endParaRPr lang="ru-RU" altLang="ru-RU" sz="2000" dirty="0">
              <a:latin typeface="Times New Roman" panose="02020603050405020304" pitchFamily="18" charset="0"/>
            </a:endParaRPr>
          </a:p>
        </p:txBody>
      </p:sp>
      <p:pic>
        <p:nvPicPr>
          <p:cNvPr id="3277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4437063"/>
            <a:ext cx="1584325" cy="158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Прямоугольник 3"/>
          <p:cNvSpPr>
            <a:spLocks noChangeArrowheads="1"/>
          </p:cNvSpPr>
          <p:nvPr/>
        </p:nvSpPr>
        <p:spPr bwMode="auto">
          <a:xfrm>
            <a:off x="7572375" y="6021388"/>
            <a:ext cx="1392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Тату Улёнен</a:t>
            </a:r>
          </a:p>
        </p:txBody>
      </p:sp>
      <p:sp>
        <p:nvSpPr>
          <p:cNvPr id="32775" name="Прямоугольник 4"/>
          <p:cNvSpPr>
            <a:spLocks noChangeArrowheads="1"/>
          </p:cNvSpPr>
          <p:nvPr/>
        </p:nvSpPr>
        <p:spPr bwMode="auto">
          <a:xfrm>
            <a:off x="250825" y="4797425"/>
            <a:ext cx="6805613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1995 г.: </a:t>
            </a:r>
            <a:r>
              <a:rPr lang="ru-RU" altLang="ru-RU" sz="1800" i="1" dirty="0">
                <a:latin typeface="Times New Roman" panose="02020603050405020304" pitchFamily="18" charset="0"/>
              </a:rPr>
              <a:t>SSH</a:t>
            </a:r>
            <a:r>
              <a:rPr lang="ru-RU" altLang="ru-RU" sz="1800" dirty="0">
                <a:latin typeface="Times New Roman" panose="02020603050405020304" pitchFamily="18" charset="0"/>
              </a:rPr>
              <a:t>-1 – Тату </a:t>
            </a:r>
            <a:r>
              <a:rPr lang="ru-RU" altLang="ru-RU" sz="1800" dirty="0" err="1">
                <a:latin typeface="Times New Roman" panose="02020603050405020304" pitchFamily="18" charset="0"/>
              </a:rPr>
              <a:t>Улёнен</a:t>
            </a:r>
            <a:r>
              <a:rPr lang="ru-RU" altLang="ru-RU" sz="1800" dirty="0">
                <a:latin typeface="Times New Roman" panose="02020603050405020304" pitchFamily="18" charset="0"/>
              </a:rPr>
              <a:t> из Технологического университета Хельсинки (Финляндия).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1996 г.: </a:t>
            </a:r>
            <a:r>
              <a:rPr lang="ru-RU" altLang="ru-RU" sz="1800" i="1" dirty="0">
                <a:latin typeface="Times New Roman" panose="02020603050405020304" pitchFamily="18" charset="0"/>
              </a:rPr>
              <a:t>SSH</a:t>
            </a:r>
            <a:r>
              <a:rPr lang="ru-RU" altLang="ru-RU" sz="1800" dirty="0">
                <a:latin typeface="Times New Roman" panose="02020603050405020304" pitchFamily="18" charset="0"/>
              </a:rPr>
              <a:t>-2.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2006 г.: протокол </a:t>
            </a:r>
            <a:r>
              <a:rPr lang="ru-RU" altLang="ru-RU" sz="1800" i="1" dirty="0">
                <a:latin typeface="Times New Roman" panose="02020603050405020304" pitchFamily="18" charset="0"/>
              </a:rPr>
              <a:t>SSH </a:t>
            </a:r>
            <a:r>
              <a:rPr lang="ru-RU" altLang="ru-RU" sz="1800" dirty="0">
                <a:latin typeface="Times New Roman" panose="02020603050405020304" pitchFamily="18" charset="0"/>
              </a:rPr>
              <a:t>утвержден рабочей группой </a:t>
            </a:r>
            <a:r>
              <a:rPr lang="ru-RU" altLang="ru-RU" sz="1800" i="1" dirty="0">
                <a:latin typeface="Times New Roman" panose="02020603050405020304" pitchFamily="18" charset="0"/>
              </a:rPr>
              <a:t>IETF</a:t>
            </a:r>
            <a:r>
              <a:rPr lang="ru-RU" altLang="ru-RU" sz="1800" dirty="0">
                <a:latin typeface="Times New Roman" panose="02020603050405020304" pitchFamily="18" charset="0"/>
              </a:rPr>
              <a:t> в качестве Интернет‐стандарта.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Распространены две реализации </a:t>
            </a:r>
            <a:r>
              <a:rPr lang="ru-RU" altLang="ru-RU" sz="1800" i="1" dirty="0">
                <a:latin typeface="Times New Roman" panose="02020603050405020304" pitchFamily="18" charset="0"/>
              </a:rPr>
              <a:t>SSH</a:t>
            </a:r>
            <a:r>
              <a:rPr lang="ru-RU" altLang="ru-RU" sz="1800" dirty="0">
                <a:latin typeface="Times New Roman" panose="02020603050405020304" pitchFamily="18" charset="0"/>
              </a:rPr>
              <a:t>: </a:t>
            </a:r>
            <a:r>
              <a:rPr lang="ru-RU" altLang="ru-RU" sz="1800" i="1" dirty="0">
                <a:latin typeface="Times New Roman" panose="02020603050405020304" pitchFamily="18" charset="0"/>
              </a:rPr>
              <a:t>коммерческая</a:t>
            </a:r>
            <a:r>
              <a:rPr lang="ru-RU" altLang="ru-RU" sz="1800" dirty="0">
                <a:latin typeface="Times New Roman" panose="02020603050405020304" pitchFamily="18" charset="0"/>
              </a:rPr>
              <a:t> и бесплатная </a:t>
            </a:r>
            <a:r>
              <a:rPr lang="ru-RU" altLang="ru-RU" sz="1800" i="1" dirty="0">
                <a:latin typeface="Times New Roman" panose="02020603050405020304" pitchFamily="18" charset="0"/>
              </a:rPr>
              <a:t>свободная</a:t>
            </a:r>
            <a:r>
              <a:rPr lang="ru-RU" altLang="ru-RU" sz="18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026209-B0B6-4909-96DC-43B037B15FDD}" type="slidenum">
              <a:rPr lang="ru-RU" altLang="ru-RU" smtClean="0"/>
              <a:pPr>
                <a:defRPr/>
              </a:pPr>
              <a:t>1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Прямоугольник 2"/>
          <p:cNvSpPr>
            <a:spLocks noChangeArrowheads="1"/>
          </p:cNvSpPr>
          <p:nvPr/>
        </p:nvSpPr>
        <p:spPr bwMode="auto">
          <a:xfrm>
            <a:off x="0" y="44624"/>
            <a:ext cx="9144000" cy="615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0" rIns="144000">
            <a:spAutoFit/>
          </a:bodyPr>
          <a:lstStyle/>
          <a:p>
            <a:pPr algn="just"/>
            <a:r>
              <a:rPr lang="ru-RU" altLang="ru-RU" sz="2000" b="1" i="1" dirty="0">
                <a:solidFill>
                  <a:srgbClr val="0000FF"/>
                </a:solidFill>
              </a:rPr>
              <a:t>SSH</a:t>
            </a:r>
            <a:r>
              <a:rPr lang="ru-RU" altLang="ru-RU" sz="2000" dirty="0"/>
              <a:t> был разработан для </a:t>
            </a:r>
            <a:r>
              <a:rPr lang="ru-RU" altLang="ru-RU" sz="2000" i="1" dirty="0" err="1"/>
              <a:t>Unix</a:t>
            </a:r>
            <a:r>
              <a:rPr lang="ru-RU" altLang="ru-RU" sz="2000" dirty="0"/>
              <a:t>-подобных ОС как замена </a:t>
            </a:r>
            <a:r>
              <a:rPr lang="ru-RU" altLang="ru-RU" sz="2000" i="1" dirty="0" err="1"/>
              <a:t>Telnet</a:t>
            </a:r>
            <a:r>
              <a:rPr lang="ru-RU" altLang="ru-RU" sz="2000" dirty="0"/>
              <a:t> и других незащищенных протоколов удаленной оболочки </a:t>
            </a:r>
            <a:r>
              <a:rPr lang="ru-RU" altLang="ru-RU" sz="2000" i="1" dirty="0" err="1"/>
              <a:t>Unix</a:t>
            </a:r>
            <a:r>
              <a:rPr lang="ru-RU" altLang="ru-RU" sz="2000" dirty="0"/>
              <a:t> (</a:t>
            </a:r>
            <a:r>
              <a:rPr lang="ru-RU" altLang="ru-RU" sz="2000" i="1" dirty="0" err="1"/>
              <a:t>Berkeley</a:t>
            </a:r>
            <a:r>
              <a:rPr lang="ru-RU" altLang="ru-RU" sz="2000" dirty="0"/>
              <a:t> (</a:t>
            </a:r>
            <a:r>
              <a:rPr lang="ru-RU" altLang="ru-RU" sz="2000" i="1" dirty="0" err="1"/>
              <a:t>rsh</a:t>
            </a:r>
            <a:r>
              <a:rPr lang="ru-RU" altLang="ru-RU" sz="2000" dirty="0"/>
              <a:t>), </a:t>
            </a:r>
            <a:r>
              <a:rPr lang="ru-RU" altLang="ru-RU" sz="2000" i="1" dirty="0" err="1"/>
              <a:t>rlogin</a:t>
            </a:r>
            <a:r>
              <a:rPr lang="ru-RU" altLang="ru-RU" sz="2000" dirty="0"/>
              <a:t>, </a:t>
            </a:r>
            <a:r>
              <a:rPr lang="ru-RU" altLang="ru-RU" sz="2000" i="1" dirty="0" err="1"/>
              <a:t>rexec</a:t>
            </a:r>
            <a:r>
              <a:rPr lang="ru-RU" altLang="ru-RU" sz="2000" dirty="0"/>
              <a:t>), которые используют открытую передачу </a:t>
            </a:r>
            <a:r>
              <a:rPr lang="ru-RU" altLang="ru-RU" sz="2000" dirty="0" err="1"/>
              <a:t>токенов</a:t>
            </a:r>
            <a:r>
              <a:rPr lang="ru-RU" altLang="ru-RU" sz="2000" dirty="0"/>
              <a:t> аутентификации.</a:t>
            </a:r>
            <a:endParaRPr lang="ru-RU" altLang="ru-RU" sz="2000" b="1" i="1" dirty="0">
              <a:solidFill>
                <a:srgbClr val="0000FF"/>
              </a:solidFill>
            </a:endParaRPr>
          </a:p>
          <a:p>
            <a:pPr algn="just"/>
            <a:endParaRPr lang="ru-RU" altLang="ru-RU" sz="2000" b="1" i="1" dirty="0">
              <a:solidFill>
                <a:srgbClr val="0000FF"/>
              </a:solidFill>
            </a:endParaRPr>
          </a:p>
          <a:p>
            <a:pPr algn="just"/>
            <a:r>
              <a:rPr lang="ru-RU" altLang="ru-RU" sz="2000" b="1" i="1" dirty="0">
                <a:solidFill>
                  <a:srgbClr val="0000FF"/>
                </a:solidFill>
              </a:rPr>
              <a:t>RFC</a:t>
            </a:r>
            <a:r>
              <a:rPr lang="ru-RU" altLang="ru-RU" sz="2000" b="1" dirty="0"/>
              <a:t> </a:t>
            </a:r>
            <a:r>
              <a:rPr lang="ru-RU" altLang="ru-RU" sz="2000" dirty="0"/>
              <a:t>(</a:t>
            </a:r>
            <a:r>
              <a:rPr lang="en-US" altLang="ru-RU" sz="2000" i="1" dirty="0"/>
              <a:t>Request</a:t>
            </a:r>
            <a:r>
              <a:rPr lang="ru-RU" altLang="ru-RU" sz="2000" i="1" dirty="0"/>
              <a:t> </a:t>
            </a:r>
            <a:r>
              <a:rPr lang="en-US" altLang="ru-RU" sz="2000" i="1" dirty="0"/>
              <a:t>for</a:t>
            </a:r>
            <a:r>
              <a:rPr lang="ru-RU" altLang="ru-RU" sz="2000" i="1" dirty="0"/>
              <a:t> </a:t>
            </a:r>
            <a:r>
              <a:rPr lang="en-US" altLang="ru-RU" sz="2000" i="1" dirty="0"/>
              <a:t>Comments</a:t>
            </a:r>
            <a:r>
              <a:rPr lang="en-US" altLang="ru-RU" sz="2000" dirty="0"/>
              <a:t>)</a:t>
            </a:r>
            <a:r>
              <a:rPr lang="ru-RU" altLang="ru-RU" sz="2000" dirty="0"/>
              <a:t> – пронумерованные информационные документы Интернета, содержащие технические спецификации и стандарты</a:t>
            </a:r>
          </a:p>
          <a:p>
            <a:pPr algn="just"/>
            <a:endParaRPr lang="ru-RU" altLang="ru-RU" sz="2000" dirty="0"/>
          </a:p>
          <a:p>
            <a:r>
              <a:rPr lang="ru-RU" i="1" dirty="0"/>
              <a:t>RFC</a:t>
            </a:r>
            <a:r>
              <a:rPr lang="ru-RU" dirty="0"/>
              <a:t> 4250 </a:t>
            </a:r>
            <a:r>
              <a:rPr lang="ru-RU" altLang="ru-RU" dirty="0"/>
              <a:t>–</a:t>
            </a:r>
            <a:r>
              <a:rPr lang="ru-RU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Secure</a:t>
            </a:r>
            <a:r>
              <a:rPr lang="ru-RU" i="1" dirty="0"/>
              <a:t> </a:t>
            </a:r>
            <a:r>
              <a:rPr lang="ru-RU" i="1" dirty="0" err="1"/>
              <a:t>Shell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SSH</a:t>
            </a:r>
            <a:r>
              <a:rPr lang="ru-RU" dirty="0"/>
              <a:t>) </a:t>
            </a:r>
            <a:r>
              <a:rPr lang="ru-RU" i="1" dirty="0" err="1"/>
              <a:t>Protocol</a:t>
            </a:r>
            <a:r>
              <a:rPr lang="ru-RU" i="1" dirty="0"/>
              <a:t> </a:t>
            </a:r>
            <a:r>
              <a:rPr lang="ru-RU" i="1" dirty="0" err="1"/>
              <a:t>Assigned</a:t>
            </a:r>
            <a:r>
              <a:rPr lang="ru-RU" i="1" dirty="0"/>
              <a:t> </a:t>
            </a:r>
            <a:r>
              <a:rPr lang="ru-RU" i="1" dirty="0" err="1"/>
              <a:t>Numbers</a:t>
            </a:r>
            <a:r>
              <a:rPr lang="ru-RU" i="1" dirty="0"/>
              <a:t> </a:t>
            </a:r>
          </a:p>
          <a:p>
            <a:r>
              <a:rPr lang="ru-RU" i="1" dirty="0"/>
              <a:t>RFC</a:t>
            </a:r>
            <a:r>
              <a:rPr lang="ru-RU" dirty="0"/>
              <a:t> 4251 </a:t>
            </a:r>
            <a:r>
              <a:rPr lang="ru-RU" altLang="ru-RU" dirty="0"/>
              <a:t>–</a:t>
            </a:r>
            <a:r>
              <a:rPr lang="ru-RU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Secure</a:t>
            </a:r>
            <a:r>
              <a:rPr lang="ru-RU" i="1" dirty="0"/>
              <a:t> </a:t>
            </a:r>
            <a:r>
              <a:rPr lang="ru-RU" i="1" dirty="0" err="1"/>
              <a:t>Shell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SSH</a:t>
            </a:r>
            <a:r>
              <a:rPr lang="ru-RU" dirty="0"/>
              <a:t>) </a:t>
            </a:r>
            <a:r>
              <a:rPr lang="ru-RU" i="1" dirty="0" err="1"/>
              <a:t>Protocol</a:t>
            </a:r>
            <a:r>
              <a:rPr lang="ru-RU" i="1" dirty="0"/>
              <a:t> </a:t>
            </a:r>
            <a:r>
              <a:rPr lang="ru-RU" i="1" dirty="0" err="1"/>
              <a:t>Architecture</a:t>
            </a:r>
            <a:r>
              <a:rPr lang="ru-RU" i="1" dirty="0"/>
              <a:t> </a:t>
            </a:r>
          </a:p>
          <a:p>
            <a:r>
              <a:rPr lang="ru-RU" i="1" dirty="0"/>
              <a:t>RFC</a:t>
            </a:r>
            <a:r>
              <a:rPr lang="ru-RU" dirty="0"/>
              <a:t> 4252 </a:t>
            </a:r>
            <a:r>
              <a:rPr lang="ru-RU" altLang="ru-RU" dirty="0"/>
              <a:t>–</a:t>
            </a:r>
            <a:r>
              <a:rPr lang="ru-RU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Secure</a:t>
            </a:r>
            <a:r>
              <a:rPr lang="ru-RU" i="1" dirty="0"/>
              <a:t> </a:t>
            </a:r>
            <a:r>
              <a:rPr lang="ru-RU" i="1" dirty="0" err="1"/>
              <a:t>Shell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SSH</a:t>
            </a:r>
            <a:r>
              <a:rPr lang="ru-RU" dirty="0"/>
              <a:t>) </a:t>
            </a:r>
            <a:r>
              <a:rPr lang="ru-RU" i="1" dirty="0" err="1"/>
              <a:t>Authentication</a:t>
            </a:r>
            <a:r>
              <a:rPr lang="ru-RU" i="1" dirty="0"/>
              <a:t> </a:t>
            </a:r>
            <a:r>
              <a:rPr lang="ru-RU" i="1" dirty="0" err="1"/>
              <a:t>Protocol</a:t>
            </a:r>
            <a:r>
              <a:rPr lang="ru-RU" i="1" dirty="0"/>
              <a:t> </a:t>
            </a:r>
          </a:p>
          <a:p>
            <a:r>
              <a:rPr lang="ru-RU" i="1" dirty="0"/>
              <a:t>RFC</a:t>
            </a:r>
            <a:r>
              <a:rPr lang="ru-RU" dirty="0"/>
              <a:t> 4253 </a:t>
            </a:r>
            <a:r>
              <a:rPr lang="ru-RU" altLang="ru-RU" dirty="0"/>
              <a:t>–</a:t>
            </a:r>
            <a:r>
              <a:rPr lang="ru-RU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Secure</a:t>
            </a:r>
            <a:r>
              <a:rPr lang="ru-RU" i="1" dirty="0"/>
              <a:t> </a:t>
            </a:r>
            <a:r>
              <a:rPr lang="ru-RU" i="1" dirty="0" err="1"/>
              <a:t>Shell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SSH</a:t>
            </a:r>
            <a:r>
              <a:rPr lang="ru-RU" dirty="0"/>
              <a:t>) </a:t>
            </a:r>
            <a:r>
              <a:rPr lang="ru-RU" i="1" dirty="0" err="1"/>
              <a:t>Transport</a:t>
            </a:r>
            <a:r>
              <a:rPr lang="ru-RU" i="1" dirty="0"/>
              <a:t> </a:t>
            </a:r>
            <a:r>
              <a:rPr lang="ru-RU" i="1" dirty="0" err="1"/>
              <a:t>Layer</a:t>
            </a:r>
            <a:r>
              <a:rPr lang="ru-RU" i="1" dirty="0"/>
              <a:t> </a:t>
            </a:r>
            <a:r>
              <a:rPr lang="ru-RU" i="1" dirty="0" err="1"/>
              <a:t>Protocol</a:t>
            </a:r>
            <a:r>
              <a:rPr lang="ru-RU" i="1" dirty="0"/>
              <a:t> </a:t>
            </a:r>
          </a:p>
          <a:p>
            <a:r>
              <a:rPr lang="ru-RU" i="1" dirty="0"/>
              <a:t>RFC</a:t>
            </a:r>
            <a:r>
              <a:rPr lang="ru-RU" dirty="0"/>
              <a:t> 4254 </a:t>
            </a:r>
            <a:r>
              <a:rPr lang="ru-RU" altLang="ru-RU" dirty="0"/>
              <a:t>–</a:t>
            </a:r>
            <a:r>
              <a:rPr lang="ru-RU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Secure</a:t>
            </a:r>
            <a:r>
              <a:rPr lang="ru-RU" i="1" dirty="0"/>
              <a:t> </a:t>
            </a:r>
            <a:r>
              <a:rPr lang="ru-RU" i="1" dirty="0" err="1"/>
              <a:t>Shell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SSH</a:t>
            </a:r>
            <a:r>
              <a:rPr lang="ru-RU" dirty="0"/>
              <a:t>) </a:t>
            </a:r>
            <a:r>
              <a:rPr lang="ru-RU" i="1" dirty="0" err="1"/>
              <a:t>Connection</a:t>
            </a:r>
            <a:r>
              <a:rPr lang="ru-RU" i="1" dirty="0"/>
              <a:t> </a:t>
            </a:r>
            <a:r>
              <a:rPr lang="ru-RU" i="1" dirty="0" err="1"/>
              <a:t>Protocol</a:t>
            </a:r>
            <a:r>
              <a:rPr lang="ru-RU" i="1" dirty="0"/>
              <a:t> </a:t>
            </a:r>
          </a:p>
          <a:p>
            <a:r>
              <a:rPr lang="ru-RU" i="1" dirty="0"/>
              <a:t>RFC</a:t>
            </a:r>
            <a:r>
              <a:rPr lang="ru-RU" dirty="0"/>
              <a:t> 4255 </a:t>
            </a:r>
            <a:r>
              <a:rPr lang="ru-RU" altLang="ru-RU" dirty="0"/>
              <a:t>–</a:t>
            </a:r>
            <a:r>
              <a:rPr lang="ru-RU" dirty="0"/>
              <a:t> </a:t>
            </a:r>
            <a:r>
              <a:rPr lang="ru-RU" i="1" dirty="0" err="1"/>
              <a:t>Using</a:t>
            </a:r>
            <a:r>
              <a:rPr lang="ru-RU" i="1" dirty="0"/>
              <a:t> DNS </a:t>
            </a:r>
            <a:r>
              <a:rPr lang="ru-RU" i="1" dirty="0" err="1"/>
              <a:t>to</a:t>
            </a:r>
            <a:r>
              <a:rPr lang="ru-RU" i="1" dirty="0"/>
              <a:t> </a:t>
            </a:r>
            <a:r>
              <a:rPr lang="ru-RU" i="1" dirty="0" err="1"/>
              <a:t>Securely</a:t>
            </a:r>
            <a:r>
              <a:rPr lang="ru-RU" i="1" dirty="0"/>
              <a:t> </a:t>
            </a:r>
            <a:r>
              <a:rPr lang="ru-RU" i="1" dirty="0" err="1"/>
              <a:t>Publish</a:t>
            </a:r>
            <a:r>
              <a:rPr lang="ru-RU" i="1" dirty="0"/>
              <a:t> </a:t>
            </a:r>
            <a:r>
              <a:rPr lang="ru-RU" i="1" dirty="0" err="1"/>
              <a:t>Secure</a:t>
            </a:r>
            <a:r>
              <a:rPr lang="ru-RU" i="1" dirty="0"/>
              <a:t> </a:t>
            </a:r>
            <a:r>
              <a:rPr lang="ru-RU" i="1" dirty="0" err="1"/>
              <a:t>Shell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SSH</a:t>
            </a:r>
            <a:r>
              <a:rPr lang="ru-RU" dirty="0"/>
              <a:t>) </a:t>
            </a:r>
            <a:r>
              <a:rPr lang="ru-RU" i="1" dirty="0" err="1"/>
              <a:t>Key</a:t>
            </a:r>
            <a:r>
              <a:rPr lang="ru-RU" i="1" dirty="0"/>
              <a:t> </a:t>
            </a:r>
            <a:r>
              <a:rPr lang="ru-RU" i="1" dirty="0" err="1"/>
              <a:t>Fingerprints</a:t>
            </a:r>
            <a:r>
              <a:rPr lang="ru-RU" i="1" dirty="0"/>
              <a:t> </a:t>
            </a:r>
          </a:p>
          <a:p>
            <a:r>
              <a:rPr lang="ru-RU" i="1" dirty="0"/>
              <a:t>RFC</a:t>
            </a:r>
            <a:r>
              <a:rPr lang="ru-RU" dirty="0"/>
              <a:t> 4256 </a:t>
            </a:r>
            <a:r>
              <a:rPr lang="ru-RU" altLang="ru-RU" dirty="0"/>
              <a:t>–</a:t>
            </a:r>
            <a:r>
              <a:rPr lang="ru-RU" dirty="0"/>
              <a:t> </a:t>
            </a:r>
            <a:r>
              <a:rPr lang="ru-RU" i="1" dirty="0" err="1"/>
              <a:t>Generic</a:t>
            </a:r>
            <a:r>
              <a:rPr lang="ru-RU" i="1" dirty="0"/>
              <a:t> </a:t>
            </a:r>
            <a:r>
              <a:rPr lang="ru-RU" i="1" dirty="0" err="1"/>
              <a:t>Message</a:t>
            </a:r>
            <a:r>
              <a:rPr lang="ru-RU" i="1" dirty="0"/>
              <a:t> </a:t>
            </a:r>
            <a:r>
              <a:rPr lang="ru-RU" i="1" dirty="0" err="1"/>
              <a:t>Exchange</a:t>
            </a:r>
            <a:r>
              <a:rPr lang="ru-RU" i="1" dirty="0"/>
              <a:t> </a:t>
            </a:r>
            <a:r>
              <a:rPr lang="ru-RU" i="1" dirty="0" err="1"/>
              <a:t>Authentication</a:t>
            </a:r>
            <a:r>
              <a:rPr lang="ru-RU" i="1" dirty="0"/>
              <a:t> </a:t>
            </a:r>
            <a:r>
              <a:rPr lang="ru-RU" i="1" dirty="0" err="1"/>
              <a:t>for</a:t>
            </a:r>
            <a:r>
              <a:rPr lang="ru-RU" i="1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Secure</a:t>
            </a:r>
            <a:r>
              <a:rPr lang="ru-RU" i="1" dirty="0"/>
              <a:t> </a:t>
            </a:r>
            <a:r>
              <a:rPr lang="ru-RU" i="1" dirty="0" err="1"/>
              <a:t>Shell</a:t>
            </a:r>
            <a:r>
              <a:rPr lang="ru-RU" i="1" dirty="0"/>
              <a:t> </a:t>
            </a:r>
            <a:r>
              <a:rPr lang="ru-RU" i="1" dirty="0" err="1"/>
              <a:t>Protocol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SSH</a:t>
            </a:r>
            <a:r>
              <a:rPr lang="ru-RU" dirty="0"/>
              <a:t>) </a:t>
            </a:r>
          </a:p>
          <a:p>
            <a:r>
              <a:rPr lang="ru-RU" i="1" dirty="0"/>
              <a:t>RFC</a:t>
            </a:r>
            <a:r>
              <a:rPr lang="ru-RU" dirty="0"/>
              <a:t> 4335 </a:t>
            </a:r>
            <a:r>
              <a:rPr lang="ru-RU" altLang="ru-RU" dirty="0"/>
              <a:t>–</a:t>
            </a:r>
            <a:r>
              <a:rPr lang="ru-RU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Secure</a:t>
            </a:r>
            <a:r>
              <a:rPr lang="ru-RU" i="1" dirty="0"/>
              <a:t> </a:t>
            </a:r>
            <a:r>
              <a:rPr lang="ru-RU" i="1" dirty="0" err="1"/>
              <a:t>Shell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SSH</a:t>
            </a:r>
            <a:r>
              <a:rPr lang="ru-RU" dirty="0"/>
              <a:t>) </a:t>
            </a:r>
            <a:r>
              <a:rPr lang="ru-RU" i="1" dirty="0" err="1"/>
              <a:t>Session</a:t>
            </a:r>
            <a:r>
              <a:rPr lang="ru-RU" i="1" dirty="0"/>
              <a:t> </a:t>
            </a:r>
            <a:r>
              <a:rPr lang="ru-RU" i="1" dirty="0" err="1"/>
              <a:t>Channel</a:t>
            </a:r>
            <a:r>
              <a:rPr lang="ru-RU" i="1" dirty="0"/>
              <a:t> </a:t>
            </a:r>
            <a:r>
              <a:rPr lang="ru-RU" i="1" dirty="0" err="1"/>
              <a:t>Break</a:t>
            </a:r>
            <a:r>
              <a:rPr lang="ru-RU" i="1" dirty="0"/>
              <a:t> </a:t>
            </a:r>
            <a:r>
              <a:rPr lang="ru-RU" i="1" dirty="0" err="1"/>
              <a:t>Extension</a:t>
            </a:r>
            <a:r>
              <a:rPr lang="ru-RU" i="1" dirty="0"/>
              <a:t> </a:t>
            </a:r>
          </a:p>
          <a:p>
            <a:r>
              <a:rPr lang="ru-RU" i="1" dirty="0"/>
              <a:t>RFC</a:t>
            </a:r>
            <a:r>
              <a:rPr lang="ru-RU" dirty="0"/>
              <a:t> 4344 </a:t>
            </a:r>
            <a:r>
              <a:rPr lang="ru-RU" altLang="ru-RU" dirty="0"/>
              <a:t>–</a:t>
            </a:r>
            <a:r>
              <a:rPr lang="ru-RU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Secure</a:t>
            </a:r>
            <a:r>
              <a:rPr lang="ru-RU" i="1" dirty="0"/>
              <a:t> </a:t>
            </a:r>
            <a:r>
              <a:rPr lang="ru-RU" i="1" dirty="0" err="1"/>
              <a:t>Shell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SSH</a:t>
            </a:r>
            <a:r>
              <a:rPr lang="ru-RU" dirty="0"/>
              <a:t>) </a:t>
            </a:r>
            <a:r>
              <a:rPr lang="ru-RU" i="1" dirty="0" err="1"/>
              <a:t>Transport</a:t>
            </a:r>
            <a:r>
              <a:rPr lang="ru-RU" i="1" dirty="0"/>
              <a:t> </a:t>
            </a:r>
            <a:r>
              <a:rPr lang="ru-RU" i="1" dirty="0" err="1"/>
              <a:t>Layer</a:t>
            </a:r>
            <a:r>
              <a:rPr lang="ru-RU" i="1" dirty="0"/>
              <a:t> </a:t>
            </a:r>
            <a:r>
              <a:rPr lang="ru-RU" i="1" dirty="0" err="1"/>
              <a:t>Encryption</a:t>
            </a:r>
            <a:r>
              <a:rPr lang="ru-RU" i="1" dirty="0"/>
              <a:t> </a:t>
            </a:r>
            <a:r>
              <a:rPr lang="ru-RU" i="1" dirty="0" err="1"/>
              <a:t>Modes</a:t>
            </a:r>
            <a:r>
              <a:rPr lang="ru-RU" i="1" dirty="0"/>
              <a:t> </a:t>
            </a:r>
          </a:p>
          <a:p>
            <a:r>
              <a:rPr lang="ru-RU" i="1" dirty="0"/>
              <a:t>RFC</a:t>
            </a:r>
            <a:r>
              <a:rPr lang="ru-RU" dirty="0"/>
              <a:t> 4345 </a:t>
            </a:r>
            <a:r>
              <a:rPr lang="ru-RU" altLang="ru-RU" dirty="0"/>
              <a:t>–</a:t>
            </a:r>
            <a:r>
              <a:rPr lang="ru-RU" dirty="0"/>
              <a:t> </a:t>
            </a:r>
            <a:r>
              <a:rPr lang="ru-RU" i="1" dirty="0" err="1"/>
              <a:t>Improved</a:t>
            </a:r>
            <a:r>
              <a:rPr lang="ru-RU" i="1" dirty="0"/>
              <a:t> </a:t>
            </a:r>
            <a:r>
              <a:rPr lang="ru-RU" i="1" dirty="0" err="1"/>
              <a:t>Arcfour</a:t>
            </a:r>
            <a:r>
              <a:rPr lang="ru-RU" i="1" dirty="0"/>
              <a:t> </a:t>
            </a:r>
            <a:r>
              <a:rPr lang="ru-RU" i="1" dirty="0" err="1"/>
              <a:t>Modes</a:t>
            </a:r>
            <a:r>
              <a:rPr lang="ru-RU" i="1" dirty="0"/>
              <a:t> </a:t>
            </a:r>
            <a:r>
              <a:rPr lang="ru-RU" i="1" dirty="0" err="1"/>
              <a:t>for</a:t>
            </a:r>
            <a:r>
              <a:rPr lang="ru-RU" i="1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Secure</a:t>
            </a:r>
            <a:r>
              <a:rPr lang="ru-RU" i="1" dirty="0"/>
              <a:t> </a:t>
            </a:r>
            <a:r>
              <a:rPr lang="ru-RU" i="1" dirty="0" err="1"/>
              <a:t>Shell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SSH</a:t>
            </a:r>
            <a:r>
              <a:rPr lang="ru-RU" dirty="0"/>
              <a:t>) </a:t>
            </a:r>
            <a:r>
              <a:rPr lang="ru-RU" i="1" dirty="0" err="1"/>
              <a:t>Transport</a:t>
            </a:r>
            <a:r>
              <a:rPr lang="ru-RU" i="1" dirty="0"/>
              <a:t> </a:t>
            </a:r>
            <a:r>
              <a:rPr lang="ru-RU" i="1" dirty="0" err="1"/>
              <a:t>Layer</a:t>
            </a:r>
            <a:r>
              <a:rPr lang="ru-RU" i="1" dirty="0"/>
              <a:t> </a:t>
            </a:r>
            <a:r>
              <a:rPr lang="ru-RU" i="1" dirty="0" err="1"/>
              <a:t>Protocol</a:t>
            </a:r>
            <a:r>
              <a:rPr lang="ru-RU" i="1" dirty="0"/>
              <a:t> </a:t>
            </a:r>
          </a:p>
          <a:p>
            <a:r>
              <a:rPr lang="ru-RU" i="1" dirty="0"/>
              <a:t>RFC</a:t>
            </a:r>
            <a:r>
              <a:rPr lang="ru-RU" dirty="0"/>
              <a:t> 4419 </a:t>
            </a:r>
            <a:r>
              <a:rPr lang="ru-RU" altLang="ru-RU" dirty="0"/>
              <a:t>–</a:t>
            </a:r>
            <a:r>
              <a:rPr lang="ru-RU" dirty="0"/>
              <a:t> </a:t>
            </a:r>
            <a:r>
              <a:rPr lang="ru-RU" i="1" dirty="0" err="1"/>
              <a:t>Diffie-Hellman</a:t>
            </a:r>
            <a:r>
              <a:rPr lang="ru-RU" i="1" dirty="0"/>
              <a:t> </a:t>
            </a:r>
            <a:r>
              <a:rPr lang="ru-RU" i="1" dirty="0" err="1"/>
              <a:t>Group</a:t>
            </a:r>
            <a:r>
              <a:rPr lang="ru-RU" i="1" dirty="0"/>
              <a:t> </a:t>
            </a:r>
            <a:r>
              <a:rPr lang="ru-RU" i="1" dirty="0" err="1"/>
              <a:t>Exchange</a:t>
            </a:r>
            <a:r>
              <a:rPr lang="ru-RU" i="1" dirty="0"/>
              <a:t> </a:t>
            </a:r>
            <a:r>
              <a:rPr lang="ru-RU" i="1" dirty="0" err="1"/>
              <a:t>for</a:t>
            </a:r>
            <a:r>
              <a:rPr lang="ru-RU" i="1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Secure</a:t>
            </a:r>
            <a:r>
              <a:rPr lang="ru-RU" i="1" dirty="0"/>
              <a:t> </a:t>
            </a:r>
            <a:r>
              <a:rPr lang="ru-RU" i="1" dirty="0" err="1"/>
              <a:t>Shell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SSH</a:t>
            </a:r>
            <a:r>
              <a:rPr lang="ru-RU" dirty="0"/>
              <a:t>) </a:t>
            </a:r>
            <a:r>
              <a:rPr lang="ru-RU" i="1" dirty="0" err="1"/>
              <a:t>Transport</a:t>
            </a:r>
            <a:r>
              <a:rPr lang="ru-RU" i="1" dirty="0"/>
              <a:t> </a:t>
            </a:r>
            <a:r>
              <a:rPr lang="ru-RU" i="1" dirty="0" err="1"/>
              <a:t>Layer</a:t>
            </a:r>
            <a:r>
              <a:rPr lang="ru-RU" i="1" dirty="0"/>
              <a:t> </a:t>
            </a:r>
            <a:r>
              <a:rPr lang="ru-RU" i="1" dirty="0" err="1"/>
              <a:t>Protocol</a:t>
            </a:r>
            <a:r>
              <a:rPr lang="ru-RU" dirty="0"/>
              <a:t> </a:t>
            </a:r>
          </a:p>
          <a:p>
            <a:r>
              <a:rPr lang="ru-RU" i="1" dirty="0"/>
              <a:t>RFC</a:t>
            </a:r>
            <a:r>
              <a:rPr lang="ru-RU" dirty="0"/>
              <a:t> 4432 </a:t>
            </a:r>
            <a:r>
              <a:rPr lang="ru-RU" altLang="ru-RU" dirty="0"/>
              <a:t>–</a:t>
            </a:r>
            <a:r>
              <a:rPr lang="ru-RU" dirty="0"/>
              <a:t> </a:t>
            </a:r>
            <a:r>
              <a:rPr lang="ru-RU" i="1" dirty="0"/>
              <a:t>RSA </a:t>
            </a:r>
            <a:r>
              <a:rPr lang="ru-RU" i="1" dirty="0" err="1"/>
              <a:t>Key</a:t>
            </a:r>
            <a:r>
              <a:rPr lang="ru-RU" i="1" dirty="0"/>
              <a:t> </a:t>
            </a:r>
            <a:r>
              <a:rPr lang="ru-RU" i="1" dirty="0" err="1"/>
              <a:t>Exchange</a:t>
            </a:r>
            <a:r>
              <a:rPr lang="ru-RU" i="1" dirty="0"/>
              <a:t> </a:t>
            </a:r>
            <a:r>
              <a:rPr lang="ru-RU" i="1" dirty="0" err="1"/>
              <a:t>for</a:t>
            </a:r>
            <a:r>
              <a:rPr lang="ru-RU" i="1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Secure</a:t>
            </a:r>
            <a:r>
              <a:rPr lang="ru-RU" i="1" dirty="0"/>
              <a:t> </a:t>
            </a:r>
            <a:r>
              <a:rPr lang="ru-RU" i="1" dirty="0" err="1"/>
              <a:t>Shell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SSH</a:t>
            </a:r>
            <a:r>
              <a:rPr lang="ru-RU" dirty="0"/>
              <a:t>) </a:t>
            </a:r>
            <a:r>
              <a:rPr lang="ru-RU" i="1" dirty="0" err="1"/>
              <a:t>Transport</a:t>
            </a:r>
            <a:r>
              <a:rPr lang="ru-RU" i="1" dirty="0"/>
              <a:t> </a:t>
            </a:r>
            <a:r>
              <a:rPr lang="ru-RU" i="1" dirty="0" err="1"/>
              <a:t>Layer</a:t>
            </a:r>
            <a:r>
              <a:rPr lang="ru-RU" i="1" dirty="0"/>
              <a:t> </a:t>
            </a:r>
            <a:r>
              <a:rPr lang="ru-RU" i="1" dirty="0" err="1"/>
              <a:t>Protocol</a:t>
            </a:r>
            <a:r>
              <a:rPr lang="ru-RU" i="1" dirty="0"/>
              <a:t> </a:t>
            </a:r>
          </a:p>
          <a:p>
            <a:r>
              <a:rPr lang="ru-RU" i="1" dirty="0"/>
              <a:t>RFC</a:t>
            </a:r>
            <a:r>
              <a:rPr lang="ru-RU" dirty="0"/>
              <a:t> 4716 </a:t>
            </a:r>
            <a:r>
              <a:rPr lang="ru-RU" altLang="ru-RU" dirty="0"/>
              <a:t>–</a:t>
            </a:r>
            <a:r>
              <a:rPr lang="ru-RU" dirty="0"/>
              <a:t> </a:t>
            </a:r>
            <a:r>
              <a:rPr lang="ru-RU" i="1" dirty="0" err="1"/>
              <a:t>The</a:t>
            </a:r>
            <a:r>
              <a:rPr lang="ru-RU" i="1" dirty="0"/>
              <a:t> </a:t>
            </a:r>
            <a:r>
              <a:rPr lang="ru-RU" i="1" dirty="0" err="1"/>
              <a:t>Secure</a:t>
            </a:r>
            <a:r>
              <a:rPr lang="ru-RU" i="1" dirty="0"/>
              <a:t> </a:t>
            </a:r>
            <a:r>
              <a:rPr lang="ru-RU" i="1" dirty="0" err="1"/>
              <a:t>Shell</a:t>
            </a:r>
            <a:r>
              <a:rPr lang="ru-RU" i="1" dirty="0"/>
              <a:t> </a:t>
            </a:r>
            <a:r>
              <a:rPr lang="ru-RU" dirty="0"/>
              <a:t>(</a:t>
            </a:r>
            <a:r>
              <a:rPr lang="ru-RU" i="1" dirty="0"/>
              <a:t>SSH</a:t>
            </a:r>
            <a:r>
              <a:rPr lang="ru-RU" dirty="0"/>
              <a:t>) </a:t>
            </a:r>
            <a:r>
              <a:rPr lang="ru-RU" i="1" dirty="0" err="1"/>
              <a:t>Public</a:t>
            </a:r>
            <a:r>
              <a:rPr lang="ru-RU" i="1" dirty="0"/>
              <a:t> </a:t>
            </a:r>
            <a:r>
              <a:rPr lang="ru-RU" i="1" dirty="0" err="1"/>
              <a:t>Key</a:t>
            </a:r>
            <a:r>
              <a:rPr lang="ru-RU" i="1" dirty="0"/>
              <a:t> </a:t>
            </a:r>
            <a:r>
              <a:rPr lang="ru-RU" i="1" dirty="0" err="1"/>
              <a:t>File</a:t>
            </a:r>
            <a:r>
              <a:rPr lang="ru-RU" i="1" dirty="0"/>
              <a:t> </a:t>
            </a:r>
            <a:r>
              <a:rPr lang="ru-RU" i="1" dirty="0" err="1"/>
              <a:t>Format</a:t>
            </a:r>
            <a:r>
              <a:rPr lang="ru-RU" i="1" dirty="0"/>
              <a:t> </a:t>
            </a:r>
            <a:endParaRPr lang="ru-RU" sz="20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026209-B0B6-4909-96DC-43B037B15FDD}" type="slidenum">
              <a:rPr lang="ru-RU" altLang="ru-RU" smtClean="0"/>
              <a:pPr>
                <a:defRPr/>
              </a:pPr>
              <a:t>2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364116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Прямоугольник 3"/>
          <p:cNvSpPr>
            <a:spLocks noChangeArrowheads="1"/>
          </p:cNvSpPr>
          <p:nvPr/>
        </p:nvSpPr>
        <p:spPr bwMode="auto">
          <a:xfrm>
            <a:off x="0" y="0"/>
            <a:ext cx="914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000" b="1">
                <a:solidFill>
                  <a:srgbClr val="0000FF"/>
                </a:solidFill>
                <a:latin typeface="Times New Roman" panose="02020603050405020304" pitchFamily="18" charset="0"/>
              </a:rPr>
              <a:t>Стек протоколов  </a:t>
            </a:r>
            <a:r>
              <a:rPr lang="en-US" altLang="ru-RU" sz="2000" b="1" i="1">
                <a:solidFill>
                  <a:srgbClr val="0000FF"/>
                </a:solidFill>
                <a:latin typeface="Times New Roman" panose="02020603050405020304" pitchFamily="18" charset="0"/>
              </a:rPr>
              <a:t>SSH</a:t>
            </a:r>
            <a:endParaRPr lang="ru-RU" altLang="ru-RU" sz="2000" b="1" i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3795" name="Object 8"/>
          <p:cNvGraphicFramePr>
            <a:graphicFrameLocks noGrp="1" noChangeAspect="1"/>
          </p:cNvGraphicFramePr>
          <p:nvPr>
            <p:ph/>
          </p:nvPr>
        </p:nvGraphicFramePr>
        <p:xfrm>
          <a:off x="1331913" y="458788"/>
          <a:ext cx="6600825" cy="238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97" name="Visio" r:id="rId3" imgW="5078143" imgH="1837944" progId="Visio.Drawing.11">
                  <p:embed/>
                </p:oleObj>
              </mc:Choice>
              <mc:Fallback>
                <p:oleObj name="Visio" r:id="rId3" imgW="5078143" imgH="1837944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58788"/>
                        <a:ext cx="6600825" cy="238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Прямоугольник 3"/>
          <p:cNvSpPr>
            <a:spLocks noChangeArrowheads="1"/>
          </p:cNvSpPr>
          <p:nvPr/>
        </p:nvSpPr>
        <p:spPr bwMode="auto">
          <a:xfrm>
            <a:off x="107950" y="3278188"/>
            <a:ext cx="8856663" cy="245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b="1" dirty="0">
                <a:latin typeface="Times New Roman" panose="02020603050405020304" pitchFamily="18" charset="0"/>
              </a:rPr>
              <a:t>Протокол </a:t>
            </a:r>
            <a:r>
              <a:rPr lang="en-US" altLang="ru-RU" sz="2000" b="1" i="1" dirty="0">
                <a:latin typeface="Times New Roman" panose="02020603050405020304" pitchFamily="18" charset="0"/>
              </a:rPr>
              <a:t>SSH</a:t>
            </a:r>
            <a:r>
              <a:rPr lang="en-US" altLang="ru-RU" sz="2000" b="1" dirty="0">
                <a:latin typeface="Times New Roman" panose="02020603050405020304" pitchFamily="18" charset="0"/>
              </a:rPr>
              <a:t> </a:t>
            </a:r>
            <a:r>
              <a:rPr lang="ru-RU" altLang="ru-RU" sz="2000" b="1" dirty="0">
                <a:latin typeface="Times New Roman" panose="02020603050405020304" pitchFamily="18" charset="0"/>
              </a:rPr>
              <a:t>состоит из трех основных компонентов: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1. </a:t>
            </a:r>
            <a:r>
              <a:rPr lang="ru-RU" altLang="ru-RU" sz="20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Протокол транспортного уровня</a:t>
            </a:r>
            <a:r>
              <a:rPr lang="ru-RU" altLang="ru-RU" sz="2000" dirty="0">
                <a:latin typeface="Times New Roman" panose="02020603050405020304" pitchFamily="18" charset="0"/>
              </a:rPr>
              <a:t> – обеспечивает аутентификацию сервера, шифрование, целостность и сжатие (опционально) данных;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2. </a:t>
            </a:r>
            <a:r>
              <a:rPr lang="ru-RU" altLang="ru-RU" sz="20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Протокол аутентификации пользователя</a:t>
            </a:r>
            <a:r>
              <a:rPr lang="ru-RU" altLang="ru-RU" sz="2000" dirty="0">
                <a:latin typeface="Times New Roman" panose="02020603050405020304" pitchFamily="18" charset="0"/>
              </a:rPr>
              <a:t> – обеспечивает аутентификацию клиента сервером.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3. </a:t>
            </a:r>
            <a:r>
              <a:rPr lang="ru-RU" altLang="ru-RU" sz="20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Протокол соединения</a:t>
            </a:r>
            <a:r>
              <a:rPr lang="ru-RU" altLang="ru-RU" sz="2000" dirty="0">
                <a:latin typeface="Times New Roman" panose="02020603050405020304" pitchFamily="18" charset="0"/>
              </a:rPr>
              <a:t> </a:t>
            </a:r>
            <a:r>
              <a:rPr lang="en-US" altLang="ru-RU" sz="2000" dirty="0">
                <a:latin typeface="Times New Roman" panose="02020603050405020304" pitchFamily="18" charset="0"/>
              </a:rPr>
              <a:t>– </a:t>
            </a:r>
            <a:r>
              <a:rPr lang="ru-RU" altLang="ru-RU" sz="2000" dirty="0">
                <a:latin typeface="Times New Roman" panose="02020603050405020304" pitchFamily="18" charset="0"/>
              </a:rPr>
              <a:t>создает зашифрованный туннель, мультиплексируя в нем несколько логических каналов.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B685C1-FBD2-423E-A464-23E7C526678D}" type="slidenum">
              <a:rPr lang="ru-RU" altLang="ru-RU" smtClean="0"/>
              <a:pPr>
                <a:defRPr/>
              </a:pPr>
              <a:t>3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Прямоугольник 3"/>
          <p:cNvSpPr>
            <a:spLocks noChangeArrowheads="1"/>
          </p:cNvSpPr>
          <p:nvPr/>
        </p:nvSpPr>
        <p:spPr bwMode="auto">
          <a:xfrm>
            <a:off x="0" y="0"/>
            <a:ext cx="914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Стек протоколов  </a:t>
            </a:r>
            <a:r>
              <a:rPr lang="en-US" altLang="ru-RU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SSH</a:t>
            </a:r>
            <a:endParaRPr lang="ru-RU" altLang="ru-RU" sz="20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3795" name="Object 8"/>
          <p:cNvGraphicFramePr>
            <a:graphicFrameLocks noGrp="1" noChangeAspect="1"/>
          </p:cNvGraphicFramePr>
          <p:nvPr>
            <p:ph/>
          </p:nvPr>
        </p:nvGraphicFramePr>
        <p:xfrm>
          <a:off x="1331913" y="458788"/>
          <a:ext cx="6600825" cy="238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41" name="Visio" r:id="rId3" imgW="5078143" imgH="1837944" progId="Visio.Drawing.11">
                  <p:embed/>
                </p:oleObj>
              </mc:Choice>
              <mc:Fallback>
                <p:oleObj name="Visio" r:id="rId3" imgW="5078143" imgH="183794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58788"/>
                        <a:ext cx="6600825" cy="238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Прямоугольник 3"/>
          <p:cNvSpPr>
            <a:spLocks noChangeArrowheads="1"/>
          </p:cNvSpPr>
          <p:nvPr/>
        </p:nvSpPr>
        <p:spPr bwMode="auto">
          <a:xfrm>
            <a:off x="0" y="2996952"/>
            <a:ext cx="9143999" cy="2939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0" rIns="144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Протоколы </a:t>
            </a:r>
            <a:r>
              <a:rPr lang="ru-RU" altLang="ru-RU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SS</a:t>
            </a:r>
            <a:r>
              <a:rPr lang="en-US" altLang="ru-RU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  <a:r>
              <a:rPr lang="ru-RU" altLang="ru-RU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 используются в нескольких механизмах передачи файлов</a:t>
            </a:r>
            <a:r>
              <a:rPr lang="en-US" altLang="ru-RU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  <a:endParaRPr lang="ru-RU" altLang="ru-RU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en-US" altLang="ru-RU" sz="2000" b="1" i="1" dirty="0" err="1">
                <a:latin typeface="Times New Roman" panose="02020603050405020304" pitchFamily="18" charset="0"/>
              </a:rPr>
              <a:t>scp</a:t>
            </a:r>
            <a:r>
              <a:rPr lang="ru-RU" altLang="ru-RU" sz="2000" i="1" dirty="0">
                <a:latin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</a:rPr>
              <a:t>– защищенное копирование (</a:t>
            </a:r>
            <a:r>
              <a:rPr lang="en-US" altLang="ru-RU" sz="2000" i="1" dirty="0" err="1">
                <a:latin typeface="Times New Roman" panose="02020603050405020304" pitchFamily="18" charset="0"/>
              </a:rPr>
              <a:t>scp</a:t>
            </a:r>
            <a:r>
              <a:rPr lang="ru-RU" altLang="ru-RU" sz="2000" dirty="0">
                <a:latin typeface="Times New Roman" panose="02020603050405020304" pitchFamily="18" charset="0"/>
              </a:rPr>
              <a:t>), модификация протокола </a:t>
            </a:r>
            <a:r>
              <a:rPr lang="ru-RU" altLang="ru-RU" sz="2000" i="1" dirty="0">
                <a:latin typeface="Times New Roman" panose="02020603050405020304" pitchFamily="18" charset="0"/>
              </a:rPr>
              <a:t>RCP</a:t>
            </a:r>
            <a:r>
              <a:rPr lang="ru-RU" altLang="ru-RU" sz="2000" dirty="0">
                <a:latin typeface="Times New Roman" panose="02020603050405020304" pitchFamily="18" charset="0"/>
              </a:rPr>
              <a:t> для </a:t>
            </a:r>
            <a:r>
              <a:rPr lang="ru-RU" altLang="ru-RU" sz="2000" i="1" dirty="0">
                <a:latin typeface="Times New Roman" panose="02020603050405020304" pitchFamily="18" charset="0"/>
              </a:rPr>
              <a:t>SSH;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b="1" i="1" dirty="0" err="1">
                <a:latin typeface="Times New Roman" panose="02020603050405020304" pitchFamily="18" charset="0"/>
              </a:rPr>
              <a:t>rsync</a:t>
            </a:r>
            <a:r>
              <a:rPr lang="ru-RU" altLang="ru-RU" sz="2000" i="1" dirty="0">
                <a:latin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</a:rPr>
              <a:t>– синхронизация, обычно выполняемая через </a:t>
            </a:r>
            <a:r>
              <a:rPr lang="ru-RU" altLang="ru-RU" sz="2000" i="1" dirty="0">
                <a:latin typeface="Times New Roman" panose="02020603050405020304" pitchFamily="18" charset="0"/>
              </a:rPr>
              <a:t>SSH</a:t>
            </a:r>
            <a:r>
              <a:rPr lang="ru-RU" altLang="ru-RU" sz="2000" dirty="0">
                <a:latin typeface="Times New Roman" panose="02020603050405020304" pitchFamily="18" charset="0"/>
              </a:rPr>
              <a:t>-соединение (более эффективна, чем </a:t>
            </a:r>
            <a:r>
              <a:rPr lang="en-US" altLang="ru-RU" sz="2000" i="1" dirty="0" err="1">
                <a:latin typeface="Times New Roman" panose="02020603050405020304" pitchFamily="18" charset="0"/>
              </a:rPr>
              <a:t>scp</a:t>
            </a:r>
            <a:r>
              <a:rPr lang="ru-RU" altLang="ru-RU" sz="2000" dirty="0">
                <a:latin typeface="Times New Roman" panose="02020603050405020304" pitchFamily="18" charset="0"/>
              </a:rPr>
              <a:t>);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b="1" i="1" dirty="0">
                <a:latin typeface="Times New Roman" panose="02020603050405020304" pitchFamily="18" charset="0"/>
              </a:rPr>
              <a:t>SFTP</a:t>
            </a:r>
            <a:r>
              <a:rPr lang="ru-RU" altLang="ru-RU" sz="2000" i="1" dirty="0">
                <a:latin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</a:rPr>
              <a:t>– протокол передачи файлов через </a:t>
            </a:r>
            <a:r>
              <a:rPr lang="ru-RU" altLang="ru-RU" sz="2000" i="1" dirty="0">
                <a:latin typeface="Times New Roman" panose="02020603050405020304" pitchFamily="18" charset="0"/>
              </a:rPr>
              <a:t>SSH</a:t>
            </a:r>
            <a:r>
              <a:rPr lang="ru-RU" altLang="ru-RU" sz="2000" dirty="0">
                <a:latin typeface="Times New Roman" panose="02020603050405020304" pitchFamily="18" charset="0"/>
              </a:rPr>
              <a:t>-соединение;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b="1" i="1" dirty="0">
                <a:latin typeface="Times New Roman" panose="02020603050405020304" pitchFamily="18" charset="0"/>
              </a:rPr>
              <a:t>FISH</a:t>
            </a:r>
            <a:r>
              <a:rPr lang="ru-RU" altLang="ru-RU" sz="2000" i="1" dirty="0">
                <a:latin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</a:rPr>
              <a:t>– протокол передачи файлов по протоколу </a:t>
            </a:r>
            <a:r>
              <a:rPr lang="ru-RU" altLang="ru-RU" sz="2000" i="1" dirty="0" err="1">
                <a:latin typeface="Times New Roman" panose="02020603050405020304" pitchFamily="18" charset="0"/>
              </a:rPr>
              <a:t>shell</a:t>
            </a:r>
            <a:r>
              <a:rPr lang="ru-RU" altLang="ru-RU" sz="2000" i="1" dirty="0">
                <a:latin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</a:rPr>
              <a:t>через </a:t>
            </a:r>
            <a:r>
              <a:rPr lang="ru-RU" altLang="ru-RU" sz="2000" i="1" dirty="0">
                <a:latin typeface="Times New Roman" panose="02020603050405020304" pitchFamily="18" charset="0"/>
              </a:rPr>
              <a:t>SSH</a:t>
            </a:r>
            <a:r>
              <a:rPr lang="ru-RU" altLang="ru-RU" sz="2000" dirty="0">
                <a:latin typeface="Times New Roman" panose="02020603050405020304" pitchFamily="18" charset="0"/>
              </a:rPr>
              <a:t>-соединение;</a:t>
            </a:r>
            <a:endParaRPr lang="ru-RU" altLang="ru-RU" sz="2000" i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b="1" i="1" dirty="0">
                <a:latin typeface="Times New Roman" panose="02020603050405020304" pitchFamily="18" charset="0"/>
              </a:rPr>
              <a:t>FASP</a:t>
            </a:r>
            <a:r>
              <a:rPr lang="ru-RU" altLang="ru-RU" sz="2000" i="1" dirty="0">
                <a:latin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</a:rPr>
              <a:t>(или </a:t>
            </a:r>
            <a:r>
              <a:rPr lang="ru-RU" altLang="ru-RU" sz="2000" b="1" i="1" dirty="0" err="1">
                <a:latin typeface="Times New Roman" panose="02020603050405020304" pitchFamily="18" charset="0"/>
              </a:rPr>
              <a:t>Aspera</a:t>
            </a:r>
            <a:r>
              <a:rPr lang="ru-RU" altLang="ru-RU" sz="2000" dirty="0">
                <a:latin typeface="Times New Roman" panose="02020603050405020304" pitchFamily="18" charset="0"/>
              </a:rPr>
              <a:t>) – быстрый и безопасный протокол, использующий </a:t>
            </a:r>
            <a:r>
              <a:rPr lang="ru-RU" altLang="ru-RU" sz="2000" i="1" dirty="0">
                <a:latin typeface="Times New Roman" panose="02020603050405020304" pitchFamily="18" charset="0"/>
              </a:rPr>
              <a:t>SSH</a:t>
            </a:r>
            <a:r>
              <a:rPr lang="ru-RU" altLang="ru-RU" sz="2000" dirty="0">
                <a:latin typeface="Times New Roman" panose="02020603050405020304" pitchFamily="18" charset="0"/>
              </a:rPr>
              <a:t> для управления и </a:t>
            </a:r>
            <a:r>
              <a:rPr lang="ru-RU" altLang="ru-RU" sz="2000" i="1" dirty="0">
                <a:latin typeface="Times New Roman" panose="02020603050405020304" pitchFamily="18" charset="0"/>
              </a:rPr>
              <a:t>UDP</a:t>
            </a:r>
            <a:r>
              <a:rPr lang="ru-RU" altLang="ru-RU" sz="2000" dirty="0">
                <a:latin typeface="Times New Roman" panose="02020603050405020304" pitchFamily="18" charset="0"/>
              </a:rPr>
              <a:t> для передачи данных.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B685C1-FBD2-423E-A464-23E7C526678D}" type="slidenum">
              <a:rPr lang="ru-RU" altLang="ru-RU" smtClean="0"/>
              <a:pPr>
                <a:defRPr/>
              </a:pPr>
              <a:t>4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543962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ChangeArrowheads="1"/>
          </p:cNvSpPr>
          <p:nvPr/>
        </p:nvSpPr>
        <p:spPr bwMode="auto">
          <a:xfrm>
            <a:off x="0" y="0"/>
            <a:ext cx="914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Преимущества и недостатки протокола </a:t>
            </a:r>
            <a:r>
              <a:rPr lang="en-US" altLang="ru-RU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SSH</a:t>
            </a:r>
            <a:endParaRPr lang="ru-RU" altLang="ru-RU" sz="20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19638"/>
            <a:ext cx="9144000" cy="3785652"/>
          </a:xfrm>
          <a:prstGeom prst="rect">
            <a:avLst/>
          </a:prstGeom>
        </p:spPr>
        <p:txBody>
          <a:bodyPr wrap="square" lIns="360000" rIns="144000">
            <a:spAutoFit/>
          </a:bodyPr>
          <a:lstStyle/>
          <a:p>
            <a:pPr>
              <a:spcAft>
                <a:spcPts val="1200"/>
              </a:spcAft>
            </a:pPr>
            <a:r>
              <a:rPr lang="ru-RU" dirty="0">
                <a:solidFill>
                  <a:srgbClr val="0000FF"/>
                </a:solidFill>
              </a:rPr>
              <a:t>Использование протокола </a:t>
            </a:r>
            <a:r>
              <a:rPr lang="ru-RU" i="1" dirty="0">
                <a:solidFill>
                  <a:srgbClr val="0000FF"/>
                </a:solidFill>
              </a:rPr>
              <a:t>SSH</a:t>
            </a:r>
            <a:r>
              <a:rPr lang="ru-RU" dirty="0">
                <a:solidFill>
                  <a:srgbClr val="0000FF"/>
                </a:solidFill>
              </a:rPr>
              <a:t> имеет ряд преимуществ:</a:t>
            </a:r>
          </a:p>
          <a:p>
            <a:pPr marL="285750" indent="-285750">
              <a:spcAft>
                <a:spcPts val="1200"/>
              </a:spcAft>
              <a:buFont typeface="Times New Roman" panose="02020603050405020304" pitchFamily="18" charset="0"/>
              <a:buChar char="−"/>
            </a:pPr>
            <a:r>
              <a:rPr lang="ru-RU" dirty="0"/>
              <a:t>безопасная работа на удаленном сервере с использованием командной оболочки;</a:t>
            </a:r>
          </a:p>
          <a:p>
            <a:pPr marL="285750" indent="-285750">
              <a:spcAft>
                <a:spcPts val="1200"/>
              </a:spcAft>
              <a:buFont typeface="Times New Roman" panose="02020603050405020304" pitchFamily="18" charset="0"/>
              <a:buChar char="−"/>
            </a:pPr>
            <a:r>
              <a:rPr lang="ru-RU" dirty="0"/>
              <a:t>использование разных алгоритмов шифрования (симметричного, асимметричного и хеширования);</a:t>
            </a:r>
          </a:p>
          <a:p>
            <a:pPr marL="285750" indent="-285750">
              <a:spcAft>
                <a:spcPts val="1200"/>
              </a:spcAft>
              <a:buFont typeface="Times New Roman" panose="02020603050405020304" pitchFamily="18" charset="0"/>
              <a:buChar char="−"/>
            </a:pPr>
            <a:r>
              <a:rPr lang="ru-RU" dirty="0"/>
              <a:t>возможность безопасного использования любого сетевого протокола, что позволяет передавать по защищенному каналу файлы любого размера;</a:t>
            </a:r>
          </a:p>
          <a:p>
            <a:pPr>
              <a:spcAft>
                <a:spcPts val="1200"/>
              </a:spcAft>
            </a:pPr>
            <a:r>
              <a:rPr lang="ru-RU" dirty="0">
                <a:solidFill>
                  <a:srgbClr val="0000FF"/>
                </a:solidFill>
              </a:rPr>
              <a:t>Использование протокола </a:t>
            </a:r>
            <a:r>
              <a:rPr lang="ru-RU" i="1" dirty="0">
                <a:solidFill>
                  <a:srgbClr val="0000FF"/>
                </a:solidFill>
              </a:rPr>
              <a:t>SSH</a:t>
            </a:r>
            <a:r>
              <a:rPr lang="ru-RU" dirty="0">
                <a:solidFill>
                  <a:srgbClr val="0000FF"/>
                </a:solidFill>
              </a:rPr>
              <a:t> имеет свой недостаток:</a:t>
            </a:r>
          </a:p>
          <a:p>
            <a:pPr marL="285750" indent="-285750">
              <a:spcAft>
                <a:spcPts val="1200"/>
              </a:spcAft>
              <a:buFont typeface="Times New Roman" panose="02020603050405020304" pitchFamily="18" charset="0"/>
              <a:buChar char="−"/>
            </a:pPr>
            <a:r>
              <a:rPr lang="ru-RU" dirty="0"/>
              <a:t>протокол </a:t>
            </a:r>
            <a:r>
              <a:rPr lang="ru-RU" i="1" dirty="0"/>
              <a:t>SSH</a:t>
            </a:r>
            <a:r>
              <a:rPr lang="ru-RU" dirty="0"/>
              <a:t> не имеет средств защиты от действий злоумышленника, получившего </a:t>
            </a:r>
            <a:r>
              <a:rPr lang="ru-RU" i="1" dirty="0" err="1"/>
              <a:t>root</a:t>
            </a:r>
            <a:r>
              <a:rPr lang="ru-RU" dirty="0"/>
              <a:t>-доступ.</a:t>
            </a:r>
          </a:p>
          <a:p>
            <a:pPr>
              <a:spcAft>
                <a:spcPts val="1200"/>
              </a:spcAft>
            </a:pPr>
            <a:r>
              <a:rPr lang="ru-RU" dirty="0"/>
              <a:t>Одной из мер защиты является ограничение использования режима </a:t>
            </a:r>
            <a:r>
              <a:rPr lang="ru-RU" i="1" dirty="0" err="1"/>
              <a:t>root</a:t>
            </a:r>
            <a:r>
              <a:rPr lang="ru-RU" dirty="0"/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" t="26000" r="3313" b="18500"/>
          <a:stretch/>
        </p:blipFill>
        <p:spPr>
          <a:xfrm>
            <a:off x="1115616" y="4509120"/>
            <a:ext cx="6912768" cy="2149348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A0D95C-20EA-4413-85A5-56022AD9D959}" type="slidenum">
              <a:rPr lang="ru-RU" altLang="ru-RU" smtClean="0"/>
              <a:pPr>
                <a:defRPr/>
              </a:pPr>
              <a:t>5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284558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ChangeArrowheads="1"/>
          </p:cNvSpPr>
          <p:nvPr/>
        </p:nvSpPr>
        <p:spPr bwMode="auto">
          <a:xfrm>
            <a:off x="0" y="0"/>
            <a:ext cx="914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Платформы, поддерживающие протокол </a:t>
            </a:r>
            <a:r>
              <a:rPr lang="en-US" altLang="ru-RU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SSH</a:t>
            </a:r>
            <a:endParaRPr lang="ru-RU" altLang="ru-RU" sz="20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433277"/>
              </p:ext>
            </p:extLst>
          </p:nvPr>
        </p:nvGraphicFramePr>
        <p:xfrm>
          <a:off x="179514" y="486898"/>
          <a:ext cx="8820000" cy="5966438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229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15518">
                <a:tc>
                  <a:txBody>
                    <a:bodyPr/>
                    <a:lstStyle/>
                    <a:p>
                      <a:pPr algn="ctr"/>
                      <a:r>
                        <a:rPr lang="ru-RU" sz="1100" u="non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Имя</a:t>
                      </a:r>
                      <a:endParaRPr lang="ru-RU" sz="1100" b="1" i="0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000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macOS</a:t>
                      </a:r>
                      <a:endParaRPr lang="en-US" sz="1100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000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</a:t>
                      </a:r>
                      <a:endParaRPr lang="en-US" sz="1100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000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Linux</a:t>
                      </a:r>
                      <a:endParaRPr lang="en-US" sz="1100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000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Solaris</a:t>
                      </a:r>
                      <a:endParaRPr lang="en-US" sz="1100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000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OpenVMS</a:t>
                      </a:r>
                      <a:endParaRPr lang="en-US" sz="1100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000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endParaRPr lang="en-US" sz="1100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000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</a:t>
                      </a:r>
                      <a:endParaRPr lang="en-US" sz="1100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000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Phone</a:t>
                      </a:r>
                      <a:endParaRPr lang="en-US" sz="1100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000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Absolute</a:t>
                      </a:r>
                      <a:r>
                        <a:rPr lang="ru-RU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Telnet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SSH-</a:t>
                      </a:r>
                      <a:r>
                        <a:rPr lang="ru-RU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 </a:t>
                      </a:r>
                      <a:r>
                        <a:rPr lang="en-US" sz="1100" i="1" u="none" strike="noStrike" dirty="0" err="1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Bitvise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ConnectBot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Dropbear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eSSH Client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Lsh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OpenSSH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Включено</a:t>
                      </a:r>
                    </a:p>
                  </a:txBody>
                  <a:tcPr anchor="ctr">
                    <a:solidFill>
                      <a:srgbClr val="99FFC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Включено</a:t>
                      </a:r>
                      <a:endParaRPr lang="en-US" sz="110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9FFC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Включено</a:t>
                      </a:r>
                      <a:endParaRPr lang="en-US" sz="110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9FFC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PuTTY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Частичное</a:t>
                      </a:r>
                    </a:p>
                  </a:txBody>
                  <a:tcPr anchor="ctr">
                    <a:solidFill>
                      <a:srgbClr val="99FFCC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Бета</a:t>
                      </a:r>
                      <a:endParaRPr lang="ru-RU" sz="110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SecureCRT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SmartFTP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 err="1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TeraTerm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TN3270 Plus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TtyEmulator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WinSCP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wolfSSH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ZOC</a:t>
                      </a:r>
                      <a:endParaRPr lang="en-US" sz="1100" b="1" i="1" u="none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anchor="ctr">
                    <a:solidFill>
                      <a:srgbClr val="99FF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anchor="ctr">
                    <a:solidFill>
                      <a:srgbClr val="F9979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solidFill>
                      <a:srgbClr val="F9FB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A0D95C-20EA-4413-85A5-56022AD9D959}" type="slidenum">
              <a:rPr lang="ru-RU" altLang="ru-RU" smtClean="0"/>
              <a:pPr>
                <a:defRPr/>
              </a:pPr>
              <a:t>6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069470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ChangeArrowheads="1"/>
          </p:cNvSpPr>
          <p:nvPr/>
        </p:nvSpPr>
        <p:spPr bwMode="auto">
          <a:xfrm>
            <a:off x="0" y="0"/>
            <a:ext cx="914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Ключевые алгоритмы аутентификации</a:t>
            </a:r>
            <a:endParaRPr lang="ru-RU" altLang="ru-RU" sz="20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811105"/>
              </p:ext>
            </p:extLst>
          </p:nvPr>
        </p:nvGraphicFramePr>
        <p:xfrm>
          <a:off x="107504" y="554908"/>
          <a:ext cx="8856000" cy="58264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80250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i="1" dirty="0">
                          <a:solidFill>
                            <a:srgbClr val="0925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Имя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b="1" i="1" dirty="0" err="1">
                          <a:solidFill>
                            <a:srgbClr val="0925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Ssh-dss</a:t>
                      </a:r>
                      <a:endParaRPr lang="ru-RU" sz="1100" b="1" i="1" dirty="0">
                        <a:solidFill>
                          <a:srgbClr val="09251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b="1" i="1" dirty="0" err="1">
                          <a:solidFill>
                            <a:srgbClr val="0925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Ssh-rsa</a:t>
                      </a:r>
                      <a:endParaRPr lang="ru-RU" sz="1100" b="1" i="1" dirty="0">
                        <a:solidFill>
                          <a:srgbClr val="09251A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RSA</a:t>
                      </a:r>
                      <a:r>
                        <a:rPr lang="ru-RU" sz="1100" b="1" i="1" u="none" strike="noStrike" baseline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 </a:t>
                      </a:r>
                      <a:r>
                        <a:rPr lang="en-US" sz="1100" b="1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SHA-2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1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ECDSA</a:t>
                      </a:r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 </a:t>
                      </a:r>
                      <a:r>
                        <a:rPr lang="en-US" sz="1100" b="1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SHA-2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 i="1" u="none" strike="noStrike" dirty="0" err="1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EdDSA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Формирование</a:t>
                      </a:r>
                      <a:r>
                        <a:rPr lang="ru-RU" sz="1100" b="1" i="1" baseline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</a:t>
                      </a:r>
                      <a:r>
                        <a:rPr lang="ru-RU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лючей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25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rsa-sha</a:t>
                      </a:r>
                      <a:r>
                        <a:rPr lang="en-US" sz="1100" b="1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2-256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rsa-sha</a:t>
                      </a:r>
                      <a:r>
                        <a:rPr lang="en-US" sz="1100" b="1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2-512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ecdsa-sha</a:t>
                      </a:r>
                      <a:r>
                        <a:rPr lang="en-US" sz="1100" b="1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</a:t>
                      </a:r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nistp</a:t>
                      </a:r>
                      <a:r>
                        <a:rPr lang="en-US" sz="1100" b="1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ecdsa-sha</a:t>
                      </a:r>
                      <a:r>
                        <a:rPr lang="en-US" sz="1100" b="1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</a:t>
                      </a:r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nistp</a:t>
                      </a:r>
                      <a:r>
                        <a:rPr lang="en-US" sz="1100" b="1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ecdsa-sha</a:t>
                      </a:r>
                      <a:r>
                        <a:rPr lang="en-US" sz="1100" b="1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-nistp</a:t>
                      </a:r>
                      <a:r>
                        <a:rPr lang="en-US" sz="1100" b="1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ssh-ed</a:t>
                      </a:r>
                      <a:r>
                        <a:rPr lang="en-US" sz="1100" b="1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25519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ssh-ed</a:t>
                      </a:r>
                      <a:r>
                        <a:rPr lang="en-US" sz="1100" b="1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sk-ecdsa-sha</a:t>
                      </a:r>
                      <a:r>
                        <a:rPr lang="en-US" sz="1100" b="1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-nistp</a:t>
                      </a:r>
                      <a:r>
                        <a:rPr lang="en-US" sz="1100" b="1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1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sk-ssh-ed</a:t>
                      </a:r>
                      <a:r>
                        <a:rPr lang="en-US" sz="1100" b="1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25519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Absolute</a:t>
                      </a:r>
                      <a:r>
                        <a:rPr lang="ru-RU" sz="1100" b="1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Telnet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SSH-</a:t>
                      </a:r>
                      <a:r>
                        <a:rPr lang="ru-RU" sz="1100" b="1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 </a:t>
                      </a:r>
                      <a:r>
                        <a:rPr lang="en-US" sz="1100" b="1" i="1" u="none" strike="noStrike" dirty="0" err="1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Bitvise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Dropbear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0" marR="0" marT="0" marB="0" anchor="ctr">
                    <a:solidFill>
                      <a:srgbClr val="F997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Lsh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 err="1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OpenSSH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en-US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0" marR="0" marT="0" marB="0" anchor="ctr">
                    <a:solidFill>
                      <a:srgbClr val="F997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 err="1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PuTTY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en-US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F997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en-US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F997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 err="1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SecureCRT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 err="1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SmartFTP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 err="1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TeraTerm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TN3270 plus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 err="1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TtyEmulator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 err="1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WinSCP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0" marR="0" marT="0" marB="0" anchor="ctr">
                    <a:solidFill>
                      <a:srgbClr val="F997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0" marR="0" marT="0" marB="0" anchor="ctr">
                    <a:solidFill>
                      <a:srgbClr val="F9FB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100" b="0" i="0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 err="1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WolfSSH</a:t>
                      </a:r>
                      <a:endParaRPr lang="en-US" sz="1100" b="1" i="1" dirty="0">
                        <a:solidFill>
                          <a:srgbClr val="09251A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0" marR="0" marT="0" marB="0" anchor="ctr">
                    <a:solidFill>
                      <a:srgbClr val="F997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0" marR="0" marT="0" marB="0" anchor="ctr"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0" marR="0" marT="0" marB="0" anchor="ctr">
                    <a:solidFill>
                      <a:srgbClr val="F997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0" marR="0" marT="0" marB="0" anchor="ctr">
                    <a:solidFill>
                      <a:srgbClr val="F997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0" marR="0" marT="0" marB="0" anchor="ctr">
                    <a:solidFill>
                      <a:srgbClr val="F997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dirty="0">
                          <a:solidFill>
                            <a:srgbClr val="09251A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0" marR="0" marT="0" marB="0" anchor="ctr">
                    <a:solidFill>
                      <a:srgbClr val="F997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A0D95C-20EA-4413-85A5-56022AD9D959}" type="slidenum">
              <a:rPr lang="ru-RU" altLang="ru-RU" smtClean="0"/>
              <a:pPr>
                <a:defRPr/>
              </a:pPr>
              <a:t>7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36246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Прямоугольник 1"/>
          <p:cNvSpPr>
            <a:spLocks noChangeArrowheads="1"/>
          </p:cNvSpPr>
          <p:nvPr/>
        </p:nvSpPr>
        <p:spPr bwMode="auto">
          <a:xfrm>
            <a:off x="0" y="0"/>
            <a:ext cx="914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Выводы по четвертому учебному вопросу</a:t>
            </a:r>
            <a:endParaRPr lang="ru-RU" altLang="ru-RU" sz="20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4" name="Прямоугольник 3"/>
          <p:cNvSpPr>
            <a:spLocks noChangeArrowheads="1"/>
          </p:cNvSpPr>
          <p:nvPr/>
        </p:nvSpPr>
        <p:spPr bwMode="auto">
          <a:xfrm>
            <a:off x="0" y="404813"/>
            <a:ext cx="9144000" cy="4605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5000"/>
              </a:lnSpc>
              <a:spcBef>
                <a:spcPts val="600"/>
              </a:spcBef>
              <a:buFontTx/>
              <a:buNone/>
              <a:defRPr/>
            </a:pPr>
            <a:r>
              <a:rPr lang="ru-RU" altLang="ru-RU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SSH</a:t>
            </a:r>
            <a:r>
              <a:rPr lang="en-US" altLang="ru-RU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  <a:r>
              <a:rPr lang="ru-RU" altLang="ru-RU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сетевой протокол прикладного уровня, позволяющий производить защищенный доступ по открытому каналу к приложениям удаленного узла.</a:t>
            </a:r>
          </a:p>
          <a:p>
            <a:pPr algn="just" eaLnBrk="1" hangingPunct="1">
              <a:lnSpc>
                <a:spcPct val="115000"/>
              </a:lnSpc>
              <a:spcBef>
                <a:spcPts val="600"/>
              </a:spcBef>
              <a:buFontTx/>
              <a:buNone/>
              <a:defRPr/>
            </a:pP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Протокол </a:t>
            </a:r>
            <a:r>
              <a:rPr lang="ru-RU" altLang="ru-RU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SSH</a:t>
            </a: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обеспечивает:</a:t>
            </a:r>
          </a:p>
          <a:p>
            <a:pPr indent="720000" algn="just" eaLnBrk="1" hangingPunct="1">
              <a:lnSpc>
                <a:spcPct val="115000"/>
              </a:lnSpc>
              <a:spcBef>
                <a:spcPts val="0"/>
              </a:spcBef>
              <a:buFontTx/>
              <a:buNone/>
              <a:defRPr/>
            </a:pPr>
            <a:r>
              <a:rPr lang="ru-RU" altLang="ru-RU" sz="1800" dirty="0">
                <a:latin typeface="Times New Roman" panose="02020603050405020304" pitchFamily="18" charset="0"/>
              </a:rPr>
              <a:t>– шифрование с помощью симметричных алгоритмов;</a:t>
            </a:r>
          </a:p>
          <a:p>
            <a:pPr indent="720000" algn="just" eaLnBrk="1" hangingPunct="1">
              <a:lnSpc>
                <a:spcPct val="115000"/>
              </a:lnSpc>
              <a:spcBef>
                <a:spcPts val="0"/>
              </a:spcBef>
              <a:buFontTx/>
              <a:buNone/>
              <a:defRPr/>
            </a:pPr>
            <a:r>
              <a:rPr lang="ru-RU" altLang="ru-RU" sz="1800" dirty="0">
                <a:latin typeface="Times New Roman" panose="02020603050405020304" pitchFamily="18" charset="0"/>
              </a:rPr>
              <a:t>– аутентификацию (асимметричная криптография, </a:t>
            </a:r>
            <a:r>
              <a:rPr lang="en-US" altLang="ru-RU" sz="1800" i="1" dirty="0">
                <a:latin typeface="Times New Roman" panose="02020603050405020304" pitchFamily="18" charset="0"/>
              </a:rPr>
              <a:t>DH</a:t>
            </a:r>
            <a:r>
              <a:rPr lang="ru-RU" altLang="ru-RU" sz="1800" dirty="0">
                <a:latin typeface="Times New Roman" panose="02020603050405020304" pitchFamily="18" charset="0"/>
              </a:rPr>
              <a:t> или </a:t>
            </a:r>
            <a:r>
              <a:rPr lang="en-US" altLang="ru-RU" sz="1800" i="1" dirty="0">
                <a:latin typeface="Times New Roman" panose="02020603050405020304" pitchFamily="18" charset="0"/>
              </a:rPr>
              <a:t>RSA</a:t>
            </a:r>
            <a:r>
              <a:rPr lang="ru-RU" altLang="ru-RU" sz="1800" dirty="0">
                <a:latin typeface="Times New Roman" panose="02020603050405020304" pitchFamily="18" charset="0"/>
              </a:rPr>
              <a:t>);</a:t>
            </a:r>
          </a:p>
          <a:p>
            <a:pPr indent="720000" algn="just" eaLnBrk="1" hangingPunct="1">
              <a:lnSpc>
                <a:spcPct val="115000"/>
              </a:lnSpc>
              <a:spcBef>
                <a:spcPts val="0"/>
              </a:spcBef>
              <a:buFontTx/>
              <a:buNone/>
              <a:defRPr/>
            </a:pPr>
            <a:r>
              <a:rPr lang="ru-RU" altLang="ru-RU" sz="1800" dirty="0">
                <a:latin typeface="Times New Roman" panose="02020603050405020304" pitchFamily="18" charset="0"/>
              </a:rPr>
              <a:t>– сжатие данных 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LempelZiv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zlib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или 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 eaLnBrk="1" hangingPunct="1">
              <a:lnSpc>
                <a:spcPct val="115000"/>
              </a:lnSpc>
              <a:spcBef>
                <a:spcPts val="600"/>
              </a:spcBef>
              <a:buFontTx/>
              <a:buNone/>
              <a:defRPr/>
            </a:pP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Факт</a:t>
            </a:r>
            <a:r>
              <a:rPr lang="en-US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  <a:endParaRPr lang="ru-RU" altLang="ru-RU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indent="720000" algn="just" eaLnBrk="1" hangingPunct="1">
              <a:lnSpc>
                <a:spcPct val="115000"/>
              </a:lnSpc>
              <a:spcBef>
                <a:spcPts val="0"/>
              </a:spcBef>
              <a:buFontTx/>
              <a:buNone/>
              <a:defRPr/>
            </a:pPr>
            <a:r>
              <a:rPr lang="ru-RU" altLang="ru-RU" sz="1800" dirty="0">
                <a:latin typeface="Times New Roman" panose="02020603050405020304" pitchFamily="18" charset="0"/>
              </a:rPr>
              <a:t>распространены две реализации </a:t>
            </a:r>
            <a:r>
              <a:rPr lang="ru-RU" altLang="ru-RU" sz="1800" i="1" dirty="0">
                <a:latin typeface="Times New Roman" panose="02020603050405020304" pitchFamily="18" charset="0"/>
              </a:rPr>
              <a:t>SSH</a:t>
            </a:r>
            <a:r>
              <a:rPr lang="ru-RU" altLang="ru-RU" sz="1800" dirty="0">
                <a:latin typeface="Times New Roman" panose="02020603050405020304" pitchFamily="18" charset="0"/>
              </a:rPr>
              <a:t>: </a:t>
            </a:r>
            <a:r>
              <a:rPr lang="ru-RU" altLang="ru-RU" sz="1800" i="1" dirty="0">
                <a:latin typeface="Times New Roman" panose="02020603050405020304" pitchFamily="18" charset="0"/>
              </a:rPr>
              <a:t>коммерческая</a:t>
            </a:r>
            <a:r>
              <a:rPr lang="ru-RU" altLang="ru-RU" sz="1800" dirty="0">
                <a:latin typeface="Times New Roman" panose="02020603050405020304" pitchFamily="18" charset="0"/>
              </a:rPr>
              <a:t> и бесплатная </a:t>
            </a:r>
            <a:r>
              <a:rPr lang="ru-RU" altLang="ru-RU" sz="1800" i="1" dirty="0">
                <a:latin typeface="Times New Roman" panose="02020603050405020304" pitchFamily="18" charset="0"/>
              </a:rPr>
              <a:t>свободная</a:t>
            </a:r>
            <a:r>
              <a:rPr lang="ru-RU" altLang="ru-RU" sz="1800" dirty="0">
                <a:latin typeface="Times New Roman" panose="02020603050405020304" pitchFamily="18" charset="0"/>
              </a:rPr>
              <a:t>.</a:t>
            </a:r>
          </a:p>
          <a:p>
            <a:pPr algn="just" eaLnBrk="1" hangingPunct="1">
              <a:lnSpc>
                <a:spcPct val="115000"/>
              </a:lnSpc>
              <a:spcBef>
                <a:spcPts val="600"/>
              </a:spcBef>
              <a:buFontTx/>
              <a:buNone/>
              <a:defRPr/>
            </a:pP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Примеры использования протокола </a:t>
            </a:r>
            <a:r>
              <a:rPr lang="en-US" altLang="ru-RU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SSH</a:t>
            </a: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и его аналоги</a:t>
            </a:r>
            <a:r>
              <a:rPr lang="en-US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  <a:endParaRPr lang="ru-RU" altLang="ru-RU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indent="720000" algn="just" eaLnBrk="1" hangingPunct="1">
              <a:lnSpc>
                <a:spcPct val="115000"/>
              </a:lnSpc>
              <a:spcBef>
                <a:spcPts val="0"/>
              </a:spcBef>
              <a:buFontTx/>
              <a:buNone/>
              <a:defRPr/>
            </a:pPr>
            <a:r>
              <a:rPr lang="ru-RU" altLang="ru-RU" sz="1800" dirty="0">
                <a:latin typeface="Times New Roman" panose="02020603050405020304" pitchFamily="18" charset="0"/>
              </a:rPr>
              <a:t>–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протоколы </a:t>
            </a:r>
            <a:r>
              <a:rPr 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Telnet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rlogin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SSH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SOCKS-Proxy;</a:t>
            </a:r>
          </a:p>
          <a:p>
            <a:pPr indent="720000" algn="just" eaLnBrk="1" hangingPunct="1">
              <a:lnSpc>
                <a:spcPct val="115000"/>
              </a:lnSpc>
              <a:spcBef>
                <a:spcPts val="0"/>
              </a:spcBef>
              <a:buFontTx/>
              <a:buNone/>
              <a:defRPr/>
            </a:pPr>
            <a:r>
              <a:rPr lang="ru-RU" altLang="ru-RU" sz="1800" dirty="0">
                <a:latin typeface="Times New Roman" panose="02020603050405020304" pitchFamily="18" charset="0"/>
              </a:rPr>
              <a:t>–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лиенты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Windows: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PuTTY, TeamViewer,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KiTTY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MobaXterm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Solar-PUTTY,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SmartTTY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Xshell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TeraTerm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Dameware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SSH,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mRemoteNG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.;</a:t>
            </a:r>
          </a:p>
          <a:p>
            <a:pPr indent="720000" algn="just" eaLnBrk="1" hangingPunct="1">
              <a:lnSpc>
                <a:spcPct val="115000"/>
              </a:lnSpc>
              <a:spcBef>
                <a:spcPts val="0"/>
              </a:spcBef>
              <a:buFontTx/>
              <a:buNone/>
              <a:defRPr/>
            </a:pPr>
            <a:r>
              <a:rPr lang="ru-RU" altLang="ru-RU" sz="1800" dirty="0">
                <a:latin typeface="Times New Roman" panose="02020603050405020304" pitchFamily="18" charset="0"/>
              </a:rPr>
              <a:t>–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лиенты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Linux: Terminal (OpenSSH),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Asbru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Connection Manager,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Muon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026209-B0B6-4909-96DC-43B037B15FDD}" type="slidenum">
              <a:rPr lang="ru-RU" altLang="ru-RU" smtClean="0"/>
              <a:pPr>
                <a:defRPr/>
              </a:pPr>
              <a:t>8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405981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51449"/>
              </p:ext>
            </p:extLst>
          </p:nvPr>
        </p:nvGraphicFramePr>
        <p:xfrm>
          <a:off x="546100" y="1977181"/>
          <a:ext cx="8058150" cy="274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20" name="Visio" r:id="rId3" imgW="8057525" imgH="2747520" progId="Visio.Drawing.11">
                  <p:embed/>
                </p:oleObj>
              </mc:Choice>
              <mc:Fallback>
                <p:oleObj name="Visio" r:id="rId3" imgW="8057525" imgH="2747520" progId="Visio.Drawing.11">
                  <p:embed/>
                  <p:pic>
                    <p:nvPicPr>
                      <p:cNvPr id="0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1977181"/>
                        <a:ext cx="8058150" cy="274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Прямоугольник 3"/>
          <p:cNvSpPr>
            <a:spLocks noChangeArrowheads="1"/>
          </p:cNvSpPr>
          <p:nvPr/>
        </p:nvSpPr>
        <p:spPr bwMode="auto">
          <a:xfrm>
            <a:off x="0" y="511845"/>
            <a:ext cx="914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Схема применения протокола  </a:t>
            </a:r>
            <a:r>
              <a:rPr lang="en-US" altLang="ru-RU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SSH</a:t>
            </a:r>
            <a:endParaRPr lang="ru-RU" altLang="ru-RU" sz="20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4820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193403"/>
              </p:ext>
            </p:extLst>
          </p:nvPr>
        </p:nvGraphicFramePr>
        <p:xfrm>
          <a:off x="611188" y="863749"/>
          <a:ext cx="1052512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21" name="Visio" r:id="rId5" imgW="1052438" imgH="981180" progId="Visio.Drawing.11">
                  <p:embed/>
                </p:oleObj>
              </mc:Choice>
              <mc:Fallback>
                <p:oleObj name="Visio" r:id="rId5" imgW="1052438" imgH="981180" progId="Visio.Drawing.11">
                  <p:embed/>
                  <p:pic>
                    <p:nvPicPr>
                      <p:cNvPr id="0" name="Объект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863749"/>
                        <a:ext cx="1052512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633908"/>
              </p:ext>
            </p:extLst>
          </p:nvPr>
        </p:nvGraphicFramePr>
        <p:xfrm>
          <a:off x="7596188" y="824632"/>
          <a:ext cx="80645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22" name="Visio" r:id="rId7" imgW="806347" imgH="1092150" progId="Visio.Drawing.11">
                  <p:embed/>
                </p:oleObj>
              </mc:Choice>
              <mc:Fallback>
                <p:oleObj name="Visio" r:id="rId7" imgW="806347" imgH="1092150" progId="Visio.Drawing.11">
                  <p:embed/>
                  <p:pic>
                    <p:nvPicPr>
                      <p:cNvPr id="0" name="Объект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824632"/>
                        <a:ext cx="80645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977697"/>
              </p:ext>
            </p:extLst>
          </p:nvPr>
        </p:nvGraphicFramePr>
        <p:xfrm>
          <a:off x="1296243" y="4653136"/>
          <a:ext cx="6588125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23" name="Visio" r:id="rId9" imgW="5067424" imgH="1647810" progId="Visio.Drawing.15">
                  <p:embed/>
                </p:oleObj>
              </mc:Choice>
              <mc:Fallback>
                <p:oleObj name="Visio" r:id="rId9" imgW="5067424" imgH="1647810" progId="Visio.Drawing.15">
                  <p:embed/>
                  <p:pic>
                    <p:nvPicPr>
                      <p:cNvPr id="0" name="Объект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243" y="4653136"/>
                        <a:ext cx="6588125" cy="214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3"/>
          <p:cNvSpPr>
            <a:spLocks noChangeArrowheads="1"/>
          </p:cNvSpPr>
          <p:nvPr/>
        </p:nvSpPr>
        <p:spPr bwMode="auto">
          <a:xfrm>
            <a:off x="0" y="0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защищенного удаленного доступа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026209-B0B6-4909-96DC-43B037B15FDD}" type="slidenum">
              <a:rPr lang="ru-RU" altLang="ru-RU" smtClean="0"/>
              <a:pPr>
                <a:defRPr/>
              </a:pPr>
              <a:t>9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/>
          <p:cNvSpPr>
            <a:spLocks noChangeArrowheads="1"/>
          </p:cNvSpPr>
          <p:nvPr/>
        </p:nvSpPr>
        <p:spPr bwMode="auto">
          <a:xfrm>
            <a:off x="0" y="0"/>
            <a:ext cx="914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000" b="1">
                <a:solidFill>
                  <a:srgbClr val="0000FF"/>
                </a:solidFill>
                <a:latin typeface="Times New Roman" panose="02020603050405020304" pitchFamily="18" charset="0"/>
              </a:rPr>
              <a:t>Протокол транспортного уровня</a:t>
            </a:r>
          </a:p>
        </p:txBody>
      </p:sp>
      <p:sp>
        <p:nvSpPr>
          <p:cNvPr id="35843" name="Прямоугольник 3"/>
          <p:cNvSpPr>
            <a:spLocks noChangeArrowheads="1"/>
          </p:cNvSpPr>
          <p:nvPr/>
        </p:nvSpPr>
        <p:spPr bwMode="auto">
          <a:xfrm>
            <a:off x="179388" y="5013325"/>
            <a:ext cx="8856662" cy="177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1800" b="1">
                <a:latin typeface="Times New Roman" panose="02020603050405020304" pitchFamily="18" charset="0"/>
              </a:rPr>
              <a:t>Этапы протокола транспортного уровня :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1) обмен идентификационными строками;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2) этап переговоров о поддерживаемых алгоритмах;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3) обмен ключами;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4) запрос на обслуживание.</a:t>
            </a:r>
          </a:p>
        </p:txBody>
      </p:sp>
      <p:graphicFrame>
        <p:nvGraphicFramePr>
          <p:cNvPr id="35844" name="Объект 2"/>
          <p:cNvGraphicFramePr>
            <a:graphicFrameLocks noChangeAspect="1"/>
          </p:cNvGraphicFramePr>
          <p:nvPr/>
        </p:nvGraphicFramePr>
        <p:xfrm>
          <a:off x="900113" y="404813"/>
          <a:ext cx="7227887" cy="470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5" name="Visio" r:id="rId3" imgW="6023038" imgH="3917061" progId="Visio.Drawing.11">
                  <p:embed/>
                </p:oleObj>
              </mc:Choice>
              <mc:Fallback>
                <p:oleObj name="Visio" r:id="rId3" imgW="6023038" imgH="3917061" progId="Visio.Drawing.11">
                  <p:embed/>
                  <p:pic>
                    <p:nvPicPr>
                      <p:cNvPr id="0" name="Объект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04813"/>
                        <a:ext cx="7227887" cy="470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B685C1-FBD2-423E-A464-23E7C526678D}" type="slidenum">
              <a:rPr lang="ru-RU" altLang="ru-RU" smtClean="0"/>
              <a:pPr>
                <a:defRPr/>
              </a:pPr>
              <a:t>10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ChangeArrowheads="1"/>
          </p:cNvSpPr>
          <p:nvPr/>
        </p:nvSpPr>
        <p:spPr bwMode="auto">
          <a:xfrm>
            <a:off x="0" y="0"/>
            <a:ext cx="9144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Протокол транспортного уровня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(формирование </a:t>
            </a:r>
            <a:r>
              <a:rPr lang="en-US" altLang="ru-RU" sz="2000" i="1" dirty="0">
                <a:latin typeface="Times New Roman" panose="02020603050405020304" pitchFamily="18" charset="0"/>
              </a:rPr>
              <a:t>SSH</a:t>
            </a:r>
            <a:r>
              <a:rPr lang="en-US" altLang="ru-RU" sz="2000" dirty="0">
                <a:latin typeface="Times New Roman" panose="02020603050405020304" pitchFamily="18" charset="0"/>
              </a:rPr>
              <a:t>-</a:t>
            </a:r>
            <a:r>
              <a:rPr lang="ru-RU" altLang="ru-RU" sz="2000" dirty="0">
                <a:latin typeface="Times New Roman" panose="02020603050405020304" pitchFamily="18" charset="0"/>
              </a:rPr>
              <a:t>пакета)</a:t>
            </a:r>
          </a:p>
        </p:txBody>
      </p:sp>
      <p:graphicFrame>
        <p:nvGraphicFramePr>
          <p:cNvPr id="36867" name="Object 5"/>
          <p:cNvGraphicFramePr>
            <a:graphicFrameLocks noGrp="1" noChangeAspect="1"/>
          </p:cNvGraphicFramePr>
          <p:nvPr>
            <p:ph/>
          </p:nvPr>
        </p:nvGraphicFramePr>
        <p:xfrm>
          <a:off x="1597025" y="1149350"/>
          <a:ext cx="5562600" cy="407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8" name="Visio" r:id="rId3" imgW="4727448" imgH="3467862" progId="Visio.Drawing.11">
                  <p:embed/>
                </p:oleObj>
              </mc:Choice>
              <mc:Fallback>
                <p:oleObj name="Visio" r:id="rId3" imgW="4727448" imgH="3467862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5" y="1149350"/>
                        <a:ext cx="5562600" cy="407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B685C1-FBD2-423E-A464-23E7C526678D}" type="slidenum">
              <a:rPr lang="ru-RU" altLang="ru-RU" smtClean="0"/>
              <a:pPr>
                <a:defRPr/>
              </a:pPr>
              <a:t>11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ChangeArrowheads="1"/>
          </p:cNvSpPr>
          <p:nvPr/>
        </p:nvSpPr>
        <p:spPr bwMode="auto">
          <a:xfrm>
            <a:off x="0" y="0"/>
            <a:ext cx="914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000" b="1">
                <a:solidFill>
                  <a:srgbClr val="0000FF"/>
                </a:solidFill>
                <a:latin typeface="Times New Roman" panose="02020603050405020304" pitchFamily="18" charset="0"/>
              </a:rPr>
              <a:t>Протокол аутентификации пользователей</a:t>
            </a:r>
          </a:p>
        </p:txBody>
      </p:sp>
      <p:sp>
        <p:nvSpPr>
          <p:cNvPr id="37891" name="Прямоугольник 3"/>
          <p:cNvSpPr>
            <a:spLocks noChangeArrowheads="1"/>
          </p:cNvSpPr>
          <p:nvPr/>
        </p:nvSpPr>
        <p:spPr bwMode="auto">
          <a:xfrm>
            <a:off x="179388" y="4581128"/>
            <a:ext cx="8856662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b="1" dirty="0">
                <a:latin typeface="Times New Roman" panose="02020603050405020304" pitchFamily="18" charset="0"/>
              </a:rPr>
              <a:t>Методы аутентификации клиента </a:t>
            </a:r>
            <a:r>
              <a:rPr lang="en-US" altLang="ru-RU" sz="2000" b="1" i="1" dirty="0">
                <a:latin typeface="Times New Roman" panose="02020603050405020304" pitchFamily="18" charset="0"/>
              </a:rPr>
              <a:t>SSH</a:t>
            </a:r>
            <a:r>
              <a:rPr lang="ru-RU" altLang="ru-RU" sz="2000" b="1" dirty="0">
                <a:latin typeface="Times New Roman" panose="02020603050405020304" pitchFamily="18" charset="0"/>
              </a:rPr>
              <a:t>-сервером: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</a:rPr>
              <a:t>1</a:t>
            </a:r>
            <a:r>
              <a:rPr lang="ru-RU" altLang="ru-RU" sz="2000" dirty="0">
                <a:latin typeface="Times New Roman" panose="02020603050405020304" pitchFamily="18" charset="0"/>
              </a:rPr>
              <a:t>. </a:t>
            </a:r>
            <a:r>
              <a:rPr lang="ru-RU" altLang="ru-RU" sz="20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Аутентификация по паролю </a:t>
            </a:r>
            <a:r>
              <a:rPr lang="ru-RU" altLang="ru-RU" sz="2000" dirty="0">
                <a:latin typeface="Times New Roman" panose="02020603050405020304" pitchFamily="18" charset="0"/>
              </a:rPr>
              <a:t>– сервер проверяет имя пользователя и пароль.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en-US" altLang="ru-RU" sz="2000" dirty="0">
                <a:latin typeface="Times New Roman" panose="02020603050405020304" pitchFamily="18" charset="0"/>
              </a:rPr>
              <a:t>2</a:t>
            </a:r>
            <a:r>
              <a:rPr lang="ru-RU" altLang="ru-RU" sz="2000" dirty="0">
                <a:latin typeface="Times New Roman" panose="02020603050405020304" pitchFamily="18" charset="0"/>
              </a:rPr>
              <a:t>. </a:t>
            </a:r>
            <a:r>
              <a:rPr lang="ru-RU" altLang="ru-RU" sz="20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Аутентификация с открытым ключом </a:t>
            </a:r>
            <a:r>
              <a:rPr lang="ru-RU" altLang="ru-RU" sz="2000" dirty="0">
                <a:latin typeface="Times New Roman" panose="02020603050405020304" pitchFamily="18" charset="0"/>
              </a:rPr>
              <a:t>(</a:t>
            </a:r>
            <a:r>
              <a:rPr lang="en-US" altLang="ru-RU" sz="2000" i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PublicKey</a:t>
            </a:r>
            <a:r>
              <a:rPr lang="ru-RU" altLang="ru-RU" sz="2000" dirty="0">
                <a:latin typeface="Times New Roman" panose="02020603050405020304" pitchFamily="18" charset="0"/>
              </a:rPr>
              <a:t>) – клиент генерирует пару ключей, открытый ключ загружается на сервер, закрытый остается у клиента.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3. </a:t>
            </a:r>
            <a:r>
              <a:rPr lang="ru-RU" altLang="ru-RU" sz="20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Аутентификация на основе идентификатора узла </a:t>
            </a:r>
            <a:r>
              <a:rPr lang="ru-RU" altLang="ru-RU" sz="2000" dirty="0">
                <a:latin typeface="Times New Roman" panose="02020603050405020304" pitchFamily="18" charset="0"/>
              </a:rPr>
              <a:t>(</a:t>
            </a:r>
            <a:r>
              <a:rPr lang="en-US" altLang="ru-RU" sz="2000" i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Hostbased</a:t>
            </a:r>
            <a:r>
              <a:rPr lang="ru-RU" altLang="ru-RU" sz="2000" dirty="0">
                <a:latin typeface="Times New Roman" panose="02020603050405020304" pitchFamily="18" charset="0"/>
              </a:rPr>
              <a:t>).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4. </a:t>
            </a:r>
            <a:r>
              <a:rPr lang="ru-RU" altLang="ru-RU" sz="20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Аутентификация на основе протокола </a:t>
            </a:r>
            <a:r>
              <a:rPr lang="en-US" altLang="ru-RU" sz="20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Kerberos </a:t>
            </a:r>
            <a:r>
              <a:rPr lang="en-US" altLang="ru-RU" sz="2000" dirty="0">
                <a:latin typeface="Times New Roman" panose="02020603050405020304" pitchFamily="18" charset="0"/>
              </a:rPr>
              <a:t>(</a:t>
            </a:r>
            <a:r>
              <a:rPr lang="en-US" altLang="ru-RU" sz="2000" i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KerberosAuthentication</a:t>
            </a:r>
            <a:r>
              <a:rPr lang="en-US" altLang="ru-RU" sz="2000" dirty="0">
                <a:latin typeface="Times New Roman" panose="02020603050405020304" pitchFamily="18" charset="0"/>
              </a:rPr>
              <a:t>).</a:t>
            </a:r>
            <a:endParaRPr lang="ru-RU" altLang="ru-RU" sz="2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7893" name="Объект 2"/>
          <p:cNvGraphicFramePr>
            <a:graphicFrameLocks noChangeAspect="1"/>
          </p:cNvGraphicFramePr>
          <p:nvPr/>
        </p:nvGraphicFramePr>
        <p:xfrm>
          <a:off x="712788" y="407988"/>
          <a:ext cx="7820025" cy="413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3" name="Visio" r:id="rId3" imgW="5705478" imgH="3019410" progId="Visio.Drawing.15">
                  <p:embed/>
                </p:oleObj>
              </mc:Choice>
              <mc:Fallback>
                <p:oleObj name="Visio" r:id="rId3" imgW="5705478" imgH="3019410" progId="Visio.Drawing.15">
                  <p:embed/>
                  <p:pic>
                    <p:nvPicPr>
                      <p:cNvPr id="0" name="Объект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407988"/>
                        <a:ext cx="7820025" cy="413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B685C1-FBD2-423E-A464-23E7C526678D}" type="slidenum">
              <a:rPr lang="ru-RU" altLang="ru-RU" smtClean="0"/>
              <a:pPr>
                <a:defRPr/>
              </a:pPr>
              <a:t>12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ChangeArrowheads="1"/>
          </p:cNvSpPr>
          <p:nvPr/>
        </p:nvSpPr>
        <p:spPr bwMode="auto">
          <a:xfrm>
            <a:off x="0" y="0"/>
            <a:ext cx="914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000" b="1">
                <a:solidFill>
                  <a:srgbClr val="0000FF"/>
                </a:solidFill>
                <a:latin typeface="Times New Roman" panose="02020603050405020304" pitchFamily="18" charset="0"/>
              </a:rPr>
              <a:t>Протокол соединений</a:t>
            </a:r>
          </a:p>
        </p:txBody>
      </p:sp>
      <p:graphicFrame>
        <p:nvGraphicFramePr>
          <p:cNvPr id="38915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1692275" y="531813"/>
          <a:ext cx="5524500" cy="383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7" name="Visio" r:id="rId4" imgW="4258818" imgH="2954084" progId="Visio.Drawing.11">
                  <p:embed/>
                </p:oleObj>
              </mc:Choice>
              <mc:Fallback>
                <p:oleObj name="Visio" r:id="rId4" imgW="4258818" imgH="295408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31813"/>
                        <a:ext cx="5524500" cy="383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4433888" y="5165725"/>
          <a:ext cx="4646612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8" name="Visio" r:id="rId6" imgW="4628112" imgH="1456296" progId="Visio.Drawing.11">
                  <p:embed/>
                </p:oleObj>
              </mc:Choice>
              <mc:Fallback>
                <p:oleObj name="Visio" r:id="rId6" imgW="4628112" imgH="1456296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888" y="5165725"/>
                        <a:ext cx="4646612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918" name="Рисунок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941888"/>
            <a:ext cx="42799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A0D95C-20EA-4413-85A5-56022AD9D959}" type="slidenum">
              <a:rPr lang="ru-RU" altLang="ru-RU" smtClean="0"/>
              <a:pPr>
                <a:defRPr/>
              </a:pPr>
              <a:t>13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Прямоугольник 3"/>
          <p:cNvSpPr>
            <a:spLocks noChangeArrowheads="1"/>
          </p:cNvSpPr>
          <p:nvPr/>
        </p:nvSpPr>
        <p:spPr bwMode="auto">
          <a:xfrm>
            <a:off x="107504" y="404813"/>
            <a:ext cx="9036496" cy="580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ts val="600"/>
              </a:spcBef>
              <a:buNone/>
              <a:defRPr/>
            </a:pP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Стек протоколов  </a:t>
            </a:r>
            <a:r>
              <a:rPr lang="en-US" altLang="ru-RU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SSH</a:t>
            </a:r>
            <a:endParaRPr lang="ru-RU" altLang="ru-RU" sz="20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5000"/>
              </a:lnSpc>
              <a:spcBef>
                <a:spcPts val="600"/>
              </a:spcBef>
              <a:buFontTx/>
              <a:buNone/>
              <a:defRPr/>
            </a:pPr>
            <a:endParaRPr lang="ru-RU" altLang="ru-RU" sz="20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5000"/>
              </a:lnSpc>
              <a:spcBef>
                <a:spcPts val="600"/>
              </a:spcBef>
              <a:buFontTx/>
              <a:buNone/>
              <a:defRPr/>
            </a:pPr>
            <a:endParaRPr lang="ru-RU" altLang="ru-RU" sz="20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5000"/>
              </a:lnSpc>
              <a:spcBef>
                <a:spcPts val="600"/>
              </a:spcBef>
              <a:buFontTx/>
              <a:buNone/>
              <a:defRPr/>
            </a:pPr>
            <a:endParaRPr lang="ru-RU" altLang="ru-RU" sz="20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5000"/>
              </a:lnSpc>
              <a:spcBef>
                <a:spcPts val="600"/>
              </a:spcBef>
              <a:buFontTx/>
              <a:buNone/>
              <a:defRPr/>
            </a:pPr>
            <a:endParaRPr lang="ru-RU" altLang="ru-RU" sz="20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5000"/>
              </a:lnSpc>
              <a:spcBef>
                <a:spcPts val="600"/>
              </a:spcBef>
              <a:buFontTx/>
              <a:buNone/>
              <a:defRPr/>
            </a:pPr>
            <a:endParaRPr lang="ru-RU" altLang="ru-RU" sz="20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5000"/>
              </a:lnSpc>
              <a:spcBef>
                <a:spcPts val="600"/>
              </a:spcBef>
              <a:buFontTx/>
              <a:buNone/>
              <a:defRPr/>
            </a:pPr>
            <a:endParaRPr lang="ru-RU" altLang="ru-RU" sz="20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5000"/>
              </a:lnSpc>
              <a:spcBef>
                <a:spcPts val="600"/>
              </a:spcBef>
              <a:buFontTx/>
              <a:buNone/>
              <a:defRPr/>
            </a:pPr>
            <a:endParaRPr lang="ru-RU" altLang="ru-RU" sz="2000" b="1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5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ru-RU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SSH</a:t>
            </a: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-сервер поддерживает </a:t>
            </a:r>
            <a:r>
              <a:rPr lang="en-US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метода аутентификации:</a:t>
            </a:r>
          </a:p>
          <a:p>
            <a:pPr indent="720000" algn="just" eaLnBrk="1" hangingPunct="1">
              <a:lnSpc>
                <a:spcPct val="115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ru-RU" sz="1800" i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PublicKey</a:t>
            </a:r>
            <a:r>
              <a:rPr lang="en-US" altLang="ru-RU" sz="18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</a:rPr>
              <a:t>– </a:t>
            </a:r>
            <a:r>
              <a:rPr lang="ru-RU" altLang="ru-RU" sz="1800" dirty="0" err="1">
                <a:latin typeface="Times New Roman" panose="02020603050405020304" pitchFamily="18" charset="0"/>
              </a:rPr>
              <a:t>криптоалгоритм</a:t>
            </a:r>
            <a:r>
              <a:rPr lang="ru-RU" altLang="ru-RU" sz="1800" dirty="0">
                <a:latin typeface="Times New Roman" panose="02020603050405020304" pitchFamily="18" charset="0"/>
              </a:rPr>
              <a:t> с открытым </a:t>
            </a:r>
            <a:r>
              <a:rPr lang="en-US" altLang="ru-RU" sz="1800" dirty="0">
                <a:latin typeface="Times New Roman" panose="02020603050405020304" pitchFamily="18" charset="0"/>
              </a:rPr>
              <a:t>(</a:t>
            </a:r>
            <a:r>
              <a:rPr lang="ru-RU" altLang="ru-RU" sz="1800" dirty="0">
                <a:latin typeface="Times New Roman" panose="02020603050405020304" pitchFamily="18" charset="0"/>
              </a:rPr>
              <a:t>общим</a:t>
            </a:r>
            <a:r>
              <a:rPr lang="en-US" altLang="ru-RU" sz="1800" dirty="0">
                <a:latin typeface="Times New Roman" panose="02020603050405020304" pitchFamily="18" charset="0"/>
              </a:rPr>
              <a:t>) </a:t>
            </a:r>
            <a:r>
              <a:rPr lang="ru-RU" altLang="ru-RU" sz="1800" dirty="0">
                <a:latin typeface="Times New Roman" panose="02020603050405020304" pitchFamily="18" charset="0"/>
              </a:rPr>
              <a:t>ключом</a:t>
            </a:r>
            <a:r>
              <a:rPr lang="en-US" altLang="ru-RU" sz="1800" dirty="0">
                <a:latin typeface="Times New Roman" panose="02020603050405020304" pitchFamily="18" charset="0"/>
              </a:rPr>
              <a:t>;</a:t>
            </a:r>
            <a:endParaRPr lang="ru-RU" altLang="ru-RU" sz="1800" dirty="0">
              <a:latin typeface="Times New Roman" panose="02020603050405020304" pitchFamily="18" charset="0"/>
            </a:endParaRPr>
          </a:p>
          <a:p>
            <a:pPr indent="720000" algn="just" eaLnBrk="1" hangingPunct="1">
              <a:lnSpc>
                <a:spcPct val="115000"/>
              </a:lnSpc>
              <a:spcBef>
                <a:spcPts val="0"/>
              </a:spcBef>
              <a:buFontTx/>
              <a:buNone/>
              <a:defRPr/>
            </a:pPr>
            <a:r>
              <a:rPr lang="ru-RU" altLang="ru-RU" sz="18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Пароль </a:t>
            </a:r>
            <a:r>
              <a:rPr lang="ru-RU" altLang="ru-RU" sz="1800" dirty="0">
                <a:latin typeface="Times New Roman" panose="02020603050405020304" pitchFamily="18" charset="0"/>
              </a:rPr>
              <a:t>– шифрование симметричным алгоритмом транспортного уровня</a:t>
            </a:r>
            <a:r>
              <a:rPr lang="en-US" altLang="ru-RU" sz="1800" dirty="0">
                <a:latin typeface="Times New Roman" panose="02020603050405020304" pitchFamily="18" charset="0"/>
              </a:rPr>
              <a:t>;</a:t>
            </a:r>
            <a:endParaRPr lang="ru-RU" altLang="ru-RU" sz="1800" dirty="0">
              <a:latin typeface="Times New Roman" panose="02020603050405020304" pitchFamily="18" charset="0"/>
            </a:endParaRPr>
          </a:p>
          <a:p>
            <a:pPr indent="720000" algn="just" eaLnBrk="1" hangingPunct="1">
              <a:lnSpc>
                <a:spcPct val="115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ru-RU" sz="1800" i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Hostbased</a:t>
            </a:r>
            <a:r>
              <a:rPr lang="en-US" altLang="ru-RU" sz="18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Times New Roman" panose="02020603050405020304" pitchFamily="18" charset="0"/>
              </a:rPr>
              <a:t>– </a:t>
            </a:r>
            <a:r>
              <a:rPr lang="ru-RU" altLang="ru-RU" sz="1800" dirty="0">
                <a:latin typeface="Times New Roman" panose="02020603050405020304" pitchFamily="18" charset="0"/>
              </a:rPr>
              <a:t>проверка подлинности клиентского узла</a:t>
            </a:r>
            <a:r>
              <a:rPr lang="en-US" altLang="ru-RU" sz="1800" dirty="0">
                <a:latin typeface="Times New Roman" panose="02020603050405020304" pitchFamily="18" charset="0"/>
              </a:rPr>
              <a:t>.</a:t>
            </a:r>
          </a:p>
          <a:p>
            <a:pPr indent="720000" algn="just" eaLnBrk="1" hangingPunct="1">
              <a:lnSpc>
                <a:spcPct val="115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ru-RU" sz="1800" i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KerberosAuthentication</a:t>
            </a:r>
            <a:r>
              <a:rPr lang="en-US" altLang="ru-RU" sz="18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Times New Roman" panose="02020603050405020304" pitchFamily="18" charset="0"/>
              </a:rPr>
              <a:t>– </a:t>
            </a:r>
            <a:r>
              <a:rPr lang="ru-RU" altLang="ru-RU" sz="1800" dirty="0">
                <a:latin typeface="Times New Roman" panose="02020603050405020304" pitchFamily="18" charset="0"/>
              </a:rPr>
              <a:t>на основе протокола </a:t>
            </a:r>
            <a:r>
              <a:rPr lang="en-US" altLang="ru-RU" sz="1800" i="1" dirty="0">
                <a:latin typeface="Times New Roman" panose="02020603050405020304" pitchFamily="18" charset="0"/>
              </a:rPr>
              <a:t>Kerberos</a:t>
            </a:r>
            <a:r>
              <a:rPr lang="ru-RU" altLang="ru-RU" sz="1800" i="1" dirty="0">
                <a:latin typeface="Times New Roman" panose="02020603050405020304" pitchFamily="18" charset="0"/>
              </a:rPr>
              <a:t>.</a:t>
            </a:r>
          </a:p>
          <a:p>
            <a:pPr indent="720000" algn="just" eaLnBrk="1" hangingPunct="1">
              <a:lnSpc>
                <a:spcPct val="115000"/>
              </a:lnSpc>
              <a:spcBef>
                <a:spcPts val="0"/>
              </a:spcBef>
              <a:buNone/>
              <a:defRPr/>
            </a:pPr>
            <a:endParaRPr lang="ru-RU" altLang="ru-RU" sz="1800" i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5000"/>
              </a:lnSpc>
              <a:spcBef>
                <a:spcPts val="0"/>
              </a:spcBef>
              <a:buNone/>
              <a:defRPr/>
            </a:pPr>
            <a:r>
              <a:rPr lang="ru-RU" altLang="ru-RU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Преимущества и недостатки применения протокола </a:t>
            </a:r>
            <a:r>
              <a:rPr lang="en-US" altLang="ru-RU" sz="20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SSH</a:t>
            </a:r>
            <a:endParaRPr lang="ru-RU" altLang="ru-RU" sz="2000" dirty="0">
              <a:latin typeface="Times New Roman" panose="02020603050405020304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026209-B0B6-4909-96DC-43B037B15FDD}" type="slidenum">
              <a:rPr lang="ru-RU" altLang="ru-RU" smtClean="0"/>
              <a:pPr>
                <a:defRPr/>
              </a:pPr>
              <a:t>14</a:t>
            </a:fld>
            <a:r>
              <a:rPr lang="en-US" altLang="ru-RU"/>
              <a:t>/</a:t>
            </a:r>
            <a:r>
              <a:rPr lang="ru-RU" altLang="ru-RU"/>
              <a:t>49</a:t>
            </a:r>
            <a:endParaRPr lang="ru-RU" altLang="ru-RU" dirty="0"/>
          </a:p>
        </p:txBody>
      </p:sp>
      <p:graphicFrame>
        <p:nvGraphicFramePr>
          <p:cNvPr id="5" name="Object 8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29541261"/>
              </p:ext>
            </p:extLst>
          </p:nvPr>
        </p:nvGraphicFramePr>
        <p:xfrm>
          <a:off x="1331913" y="895797"/>
          <a:ext cx="6600825" cy="238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91" name="Visio" r:id="rId3" imgW="5078143" imgH="1837944" progId="Visio.Drawing.11">
                  <p:embed/>
                </p:oleObj>
              </mc:Choice>
              <mc:Fallback>
                <p:oleObj name="Visio" r:id="rId3" imgW="5078143" imgH="183794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895797"/>
                        <a:ext cx="6600825" cy="238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7096</TotalTime>
  <Words>1243</Words>
  <Application>Microsoft Office PowerPoint</Application>
  <PresentationFormat>Экран (4:3)</PresentationFormat>
  <Paragraphs>419</Paragraphs>
  <Slides>14</Slides>
  <Notes>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Оформление по умолчанию</vt:lpstr>
      <vt:lpstr>Visio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Технические комплексы и средства шифрования информации</dc:title>
  <dc:creator>alviku</dc:creator>
  <cp:lastModifiedBy>Пользователь</cp:lastModifiedBy>
  <cp:revision>539</cp:revision>
  <dcterms:created xsi:type="dcterms:W3CDTF">2009-10-06T11:02:13Z</dcterms:created>
  <dcterms:modified xsi:type="dcterms:W3CDTF">2025-10-23T05:49:07Z</dcterms:modified>
</cp:coreProperties>
</file>