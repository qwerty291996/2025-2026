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8" r:id="rId7"/>
    <p:sldId id="269" r:id="rId8"/>
    <p:sldId id="270" r:id="rId9"/>
    <p:sldId id="271" r:id="rId10"/>
    <p:sldId id="272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951414-02F9-4D40-8728-B576B1D272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CF3D80A-CE42-472E-A4B9-8D5D4F828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4" indent="0" algn="ctr">
              <a:buNone/>
              <a:defRPr sz="2000"/>
            </a:lvl2pPr>
            <a:lvl3pPr marL="914428" indent="0" algn="ctr">
              <a:buNone/>
              <a:defRPr sz="1800"/>
            </a:lvl3pPr>
            <a:lvl4pPr marL="1371643" indent="0" algn="ctr">
              <a:buNone/>
              <a:defRPr sz="1600"/>
            </a:lvl4pPr>
            <a:lvl5pPr marL="1828857" indent="0" algn="ctr">
              <a:buNone/>
              <a:defRPr sz="1600"/>
            </a:lvl5pPr>
            <a:lvl6pPr marL="2286071" indent="0" algn="ctr">
              <a:buNone/>
              <a:defRPr sz="1600"/>
            </a:lvl6pPr>
            <a:lvl7pPr marL="2743285" indent="0" algn="ctr">
              <a:buNone/>
              <a:defRPr sz="1600"/>
            </a:lvl7pPr>
            <a:lvl8pPr marL="3200500" indent="0" algn="ctr">
              <a:buNone/>
              <a:defRPr sz="1600"/>
            </a:lvl8pPr>
            <a:lvl9pPr marL="3657714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9C5AFF-BAD8-4C66-841F-CDB99F176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75B096-1555-45FB-85F3-0EAEBBA96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072628-CC4C-48E5-937C-77B812D67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8954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ED6F6C-4424-4D78-B87D-31A660B62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194CF8-C7AF-4C64-92AF-EC57757EA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D1E25B-E5E6-48E2-9F7A-9606DA1C8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E3C50D-E570-4A11-9923-70AA3AA71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9A5DA9-4950-41B8-9065-FF2B3C508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21471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7CBF7C-5FB0-4B44-9A06-58F75FEC5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3B5F6D-6ACC-414A-9A8E-241BA025E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7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8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107BAD-D4BC-4989-8601-5DA867F4C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68F98A-9C47-4FD4-AA59-7733D0881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31C092-F299-41D6-BCB7-BB8FBAAB2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0240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21FE05-BDAB-4B12-92D6-FC2CCCAD6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E655CD-B291-4FFC-B9E1-96166AF90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DE3F6C-4EAB-4B82-8BDC-861D9EA36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7D8C33-C286-4B81-9C77-265D647C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8F2C444-E4BA-4B50-87EC-9D6D0C4E1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F0EE1D-ADDF-4BB2-97C8-819FA18AA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20482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ED51D4-3652-4CEF-982C-B27E328A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B8C160-46C8-44FD-BD53-017D2FC05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4" indent="0">
              <a:buNone/>
              <a:defRPr sz="2000" b="1"/>
            </a:lvl2pPr>
            <a:lvl3pPr marL="914428" indent="0">
              <a:buNone/>
              <a:defRPr sz="1800" b="1"/>
            </a:lvl3pPr>
            <a:lvl4pPr marL="1371643" indent="0">
              <a:buNone/>
              <a:defRPr sz="1600" b="1"/>
            </a:lvl4pPr>
            <a:lvl5pPr marL="1828857" indent="0">
              <a:buNone/>
              <a:defRPr sz="1600" b="1"/>
            </a:lvl5pPr>
            <a:lvl6pPr marL="2286071" indent="0">
              <a:buNone/>
              <a:defRPr sz="1600" b="1"/>
            </a:lvl6pPr>
            <a:lvl7pPr marL="2743285" indent="0">
              <a:buNone/>
              <a:defRPr sz="1600" b="1"/>
            </a:lvl7pPr>
            <a:lvl8pPr marL="3200500" indent="0">
              <a:buNone/>
              <a:defRPr sz="1600" b="1"/>
            </a:lvl8pPr>
            <a:lvl9pPr marL="3657714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F90A926-97A4-4F20-BC51-8799DE9720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020FD9-796B-4AA9-A7A8-1B5ED173F0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4" indent="0">
              <a:buNone/>
              <a:defRPr sz="2000" b="1"/>
            </a:lvl2pPr>
            <a:lvl3pPr marL="914428" indent="0">
              <a:buNone/>
              <a:defRPr sz="1800" b="1"/>
            </a:lvl3pPr>
            <a:lvl4pPr marL="1371643" indent="0">
              <a:buNone/>
              <a:defRPr sz="1600" b="1"/>
            </a:lvl4pPr>
            <a:lvl5pPr marL="1828857" indent="0">
              <a:buNone/>
              <a:defRPr sz="1600" b="1"/>
            </a:lvl5pPr>
            <a:lvl6pPr marL="2286071" indent="0">
              <a:buNone/>
              <a:defRPr sz="1600" b="1"/>
            </a:lvl6pPr>
            <a:lvl7pPr marL="2743285" indent="0">
              <a:buNone/>
              <a:defRPr sz="1600" b="1"/>
            </a:lvl7pPr>
            <a:lvl8pPr marL="3200500" indent="0">
              <a:buNone/>
              <a:defRPr sz="1600" b="1"/>
            </a:lvl8pPr>
            <a:lvl9pPr marL="3657714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5CA2D9E-0967-41CF-96F6-FE180D79E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D1EE05C-5CD8-43EA-9007-15D6F055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2A1B440-BCA9-4BDD-889D-8A36CEDF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3AD5C55-4454-49FF-911B-6E22022C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12140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C12406-3486-41F2-98A0-4D6145A4F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3ECE294-C614-473F-A4AE-D67414AFF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878299F-E94D-4B77-9050-B320C2EB7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13245B-FA96-4C57-A500-0E3E38CF0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6011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4606636-3909-45CC-B023-44CB17C28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61C2D08-FDE9-410C-A1EE-B55D9F601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5CC35C-111C-40A3-8E7E-AE2E257E2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94649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23C70D-F12C-4856-90EF-CDB41E5B5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D1E47F-20ED-4E4C-A2F4-364001ACF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61B7889-66C5-4FBE-A598-03F415940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4" indent="0">
              <a:buNone/>
              <a:defRPr sz="1400"/>
            </a:lvl2pPr>
            <a:lvl3pPr marL="914428" indent="0">
              <a:buNone/>
              <a:defRPr sz="1200"/>
            </a:lvl3pPr>
            <a:lvl4pPr marL="1371643" indent="0">
              <a:buNone/>
              <a:defRPr sz="1000"/>
            </a:lvl4pPr>
            <a:lvl5pPr marL="1828857" indent="0">
              <a:buNone/>
              <a:defRPr sz="1000"/>
            </a:lvl5pPr>
            <a:lvl6pPr marL="2286071" indent="0">
              <a:buNone/>
              <a:defRPr sz="1000"/>
            </a:lvl6pPr>
            <a:lvl7pPr marL="2743285" indent="0">
              <a:buNone/>
              <a:defRPr sz="1000"/>
            </a:lvl7pPr>
            <a:lvl8pPr marL="3200500" indent="0">
              <a:buNone/>
              <a:defRPr sz="1000"/>
            </a:lvl8pPr>
            <a:lvl9pPr marL="3657714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2B0398D-106F-47F4-9B98-6346595DB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509E405-8370-440E-BCF8-B7DFDEFDF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6D117E0-F27A-4A27-9308-EC5A8E4AE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44581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4178C1-6409-4D8A-B767-B2F4EA30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89828A-F1B6-4F32-8A80-6A27090FFE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4" indent="0">
              <a:buNone/>
              <a:defRPr sz="2800"/>
            </a:lvl2pPr>
            <a:lvl3pPr marL="914428" indent="0">
              <a:buNone/>
              <a:defRPr sz="2400"/>
            </a:lvl3pPr>
            <a:lvl4pPr marL="1371643" indent="0">
              <a:buNone/>
              <a:defRPr sz="2000"/>
            </a:lvl4pPr>
            <a:lvl5pPr marL="1828857" indent="0">
              <a:buNone/>
              <a:defRPr sz="2000"/>
            </a:lvl5pPr>
            <a:lvl6pPr marL="2286071" indent="0">
              <a:buNone/>
              <a:defRPr sz="2000"/>
            </a:lvl6pPr>
            <a:lvl7pPr marL="2743285" indent="0">
              <a:buNone/>
              <a:defRPr sz="2000"/>
            </a:lvl7pPr>
            <a:lvl8pPr marL="3200500" indent="0">
              <a:buNone/>
              <a:defRPr sz="2000"/>
            </a:lvl8pPr>
            <a:lvl9pPr marL="3657714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C94203E-D348-4956-8D77-C4E5E5075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4" indent="0">
              <a:buNone/>
              <a:defRPr sz="1400"/>
            </a:lvl2pPr>
            <a:lvl3pPr marL="914428" indent="0">
              <a:buNone/>
              <a:defRPr sz="1200"/>
            </a:lvl3pPr>
            <a:lvl4pPr marL="1371643" indent="0">
              <a:buNone/>
              <a:defRPr sz="1000"/>
            </a:lvl4pPr>
            <a:lvl5pPr marL="1828857" indent="0">
              <a:buNone/>
              <a:defRPr sz="1000"/>
            </a:lvl5pPr>
            <a:lvl6pPr marL="2286071" indent="0">
              <a:buNone/>
              <a:defRPr sz="1000"/>
            </a:lvl6pPr>
            <a:lvl7pPr marL="2743285" indent="0">
              <a:buNone/>
              <a:defRPr sz="1000"/>
            </a:lvl7pPr>
            <a:lvl8pPr marL="3200500" indent="0">
              <a:buNone/>
              <a:defRPr sz="1000"/>
            </a:lvl8pPr>
            <a:lvl9pPr marL="3657714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7C6335C-F245-4DBF-AB87-CF52425B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78E10BA-FC32-41A7-9FF3-063C6D92C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ABC50EA-C08B-4A5A-9F35-80C2615B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5979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795BF-CC46-4475-A45C-7CB491DBE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A15863D-4BF9-42A2-8BFF-BB85D458A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1F1E8F-264F-4CE4-A688-EECF1338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B39968-2D48-4270-971C-FF6F01A24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B174BD-7ED2-4B56-BCAF-691B62F1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96903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DB5B286-4626-4BE2-9201-F68526A055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18E7DEF-557D-4E6E-B883-2CB9A5379A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05ED10-6D48-4B8B-AD0A-9A052253A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1639A6-A8EA-40F7-9D8B-70AC9489D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FCC51A-DCAD-44BA-ACF2-B7AC38860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72983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86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43A0D-AE51-48B8-942C-5F67A5267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LID4096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07E06E-920B-48CB-8DB4-84794A3078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LID4096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D229D85-A1BA-451C-A408-20F105A66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0D5EA0-F549-449E-88B2-E0505F5A634C}" type="datetimeFigureOut">
              <a:rPr lang="LID4096" smtClean="0"/>
              <a:t>09/05/2025</a:t>
            </a:fld>
            <a:endParaRPr lang="LID4096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0179D6-1475-4BAE-BAF1-1751EB7D53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579240-C05E-43D6-976C-9ED409A019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A2DBA-9277-4A38-B0DD-916BAB7CAB1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22816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2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2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2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36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50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65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79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93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07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22" indent="-228608" algn="l" defTabSz="9144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8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43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57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71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85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00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14" algn="l" defTabSz="91442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9BFC1A9-62DE-4C48-BB79-E5A5081D32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967E9">
              <a:alpha val="80000"/>
            </a:srgbClr>
          </a:solidFill>
          <a:ln/>
        </p:spPr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B83EC17-E5ED-489B-A896-839B6D9C4378}"/>
              </a:ext>
            </a:extLst>
          </p:cNvPr>
          <p:cNvSpPr/>
          <p:nvPr/>
        </p:nvSpPr>
        <p:spPr>
          <a:xfrm>
            <a:off x="0" y="2628113"/>
            <a:ext cx="12192000" cy="1601774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50" dirty="0">
                <a:solidFill>
                  <a:srgbClr val="FFFFFF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1-mavzu. 13-mashg‘ulot:</a:t>
            </a:r>
          </a:p>
          <a:p>
            <a:pPr algn="ctr">
              <a:lnSpc>
                <a:spcPts val="5550"/>
              </a:lnSpc>
            </a:pPr>
            <a:r>
              <a:rPr lang="en-US" sz="4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8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OOP </a:t>
            </a:r>
            <a:r>
              <a:rPr lang="en-US" sz="48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asoslari</a:t>
            </a:r>
            <a:endParaRPr lang="en-US" sz="48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7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C05110-FBAF-4E5C-8D69-806EC9F87D1F}"/>
              </a:ext>
            </a:extLst>
          </p:cNvPr>
          <p:cNvSpPr/>
          <p:nvPr/>
        </p:nvSpPr>
        <p:spPr>
          <a:xfrm>
            <a:off x="4210954" y="1610856"/>
            <a:ext cx="3770091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708"/>
              </a:lnSpc>
            </a:pP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O‘quv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</a:t>
            </a:r>
            <a:r>
              <a:rPr lang="en-US" sz="4500" dirty="0" err="1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savollari</a:t>
            </a:r>
            <a:r>
              <a:rPr lang="en-US" sz="4500" dirty="0">
                <a:solidFill>
                  <a:srgbClr val="1B1B27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D0AB8B-D69B-410C-97FC-AAAF3047ADBE}"/>
              </a:ext>
            </a:extLst>
          </p:cNvPr>
          <p:cNvSpPr/>
          <p:nvPr/>
        </p:nvSpPr>
        <p:spPr>
          <a:xfrm>
            <a:off x="4210954" y="2632671"/>
            <a:ext cx="3770091" cy="2872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Vorislik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Maxsus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xususiyatlari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Dekoratorlar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v-SE" sz="4000" dirty="0">
              <a:solidFill>
                <a:srgbClr val="404155"/>
              </a:solidFill>
              <a:latin typeface="Times New Roman" panose="02020603050405020304" pitchFamily="18" charset="0"/>
              <a:ea typeface="Nobile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7689E44-B307-4A76-9C2B-E716B3ACBFB8}"/>
              </a:ext>
            </a:extLst>
          </p:cNvPr>
          <p:cNvSpPr/>
          <p:nvPr/>
        </p:nvSpPr>
        <p:spPr>
          <a:xfrm>
            <a:off x="3181131" y="0"/>
            <a:ext cx="5829736" cy="6822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ts val="4625"/>
              </a:lnSpc>
            </a:pPr>
            <a:r>
              <a:rPr lang="en-US" sz="44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Pythonda</a:t>
            </a:r>
            <a:r>
              <a:rPr lang="en-US" sz="4400" b="1" dirty="0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 OOP </a:t>
            </a:r>
            <a:r>
              <a:rPr lang="en-US" sz="4400" b="1" dirty="0" err="1">
                <a:solidFill>
                  <a:srgbClr val="00B050"/>
                </a:solidFill>
                <a:latin typeface="Times New Roman" panose="02020603050405020304" pitchFamily="18" charset="0"/>
                <a:ea typeface="Corben" pitchFamily="34" charset="-122"/>
                <a:cs typeface="Times New Roman" panose="02020603050405020304" pitchFamily="18" charset="0"/>
              </a:rPr>
              <a:t>asoslari</a:t>
            </a:r>
            <a:endParaRPr lang="en-US" sz="4400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E3B73B8F-F4E1-4444-94F1-884870BC4540}"/>
              </a:ext>
            </a:extLst>
          </p:cNvPr>
          <p:cNvCxnSpPr/>
          <p:nvPr/>
        </p:nvCxnSpPr>
        <p:spPr>
          <a:xfrm>
            <a:off x="0" y="582692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9230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2BE474-6F1F-4105-B360-9624092E8C00}"/>
              </a:ext>
            </a:extLst>
          </p:cNvPr>
          <p:cNvSpPr/>
          <p:nvPr/>
        </p:nvSpPr>
        <p:spPr>
          <a:xfrm>
            <a:off x="457200" y="905246"/>
            <a:ext cx="11277600" cy="5677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Ta’rif</a:t>
            </a:r>
            <a:r>
              <a:rPr lang="en-US" sz="20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Vorislik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mavjud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yangi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yaratish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imkoniyatini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beradigan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mexanizm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Bunda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yangi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(subclass, child)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ota-klass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(superclass, parent)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atributlarini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meros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qilib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oladi</a:t>
            </a:r>
            <a:r>
              <a:rPr lang="en-US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Sintaksis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Parent</a:t>
            </a:r>
            <a:r>
              <a:rPr lang="en-US" sz="1600" dirty="0"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60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ota</a:t>
            </a:r>
            <a:r>
              <a:rPr lang="en-US" sz="1600" i="1" dirty="0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1600" i="1" dirty="0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kodi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pass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b="1" dirty="0"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Child</a:t>
            </a:r>
            <a:r>
              <a:rPr lang="en-US" sz="1600" dirty="0"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b="1" dirty="0">
                <a:solidFill>
                  <a:srgbClr val="7A3E9D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Parent</a:t>
            </a:r>
            <a:r>
              <a:rPr lang="en-US" sz="1600" dirty="0">
                <a:solidFill>
                  <a:srgbClr val="777777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i="1" dirty="0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bola </a:t>
            </a:r>
            <a:r>
              <a:rPr lang="en-US" sz="160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1600" i="1" dirty="0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AAAAAA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kodi</a:t>
            </a: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600" dirty="0">
                <a:solidFill>
                  <a:srgbClr val="333333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600" dirty="0">
                <a:solidFill>
                  <a:srgbClr val="4B69C6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pass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M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🔑 </a:t>
            </a: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Afzalliklari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Kodni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qayta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ishlatish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imkoniyati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hayotdagi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ierarxiyalarni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qilish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masalan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Person -&gt; Employee)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Metodlarni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qayta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aniqlash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(overriding)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imkoniyati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Polimorfizm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kengaytiriladigan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dizayn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endParaRPr lang="en-US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D3B151A-6FC9-4F8C-8059-4BCF4D69593E}"/>
              </a:ext>
            </a:extLst>
          </p:cNvPr>
          <p:cNvSpPr/>
          <p:nvPr/>
        </p:nvSpPr>
        <p:spPr>
          <a:xfrm>
            <a:off x="3600765" y="-56985"/>
            <a:ext cx="499046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1️</a:t>
            </a:r>
            <a:r>
              <a:rPr lang="en-US" sz="3600" b="1" dirty="0">
                <a:effectLst/>
                <a:latin typeface="Tahom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6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Vorislik</a:t>
            </a:r>
            <a:r>
              <a:rPr lang="en-US" sz="3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(Inheritance)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71607C6F-879B-400B-91B1-810285260B91}"/>
              </a:ext>
            </a:extLst>
          </p:cNvPr>
          <p:cNvCxnSpPr/>
          <p:nvPr/>
        </p:nvCxnSpPr>
        <p:spPr>
          <a:xfrm>
            <a:off x="0" y="609183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245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B5891AA-6D91-4A66-8FD5-4A9F5AEF9F31}"/>
              </a:ext>
            </a:extLst>
          </p:cNvPr>
          <p:cNvSpPr/>
          <p:nvPr/>
        </p:nvSpPr>
        <p:spPr>
          <a:xfrm>
            <a:off x="523875" y="592275"/>
            <a:ext cx="11144250" cy="5206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r>
              <a:rPr lang="en-US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display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"Name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works"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display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Name: Tom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tom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work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Tom works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4117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214C117-E25A-4B5E-8737-F3613A556F0E}"/>
              </a:ext>
            </a:extLst>
          </p:cNvPr>
          <p:cNvSpPr/>
          <p:nvPr/>
        </p:nvSpPr>
        <p:spPr>
          <a:xfrm>
            <a:off x="3935964" y="-19953"/>
            <a:ext cx="38057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Amaliy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mashqlar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705C9C63-FE41-4A2D-9ED3-85A7E33A2046}"/>
              </a:ext>
            </a:extLst>
          </p:cNvPr>
          <p:cNvCxnSpPr/>
          <p:nvPr/>
        </p:nvCxnSpPr>
        <p:spPr>
          <a:xfrm>
            <a:off x="0" y="647283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6A25693F-49F4-4A86-AA33-9B0FBEBF6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035574"/>
            <a:ext cx="568642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LID4096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1️</a:t>
            </a:r>
            <a:r>
              <a:rPr kumimoji="0" lang="en-US" altLang="LID4096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Unda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sound()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bo‘lsin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umumiy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ovoz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chiqaradigan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qilib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klassidan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klassida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sound()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qayta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yozing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(override)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"Woof!"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chiqarsin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klassidan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yaratib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LID4096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chaqiring</a:t>
            </a:r>
            <a:r>
              <a:rPr kumimoji="0" lang="en-US" altLang="LID4096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71F8394-04BC-420D-AB72-31B8BE4B89A2}"/>
              </a:ext>
            </a:extLst>
          </p:cNvPr>
          <p:cNvSpPr/>
          <p:nvPr/>
        </p:nvSpPr>
        <p:spPr>
          <a:xfrm>
            <a:off x="266701" y="3150182"/>
            <a:ext cx="5467350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Kod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sound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Some generic animal sound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Animal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sound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Woof!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dog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sound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Woof!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CA155B5-6F44-468A-B757-F4562410B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3176" y="1040254"/>
            <a:ext cx="5838823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LID4096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2️. </a:t>
            </a:r>
            <a:r>
              <a:rPr lang="en-US" altLang="LID4096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U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odamlarni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ifodalashtirsin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undan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klassini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oling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klassiga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study()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qo‘shing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altLang="LID4096" dirty="0">
                <a:solidFill>
                  <a:srgbClr val="C0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"I am studying"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xabarini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chiqarsin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obyektidan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foydalanib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metodni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chaqirib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ko‘ring</a:t>
            </a:r>
            <a:r>
              <a:rPr lang="en-US" altLang="LID4096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A7B91EE-FAC3-4237-BA8A-F7077F12A8D1}"/>
              </a:ext>
            </a:extLst>
          </p:cNvPr>
          <p:cNvSpPr/>
          <p:nvPr/>
        </p:nvSpPr>
        <p:spPr>
          <a:xfrm>
            <a:off x="6353176" y="3150182"/>
            <a:ext cx="5838824" cy="30421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Kod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is studying"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Ali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student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study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Ali is studying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637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25693F-49F4-4A86-AA33-9B0FBEBF65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399" y="0"/>
            <a:ext cx="5686425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LID4096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3️. </a:t>
            </a:r>
            <a:r>
              <a:rPr lang="en-US" altLang="LID4096" sz="1600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odamning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atributini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saqlasin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Keyin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nomli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klassidan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qiling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klassida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qo‘shimcha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ravishda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solidFill>
                  <a:srgbClr val="00B0F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atributini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yaratib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kumimoji="0" lang="en-US" altLang="LID4096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CA155B5-6F44-468A-B757-F4562410B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0777" y="0"/>
            <a:ext cx="5838823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LID4096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4️.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Klasslar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ierarxiyasini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saqlasin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unga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qo‘shilsin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lvl="0" indent="-28575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voris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unga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atributi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qo‘shilsin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So‘ngra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yaratib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ma’lumotlarini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16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chiqaring</a:t>
            </a:r>
            <a:r>
              <a:rPr lang="en-US" altLang="LID4096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F2937C-D49C-422F-990E-E55E3EE17D43}"/>
              </a:ext>
            </a:extLst>
          </p:cNvPr>
          <p:cNvSpPr/>
          <p:nvPr/>
        </p:nvSpPr>
        <p:spPr>
          <a:xfrm>
            <a:off x="228598" y="2081153"/>
            <a:ext cx="5686425" cy="3555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Kod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super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Dilshod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5000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</a:t>
            </a:r>
            <a:r>
              <a:rPr lang="en-US" sz="1400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Dilshod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5000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78CF6359-B574-4550-8ECB-A482256C809C}"/>
              </a:ext>
            </a:extLst>
          </p:cNvPr>
          <p:cNvSpPr/>
          <p:nvPr/>
        </p:nvSpPr>
        <p:spPr>
          <a:xfrm>
            <a:off x="6096000" y="2019818"/>
            <a:ext cx="6096000" cy="483433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Kod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Person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super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Employee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super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</a:pP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Zafar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8000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1400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")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  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Zafar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8000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manager</a:t>
            </a:r>
            <a:r>
              <a:rPr lang="en-US" sz="1400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400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lang="en-US" sz="1400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1400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</a:t>
            </a:r>
            <a:r>
              <a:rPr lang="en-US" sz="1400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IT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02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5DB3F1C-E3F7-4178-A05F-8E0616ABABD2}"/>
              </a:ext>
            </a:extLst>
          </p:cNvPr>
          <p:cNvSpPr/>
          <p:nvPr/>
        </p:nvSpPr>
        <p:spPr>
          <a:xfrm>
            <a:off x="2239816" y="10477"/>
            <a:ext cx="77123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Maxsus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dunder</a:t>
            </a:r>
            <a:r>
              <a:rPr lang="en-US" sz="36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methods)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DB5A698E-B2EB-44AA-A2CF-05A5D67065F3}"/>
              </a:ext>
            </a:extLst>
          </p:cNvPr>
          <p:cNvCxnSpPr/>
          <p:nvPr/>
        </p:nvCxnSpPr>
        <p:spPr>
          <a:xfrm>
            <a:off x="0" y="656808"/>
            <a:ext cx="12192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1">
            <a:extLst>
              <a:ext uri="{FF2B5EF4-FFF2-40B4-BE49-F238E27FC236}">
                <a16:creationId xmlns:a16="http://schemas.microsoft.com/office/drawing/2014/main" id="{C81F8480-B891-463E-9585-C0D944699F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5351" y="721399"/>
            <a:ext cx="11635674" cy="60170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>
              <a:spcBef>
                <a:spcPts val="600"/>
              </a:spcBef>
            </a:pP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Python’dagi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maxsus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yoki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dunder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methods — double underscore methods) —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bu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klasslarga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maxsus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xatti-harakatlarni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qo‘shish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imkonini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beradigan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metodlardir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Ular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har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doim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ikki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pastki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chiziq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boshlanib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tugaydi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LID4096" sz="20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masalan</a:t>
            </a:r>
            <a:r>
              <a:rPr lang="en-US" altLang="LID4096" sz="20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LID4096" altLang="LID4096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__init__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konstruktor, obyekt yaratilganda ishga tushadi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__str__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obyektni matn ko‘rinishida qaytaradi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print()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chaqirilganda)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__repr__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obyektning texnik ko‘rinishi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debug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uchun)</a:t>
            </a:r>
          </a:p>
          <a:p>
            <a:pPr marL="285750" marR="0" lvl="0" indent="-285750">
              <a:lnSpc>
                <a:spcPct val="100000"/>
              </a:lnSpc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__len__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len(obj)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chaqirilganda ishlaydi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__getitem__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indeks bo‘yicha obyekt elementini olish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obj[0]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marR="0" lvl="0" indent="-285750">
              <a:lnSpc>
                <a:spcPct val="100000"/>
              </a:lnSpc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__setitem__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indeks bo‘yicha qiymatni o‘zgartirish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obj[1] = x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__delitem__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elementni o‘chirish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del obj[2]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marR="0" lvl="0" indent="-285750">
              <a:lnSpc>
                <a:spcPct val="100000"/>
              </a:lnSpc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__iter__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__next__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obyektni iterator qilish (for siklda ishlatish)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__contains__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kumimoji="0" lang="LID4096" altLang="LID4096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Times New Roman" panose="02020603050405020304" pitchFamily="18" charset="0"/>
                <a:cs typeface="Courier New" panose="02070309020205020404" pitchFamily="49" charset="0"/>
              </a:rPr>
              <a:t>in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operatorini ishlatish uchun</a:t>
            </a:r>
          </a:p>
          <a:p>
            <a:pPr marL="285750" marR="0" lvl="0" indent="-285750">
              <a:lnSpc>
                <a:spcPct val="100000"/>
              </a:lnSpc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__eq__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__lt__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__gt__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taqqoslash operatorlari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==, &lt;, &gt;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__add__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__sub__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__mul__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__truediv__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arifmetik operatorlar uchun</a:t>
            </a:r>
          </a:p>
          <a:p>
            <a:pPr marL="285750" marR="0" lvl="0" indent="-285750">
              <a:lnSpc>
                <a:spcPct val="100000"/>
              </a:lnSpc>
              <a:spcBef>
                <a:spcPts val="600"/>
              </a:spcBef>
              <a:buClrTx/>
              <a:buSzTx/>
              <a:buFont typeface="Arial" panose="020B0604020202020204" pitchFamily="34" charset="0"/>
              <a:buChar char="•"/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__call__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obyektni funksiya kabi chaqirish imkoniyati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__enter__</a:t>
            </a:r>
            <a:r>
              <a:rPr lang="LID4096" altLang="LID4096" sz="1600" dirty="0"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LID4096" altLang="LID4096" sz="1600" dirty="0">
                <a:solidFill>
                  <a:srgbClr val="00B0F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__exit__ </a:t>
            </a:r>
            <a:r>
              <a:rPr kumimoji="0" lang="LID4096" altLang="LID4096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</a:rPr>
              <a:t>→ 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konteks menejer (</a:t>
            </a:r>
            <a:r>
              <a:rPr lang="LID4096" altLang="LID4096" sz="2000" dirty="0">
                <a:latin typeface="Consolas" panose="020B0609020204030204" pitchFamily="49" charset="0"/>
                <a:cs typeface="Times New Roman" panose="02020603050405020304" pitchFamily="18" charset="0"/>
              </a:rPr>
              <a:t>with</a:t>
            </a:r>
            <a:r>
              <a:rPr lang="LID4096" altLang="LID4096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operatori)</a:t>
            </a:r>
          </a:p>
        </p:txBody>
      </p:sp>
    </p:spTree>
    <p:extLst>
      <p:ext uri="{BB962C8B-B14F-4D97-AF65-F5344CB8AC3E}">
        <p14:creationId xmlns:p14="http://schemas.microsoft.com/office/powerpoint/2010/main" val="1546250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1D52F5A-7F4D-4878-9D18-627C2AC5EC33}"/>
              </a:ext>
            </a:extLst>
          </p:cNvPr>
          <p:cNvSpPr/>
          <p:nvPr/>
        </p:nvSpPr>
        <p:spPr>
          <a:xfrm>
            <a:off x="561975" y="843766"/>
            <a:ext cx="11068050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M" sz="2800" b="1" dirty="0">
                <a:effectLst/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🔹</a:t>
            </a:r>
            <a:r>
              <a:rPr lang="en-UM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Vazifasi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Maxsus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yordamida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biz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oddiy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funksiyalar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operatorlarning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klass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obyektlariga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tabiiy</a:t>
            </a:r>
            <a:r>
              <a:rPr lang="en-US" sz="2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ta’minlaymiz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Ya’ni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print(obj)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avtomatik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__str__()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(obj)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avtomatik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60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__()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obj1 + obj2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avtomatik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__add__()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obj[</a:t>
            </a:r>
            <a:r>
              <a:rPr lang="en-US" sz="160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avtomatik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60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getitem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__()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obj1 == obj2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avtomatik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__eq__()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metodini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chaqiradi</a:t>
            </a:r>
            <a:r>
              <a:rPr lang="en-US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6785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DE2403B-9AFA-43CE-9EC8-3A750C543860}"/>
              </a:ext>
            </a:extLst>
          </p:cNvPr>
          <p:cNvSpPr/>
          <p:nvPr/>
        </p:nvSpPr>
        <p:spPr>
          <a:xfrm>
            <a:off x="885824" y="151179"/>
            <a:ext cx="10420352" cy="6278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M" sz="2400" b="1" dirty="0">
                <a:effectLst/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🔹</a:t>
            </a:r>
            <a:r>
              <a:rPr lang="en-UM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Asosiy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turlari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vazifalari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yaratish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o‘rnatish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sz="1400" b="1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__(self, ...)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konstruktor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yaratilganda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ishlaydi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__del__(self)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destruktor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o‘chirayotganda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ishlaydi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Matnli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ko‘rinish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__str__(self)</a:t>
            </a:r>
            <a:r>
              <a:rPr lang="en-US" sz="1200" b="1" dirty="0">
                <a:latin typeface="Consolas" panose="020B0609020204030204" pitchFamily="49" charset="0"/>
                <a:cs typeface="Times New Roman" panose="02020603050405020304" pitchFamily="18" charset="0"/>
              </a:rPr>
              <a:t> – print(obj)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chaqirilganda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ishlaydi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repr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obyektni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aniqroq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matnli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ko‘rinishda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qaytaradi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(debug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O‘lcham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elementlarga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murojaat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len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 err="1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(obj)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getitem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index)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obj[index]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setitem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index, value)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obj[index] = value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delitem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index)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obj[index]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uchun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Operatorlarni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qo‘llash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__add__(self,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__sub__(self,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mul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truediv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__eq__(self,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==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lt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__(self, other)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sz="1200" dirty="0"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boshqa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matematik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taqqoslash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operatorlari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arabicPeriod"/>
              <a:tabLst>
                <a:tab pos="457200" algn="l"/>
              </a:tabLst>
            </a:pP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Chaqiriladigan</a:t>
            </a:r>
            <a:r>
              <a:rPr lang="en-US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obyektlar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__call__(self, ...) 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obyektni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funksiya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kabi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chaqirish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imkonini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beradi</a:t>
            </a:r>
            <a:r>
              <a:rPr lang="en-US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606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6194A83-9112-4E9F-AFDE-F26BD302DE51}"/>
              </a:ext>
            </a:extLst>
          </p:cNvPr>
          <p:cNvSpPr/>
          <p:nvPr/>
        </p:nvSpPr>
        <p:spPr>
          <a:xfrm>
            <a:off x="742950" y="0"/>
            <a:ext cx="10706100" cy="59250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M" sz="2800" b="1" dirty="0">
                <a:effectLst/>
                <a:latin typeface="Segoe UI Emoji" panose="020B0502040204020203" pitchFamily="34" charset="0"/>
                <a:ea typeface="Times New Roman" panose="02020603050405020304" pitchFamily="18" charset="0"/>
                <a:cs typeface="Segoe UI Emoji" panose="020B0502040204020203" pitchFamily="34" charset="0"/>
              </a:rPr>
              <a:t>🔹</a:t>
            </a:r>
            <a:r>
              <a:rPr lang="en-UM" sz="2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Misol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__str__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dirty="0" err="1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"Vector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dirty="0">
                <a:solidFill>
                  <a:srgbClr val="448C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)"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__add__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):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dirty="0">
                <a:solidFill>
                  <a:srgbClr val="4B69C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r>
              <a:rPr lang="en-US" dirty="0" err="1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v1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v2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9C5D2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v1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     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Vector(2, 3)  -&gt; __str__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dirty="0" err="1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v1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5             -&gt; __</a:t>
            </a:r>
            <a:r>
              <a:rPr lang="en-US" i="1" dirty="0" err="1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len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__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ts val="1425"/>
              </a:lnSpc>
              <a:spcBef>
                <a:spcPts val="600"/>
              </a:spcBef>
              <a:spcAft>
                <a:spcPts val="0"/>
              </a:spcAft>
            </a:pP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print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v1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AA373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7A3E9D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v2</a:t>
            </a:r>
            <a:r>
              <a:rPr lang="en-US" dirty="0">
                <a:solidFill>
                  <a:srgbClr val="777777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solidFill>
                  <a:srgbClr val="333333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    </a:t>
            </a:r>
            <a:r>
              <a:rPr lang="en-US" i="1" dirty="0">
                <a:solidFill>
                  <a:srgbClr val="AAAAAA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# Vector(6, 8)  -&gt; __add__</a:t>
            </a:r>
            <a:endParaRPr lang="en-US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105E2FD-8D0D-4DE0-823B-9EDEE8311601}"/>
              </a:ext>
            </a:extLst>
          </p:cNvPr>
          <p:cNvSpPr/>
          <p:nvPr/>
        </p:nvSpPr>
        <p:spPr>
          <a:xfrm>
            <a:off x="285750" y="6286970"/>
            <a:ext cx="1162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M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👉</a:t>
            </a:r>
            <a:r>
              <a:rPr lang="en-UM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Xullas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dunder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metodlar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obyektlarni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odatiy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Python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funksiyalari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operatorlari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bilan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mos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ishlashini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ta’minlaydi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b="1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17106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337</TotalTime>
  <Words>1642</Words>
  <Application>Microsoft Office PowerPoint</Application>
  <PresentationFormat>Широкоэкранный</PresentationFormat>
  <Paragraphs>170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21" baseType="lpstr">
      <vt:lpstr>Arial</vt:lpstr>
      <vt:lpstr>Arial Unicode MS</vt:lpstr>
      <vt:lpstr>Calibri</vt:lpstr>
      <vt:lpstr>Calibri Light</vt:lpstr>
      <vt:lpstr>Consolas</vt:lpstr>
      <vt:lpstr>Courier New</vt:lpstr>
      <vt:lpstr>Segoe UI Emoji</vt:lpstr>
      <vt:lpstr>Symbol</vt:lpstr>
      <vt:lpstr>Tahoma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user</cp:lastModifiedBy>
  <cp:revision>63</cp:revision>
  <dcterms:created xsi:type="dcterms:W3CDTF">2025-09-05T05:49:43Z</dcterms:created>
  <dcterms:modified xsi:type="dcterms:W3CDTF">2025-09-05T11:27:22Z</dcterms:modified>
</cp:coreProperties>
</file>