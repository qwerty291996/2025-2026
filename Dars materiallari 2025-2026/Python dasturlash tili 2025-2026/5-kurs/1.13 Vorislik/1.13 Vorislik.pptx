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57" r:id="rId4"/>
    <p:sldId id="258" r:id="rId5"/>
    <p:sldId id="259" r:id="rId6"/>
    <p:sldId id="268" r:id="rId7"/>
    <p:sldId id="269" r:id="rId8"/>
    <p:sldId id="270" r:id="rId9"/>
    <p:sldId id="271" r:id="rId10"/>
    <p:sldId id="272" r:id="rId11"/>
    <p:sldId id="274" r:id="rId12"/>
    <p:sldId id="275" r:id="rId13"/>
    <p:sldId id="277" r:id="rId14"/>
    <p:sldId id="278" r:id="rId15"/>
    <p:sldId id="279" r:id="rId16"/>
    <p:sldId id="280" r:id="rId17"/>
    <p:sldId id="281" r:id="rId18"/>
    <p:sldId id="282" r:id="rId19"/>
    <p:sldId id="283" r:id="rId20"/>
    <p:sldId id="284" r:id="rId21"/>
    <p:sldId id="285" r:id="rId2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6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951414-02F9-4D40-8728-B576B1D272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F3D80A-CE42-472E-A4B9-8D5D4F8281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4" indent="0" algn="ctr">
              <a:buNone/>
              <a:defRPr sz="2000"/>
            </a:lvl2pPr>
            <a:lvl3pPr marL="914428" indent="0" algn="ctr">
              <a:buNone/>
              <a:defRPr sz="1800"/>
            </a:lvl3pPr>
            <a:lvl4pPr marL="1371643" indent="0" algn="ctr">
              <a:buNone/>
              <a:defRPr sz="1600"/>
            </a:lvl4pPr>
            <a:lvl5pPr marL="1828857" indent="0" algn="ctr">
              <a:buNone/>
              <a:defRPr sz="1600"/>
            </a:lvl5pPr>
            <a:lvl6pPr marL="2286071" indent="0" algn="ctr">
              <a:buNone/>
              <a:defRPr sz="1600"/>
            </a:lvl6pPr>
            <a:lvl7pPr marL="2743285" indent="0" algn="ctr">
              <a:buNone/>
              <a:defRPr sz="1600"/>
            </a:lvl7pPr>
            <a:lvl8pPr marL="3200500" indent="0" algn="ctr">
              <a:buNone/>
              <a:defRPr sz="1600"/>
            </a:lvl8pPr>
            <a:lvl9pPr marL="3657714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9C5AFF-BAD8-4C66-841F-CDB99F176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775B096-1555-45FB-85F3-0EAEBBA96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072628-CC4C-48E5-937C-77B812D67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68954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ED6F6C-4424-4D78-B87D-31A660B62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D194CF8-C7AF-4C64-92AF-EC57757EA4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5D1E25B-E5E6-48E2-9F7A-9606DA1C8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9E3C50D-E570-4A11-9923-70AA3AA71B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09A5DA9-4950-41B8-9065-FF2B3C508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14713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7CBF7C-5FB0-4B44-9A06-58F75FEC5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33B5F6D-6ACC-414A-9A8E-241BA025E1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14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7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85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5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71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E107BAD-D4BC-4989-8601-5DA867F4C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D68F98A-9C47-4FD4-AA59-7733D0881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31C092-F299-41D6-BCB7-BB8FBAAB2A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02409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21FE05-BDAB-4B12-92D6-FC2CCCAD6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5E655CD-B291-4FFC-B9E1-96166AF90D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DE3F6C-4EAB-4B82-8BDC-861D9EA36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A7D8C33-C286-4B81-9C77-265D647C97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8F2C444-E4BA-4B50-87EC-9D6D0C4E1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AF0EE1D-ADDF-4BB2-97C8-819FA18AA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20482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ED51D4-3652-4CEF-982C-B27E328A2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BB8C160-46C8-44FD-BD53-017D2FC057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4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4" indent="0">
              <a:buNone/>
              <a:defRPr sz="2000" b="1"/>
            </a:lvl2pPr>
            <a:lvl3pPr marL="914428" indent="0">
              <a:buNone/>
              <a:defRPr sz="1800" b="1"/>
            </a:lvl3pPr>
            <a:lvl4pPr marL="1371643" indent="0">
              <a:buNone/>
              <a:defRPr sz="1600" b="1"/>
            </a:lvl4pPr>
            <a:lvl5pPr marL="1828857" indent="0">
              <a:buNone/>
              <a:defRPr sz="1600" b="1"/>
            </a:lvl5pPr>
            <a:lvl6pPr marL="2286071" indent="0">
              <a:buNone/>
              <a:defRPr sz="1600" b="1"/>
            </a:lvl6pPr>
            <a:lvl7pPr marL="2743285" indent="0">
              <a:buNone/>
              <a:defRPr sz="1600" b="1"/>
            </a:lvl7pPr>
            <a:lvl8pPr marL="3200500" indent="0">
              <a:buNone/>
              <a:defRPr sz="1600" b="1"/>
            </a:lvl8pPr>
            <a:lvl9pPr marL="3657714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F90A926-97A4-4F20-BC51-8799DE972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B020FD9-796B-4AA9-A7A8-1B5ED173F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4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14" indent="0">
              <a:buNone/>
              <a:defRPr sz="2000" b="1"/>
            </a:lvl2pPr>
            <a:lvl3pPr marL="914428" indent="0">
              <a:buNone/>
              <a:defRPr sz="1800" b="1"/>
            </a:lvl3pPr>
            <a:lvl4pPr marL="1371643" indent="0">
              <a:buNone/>
              <a:defRPr sz="1600" b="1"/>
            </a:lvl4pPr>
            <a:lvl5pPr marL="1828857" indent="0">
              <a:buNone/>
              <a:defRPr sz="1600" b="1"/>
            </a:lvl5pPr>
            <a:lvl6pPr marL="2286071" indent="0">
              <a:buNone/>
              <a:defRPr sz="1600" b="1"/>
            </a:lvl6pPr>
            <a:lvl7pPr marL="2743285" indent="0">
              <a:buNone/>
              <a:defRPr sz="1600" b="1"/>
            </a:lvl7pPr>
            <a:lvl8pPr marL="3200500" indent="0">
              <a:buNone/>
              <a:defRPr sz="1600" b="1"/>
            </a:lvl8pPr>
            <a:lvl9pPr marL="3657714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A5CA2D9E-0967-41CF-96F6-FE180D79E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D1EE05C-5CD8-43EA-9007-15D6F055F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2A1B440-BCA9-4BDD-889D-8A36CEDFE8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3AD5C55-4454-49FF-911B-6E22022C4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121406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C12406-3486-41F2-98A0-4D6145A4F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3ECE294-C614-473F-A4AE-D67414AF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878299F-E94D-4B77-9050-B320C2EB7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A13245B-FA96-4C57-A500-0E3E38CF0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6011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4606636-3909-45CC-B023-44CB17C28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61C2D08-FDE9-410C-A1EE-B55D9F601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F5CC35C-111C-40A3-8E7E-AE2E257E2A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294649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123C70D-F12C-4856-90EF-CDB41E5B5D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FD1E47F-20ED-4E4C-A2F4-364001ACF0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61B7889-66C5-4FBE-A598-03F4159405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4" indent="0">
              <a:buNone/>
              <a:defRPr sz="1400"/>
            </a:lvl2pPr>
            <a:lvl3pPr marL="914428" indent="0">
              <a:buNone/>
              <a:defRPr sz="1200"/>
            </a:lvl3pPr>
            <a:lvl4pPr marL="1371643" indent="0">
              <a:buNone/>
              <a:defRPr sz="1000"/>
            </a:lvl4pPr>
            <a:lvl5pPr marL="1828857" indent="0">
              <a:buNone/>
              <a:defRPr sz="1000"/>
            </a:lvl5pPr>
            <a:lvl6pPr marL="2286071" indent="0">
              <a:buNone/>
              <a:defRPr sz="1000"/>
            </a:lvl6pPr>
            <a:lvl7pPr marL="2743285" indent="0">
              <a:buNone/>
              <a:defRPr sz="1000"/>
            </a:lvl7pPr>
            <a:lvl8pPr marL="3200500" indent="0">
              <a:buNone/>
              <a:defRPr sz="1000"/>
            </a:lvl8pPr>
            <a:lvl9pPr marL="3657714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2B0398D-106F-47F4-9B98-6346595DB6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509E405-8370-440E-BCF8-B7DFDEFDF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6D117E0-F27A-4A27-9308-EC5A8E4AE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244581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4178C1-6409-4D8A-B767-B2F4EA300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F089828A-F1B6-4F32-8A80-6A27090FF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14" indent="0">
              <a:buNone/>
              <a:defRPr sz="2800"/>
            </a:lvl2pPr>
            <a:lvl3pPr marL="914428" indent="0">
              <a:buNone/>
              <a:defRPr sz="2400"/>
            </a:lvl3pPr>
            <a:lvl4pPr marL="1371643" indent="0">
              <a:buNone/>
              <a:defRPr sz="2000"/>
            </a:lvl4pPr>
            <a:lvl5pPr marL="1828857" indent="0">
              <a:buNone/>
              <a:defRPr sz="2000"/>
            </a:lvl5pPr>
            <a:lvl6pPr marL="2286071" indent="0">
              <a:buNone/>
              <a:defRPr sz="2000"/>
            </a:lvl6pPr>
            <a:lvl7pPr marL="2743285" indent="0">
              <a:buNone/>
              <a:defRPr sz="2000"/>
            </a:lvl7pPr>
            <a:lvl8pPr marL="3200500" indent="0">
              <a:buNone/>
              <a:defRPr sz="2000"/>
            </a:lvl8pPr>
            <a:lvl9pPr marL="3657714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C94203E-D348-4956-8D77-C4E5E50755C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14" indent="0">
              <a:buNone/>
              <a:defRPr sz="1400"/>
            </a:lvl2pPr>
            <a:lvl3pPr marL="914428" indent="0">
              <a:buNone/>
              <a:defRPr sz="1200"/>
            </a:lvl3pPr>
            <a:lvl4pPr marL="1371643" indent="0">
              <a:buNone/>
              <a:defRPr sz="1000"/>
            </a:lvl4pPr>
            <a:lvl5pPr marL="1828857" indent="0">
              <a:buNone/>
              <a:defRPr sz="1000"/>
            </a:lvl5pPr>
            <a:lvl6pPr marL="2286071" indent="0">
              <a:buNone/>
              <a:defRPr sz="1000"/>
            </a:lvl6pPr>
            <a:lvl7pPr marL="2743285" indent="0">
              <a:buNone/>
              <a:defRPr sz="1000"/>
            </a:lvl7pPr>
            <a:lvl8pPr marL="3200500" indent="0">
              <a:buNone/>
              <a:defRPr sz="1000"/>
            </a:lvl8pPr>
            <a:lvl9pPr marL="3657714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7C6335C-F245-4DBF-AB87-CF52425B6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78E10BA-FC32-41A7-9FF3-063C6D92C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ABC50EA-C08B-4A5A-9F35-80C2615B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55979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7795BF-CC46-4475-A45C-7CB491DBE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6A15863D-4BF9-42A2-8BFF-BB85D458A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A1F1E8F-264F-4CE4-A688-EECF13389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EB39968-2D48-4270-971C-FF6F01A245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B174BD-7ED2-4B56-BCAF-691B62F17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96903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0DB5B286-4626-4BE2-9201-F68526A055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18E7DEF-557D-4E6E-B883-2CB9A5379A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E05ED10-6D48-4B8B-AD0A-9A052253A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1639A6-A8EA-40F7-9D8B-70AC9489D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5FCC51A-DCAD-44BA-ACF2-B7AC38860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729831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4863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F43A0D-AE51-48B8-942C-5F67A5267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A07E06E-920B-48CB-8DB4-84794A307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1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D229D85-A1BA-451C-A408-20F105A66C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199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0D5EA0-F549-449E-88B2-E0505F5A634C}" type="datetimeFigureOut">
              <a:rPr lang="LID4096" smtClean="0"/>
              <a:t>09/08/2025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50179D6-1475-4BAE-BAF1-1751EB7D53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1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9579240-C05E-43D6-976C-9ED409A01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6A2DBA-9277-4A38-B0DD-916BAB7CAB1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222816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2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8" indent="-228608" algn="l" defTabSz="91442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22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36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50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65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79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93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107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322" indent="-228608" algn="l" defTabSz="91442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14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28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43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57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71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85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500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714" algn="l" defTabSz="91442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>
            <a:extLst>
              <a:ext uri="{FF2B5EF4-FFF2-40B4-BE49-F238E27FC236}">
                <a16:creationId xmlns:a16="http://schemas.microsoft.com/office/drawing/2014/main" id="{59BFC1A9-62DE-4C48-BB79-E5A5081D321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4967E9">
              <a:alpha val="80000"/>
            </a:srgbClr>
          </a:solidFill>
          <a:ln/>
        </p:spPr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B83EC17-E5ED-489B-A896-839B6D9C4378}"/>
              </a:ext>
            </a:extLst>
          </p:cNvPr>
          <p:cNvSpPr/>
          <p:nvPr/>
        </p:nvSpPr>
        <p:spPr>
          <a:xfrm>
            <a:off x="0" y="2628113"/>
            <a:ext cx="12192000" cy="1601774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/>
        </p:spPr>
        <p:txBody>
          <a:bodyPr wrap="none" lIns="0" tIns="0" rIns="0" bIns="0" rtlCol="0" anchor="t"/>
          <a:lstStyle/>
          <a:p>
            <a:pPr algn="ctr">
              <a:lnSpc>
                <a:spcPts val="5550"/>
              </a:lnSpc>
            </a:pPr>
            <a:r>
              <a:rPr lang="en-US" sz="4450" dirty="0">
                <a:solidFill>
                  <a:srgbClr val="FFFFFF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1-mavzu. 13-mashg‘ulot:</a:t>
            </a:r>
          </a:p>
          <a:p>
            <a:pPr algn="ctr">
              <a:lnSpc>
                <a:spcPts val="5550"/>
              </a:lnSpc>
            </a:pPr>
            <a:r>
              <a:rPr lang="en-US" sz="4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4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Vorislik</a:t>
            </a:r>
            <a:r>
              <a:rPr lang="en-US" sz="48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8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tushunchasi</a:t>
            </a:r>
            <a:endParaRPr lang="en-US" sz="48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60757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3C05110-FBAF-4E5C-8D69-806EC9F87D1F}"/>
              </a:ext>
            </a:extLst>
          </p:cNvPr>
          <p:cNvSpPr/>
          <p:nvPr/>
        </p:nvSpPr>
        <p:spPr>
          <a:xfrm>
            <a:off x="4210954" y="1610856"/>
            <a:ext cx="3770091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3708"/>
              </a:lnSpc>
            </a:pP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O‘quv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500" dirty="0" err="1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savollari</a:t>
            </a:r>
            <a:r>
              <a:rPr lang="en-US" sz="4500" dirty="0">
                <a:solidFill>
                  <a:srgbClr val="1B1B27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B7D0AB8B-D69B-410C-97FC-AAAF3047ADBE}"/>
              </a:ext>
            </a:extLst>
          </p:cNvPr>
          <p:cNvSpPr/>
          <p:nvPr/>
        </p:nvSpPr>
        <p:spPr>
          <a:xfrm>
            <a:off x="4210954" y="2632671"/>
            <a:ext cx="3770091" cy="2872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Dekoratorlar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sv-SE" sz="4000" dirty="0">
              <a:solidFill>
                <a:srgbClr val="404155"/>
              </a:solidFill>
              <a:latin typeface="Times New Roman" panose="02020603050405020304" pitchFamily="18" charset="0"/>
              <a:ea typeface="Nobile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7689E44-B307-4A76-9C2B-E716B3ACBFB8}"/>
              </a:ext>
            </a:extLst>
          </p:cNvPr>
          <p:cNvSpPr/>
          <p:nvPr/>
        </p:nvSpPr>
        <p:spPr>
          <a:xfrm>
            <a:off x="2286302" y="0"/>
            <a:ext cx="7619394" cy="68223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ts val="4625"/>
              </a:lnSpc>
            </a:pPr>
            <a:r>
              <a:rPr lang="en-US" sz="4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Pythonda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Vorislik</a:t>
            </a:r>
            <a:r>
              <a:rPr lang="en-US" sz="4400" b="1" dirty="0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 </a:t>
            </a:r>
            <a:r>
              <a:rPr lang="en-US" sz="4400" b="1" dirty="0" err="1">
                <a:solidFill>
                  <a:srgbClr val="00B050"/>
                </a:solidFill>
                <a:latin typeface="Times New Roman" panose="02020603050405020304" pitchFamily="18" charset="0"/>
                <a:ea typeface="Corben" pitchFamily="34" charset="-122"/>
                <a:cs typeface="Times New Roman" panose="02020603050405020304" pitchFamily="18" charset="0"/>
              </a:rPr>
              <a:t>tushunchasi</a:t>
            </a:r>
            <a:endParaRPr lang="en-US" sz="44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9" name="Прямая соединительная линия 8">
            <a:extLst>
              <a:ext uri="{FF2B5EF4-FFF2-40B4-BE49-F238E27FC236}">
                <a16:creationId xmlns:a16="http://schemas.microsoft.com/office/drawing/2014/main" id="{E3B73B8F-F4E1-4444-94F1-884870BC4540}"/>
              </a:ext>
            </a:extLst>
          </p:cNvPr>
          <p:cNvCxnSpPr/>
          <p:nvPr/>
        </p:nvCxnSpPr>
        <p:spPr>
          <a:xfrm>
            <a:off x="0" y="582692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92309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52BE474-6F1F-4105-B360-9624092E8C00}"/>
              </a:ext>
            </a:extLst>
          </p:cNvPr>
          <p:cNvSpPr/>
          <p:nvPr/>
        </p:nvSpPr>
        <p:spPr>
          <a:xfrm>
            <a:off x="457200" y="905246"/>
            <a:ext cx="11277600" cy="5677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Ta’rif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imkoniyatini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beradigan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mexanizm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(subclass, child)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ota-klass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(superclass, parent)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atributlarini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meros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oladi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Sintaksis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sz="16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ota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kodi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Child</a:t>
            </a:r>
            <a:r>
              <a:rPr lang="en-US" sz="16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b="1" dirty="0">
                <a:solidFill>
                  <a:srgbClr val="7A3E9D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Parent</a:t>
            </a:r>
            <a:r>
              <a:rPr lang="en-US" sz="1600" dirty="0"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bola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600" i="1" dirty="0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kodi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4B69C6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pass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M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🔑 </a:t>
            </a:r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Afzalliklari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hayotdagi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ierarxiyalarni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Person -&gt; Employee)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Metodlarni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(overriding)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imkoniyati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Polimorfizm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kengaytiriladigan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dizayn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7D3B151A-6FC9-4F8C-8059-4BCF4D69593E}"/>
              </a:ext>
            </a:extLst>
          </p:cNvPr>
          <p:cNvSpPr/>
          <p:nvPr/>
        </p:nvSpPr>
        <p:spPr>
          <a:xfrm>
            <a:off x="3600765" y="-56985"/>
            <a:ext cx="499046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lang="en-US" sz="3600" b="1" dirty="0"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3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sz="3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(Inheritance)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71607C6F-879B-400B-91B1-810285260B91}"/>
              </a:ext>
            </a:extLst>
          </p:cNvPr>
          <p:cNvCxnSpPr/>
          <p:nvPr/>
        </p:nvCxnSpPr>
        <p:spPr>
          <a:xfrm>
            <a:off x="0" y="6091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245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B5891AA-6D91-4A66-8FD5-4A9F5AEF9F31}"/>
              </a:ext>
            </a:extLst>
          </p:cNvPr>
          <p:cNvSpPr/>
          <p:nvPr/>
        </p:nvSpPr>
        <p:spPr>
          <a:xfrm>
            <a:off x="523875" y="592275"/>
            <a:ext cx="11144250" cy="5206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"Name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works"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display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Name: Tom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60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Tom works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941176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3935964" y="-19953"/>
            <a:ext cx="3805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035574"/>
            <a:ext cx="5686425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sound()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ovoz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chiqaradigan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sound()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(override)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"Woof!"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deb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chiqarsin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klassidan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yaratib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chaqiring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1F8394-04BC-420D-AB72-31B8BE4B89A2}"/>
              </a:ext>
            </a:extLst>
          </p:cNvPr>
          <p:cNvSpPr/>
          <p:nvPr/>
        </p:nvSpPr>
        <p:spPr>
          <a:xfrm>
            <a:off x="266701" y="3150182"/>
            <a:ext cx="5467350" cy="3042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Some generic animal sound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Animal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Woof!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dog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sound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Woof!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6" y="1040254"/>
            <a:ext cx="583882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2️.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U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odamlarni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ifodalashtirsin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study()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altLang="LID4096" dirty="0">
                <a:solidFill>
                  <a:srgbClr val="C0000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"I am studying"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xabarini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obyektidan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7B91EE-FAC3-4237-BA8A-F7077F12A8D1}"/>
              </a:ext>
            </a:extLst>
          </p:cNvPr>
          <p:cNvSpPr/>
          <p:nvPr/>
        </p:nvSpPr>
        <p:spPr>
          <a:xfrm>
            <a:off x="6353176" y="3150182"/>
            <a:ext cx="5838824" cy="3042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studying"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Ali is studying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637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0"/>
            <a:ext cx="568642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3️.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u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odamning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qo‘shimcha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0777" y="0"/>
            <a:ext cx="583882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Klasslar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ierarxiyasini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unga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lvl="0" indent="-285750" algn="just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unga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So‘ngra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F2937C-D49C-422F-990E-E55E3EE17D43}"/>
              </a:ext>
            </a:extLst>
          </p:cNvPr>
          <p:cNvSpPr/>
          <p:nvPr/>
        </p:nvSpPr>
        <p:spPr>
          <a:xfrm>
            <a:off x="228598" y="2081153"/>
            <a:ext cx="5686425" cy="35551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Dilshod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5000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Dilshod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5000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CF6359-B574-4550-8ECB-A482256C809C}"/>
              </a:ext>
            </a:extLst>
          </p:cNvPr>
          <p:cNvSpPr/>
          <p:nvPr/>
        </p:nvSpPr>
        <p:spPr>
          <a:xfrm>
            <a:off x="6096000" y="2019818"/>
            <a:ext cx="6096000" cy="483433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().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Zafar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8000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Zafar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salary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8000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IT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2027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DB3F1C-E3F7-4178-A05F-8E0616ABABD2}"/>
              </a:ext>
            </a:extLst>
          </p:cNvPr>
          <p:cNvSpPr/>
          <p:nvPr/>
        </p:nvSpPr>
        <p:spPr>
          <a:xfrm>
            <a:off x="2239816" y="10477"/>
            <a:ext cx="77123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dunder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methods)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B5A698E-B2EB-44AA-A2CF-05A5D67065F3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81F8480-B891-463E-9585-C0D944699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351" y="721399"/>
            <a:ext cx="11635674" cy="60170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spcBef>
                <a:spcPts val="600"/>
              </a:spcBef>
            </a:pP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Python’dagi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yoki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dunder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methods — double underscore methods) —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klasslarga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xatti-harakatlarni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qo‘shish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beradigan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metodlardir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doim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pastki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chiziq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boshlanib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tugaydi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__init__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konstruktor, obyekt yaratilganda ishga tushadi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__str__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obyektni matn ko‘rinishida qaytaradi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print()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chaqirilganda)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__repr__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obyektning texnik ko‘rinishi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debug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uchun)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__len__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Courier New" panose="02070309020205020404" pitchFamily="49" charset="0"/>
              </a:rPr>
              <a:t>len(obj)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</a:rPr>
              <a:t>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chaqirilganda ishlaydi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__getitem__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indeks bo‘yicha obyekt elementini olish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obj[0]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__setitem__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indeks bo‘yicha qiymatni o‘zgartirish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obj[1] = x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__delitem__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elementni o‘chirish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del obj[2]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__iter__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__next__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obyektni iterator qilish (for siklda ishlatish)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__contains__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kumimoji="0" lang="LID4096" altLang="LID4096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  <a:ea typeface="Times New Roman" panose="02020603050405020304" pitchFamily="18" charset="0"/>
                <a:cs typeface="Courier New" panose="02070309020205020404" pitchFamily="49" charset="0"/>
              </a:rPr>
              <a:t>in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operatorini ishlatish uchun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__eq__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__lt__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__gt__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taqqoslash operatorlari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==, &lt;, &gt;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__add__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__sub__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__mul__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__truediv__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arifmetik operatorlar uchun</a:t>
            </a:r>
          </a:p>
          <a:p>
            <a:pPr marL="285750" marR="0" lvl="0" indent="-285750">
              <a:lnSpc>
                <a:spcPct val="100000"/>
              </a:lnSpc>
              <a:spcBef>
                <a:spcPts val="600"/>
              </a:spcBef>
              <a:buClrTx/>
              <a:buSzTx/>
              <a:buFont typeface="Arial" panose="020B0604020202020204" pitchFamily="34" charset="0"/>
              <a:buChar char="•"/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__call__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obyektni funksiya kabi chaqirish imkoniyati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__enter__</a:t>
            </a:r>
            <a:r>
              <a:rPr lang="LID4096" altLang="LID4096" sz="1600" dirty="0">
                <a:latin typeface="Consolas" panose="020B0609020204030204" pitchFamily="49" charset="0"/>
                <a:cs typeface="Courier New" panose="02070309020205020404" pitchFamily="49" charset="0"/>
              </a:rPr>
              <a:t>,</a:t>
            </a:r>
            <a:r>
              <a:rPr lang="LID4096" altLang="LID4096" sz="1600" dirty="0">
                <a:solidFill>
                  <a:srgbClr val="00B0F0"/>
                </a:solidFill>
                <a:latin typeface="Consolas" panose="020B0609020204030204" pitchFamily="49" charset="0"/>
                <a:cs typeface="Courier New" panose="02070309020205020404" pitchFamily="49" charset="0"/>
              </a:rPr>
              <a:t> __exit__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→ 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konteks menejer (</a:t>
            </a:r>
            <a:r>
              <a:rPr lang="LID4096" altLang="LID4096" sz="2000" dirty="0">
                <a:latin typeface="Consolas" panose="020B0609020204030204" pitchFamily="49" charset="0"/>
                <a:cs typeface="Times New Roman" panose="02020603050405020304" pitchFamily="18" charset="0"/>
              </a:rPr>
              <a:t>with</a:t>
            </a:r>
            <a:r>
              <a:rPr lang="LID4096" altLang="LID4096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operatori)</a:t>
            </a:r>
          </a:p>
        </p:txBody>
      </p:sp>
    </p:spTree>
    <p:extLst>
      <p:ext uri="{BB962C8B-B14F-4D97-AF65-F5344CB8AC3E}">
        <p14:creationId xmlns:p14="http://schemas.microsoft.com/office/powerpoint/2010/main" val="1546250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21D52F5A-7F4D-4878-9D18-627C2AC5EC33}"/>
              </a:ext>
            </a:extLst>
          </p:cNvPr>
          <p:cNvSpPr/>
          <p:nvPr/>
        </p:nvSpPr>
        <p:spPr>
          <a:xfrm>
            <a:off x="561975" y="843766"/>
            <a:ext cx="11068050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Vazifasi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yordamida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biz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operatorlarning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obyektlariga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tabiiy</a:t>
            </a:r>
            <a:r>
              <a:rPr lang="en-US" sz="24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ta’minlaymiz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print(obj)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(obj)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obj1 + obj2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__add__()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getitem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spcBef>
                <a:spcPts val="600"/>
              </a:spcBef>
              <a:spcAft>
                <a:spcPts val="6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obj1 == obj2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avtomatik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__eq__()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chaqiradi</a:t>
            </a:r>
            <a:r>
              <a:rPr lang="en-US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67854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DE2403B-9AFA-43CE-9EC8-3A750C543860}"/>
              </a:ext>
            </a:extLst>
          </p:cNvPr>
          <p:cNvSpPr/>
          <p:nvPr/>
        </p:nvSpPr>
        <p:spPr>
          <a:xfrm>
            <a:off x="885824" y="151179"/>
            <a:ext cx="10420352" cy="62786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M" sz="24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turlari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o‘rnatish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00B0F0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__(self, ...)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konstruktor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__del__(self)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destruktor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o‘chirayotganda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Matnli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__str__(self)</a:t>
            </a:r>
            <a:r>
              <a:rPr lang="en-US" sz="1200" b="1" dirty="0">
                <a:latin typeface="Consolas" panose="020B0609020204030204" pitchFamily="49" charset="0"/>
                <a:cs typeface="Times New Roman" panose="02020603050405020304" pitchFamily="18" charset="0"/>
              </a:rPr>
              <a:t> – print(obj)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chaqirilganda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ishlaydi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repr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aniqroq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matnli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ko‘rinishda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qaytaradi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(debug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O‘lcham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elementlarga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murojaat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len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 err="1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(obj)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getitem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index)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obj[index]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setitem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index, value)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obj[index] = value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delitem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index)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del obj[index]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Operatorlarni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qo‘llash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__add__(self,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__sub__(self,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mul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truediv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__eq__(self,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lt</a:t>
            </a: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__(self, other)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sz="1200" dirty="0">
                <a:effectLst/>
                <a:latin typeface="Courier New" panose="020703090202050204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&lt;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matematik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taqqoslash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/>
              <a:tabLst>
                <a:tab pos="457200" algn="l"/>
              </a:tabLst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Chaqiriladigan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buSzPts val="1000"/>
              <a:buFont typeface="Courier New" panose="02070309020205020404" pitchFamily="49" charset="0"/>
              <a:buChar char="o"/>
              <a:tabLst>
                <a:tab pos="914400" algn="l"/>
              </a:tabLst>
            </a:pPr>
            <a:r>
              <a:rPr lang="en-US" sz="1400" b="1" dirty="0">
                <a:solidFill>
                  <a:srgbClr val="00B0F0"/>
                </a:solidFill>
                <a:latin typeface="Consolas" panose="020B0609020204030204" pitchFamily="49" charset="0"/>
                <a:cs typeface="Times New Roman" panose="02020603050405020304" pitchFamily="18" charset="0"/>
              </a:rPr>
              <a:t>__call__(self, ...)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kabi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chaqirish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43606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46194A83-9112-4E9F-AFDE-F26BD302DE51}"/>
              </a:ext>
            </a:extLst>
          </p:cNvPr>
          <p:cNvSpPr/>
          <p:nvPr/>
        </p:nvSpPr>
        <p:spPr>
          <a:xfrm>
            <a:off x="742950" y="0"/>
            <a:ext cx="10706100" cy="5925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M" sz="2800" b="1" dirty="0">
                <a:effectLst/>
                <a:latin typeface="Segoe UI Emoji" panose="020B0502040204020203" pitchFamily="34" charset="0"/>
                <a:ea typeface="Times New Roman" panose="02020603050405020304" pitchFamily="18" charset="0"/>
                <a:cs typeface="Segoe UI Emoji" panose="020B0502040204020203" pitchFamily="34" charset="0"/>
              </a:rPr>
              <a:t>🔹</a:t>
            </a:r>
            <a:r>
              <a:rPr lang="en-UM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"Vector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)"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__add__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Vector(2, 3)  -&gt; __str__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5             -&gt; __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Vector(6, 8)  -&gt; __add__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105E2FD-8D0D-4DE0-823B-9EDEE8311601}"/>
              </a:ext>
            </a:extLst>
          </p:cNvPr>
          <p:cNvSpPr/>
          <p:nvPr/>
        </p:nvSpPr>
        <p:spPr>
          <a:xfrm>
            <a:off x="285750" y="6286970"/>
            <a:ext cx="116205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spcAft>
                <a:spcPts val="600"/>
              </a:spcAft>
            </a:pPr>
            <a:r>
              <a:rPr lang="en-UM" b="1" dirty="0">
                <a:solidFill>
                  <a:srgbClr val="FF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👉</a:t>
            </a:r>
            <a:r>
              <a:rPr lang="en-UM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Xullas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dunder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odatiy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ta’minlaydi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16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710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3935964" y="-19953"/>
            <a:ext cx="3805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12573"/>
            <a:ext cx="56864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kitob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saqlansin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print()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qilinganda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kitob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ekranga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1F8394-04BC-420D-AB72-31B8BE4B89A2}"/>
              </a:ext>
            </a:extLst>
          </p:cNvPr>
          <p:cNvSpPr/>
          <p:nvPr/>
        </p:nvSpPr>
        <p:spPr>
          <a:xfrm>
            <a:off x="266701" y="3150182"/>
            <a:ext cx="5467350" cy="3305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"Book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  <a:r>
              <a:rPr lang="en-US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Book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Book: Python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6" y="1178754"/>
            <a:ext cx="58388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ro‘yxat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(list)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(obj)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chaqirilganda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jamoa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a’zolari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ekranga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7B91EE-FAC3-4237-BA8A-F7077F12A8D1}"/>
              </a:ext>
            </a:extLst>
          </p:cNvPr>
          <p:cNvSpPr/>
          <p:nvPr/>
        </p:nvSpPr>
        <p:spPr>
          <a:xfrm>
            <a:off x="6353176" y="3150182"/>
            <a:ext cx="5838824" cy="30421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members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"])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team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3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4494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123110"/>
            <a:ext cx="568642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3️.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vektorda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koordinatalar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__add__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 + v2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bajarilganda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vektor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koordinatalari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ikkalasi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qo‘shilib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qaytarilsin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3110"/>
            <a:ext cx="5838823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baholar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ro‘yxati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getitem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obj[0]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setitem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obj[1] = 95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o‘zgartirish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F2937C-D49C-422F-990E-E55E3EE17D43}"/>
              </a:ext>
            </a:extLst>
          </p:cNvPr>
          <p:cNvSpPr/>
          <p:nvPr/>
        </p:nvSpPr>
        <p:spPr>
          <a:xfrm>
            <a:off x="228598" y="2081153"/>
            <a:ext cx="5686425" cy="4398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__add__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other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"Vector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)"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Vector(7, 10)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CF6359-B574-4550-8ECB-A482256C809C}"/>
              </a:ext>
            </a:extLst>
          </p:cNvPr>
          <p:cNvSpPr/>
          <p:nvPr/>
        </p:nvSpPr>
        <p:spPr>
          <a:xfrm>
            <a:off x="6096000" y="2019818"/>
            <a:ext cx="6096000" cy="420698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getitem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setitem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90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80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95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])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95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3970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DB3F1C-E3F7-4178-A05F-8E0616ABABD2}"/>
              </a:ext>
            </a:extLst>
          </p:cNvPr>
          <p:cNvSpPr/>
          <p:nvPr/>
        </p:nvSpPr>
        <p:spPr>
          <a:xfrm>
            <a:off x="2239816" y="10477"/>
            <a:ext cx="796904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(Class Attributes)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B5A698E-B2EB-44AA-A2CF-05A5D67065F3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81F8480-B891-463E-9585-C0D944699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499" y="882233"/>
            <a:ext cx="11635674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0">
              <a:spcBef>
                <a:spcPts val="600"/>
              </a:spcBef>
            </a:pPr>
            <a:r>
              <a:rPr lang="en-US" altLang="LID4096" sz="20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Ta’rif</a:t>
            </a:r>
            <a:r>
              <a:rPr lang="en-US" altLang="LID4096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>
              <a:spcBef>
                <a:spcPts val="600"/>
              </a:spcBef>
            </a:pP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klassning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o‘ziga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tegishli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atributlardir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hisoblanadi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Ya’ni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klassdan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yaratilmasin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hammasi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bitta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xususiyatidan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foydalanadi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spcBef>
                <a:spcPts val="600"/>
              </a:spcBef>
            </a:pP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🔑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farq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0">
              <a:spcBef>
                <a:spcPts val="600"/>
              </a:spcBef>
            </a:pP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darajasida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belgilanadi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>
              <a:spcBef>
                <a:spcPts val="600"/>
              </a:spcBef>
            </a:pP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	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instans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__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metodida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self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20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lang="en-US" altLang="LID4096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8CBD7E3-0F55-4025-834C-1E9299A7A340}"/>
              </a:ext>
            </a:extLst>
          </p:cNvPr>
          <p:cNvSpPr/>
          <p:nvPr/>
        </p:nvSpPr>
        <p:spPr>
          <a:xfrm>
            <a:off x="478972" y="3211933"/>
            <a:ext cx="6078582" cy="3360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F7E0E76-E074-49A3-886A-7483A64E3F6A}"/>
              </a:ext>
            </a:extLst>
          </p:cNvPr>
          <p:cNvSpPr/>
          <p:nvPr/>
        </p:nvSpPr>
        <p:spPr>
          <a:xfrm>
            <a:off x="6818811" y="4412121"/>
            <a:ext cx="51380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🔎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Consolas" panose="020B0609020204030204" pitchFamily="49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saqlanadi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45436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8A58C0B-D4F2-4C79-BCAA-D2211C5CB9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217" y="1077882"/>
            <a:ext cx="11303726" cy="4739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 xususiyatini o‘zgartirish</a:t>
            </a: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DeepMind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DeepMind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LID4096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LID4096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DeepMind</a:t>
            </a:r>
            <a:endParaRPr kumimoji="0" lang="LID4096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➡ Klass xususiyatini </a:t>
            </a: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 nomi orqali</a:t>
            </a: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o‘zgartirsak, barcha obyektlarga ta’sir qiladi.</a:t>
            </a:r>
            <a:endParaRPr kumimoji="0" lang="en-US" altLang="LID4096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Agar </a:t>
            </a:r>
            <a:r>
              <a:rPr kumimoji="0" lang="LID4096" altLang="LID4096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 orqali</a:t>
            </a:r>
            <a:r>
              <a:rPr kumimoji="0" lang="LID4096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o‘zgart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irsak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448C2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e1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instans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‘</a:t>
            </a:r>
            <a:r>
              <a:rPr kumimoji="0" lang="en-US" altLang="LID4096" b="0" i="1" u="none" strike="noStrike" cap="none" normalizeH="0" baseline="0" dirty="0" err="1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shiladi</a:t>
            </a:r>
            <a:endParaRPr kumimoji="0" lang="en-US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Test</a:t>
            </a:r>
            <a:endParaRPr kumimoji="0" lang="en-US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lvl="1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rgbClr val="AA373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777777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b="0" i="1" u="none" strike="noStrike" cap="none" normalizeH="0" baseline="0" dirty="0">
                <a:ln>
                  <a:noFill/>
                </a:ln>
                <a:solidFill>
                  <a:srgbClr val="AAAAAA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DeepMind</a:t>
            </a:r>
            <a:endParaRPr kumimoji="0" lang="en-US" altLang="LID4096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ea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➡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Bunda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yaratiladi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LID4096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o‘zgarmaydi</a:t>
            </a:r>
            <a:r>
              <a:rPr kumimoji="0" lang="en-US" altLang="LID4096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Times New Roman" panose="02020603050405020304" pitchFamily="18" charset="0"/>
              </a:rPr>
              <a:t>.</a:t>
            </a:r>
            <a:endParaRPr kumimoji="0" lang="en-US" altLang="LID4096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6193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3935964" y="-19953"/>
            <a:ext cx="3805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312573"/>
            <a:ext cx="5686425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wheels = 4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mashinalarda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g‘ildirak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 Har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Bir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g‘ildiraklar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1F8394-04BC-420D-AB72-31B8BE4B89A2}"/>
              </a:ext>
            </a:extLst>
          </p:cNvPr>
          <p:cNvSpPr/>
          <p:nvPr/>
        </p:nvSpPr>
        <p:spPr>
          <a:xfrm>
            <a:off x="261937" y="2803932"/>
            <a:ext cx="5467350" cy="34935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wheels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BMW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Mercedes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wheels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BMW 4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wheels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Mercedes 4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6" y="1178754"/>
            <a:ext cx="58388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2️. 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bank_name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= "National Bank"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atributlariga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Bir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ma’lumotlarini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7B91EE-FAC3-4237-BA8A-F7077F12A8D1}"/>
              </a:ext>
            </a:extLst>
          </p:cNvPr>
          <p:cNvSpPr/>
          <p:nvPr/>
        </p:nvSpPr>
        <p:spPr>
          <a:xfrm>
            <a:off x="6462715" y="2585923"/>
            <a:ext cx="5838824" cy="41706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bank_name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National Bank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BankAccount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500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bank_name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Ali 1000 National Bank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owner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balance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bank_name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Vali 500 National Bank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8546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123111"/>
            <a:ext cx="5686425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3️.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b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altLang="LID4096" sz="1600" dirty="0">
                <a:solidFill>
                  <a:srgbClr val="00B0F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 "</a:t>
            </a:r>
            <a:r>
              <a:rPr lang="en-US" altLang="LID4096" sz="1600" dirty="0" err="1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belgilang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o‘zgartiring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kuzating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0" y="123111"/>
            <a:ext cx="5838823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4️.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solidFill>
                  <a:srgbClr val="00B0F0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borsin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F2937C-D49C-422F-990E-E55E3EE17D43}"/>
              </a:ext>
            </a:extLst>
          </p:cNvPr>
          <p:cNvSpPr/>
          <p:nvPr/>
        </p:nvSpPr>
        <p:spPr>
          <a:xfrm>
            <a:off x="228598" y="2081153"/>
            <a:ext cx="5686425" cy="41418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e1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instans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Tom Test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Alice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 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CF6359-B574-4550-8ECB-A482256C809C}"/>
              </a:ext>
            </a:extLst>
          </p:cNvPr>
          <p:cNvSpPr/>
          <p:nvPr/>
        </p:nvSpPr>
        <p:spPr>
          <a:xfrm>
            <a:off x="6096000" y="2019818"/>
            <a:ext cx="6096000" cy="38853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spcBef>
                <a:spcPts val="600"/>
              </a:spcBef>
            </a:pPr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Har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+1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4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Sinov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s1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s2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Vali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s3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Hasan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4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Jami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studentlar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sz="14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4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lang="en-US" sz="14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4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4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</a:t>
            </a:r>
            <a:r>
              <a:rPr lang="en-US" sz="14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3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5252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A5DB3F1C-E3F7-4178-A05F-8E0616ABABD2}"/>
              </a:ext>
            </a:extLst>
          </p:cNvPr>
          <p:cNvSpPr/>
          <p:nvPr/>
        </p:nvSpPr>
        <p:spPr>
          <a:xfrm>
            <a:off x="3163146" y="0"/>
            <a:ext cx="58657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Dekoratorlar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(Decorators)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DB5A698E-B2EB-44AA-A2CF-05A5D67065F3}"/>
              </a:ext>
            </a:extLst>
          </p:cNvPr>
          <p:cNvCxnSpPr/>
          <p:nvPr/>
        </p:nvCxnSpPr>
        <p:spPr>
          <a:xfrm>
            <a:off x="0" y="656808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C81F8480-B891-463E-9585-C0D944699F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8936" y="738953"/>
            <a:ext cx="11894127" cy="23698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tabLst>
                <a:tab pos="457200" algn="l"/>
              </a:tabLs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ts val="600"/>
              </a:spcBef>
            </a:pP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Ta’rif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algn="just">
              <a:spcBef>
                <a:spcPts val="600"/>
              </a:spcBef>
            </a:pP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Dekorator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—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bu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boshqa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metodni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qabul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qilib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xatti-harakatini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o‘zgartiruvchi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maxsus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funksiya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yozuvdir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Klasslarda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asosan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quyidagi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dekoratorlar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</a:p>
          <a:p>
            <a:pPr marL="342900" lvl="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@property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metodni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kabi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ishlatish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imkonini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beradi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Odatda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faqat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o‘qiladigan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qiymatlar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@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classmethod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obyektlarga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emas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balki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o‘ziga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tegishli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Ko‘pincha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yaratishning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qo‘shimcha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usullari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  <a:p>
            <a:pPr marL="342900" lvl="0" indent="-34290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@</a:t>
            </a:r>
            <a:r>
              <a:rPr lang="en-US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staticmethod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–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aloqador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lekin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obyekt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yoki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klass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atributlariga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bog‘liq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bo‘lmagan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metodlarni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yozishda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ishlatiladi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8CBD7E3-0F55-4025-834C-1E9299A7A340}"/>
              </a:ext>
            </a:extLst>
          </p:cNvPr>
          <p:cNvSpPr/>
          <p:nvPr/>
        </p:nvSpPr>
        <p:spPr>
          <a:xfrm>
            <a:off x="478972" y="3211933"/>
            <a:ext cx="6078582" cy="33602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Oddiy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000" b="1" dirty="0" err="1">
                <a:latin typeface="Times New Roman" panose="02020603050405020304" pitchFamily="18" charset="0"/>
                <a:ea typeface="Times New Roman" panose="02020603050405020304" pitchFamily="18" charset="0"/>
              </a:rPr>
              <a:t>misol</a:t>
            </a:r>
            <a:endParaRPr lang="en-US" sz="2000" b="1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F7E0E76-E074-49A3-886A-7483A64E3F6A}"/>
              </a:ext>
            </a:extLst>
          </p:cNvPr>
          <p:cNvSpPr/>
          <p:nvPr/>
        </p:nvSpPr>
        <p:spPr>
          <a:xfrm>
            <a:off x="6818811" y="4412121"/>
            <a:ext cx="513805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🔎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yerda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Consolas" panose="020B0609020204030204" pitchFamily="49" charset="0"/>
                <a:cs typeface="Times New Roman" panose="02020603050405020304" pitchFamily="18" charset="0"/>
              </a:rPr>
              <a:t>company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dirty="0">
                <a:latin typeface="Consolas" panose="020B0609020204030204" pitchFamily="49" charset="0"/>
                <a:cs typeface="Times New Roman" panose="02020603050405020304" pitchFamily="18" charset="0"/>
              </a:rPr>
              <a:t>name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obyektga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alohida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saqlanadi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LID4096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0804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3935964" y="-19953"/>
            <a:ext cx="38057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mashqlar</a:t>
            </a:r>
            <a:r>
              <a:rPr lang="en-US" sz="3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717089"/>
            <a:ext cx="568642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1️</a:t>
            </a:r>
            <a:r>
              <a:rPr kumimoji="0" lang="en-US" altLang="LID4096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kumimoji="0" lang="en-US" altLang="LID4096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atributi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yuza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property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yaratilishi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l-GR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r²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formulasi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).</a:t>
            </a:r>
            <a:endParaRPr kumimoji="0" lang="en-US" altLang="LID4096" b="1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471F8394-04BC-420D-AB72-31B8BE4B89A2}"/>
              </a:ext>
            </a:extLst>
          </p:cNvPr>
          <p:cNvSpPr/>
          <p:nvPr/>
        </p:nvSpPr>
        <p:spPr>
          <a:xfrm>
            <a:off x="261937" y="2020160"/>
            <a:ext cx="5467350" cy="37432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import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**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Circle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radius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Yuza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c1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area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faqat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o‘qish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53177" y="717089"/>
            <a:ext cx="5838823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2️.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hisoblagich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Har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safar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+1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oshsin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get_count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nechta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yaratilganini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kerak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1A7B91EE-FAC3-4237-BA8A-F7077F12A8D1}"/>
              </a:ext>
            </a:extLst>
          </p:cNvPr>
          <p:cNvSpPr/>
          <p:nvPr/>
        </p:nvSpPr>
        <p:spPr>
          <a:xfrm>
            <a:off x="6353177" y="2020160"/>
            <a:ext cx="5838824" cy="39812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6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class attribute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classmethod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get_count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count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p1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p2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soni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Person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get_count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7309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369332"/>
            <a:ext cx="5686425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3️.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add(a, b) 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yozing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yaratmasdan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chaqiring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LID4096" sz="1600" i="0" u="none" strike="noStrike" cap="none" normalizeH="0" baseline="0" dirty="0">
              <a:ln>
                <a:noFill/>
              </a:ln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5CA155B5-6F44-468A-B757-F4562410BF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399" y="4142878"/>
            <a:ext cx="5838823" cy="24468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altLang="LID4096" sz="16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4️.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Unda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lvl="0" indent="-285750" algn="just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endParaRPr lang="en-US" altLang="LID4096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fullname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(property)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endParaRPr lang="en-US" altLang="LID4096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from_string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classmethod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u "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Ism </a:t>
            </a: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Familiya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"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ko‘rinishidagi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matndan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yaratsin</a:t>
            </a:r>
            <a:endParaRPr lang="en-US" altLang="LID4096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 algn="just" eaLnBrk="0" fontAlgn="base" hangingPunct="0">
              <a:spcBef>
                <a:spcPts val="60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LID4096" sz="1600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is_adult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(age) 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staticmethod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bo‘lsin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u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yoshni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tekshirib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sz="1600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True/False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qaytarsin</a:t>
            </a:r>
            <a:endParaRPr lang="en-US" altLang="LID4096" sz="16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ts val="600"/>
              </a:spcBef>
              <a:spcAft>
                <a:spcPct val="0"/>
              </a:spcAft>
            </a:pP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Turli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ishlashini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sz="1600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ko‘rsating</a:t>
            </a:r>
            <a:r>
              <a:rPr lang="en-US" altLang="LID4096" sz="16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9F2937C-D49C-422F-990E-E55E3EE17D43}"/>
              </a:ext>
            </a:extLst>
          </p:cNvPr>
          <p:cNvSpPr/>
          <p:nvPr/>
        </p:nvSpPr>
        <p:spPr>
          <a:xfrm>
            <a:off x="152398" y="1323507"/>
            <a:ext cx="5686425" cy="1898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staticmethod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6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ts val="1425"/>
              </a:lnSpc>
              <a:spcBef>
                <a:spcPts val="600"/>
              </a:spcBef>
              <a:spcAft>
                <a:spcPts val="0"/>
              </a:spcAft>
            </a:pPr>
            <a:r>
              <a:rPr lang="en-US" sz="16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6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Yig‘indi</a:t>
            </a:r>
            <a:r>
              <a:rPr lang="en-US" sz="16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en-US" sz="16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6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add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6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6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r>
              <a:rPr lang="en-US" sz="16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8CF6359-B574-4550-8ECB-A482256C809C}"/>
              </a:ext>
            </a:extLst>
          </p:cNvPr>
          <p:cNvSpPr/>
          <p:nvPr/>
        </p:nvSpPr>
        <p:spPr>
          <a:xfrm>
            <a:off x="6536058" y="369332"/>
            <a:ext cx="6096000" cy="640175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6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Kod</a:t>
            </a:r>
            <a:r>
              <a:rPr lang="en-US" sz="16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endParaRPr lang="en-US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  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class attribute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2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property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fullname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self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classmethod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from_string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emp_str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emp_str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 err="1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split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cls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first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last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b="1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@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staticmethod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def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is_adult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):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       </a:t>
            </a:r>
            <a:r>
              <a:rPr lang="en-US" sz="1200" dirty="0">
                <a:solidFill>
                  <a:srgbClr val="4B69C6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&gt;=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odatdagi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usulda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Smith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9C5D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fullname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Kompaniya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company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classmethod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orqali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from_string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 Johnson 17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fullname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| Yoshi: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staticmethod</a:t>
            </a:r>
            <a:r>
              <a:rPr lang="en-US" sz="1200" i="1" dirty="0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i="1" dirty="0" err="1">
                <a:solidFill>
                  <a:srgbClr val="AAAAAA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 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kattami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is_adult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e1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1200" b="1" dirty="0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("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Alice </a:t>
            </a:r>
            <a:r>
              <a:rPr lang="en-US" sz="1200" dirty="0" err="1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kattami</a:t>
            </a:r>
            <a:r>
              <a:rPr lang="en-US" sz="1200" dirty="0">
                <a:solidFill>
                  <a:srgbClr val="448C2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",</a:t>
            </a:r>
            <a:r>
              <a:rPr lang="en-US" sz="1200" dirty="0">
                <a:solidFill>
                  <a:srgbClr val="333333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200" b="1" dirty="0" err="1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Employee</a:t>
            </a:r>
            <a:r>
              <a:rPr lang="en-US" sz="1200" dirty="0" err="1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b="1" dirty="0" err="1">
                <a:solidFill>
                  <a:srgbClr val="AA3731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is_adult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e2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200" dirty="0">
                <a:solidFill>
                  <a:srgbClr val="7A3E9D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age</a:t>
            </a:r>
            <a:r>
              <a:rPr lang="en-US" sz="1200" dirty="0">
                <a:solidFill>
                  <a:srgbClr val="777777"/>
                </a:solidFill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7381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5323994" y="-23275"/>
            <a:ext cx="154401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Xulosa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6A25693F-49F4-4A86-AA33-9B0FBEBF6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914" y="1750562"/>
            <a:ext cx="11604171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kodni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ishlatish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orasida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ierarxik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munosabatlarni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yaratish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LID4096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Maxsus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init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__str__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</a:t>
            </a:r>
            <a:r>
              <a:rPr lang="en-US" altLang="LID4096" dirty="0" err="1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</a:t>
            </a:r>
            <a:r>
              <a:rPr lang="en-US" altLang="LID4096" dirty="0">
                <a:latin typeface="Consolas" panose="020B0609020204030204" pitchFamily="49" charset="0"/>
                <a:ea typeface="Times New Roman" panose="02020603050405020304" pitchFamily="18" charset="0"/>
                <a:cs typeface="Times New Roman" panose="02020603050405020304" pitchFamily="18" charset="0"/>
              </a:rPr>
              <a:t>__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oddiy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funksiyalar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operatorlar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bilan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tabiiy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moslashtiradi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LID4096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altLang="LID4096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→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xususiyatlari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barcha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bo‘ladi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klass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darajasida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ma’lumotni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boshqarishga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xizmat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LID4096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en-US" altLang="LID4096" b="1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Dekoratorlar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Dekoratorlar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metodlarning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tartibini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boshqarib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qulayroq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aniqroq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foydalanish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imkonini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LID4096" dirty="0" err="1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altLang="LID4096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2173648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214C117-E25A-4B5E-8737-F3613A556F0E}"/>
              </a:ext>
            </a:extLst>
          </p:cNvPr>
          <p:cNvSpPr/>
          <p:nvPr/>
        </p:nvSpPr>
        <p:spPr>
          <a:xfrm>
            <a:off x="5323994" y="-23275"/>
            <a:ext cx="146706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3600" b="1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Vazifa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3" name="Прямая соединительная линия 2">
            <a:extLst>
              <a:ext uri="{FF2B5EF4-FFF2-40B4-BE49-F238E27FC236}">
                <a16:creationId xmlns:a16="http://schemas.microsoft.com/office/drawing/2014/main" id="{705C9C63-FE41-4A2D-9ED3-85A7E33A2046}"/>
              </a:ext>
            </a:extLst>
          </p:cNvPr>
          <p:cNvCxnSpPr/>
          <p:nvPr/>
        </p:nvCxnSpPr>
        <p:spPr>
          <a:xfrm>
            <a:off x="0" y="647283"/>
            <a:ext cx="121920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">
            <a:extLst>
              <a:ext uri="{FF2B5EF4-FFF2-40B4-BE49-F238E27FC236}">
                <a16:creationId xmlns:a16="http://schemas.microsoft.com/office/drawing/2014/main" id="{D231A2E5-A835-40EC-906F-28F6F0B84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7112" y="967842"/>
            <a:ext cx="11700831" cy="45089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Vorislik</a:t>
            </a:r>
            <a:endParaRPr kumimoji="0" lang="en-US" altLang="LID4096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Aft>
                <a:spcPct val="0"/>
              </a:spcAft>
              <a:buClrTx/>
              <a:buSzTx/>
              <a:tabLst/>
            </a:pPr>
            <a:r>
              <a:rPr kumimoji="0" lang="LID4096" altLang="LID4096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Transport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nomli ota klass va undan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Car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Bike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kabi voris klasslar yarating. Har birida umumiy metod (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move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va voris klasslarga xos metodlar (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honk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pedal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bo‘lsin. Ularni obyektlar orqali chaqirib, vorislik qanday ishlashini ko‘rsating.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Maxsus metodlar</a:t>
            </a:r>
            <a:endParaRPr kumimoji="0" lang="en-US" altLang="LID4096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👉 Vector nomli klass yarating. Unda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__init__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__str__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__add__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metodlarini yozing. Ikki vektor obyektini qo‘shib natijani ekranga chiqarishni sinab ko‘ring.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Klass xususiyatlari</a:t>
            </a:r>
            <a:endParaRPr kumimoji="0" lang="en-US" altLang="LID4096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Student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nomli klass yarating. Umumiy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count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klass atributi orqali nechta obyekt yaratilganini hisoblang. Har safar yangi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Student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yaratilganda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count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birga oshib borishini ta’minlang.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kumimoji="0" lang="LID4096" altLang="LID4096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Dekoratorlar</a:t>
            </a:r>
            <a:endParaRPr kumimoji="0" lang="en-US" altLang="LID4096" sz="28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👉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Circle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klassi yarating. Unda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radius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atributi bo‘lsin.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@property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yordamida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area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(yuzasi) va 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perimet</a:t>
            </a:r>
            <a:r>
              <a:rPr kumimoji="0" lang="en-US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e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nsolas" panose="020B0609020204030204" pitchFamily="49" charset="0"/>
                <a:cs typeface="Times New Roman" panose="02020603050405020304" pitchFamily="18" charset="0"/>
              </a:rPr>
              <a:t>r</a:t>
            </a:r>
            <a:r>
              <a:rPr kumimoji="0" lang="LID4096" altLang="LID4096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(aylana uzunligi) ni oddiy atribut kabi chaqirish mumkin bo‘lsin.</a:t>
            </a:r>
          </a:p>
        </p:txBody>
      </p:sp>
    </p:spTree>
    <p:extLst>
      <p:ext uri="{BB962C8B-B14F-4D97-AF65-F5344CB8AC3E}">
        <p14:creationId xmlns:p14="http://schemas.microsoft.com/office/powerpoint/2010/main" val="35895444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391</TotalTime>
  <Words>4250</Words>
  <Application>Microsoft Office PowerPoint</Application>
  <PresentationFormat>Широкоэкранный</PresentationFormat>
  <Paragraphs>435</Paragraphs>
  <Slides>21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32" baseType="lpstr">
      <vt:lpstr>Arial</vt:lpstr>
      <vt:lpstr>Arial Unicode MS</vt:lpstr>
      <vt:lpstr>Calibri</vt:lpstr>
      <vt:lpstr>Calibri Light</vt:lpstr>
      <vt:lpstr>Consolas</vt:lpstr>
      <vt:lpstr>Courier New</vt:lpstr>
      <vt:lpstr>Segoe UI Emoji</vt:lpstr>
      <vt:lpstr>Symbol</vt:lpstr>
      <vt:lpstr>Tahoma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119</cp:revision>
  <dcterms:created xsi:type="dcterms:W3CDTF">2025-09-05T05:49:43Z</dcterms:created>
  <dcterms:modified xsi:type="dcterms:W3CDTF">2025-09-08T07:51:55Z</dcterms:modified>
</cp:coreProperties>
</file>