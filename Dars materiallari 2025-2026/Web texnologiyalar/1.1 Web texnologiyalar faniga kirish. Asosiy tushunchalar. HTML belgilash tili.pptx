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68" r:id="rId2"/>
    <p:sldId id="256" r:id="rId3"/>
    <p:sldId id="267" r:id="rId4"/>
    <p:sldId id="280" r:id="rId5"/>
    <p:sldId id="315" r:id="rId6"/>
    <p:sldId id="316" r:id="rId7"/>
    <p:sldId id="317" r:id="rId8"/>
    <p:sldId id="318" r:id="rId9"/>
    <p:sldId id="319" r:id="rId10"/>
    <p:sldId id="323" r:id="rId11"/>
    <p:sldId id="320" r:id="rId12"/>
    <p:sldId id="321" r:id="rId13"/>
    <p:sldId id="322" r:id="rId14"/>
    <p:sldId id="325" r:id="rId15"/>
    <p:sldId id="326" r:id="rId16"/>
    <p:sldId id="327" r:id="rId17"/>
    <p:sldId id="328" r:id="rId18"/>
    <p:sldId id="329" r:id="rId19"/>
    <p:sldId id="331" r:id="rId20"/>
    <p:sldId id="332" r:id="rId21"/>
    <p:sldId id="333" r:id="rId22"/>
    <p:sldId id="334" r:id="rId23"/>
    <p:sldId id="335" r:id="rId24"/>
    <p:sldId id="279" r:id="rId2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FF344-7F8F-459D-9398-4B1A304DECB0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74DAB2-8D22-434D-B258-27269F6599A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13608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B77C4-3FBC-4E95-AC04-E9856704040F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577BD4-EA29-411E-8801-D9AF7D56E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6E506C-F16A-4A32-A203-B3D789E727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CC982A-F36B-4CB3-A73B-505A7515A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830C-B521-4478-8589-D146F3C527ED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5658EC-A736-48BD-A80B-E5EFE924D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41C3AA-F464-4372-BC30-462E35DA5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E5F0-0D02-46C3-ADBA-F3CBEBAB23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77286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47877E-9AA2-4EB0-B674-D0BB41477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CBA527-CFDB-4826-ACF7-FAC7400F5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765AE6-D73D-4F36-B124-260752FAF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830C-B521-4478-8589-D146F3C527ED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E533E8-2411-4CBB-910C-EA2C85F4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E4D89E-43BA-442D-870B-EC1E8C5E6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E5F0-0D02-46C3-ADBA-F3CBEBAB23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48788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9F8558-6119-436C-99E0-BF83C8DF8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F81327-6381-4C7A-A821-DE753D289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F816B2-4A5D-477B-B90D-98010E2DE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830C-B521-4478-8589-D146F3C527ED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21EA4C-A583-47F4-9898-0717BD450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13701B-E804-49D5-BA7D-49F8879DF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E5F0-0D02-46C3-ADBA-F3CBEBAB23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08486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90B64A-4514-450A-AD58-B21C23AB9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8F1E03-F2FA-4CF8-9D69-E7A791D09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51BBFC1-8B64-4D41-AFA7-5F2694F22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1A2D8FA-9B8A-44CE-876E-CA2AEF41F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830C-B521-4478-8589-D146F3C527ED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D69BAFD-DE0F-4383-875D-A06EDA1E7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07B6733-8815-40F2-8BA0-BF7B651F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E5F0-0D02-46C3-ADBA-F3CBEBAB23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20877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2D8F8D-7DA7-4786-A278-7C1D5D2EF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B9328A-FC85-4818-9048-A82809FA9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014DF3-0A21-4D1D-AF31-B885309B4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1AEBCB2-3DE1-47A2-8A98-5AFE33577A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4690195-A04E-451A-B6ED-734C08E5CE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C642A62-BB30-45F2-8DDF-A0CEB9D37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830C-B521-4478-8589-D146F3C527ED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9DB3AE6-CB3B-430D-8E38-D38B3470F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61E95F2-A63A-47A2-94C1-E506D512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E5F0-0D02-46C3-ADBA-F3CBEBAB23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63723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1AE369-3DA1-4B40-A8C6-35E89D0BA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5AA53BF-537C-47E7-9D5A-F6AC7227A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830C-B521-4478-8589-D146F3C527ED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F65FC1B-FC2A-490C-82E7-C16AC6348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40682B9-FBBA-48E1-958C-08441D63D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E5F0-0D02-46C3-ADBA-F3CBEBAB23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37420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8E2FD95-8F92-4D0C-9026-B1F0A6B0E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830C-B521-4478-8589-D146F3C527ED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27DEF71-5F31-4728-892E-EC3B4698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D3BB29-EFC4-433A-82EF-4C9500B3E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E5F0-0D02-46C3-ADBA-F3CBEBAB23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94413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390376-F89D-4E10-899E-776081D8F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61FD8E-E75F-4615-AC63-BC3656D5E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28CDE1-05BE-4C8F-8AF4-6480DF5A7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B5A995-6022-40E8-9FC0-7B235D97F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830C-B521-4478-8589-D146F3C527ED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45A215-F1C5-40EE-8979-24A9BA802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EA0C4A-F027-43D4-AEAC-6DCFB1CB6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E5F0-0D02-46C3-ADBA-F3CBEBAB23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76569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669065-9296-4354-A070-1633612BD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564EF62-216B-4B0F-81CB-81E19E2732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AD7898F-C398-49B9-B5E0-9FF74A2B6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6E00EF7-A64A-4186-88F5-B90105E75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830C-B521-4478-8589-D146F3C527ED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3536A4-DB10-4761-A880-4FAE39A2A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0BB522-A00F-490A-9F77-9E7D010C3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E5F0-0D02-46C3-ADBA-F3CBEBAB23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9562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59CB45-E7FC-46A5-9878-50E8A7358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BA49F4A-E295-40A9-99AF-B19686208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F5AFB9-0ECB-40EF-A34F-EE14481F4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830C-B521-4478-8589-D146F3C527ED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295D5A-5E2C-46A0-81BA-74B139058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B51D19-8D29-43C8-BC89-805EBC97C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E5F0-0D02-46C3-ADBA-F3CBEBAB23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50372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CA50D51-4416-4CC8-9938-9CC396E14B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426C399-C435-4A86-93EF-75AE52E47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2CF70E-7C67-4192-85A2-EB0385FD2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830C-B521-4478-8589-D146F3C527ED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70E2A1-5642-4228-9BEB-FB6872DD4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74A215-AF36-4E4B-AB96-23B0253F1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E5F0-0D02-46C3-ADBA-F3CBEBAB23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8566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3899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B25D05-72FD-4EEA-AAFB-CA9F97AE6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B43662-0543-4C97-AD7F-77C82D351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C12387-9DDC-4F06-B39E-A25F0C2F9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5830C-B521-4478-8589-D146F3C527ED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260976-8C8F-4267-BCC6-474D9AFB71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13F112-B5CD-4B5E-809E-909E639AA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3E5F0-0D02-46C3-ADBA-F3CBEBAB235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07615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V="1">
            <a:off x="1643182" y="4136127"/>
            <a:ext cx="9137268" cy="60959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Прямоугольник 10"/>
          <p:cNvSpPr/>
          <p:nvPr/>
        </p:nvSpPr>
        <p:spPr>
          <a:xfrm>
            <a:off x="5139796" y="6307447"/>
            <a:ext cx="1661480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67" b="1" dirty="0">
                <a:latin typeface="Times New Roman" pitchFamily="18" charset="0"/>
                <a:cs typeface="Times New Roman" pitchFamily="18" charset="0"/>
              </a:rPr>
              <a:t>Toshkent 2025</a:t>
            </a:r>
            <a:endParaRPr lang="ru-RU" sz="1867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3360" y="306896"/>
            <a:ext cx="11617291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HARBIY XAVFSIZLIK VA MUDOFAA UNIVERSITETINING</a:t>
            </a:r>
          </a:p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AXBOROT-KOMMUNIKATSIYA TEXNOLOGIYALARI VA HARBIY ALOQA INSTITUTI</a:t>
            </a:r>
            <a:endParaRPr lang="ru-RU" sz="2133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99451" y="2642960"/>
            <a:ext cx="9985109" cy="420564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1-MAVZU: HTML </a:t>
            </a:r>
            <a:r>
              <a:rPr lang="en-US" sz="2133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dasturlash</a:t>
            </a: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33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scriptiga</a:t>
            </a: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33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kirish</a:t>
            </a:r>
            <a:endParaRPr lang="ru-RU" sz="2133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011" y="4801068"/>
            <a:ext cx="5999989" cy="995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O‘qituvchi</a:t>
            </a: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kafedrasi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sikli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boshlig‘i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kapitan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Isakov M.M. </a:t>
            </a:r>
            <a:endParaRPr lang="en-US" sz="1867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9BFC1A9-62DE-4C48-BB79-E5A5081D3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80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B83EC17-E5ED-489B-A896-839B6D9C4378}"/>
              </a:ext>
            </a:extLst>
          </p:cNvPr>
          <p:cNvSpPr/>
          <p:nvPr/>
        </p:nvSpPr>
        <p:spPr>
          <a:xfrm>
            <a:off x="152400" y="1992709"/>
            <a:ext cx="11887200" cy="2083071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1-mavzu. 1-mashg‘ulot (</a:t>
            </a:r>
            <a:r>
              <a:rPr lang="en-US" sz="4450" dirty="0" err="1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ma’ruza</a:t>
            </a: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):</a:t>
            </a:r>
          </a:p>
          <a:p>
            <a:pPr algn="ctr">
              <a:lnSpc>
                <a:spcPts val="5550"/>
              </a:lnSpc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Web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texnologiyalar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faniga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kirish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Asosiy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tushunchalar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 HTML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belgilash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tili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</a:t>
            </a:r>
            <a:endParaRPr lang="en-US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07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210953" y="1431254"/>
            <a:ext cx="377009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O‘quv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savollari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Web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texnologiyalar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faniga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kirish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Asosiy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tushunchalar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 HTML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belgilash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tili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1">
            <a:extLst>
              <a:ext uri="{FF2B5EF4-FFF2-40B4-BE49-F238E27FC236}">
                <a16:creationId xmlns:a16="http://schemas.microsoft.com/office/drawing/2014/main" id="{7AABC1BB-28A2-417B-BDFA-3C28B11067A8}"/>
              </a:ext>
            </a:extLst>
          </p:cNvPr>
          <p:cNvSpPr/>
          <p:nvPr/>
        </p:nvSpPr>
        <p:spPr>
          <a:xfrm>
            <a:off x="2590797" y="2215662"/>
            <a:ext cx="7010402" cy="242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 algn="just" fontAlgn="base">
              <a:lnSpc>
                <a:spcPct val="20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x-none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Fanning asosiy tushunchalari.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 fontAlgn="base">
              <a:lnSpc>
                <a:spcPct val="20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x-none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Web texnologiyaning yaratilish tarixi 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 fontAlgn="base">
              <a:lnSpc>
                <a:spcPct val="20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x-none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Frontend hamda backend texnologiyalari haqida tushuncha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HTML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belgilash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tili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uning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imkoniyatlari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23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36808D4-CCC3-4710-A6BF-DC08A4C0E8B4}"/>
              </a:ext>
            </a:extLst>
          </p:cNvPr>
          <p:cNvSpPr/>
          <p:nvPr/>
        </p:nvSpPr>
        <p:spPr>
          <a:xfrm>
            <a:off x="1428206" y="628272"/>
            <a:ext cx="9335588" cy="2951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Mijoz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(Clients and Servers)</a:t>
            </a:r>
          </a:p>
          <a:p>
            <a:pPr algn="just"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Veb-muhitning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ishtirokchiga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tayanadi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Mijozlar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(Clients):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internetga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qurilmalari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kompyuter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smartfon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veb-brauzerlar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(Chrome, Firefox).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Brauzerlar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veb-sahifa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yuklab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tushunadigan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ko'rinishda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ettiradi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Serverlar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(Servers):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Veb-sahifalar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ilovalar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ma'lumotlarni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saqlaydigan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kompyuterlar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Mijoz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so'rov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yuborganda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server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o'sha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fayllarning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nusxasini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mijoz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qurilmasiga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yuboradi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80B644D-21F8-41D1-B4E7-38C78B9ADB20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1. Fanning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asosiy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tushunchalari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 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E34A400-CCCD-49C1-8067-5685FD264D1C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wo circles representing client and server. An arrow labelled request is going from client to server, and an arrow labelled responses is going from server to client">
            <a:extLst>
              <a:ext uri="{FF2B5EF4-FFF2-40B4-BE49-F238E27FC236}">
                <a16:creationId xmlns:a16="http://schemas.microsoft.com/office/drawing/2014/main" id="{0E5E90CD-335E-4E8D-B35D-5DB91E67C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661" y="3900303"/>
            <a:ext cx="8522678" cy="2650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4721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5D8F18-BE0C-4104-82D0-A35D9B327092}"/>
              </a:ext>
            </a:extLst>
          </p:cNvPr>
          <p:cNvSpPr txBox="1"/>
          <p:nvPr/>
        </p:nvSpPr>
        <p:spPr>
          <a:xfrm>
            <a:off x="641838" y="659232"/>
            <a:ext cx="4413739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Aloqa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vositalari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Internet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TCP/IP</a:t>
            </a:r>
          </a:p>
          <a:p>
            <a:pPr algn="just"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Mijoz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o'rtasida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ma'lumot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almashinuvi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quyidagilar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aloqasi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Ma'lumotlar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uzatiladigan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virtual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yo'l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vazifasini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bajaradi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TCP/IP (Transmission Control Protocol / Internet Protocol):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Ma'lumotlarning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tarmoq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bo'ylab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harakatlanishini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belgilaydigan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muloqot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qoidalari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protokollar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to'plami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ma'lumotlarni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tashuvchi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transport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vositasiga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o'xshaydi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074" name="Picture 2" descr="What is TCP/IP and how does it work?">
            <a:extLst>
              <a:ext uri="{FF2B5EF4-FFF2-40B4-BE49-F238E27FC236}">
                <a16:creationId xmlns:a16="http://schemas.microsoft.com/office/drawing/2014/main" id="{487274A4-3EC6-47A3-BBB0-732FAE2B3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3400" y="0"/>
            <a:ext cx="65786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3092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BD85C6-14B8-42E9-94DA-FDE4BA2BD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64" y="399833"/>
            <a:ext cx="10749472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DNS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IP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Manzillar</a:t>
            </a:r>
            <a:endPara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Internetdagi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resurs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o'zining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raqamli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manziliga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IP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Manzil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Kompyuterlar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tushunarli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bo'lgan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noyob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raqamlar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to'plami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192.0.2.172).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DNS (Domain Name System):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Sayt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nomini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google.com) IP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manzilga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aylantirib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beruvchi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manzil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kitobi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".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Brauzer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saytga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kirishdan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oldin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DNS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serverning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aniq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manzilini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topadi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27" name="Picture 3" descr="Chapter 10. introduction to DNS">
            <a:extLst>
              <a:ext uri="{FF2B5EF4-FFF2-40B4-BE49-F238E27FC236}">
                <a16:creationId xmlns:a16="http://schemas.microsoft.com/office/drawing/2014/main" id="{C9F7917D-448B-4C87-BBDD-C01B72429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05075"/>
            <a:ext cx="12192000" cy="435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4831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DBFC7C-B248-4371-8934-1746A215311C}"/>
              </a:ext>
            </a:extLst>
          </p:cNvPr>
          <p:cNvSpPr txBox="1"/>
          <p:nvPr/>
        </p:nvSpPr>
        <p:spPr>
          <a:xfrm>
            <a:off x="580292" y="210823"/>
            <a:ext cx="11034346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HTTP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Veb-fayllar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Veb-sahifalar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muloqot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tarkibiy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qismlardan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iborat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(Hypertext Transfer Protocol):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Mijoz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bir-birini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tushunishi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foydalanadigan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protokol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Mijoz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so'rov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(Request)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yuboradi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server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javob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(Response)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qaytaradi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Veb-fayllar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(HTML, CSS, JavaScript):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veb-sahifani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qurishda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ishlatiladigan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turlaridir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Shuningdek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video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hujjatlar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aktivlar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(Assets) ham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guruhga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79FE854-6DDE-4DF1-8273-4AAED1F5158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746389"/>
            <a:ext cx="762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3578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17B1A972-CC15-48A1-B64D-D56EA74567CE}"/>
              </a:ext>
            </a:extLst>
          </p:cNvPr>
          <p:cNvSpPr txBox="1"/>
          <p:nvPr/>
        </p:nvSpPr>
        <p:spPr>
          <a:xfrm>
            <a:off x="624253" y="369085"/>
            <a:ext cx="10946424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Ma'lumotlarni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uzatish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Paketlar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(Packets)</a:t>
            </a:r>
          </a:p>
          <a:p>
            <a:pPr algn="just"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Ma'lumotlar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mijozga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mayda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bo'laklar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shaklida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yuboriladi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Paket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Ma'lumotlarning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kichik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bo'lagi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bo'lib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sarlavha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(header)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ma'lumotdan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(payload)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iborat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Nega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paketlar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uzatish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vaqtida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xatolik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bo'lsa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faylni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buzilgan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kichik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paketni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yuborish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kifoya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Shuningdek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paketlar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yo'llar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tezroq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yetib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borishi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061" name="Picture 13" descr="What is a Network Packet? | RingCentral UK Blog">
            <a:extLst>
              <a:ext uri="{FF2B5EF4-FFF2-40B4-BE49-F238E27FC236}">
                <a16:creationId xmlns:a16="http://schemas.microsoft.com/office/drawing/2014/main" id="{7AB57756-AFBE-46C2-B895-43650430F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253" y="2929671"/>
            <a:ext cx="4876800" cy="303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19C563C-E6E8-45BE-BB7E-1D9DEF9E9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407" y="3082615"/>
            <a:ext cx="5158154" cy="299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944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80B644D-21F8-41D1-B4E7-38C78B9ADB20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2. Web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texnologiyaning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yaratilish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tarixi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  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E34A400-CCCD-49C1-8067-5685FD264D1C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34D3068-95AD-4D54-B83B-822906266D8B}"/>
              </a:ext>
            </a:extLst>
          </p:cNvPr>
          <p:cNvSpPr txBox="1"/>
          <p:nvPr/>
        </p:nvSpPr>
        <p:spPr>
          <a:xfrm>
            <a:off x="589084" y="788897"/>
            <a:ext cx="4721470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Web'ning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tug'ilishi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(1989–1991)</a:t>
            </a:r>
          </a:p>
          <a:p>
            <a:pPr algn="just"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Veb-texnologiyalarning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yaratilishi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bevosita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 Berners-Lee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bog'liq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1989-yil: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 Berners-Lee CERN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Yevropa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yadroviy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tadqiqotlar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markazi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laboratoriyasida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ma'lumotlarni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o'zaro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bog'langan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gipermatnlar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taklif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1990-yil: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veb-brauzer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WorldWideWeb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-server dasturi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yaratildi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1991-yil: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Dunyodagi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veb-sahifa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(info.cern.ch)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tushirildi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146" name="Picture 2" descr="The birth of the Web | CERN">
            <a:extLst>
              <a:ext uri="{FF2B5EF4-FFF2-40B4-BE49-F238E27FC236}">
                <a16:creationId xmlns:a16="http://schemas.microsoft.com/office/drawing/2014/main" id="{1686ED63-F27C-4B36-898E-3705F94BE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89983"/>
            <a:ext cx="5676954" cy="3641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8657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Таблица 9">
            <a:extLst>
              <a:ext uri="{FF2B5EF4-FFF2-40B4-BE49-F238E27FC236}">
                <a16:creationId xmlns:a16="http://schemas.microsoft.com/office/drawing/2014/main" id="{6C625272-F4B7-406D-8461-F59B2E1A9617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1889043"/>
          <a:ext cx="8127999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0792415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361368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988544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Davr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Asosiy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maqsadi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006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1990s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Ma'lumotni yetkazish (Static)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911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2005+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O'zaro muloqot (Social)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984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2020+</a:t>
                      </a:r>
                      <a:endParaRPr lang="ru-RU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3.0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Aqlli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aloqa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(Semantic/Decentralized)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1119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FBE4727-6CE6-4C3A-BA87-EA786853CB1A}"/>
              </a:ext>
            </a:extLst>
          </p:cNvPr>
          <p:cNvSpPr txBox="1"/>
          <p:nvPr/>
        </p:nvSpPr>
        <p:spPr>
          <a:xfrm>
            <a:off x="4378018" y="1248480"/>
            <a:ext cx="3435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Tarixiy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evolyutsiya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xronologiyasi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697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62E492-E453-4F35-B539-640D8EC7F7F4}"/>
              </a:ext>
            </a:extLst>
          </p:cNvPr>
          <p:cNvSpPr txBox="1"/>
          <p:nvPr/>
        </p:nvSpPr>
        <p:spPr>
          <a:xfrm>
            <a:off x="738553" y="314154"/>
            <a:ext cx="10717824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1.0 —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(1990-yillar)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o'qish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(Read-Only)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Veb-sahifalar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fayllardan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iborat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bo'lib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ma'lumotni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ko'rishi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Interaktivlik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Deyarli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yo'q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o'rtasidagi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aloqa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havolalar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(links)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oshirilgan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texnologiyalar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ilk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brauzerlar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(Mosaic, Netscape Navigator).</a:t>
            </a:r>
          </a:p>
        </p:txBody>
      </p:sp>
      <p:pic>
        <p:nvPicPr>
          <p:cNvPr id="8194" name="Picture 2" descr="Web 1.0 and Web 2.0 – Fangirl 2.0">
            <a:extLst>
              <a:ext uri="{FF2B5EF4-FFF2-40B4-BE49-F238E27FC236}">
                <a16:creationId xmlns:a16="http://schemas.microsoft.com/office/drawing/2014/main" id="{BEF8BC9F-70D7-4FC8-8EFE-6F899B600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438" y="3265218"/>
            <a:ext cx="4355124" cy="3531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6985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691A1C-3BEF-458C-8184-6F197B9345C0}"/>
              </a:ext>
            </a:extLst>
          </p:cNvPr>
          <p:cNvSpPr txBox="1"/>
          <p:nvPr/>
        </p:nvSpPr>
        <p:spPr>
          <a:xfrm>
            <a:off x="772257" y="208563"/>
            <a:ext cx="10647486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2.0 —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Ijtimoiy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(2000-yillarning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o'rtalaridan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hozirgacha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o'qish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yozish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(Read-Write)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formatiga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o'tdi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ishtiroki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nafaqat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kontentni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iste'mol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qiluvchi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yaratuvchi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(YouTube, Facebook, Wikipedia,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Bloglar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bo'lishdi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Texnologik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sakrash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JavaScript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kutilmaganda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rivojlandi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AJAX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texnologiyasi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sahifani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yangilamasdan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ma'lumotlarni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yuklash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paydo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bo'ldi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Interaktivlik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fikr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qoldirishi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yuklashi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vaqtda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muloqot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bo'ldi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8A5D9E7-A132-4408-A808-8CD6FB3B9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092" y="3159627"/>
            <a:ext cx="91440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253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741C0A-E800-4096-B986-CA43744B02C3}"/>
              </a:ext>
            </a:extLst>
          </p:cNvPr>
          <p:cNvSpPr txBox="1"/>
          <p:nvPr/>
        </p:nvSpPr>
        <p:spPr>
          <a:xfrm>
            <a:off x="606668" y="265754"/>
            <a:ext cx="10981594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3.0 —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Semantik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Aqlli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Hozirda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biz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bosqichiga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qadam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qo'ymoqdamiz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Sun'iy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Mashinalar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ma'lumotlarni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nafaqat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ko'rsatadi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ma'nosini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semantikasini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Markazlashmagan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tizimlar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Blokcheyn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kripto-texnologiyalar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ma'lumotlarni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markaziy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serverlarsiz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(Decentralization).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Shaxsiylashtirish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qiziqishlariga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ravishda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aqlli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taqdim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75799E-8787-469A-A99D-A8C3EE157B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518" b="5528"/>
          <a:stretch/>
        </p:blipFill>
        <p:spPr>
          <a:xfrm>
            <a:off x="2582008" y="2975896"/>
            <a:ext cx="7027984" cy="323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802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80B644D-21F8-41D1-B4E7-38C78B9ADB20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3. Frontend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hamda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backend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texnologiyalari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haqida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tushuncha</a:t>
            </a:r>
            <a:endParaRPr lang="en-US" sz="2800" b="1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E34A400-CCCD-49C1-8067-5685FD264D1C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72EFF46-9BAD-48CA-964F-46F39C8311D0}"/>
              </a:ext>
            </a:extLst>
          </p:cNvPr>
          <p:cNvSpPr txBox="1"/>
          <p:nvPr/>
        </p:nvSpPr>
        <p:spPr>
          <a:xfrm>
            <a:off x="870437" y="852785"/>
            <a:ext cx="10462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Veb-ilovalarni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chiqishda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(development)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ko‘pincha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ustida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ko‘rinib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ostidagi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aysbergga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qiyoslashadi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6" name="Picture 6" descr="Front-end developer: what skills will be essential in 2021?">
            <a:extLst>
              <a:ext uri="{FF2B5EF4-FFF2-40B4-BE49-F238E27FC236}">
                <a16:creationId xmlns:a16="http://schemas.microsoft.com/office/drawing/2014/main" id="{5665494D-FB99-443B-9B04-36AE62C5C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24" y="1752655"/>
            <a:ext cx="4393168" cy="4393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 descr="Frontend и Backend разработка: что это и чем они отличаются - WebTune">
            <a:extLst>
              <a:ext uri="{FF2B5EF4-FFF2-40B4-BE49-F238E27FC236}">
                <a16:creationId xmlns:a16="http://schemas.microsoft.com/office/drawing/2014/main" id="{46F6CFE8-BF94-4637-BC2F-44C35D445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0730" y="2393001"/>
            <a:ext cx="5826310" cy="311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6553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1F7156-A2E9-476F-A038-3046F749631B}"/>
              </a:ext>
            </a:extLst>
          </p:cNvPr>
          <p:cNvSpPr txBox="1"/>
          <p:nvPr/>
        </p:nvSpPr>
        <p:spPr>
          <a:xfrm>
            <a:off x="808892" y="331655"/>
            <a:ext cx="10577146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Frontend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Mijoz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—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brauzer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ko‘radigan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tegadigan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muloqot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qiladigan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qismdir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vazifasi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tajribasini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(UX)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vizual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ko‘rinishni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(UI)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ta’minlashdir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HyperText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Markup Language):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Veb-sahifaning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strukturasi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skeleti"ni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(Cascading Style Sheets):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Sahifaning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dizayni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ko‘rinishini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belgilaydi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Sahifaga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interaktivlik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bosilganda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oyna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ochilishi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dinamika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bag‘ishlaydi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Mashhur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freymvorklar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React.js, Vue.js, Angular.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64AE9E6-A6A6-4C7F-842D-386A3FDC0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462" y="3282719"/>
            <a:ext cx="7151076" cy="336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33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F3CD17-6241-4BDA-9DC9-072FAB0BDB3D}"/>
              </a:ext>
            </a:extLst>
          </p:cNvPr>
          <p:cNvSpPr txBox="1"/>
          <p:nvPr/>
        </p:nvSpPr>
        <p:spPr>
          <a:xfrm>
            <a:off x="747345" y="62437"/>
            <a:ext cx="10700240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Backend (Server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—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veb-ilova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miyasi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ko‘zi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olmaydigan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ortidagi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jarayonlardir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server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mantiqini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xavfsizlikni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ta’minlash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javobgardir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mantiqi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Mijozdan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so‘rovlarni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tahlil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javob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qaytaradi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(Database):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axborotlarni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saqlaydi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PostgreSQL, MySQL).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texnologiyalar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PHP (Laravel), Python (Django), Node.js, Ruby.</a:t>
            </a:r>
          </a:p>
        </p:txBody>
      </p:sp>
      <p:sp>
        <p:nvSpPr>
          <p:cNvPr id="4" name="AutoShape 2" descr="Frontend Vs Backend Development - GeeksforGeeks">
            <a:extLst>
              <a:ext uri="{FF2B5EF4-FFF2-40B4-BE49-F238E27FC236}">
                <a16:creationId xmlns:a16="http://schemas.microsoft.com/office/drawing/2014/main" id="{7E6D941F-A214-4EEF-8FEA-7DFAB7DBAF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3316" name="Picture 4" descr="What's the difference between Frontend vs Backend - WEQ Technologies">
            <a:extLst>
              <a:ext uri="{FF2B5EF4-FFF2-40B4-BE49-F238E27FC236}">
                <a16:creationId xmlns:a16="http://schemas.microsoft.com/office/drawing/2014/main" id="{57FD2EE3-421D-42E9-B5B0-4CEE06821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3669" y="3429000"/>
            <a:ext cx="5339862" cy="3003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6183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267042-6E9B-493E-8827-0A2E7F2F1D6E}"/>
              </a:ext>
            </a:extLst>
          </p:cNvPr>
          <p:cNvSpPr txBox="1"/>
          <p:nvPr/>
        </p:nvSpPr>
        <p:spPr>
          <a:xfrm>
            <a:off x="1315915" y="215343"/>
            <a:ext cx="9560170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Frontend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o'rtasidagi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farq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bir-biri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(Application Programming Interface)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muloqot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534BA951-AD07-4651-9D29-0EA65065E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276629"/>
              </p:ext>
            </p:extLst>
          </p:nvPr>
        </p:nvGraphicFramePr>
        <p:xfrm>
          <a:off x="2031999" y="1168074"/>
          <a:ext cx="8127999" cy="2023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22136858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9661014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67474795"/>
                    </a:ext>
                  </a:extLst>
                </a:gridCol>
              </a:tblGrid>
              <a:tr h="428168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Xususiyati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2870984"/>
                  </a:ext>
                </a:extLst>
              </a:tr>
              <a:tr h="739030">
                <a:tc>
                  <a:txBody>
                    <a:bodyPr/>
                    <a:lstStyle/>
                    <a:p>
                      <a:pPr algn="just"/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Fokus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Vizual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ko'rinish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foydalanuvchi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interfeysi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Ma'lumotlar xavfsizligi va biznes mantiqi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9694853"/>
                  </a:ext>
                </a:extLst>
              </a:tr>
              <a:tr h="428168">
                <a:tc>
                  <a:txBody>
                    <a:bodyPr/>
                    <a:lstStyle/>
                    <a:p>
                      <a:pPr algn="just"/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Qayerda ishlaydi?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Foydalanuvchi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brauzerida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Masofaviy serverda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2910229"/>
                  </a:ext>
                </a:extLst>
              </a:tr>
              <a:tr h="428168">
                <a:tc>
                  <a:txBody>
                    <a:bodyPr/>
                    <a:lstStyle/>
                    <a:p>
                      <a:pPr algn="just"/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Asosiy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vositalar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HTML, CSS, JS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PHP, Python, SQL, Node.js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781197"/>
                  </a:ext>
                </a:extLst>
              </a:tr>
            </a:tbl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A238575-1CF6-40EB-9C86-79CDD47CE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714" y="3270767"/>
            <a:ext cx="7426570" cy="349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590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D72655-2D19-46EA-82F9-B0C9AEFDEEA0}"/>
              </a:ext>
            </a:extLst>
          </p:cNvPr>
          <p:cNvSpPr txBox="1"/>
          <p:nvPr/>
        </p:nvSpPr>
        <p:spPr>
          <a:xfrm>
            <a:off x="788377" y="210905"/>
            <a:ext cx="10615246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Full-stack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tushunchasi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 Frontend, ham Backend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texnologiyalarini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mukammal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Full-stack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Bunday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mutaxassislar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veb-ilovani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boshidan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oxirigacha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mustaqil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oladilar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8434" name="Picture 2" descr="Full Stack Developer Salary in 2024 - Adaface Salary Guides">
            <a:extLst>
              <a:ext uri="{FF2B5EF4-FFF2-40B4-BE49-F238E27FC236}">
                <a16:creationId xmlns:a16="http://schemas.microsoft.com/office/drawing/2014/main" id="{788EC11B-FBB2-46E9-A097-53B5B7FAEA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39"/>
          <a:stretch/>
        </p:blipFill>
        <p:spPr bwMode="auto">
          <a:xfrm>
            <a:off x="1931377" y="1769652"/>
            <a:ext cx="8329246" cy="433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4755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80B644D-21F8-41D1-B4E7-38C78B9ADB20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4. HTML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belgilash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tili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va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uning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imkoniyatlari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E34A400-CCCD-49C1-8067-5685FD264D1C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75A8422-550F-4CE4-811A-6738B6B18392}"/>
              </a:ext>
            </a:extLst>
          </p:cNvPr>
          <p:cNvSpPr txBox="1"/>
          <p:nvPr/>
        </p:nvSpPr>
        <p:spPr>
          <a:xfrm>
            <a:off x="583222" y="752446"/>
            <a:ext cx="11025556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HyperText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Markup Language)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veb-sahifalarni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ishlatiladigan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belgilash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sahifaning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strukturasini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belgilovchi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vositadir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B47351-1A27-466D-B7C6-41488545F99C}"/>
              </a:ext>
            </a:extLst>
          </p:cNvPr>
          <p:cNvSpPr txBox="1"/>
          <p:nvPr/>
        </p:nvSpPr>
        <p:spPr>
          <a:xfrm>
            <a:off x="583222" y="1719464"/>
            <a:ext cx="11025556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HTML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nima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—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veb-sahifaning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skeleti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hisoblanadi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brauzerga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video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qayerda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ko‘rinishda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joylashtirishni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aytadi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HyperText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hujjatni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hujjat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bog‘lovchi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giperhavolalar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Markup Language: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Ma'lumotlarni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teglar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(tags)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6386" name="Picture 2" descr="HTML Full Form - GeeksforGeeks">
            <a:extLst>
              <a:ext uri="{FF2B5EF4-FFF2-40B4-BE49-F238E27FC236}">
                <a16:creationId xmlns:a16="http://schemas.microsoft.com/office/drawing/2014/main" id="{1DE10784-F199-4A31-822C-2D8774B94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3932978"/>
            <a:ext cx="85725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7684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F5E183-1F6D-462B-A3A6-B6C9D0377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777" y="86232"/>
            <a:ext cx="10530447" cy="253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HTML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elementlari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teglari</a:t>
            </a:r>
            <a:endPara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hujjatlari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teglar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quriladi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Teglar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odatda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juft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(&lt;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tag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&gt;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&lt;/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tag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&gt;)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ko'rinishida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bo'ladi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Sarlavhalar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&lt;h1&gt;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&lt;h6&gt;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gacha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sahifadagi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ikkinchi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darajali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mavzular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Paragraflar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&lt;p&gt;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tegi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matnlarni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alohida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bloklarga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ajratadi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&lt;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img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&gt;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rasmlar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&lt;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video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&gt;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&lt;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audio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&gt;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multimedia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fayllarini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joylashtirish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ishlatiladi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Havolalar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&lt;a&gt;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tegi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sahifadan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boshqasiga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o‘tiladi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5365" name="Picture 5" descr="What is the difference between HTML elements and tags? - scmGalaxy">
            <a:extLst>
              <a:ext uri="{FF2B5EF4-FFF2-40B4-BE49-F238E27FC236}">
                <a16:creationId xmlns:a16="http://schemas.microsoft.com/office/drawing/2014/main" id="{C03183BF-C6E5-4401-BCCD-0DB5E6982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322" y="2621798"/>
            <a:ext cx="6257356" cy="3632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6493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B1F9DF-57FE-4BB6-9DE9-F58ABDD82026}"/>
              </a:ext>
            </a:extLst>
          </p:cNvPr>
          <p:cNvSpPr txBox="1"/>
          <p:nvPr/>
        </p:nvSpPr>
        <p:spPr>
          <a:xfrm>
            <a:off x="436685" y="1745718"/>
            <a:ext cx="11318630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HTML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imkoniyatlari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hozirgi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veb-sahifalarga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taqdim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Struktura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Saytning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yuqori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(header),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menyusi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(nav),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(main)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pastki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(footer)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mantiqiy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ajratish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Interaktiv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formalar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ma'lumot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qabul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(input, checkbox, radio button).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Web: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Qidiruv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(Google)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sahifa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mazmunini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tushunishi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semantik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teglardan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Multimedia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integratsiyasi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Tashqi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pleerlarsiz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to'g'ridan-to'g'ri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brauzerda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video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audiolarni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ijro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8637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51BA4A-F190-40D0-B58C-BBD6F7728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636" y="1330220"/>
            <a:ext cx="4797763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HTML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hujjatining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strukturasi</a:t>
            </a:r>
            <a:endPara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HTML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fayli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majburiy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qismlardan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iborat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bo'lishi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&lt;!DOCTYPE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html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&gt;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Brauzerga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HTML5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hujjati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ekanligini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bildiradi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&lt;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html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&gt;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sahifaning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asosi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&lt;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head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&gt;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Sayt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haqidagi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texnik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ma'lumotlar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sarlavha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meta-teglar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&lt;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body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&gt;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ko'radigan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kontent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rasm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pic>
        <p:nvPicPr>
          <p:cNvPr id="17411" name="Picture 3" descr="HTML Basics - GeeksforGeeks">
            <a:extLst>
              <a:ext uri="{FF2B5EF4-FFF2-40B4-BE49-F238E27FC236}">
                <a16:creationId xmlns:a16="http://schemas.microsoft.com/office/drawing/2014/main" id="{7791AD2D-654E-4D3B-BE08-E6D8D3468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0756" y="724266"/>
            <a:ext cx="6459304" cy="5409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99415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8D468F-1DED-4A9D-9D85-7670BA654CF2}"/>
              </a:ext>
            </a:extLst>
          </p:cNvPr>
          <p:cNvSpPr txBox="1"/>
          <p:nvPr/>
        </p:nvSpPr>
        <p:spPr>
          <a:xfrm>
            <a:off x="376604" y="745682"/>
            <a:ext cx="11438792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davomida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biz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zamonaviy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raqamli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dunyoning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bo'lgan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tizimining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poydevorini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ko'rib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chiqdik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arxitekturasi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veb-ilova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mijoz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brauzer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o'rtasidagi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doimiy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muloqotga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asoslanadi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Evolyutsiya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 Web 1.0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davridan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2.0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ijtimoiy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interaktiv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3.0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aqlli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markazlashmagan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bosqichigacha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rivojlandi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Texnologik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bo'linish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Veb-dasturlash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ajralmas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bo'linadi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vizual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Frontend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mantiqiy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Poydevor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 —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veb-sahifaning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bo'lib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semantik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qidiruv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(SEO)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mazmunini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tushunishda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muhim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ahamiyatga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865BB-DA2F-4B28-A429-F8701B33845F}"/>
              </a:ext>
            </a:extLst>
          </p:cNvPr>
          <p:cNvSpPr txBox="1"/>
          <p:nvPr/>
        </p:nvSpPr>
        <p:spPr>
          <a:xfrm>
            <a:off x="2777809" y="4265103"/>
            <a:ext cx="8677555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Web-</a:t>
            </a:r>
            <a:r>
              <a:rPr lang="en-US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texnologiyalar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to'xtovsiz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o'zgarib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turuvchi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soha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bo'lib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muvaffaqiyat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qozonish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nafaqat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yozishni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balki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tarmoqning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fundamental </a:t>
            </a:r>
            <a:r>
              <a:rPr lang="en-US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prinsiplarini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tushunish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zarur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84" name="Picture 4" descr="Undov belgisini nimani">
            <a:extLst>
              <a:ext uri="{FF2B5EF4-FFF2-40B4-BE49-F238E27FC236}">
                <a16:creationId xmlns:a16="http://schemas.microsoft.com/office/drawing/2014/main" id="{AD46BEF4-B38D-4E3C-9BAC-79403000E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74" y="4265103"/>
            <a:ext cx="1781514" cy="142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62F9863-5DD1-4B88-B18C-AE9248E5882D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Xulosa</a:t>
            </a:r>
            <a:endParaRPr lang="en-US" sz="2800" b="1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F5F7BE67-5FD6-420C-9BC3-C10D285ABC24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78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24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59" y="1508787"/>
            <a:ext cx="5376597" cy="4032448"/>
          </a:xfrm>
          <a:prstGeom prst="rect">
            <a:avLst/>
          </a:prstGeom>
        </p:spPr>
      </p:pic>
      <p:pic>
        <p:nvPicPr>
          <p:cNvPr id="6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502" y="95846"/>
            <a:ext cx="1388613" cy="112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1603</Words>
  <Application>Microsoft Office PowerPoint</Application>
  <PresentationFormat>Широкоэкранный</PresentationFormat>
  <Paragraphs>130</Paragraphs>
  <Slides>24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Consolas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Isakov Muxriddin</cp:lastModifiedBy>
  <cp:revision>209</cp:revision>
  <dcterms:created xsi:type="dcterms:W3CDTF">2025-09-25T15:33:21Z</dcterms:created>
  <dcterms:modified xsi:type="dcterms:W3CDTF">2026-02-06T05:37:34Z</dcterms:modified>
</cp:coreProperties>
</file>