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8" r:id="rId2"/>
    <p:sldId id="256" r:id="rId3"/>
    <p:sldId id="267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9" r:id="rId13"/>
    <p:sldId id="300" r:id="rId14"/>
    <p:sldId id="301" r:id="rId15"/>
    <p:sldId id="302" r:id="rId16"/>
    <p:sldId id="303" r:id="rId17"/>
    <p:sldId id="304" r:id="rId18"/>
    <p:sldId id="279" r:id="rId1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DBA31-EFBE-46A7-A26B-AB54B46410B2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5C61E-F37B-4EB6-AAD9-1F9D5F927E0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1037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6F64B-5070-4FEF-8727-9CA63F1FC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ADBBE1-FEC5-4BD0-BB6A-BD5B71365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7B650B-87A2-4A19-B95F-6A70B4A36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8D4C5E-8226-4C7E-81BA-67DC674C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026E90-4C81-4462-8FEF-601D532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4129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82370-23D8-4007-9FFF-3E193066A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8FBC1C-1163-4F2A-98F8-8593F41A0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DCB415-9F28-46E9-ABCE-2EC27EE53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DE5028-7992-4B01-AF33-BE57E87CF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A07E95-6D79-4FA5-8F7F-8A9E17A60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3553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B59A3C-4122-4805-8208-6E7DC400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CB4227-F23B-44BC-85E7-123F1F0F3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56487-5DFD-4D02-9E56-7C2B04D0B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AC56E5-21C7-4E5B-A6F3-EE44760B2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8AC02-3D64-4A49-92FA-4F7EB15E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12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0362E-85BA-42CE-857F-3C5AE85CB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956400-416A-4930-B62C-0A0DF9606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91A69D-6A3F-4325-8178-C99B3678A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AC6171-CB68-4BE7-83F3-A609B8540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8B553E-1D79-4F65-B2D0-537B0BD5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839820-2ABD-4CE8-A6F8-21F7BEE9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4344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5F188-A03A-40BF-A609-C5BA5C17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67483F-07DE-457C-A294-EF09B0710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C9E88F-396E-45CE-A84A-CA8A64764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39518B-4723-436A-9D33-31317D53C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45B5F7-B40A-49AA-8411-559928664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B640E1D-6D81-4544-A05B-01FA0F62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1D74B3-3831-4155-BD61-AB3FF6CE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3888E3F-697F-42E4-8E8E-206E067A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5957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50891-2B7B-49FA-9338-DE737ECA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8B512C-4089-4266-8528-4332F9B10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FA021DC-392B-4681-9F80-78B7E677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CAD60A-745F-44F7-8931-F0A5154B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65643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CAE210-860B-41AB-B8F7-1616363C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B344DD-42E5-420D-86DB-35FB48E1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1D02B6-9699-402F-A043-45B0356B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22930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05F5C-44D5-402B-87EC-ABF35F931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17A975-2BC6-4E20-97E4-0D3E4BDEC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DE4A92-68AA-4BEB-96F0-CFEAE9701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465BF4-EBDA-42E4-8B24-92657E680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0EA0CC-A27E-4326-8BE8-A0C1F648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3D0590-5C52-49FE-AADE-368C4D69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0756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32B4C0-A199-4110-BF2A-2B6CBD03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E012EB1-B061-4A33-8706-2D5D4BF99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CA4D4A-388B-4C77-A416-ECA59273E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FC0E61-255D-482E-870D-4C041F71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784C5A-AA03-4729-B637-B7EC4D983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547EDC-7EC6-4079-A73F-6E407EF29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8943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D68DC4-F156-4376-8AAB-50AF7A97C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135025-FEEE-408F-AD44-517704B14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D2D774-8A2B-4CE6-BDA7-0D9C24AA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B1DCB0-8B23-4C64-AFA7-A5F4D8C7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4A7194-66BF-4F03-92F3-621D5246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2264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B66C1EB-C809-472A-B4D6-7AD0374C9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5CCA3B-3550-42A1-9352-CED4511FC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32A5C3-6B0C-44D9-84E4-3A425241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0052B0-7090-4451-924E-36894D3D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A3E752-514B-43B3-8CAB-53163C56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2509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436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62AE3-BDA2-417D-B7BA-69C8A3AB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18DB66-8FF1-4418-B89E-BBD5CF2B1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CB5B86-2333-460C-BC47-66108D01B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9041C-2690-4083-809D-2EECBE4E588E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2EBDFB-1CC8-45B3-93C1-C5CC2D9DC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09F07F-EFEC-4CF9-BDCE-CBA743133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506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2095125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5-mashg‘ulot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amaliy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shart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operatori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satrlarga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doir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masalalar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yechish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Shart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operatoriga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doir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dasturlari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tuzish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3" y="2670969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shart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satrlarga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doir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masalalar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yechish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Shart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operatoriga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doir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dasturlari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tuzish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  <a:endParaRPr lang="en-US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111439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452844" y="3429000"/>
            <a:ext cx="11286310" cy="164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IF, IF-ELSE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IF-ELIF-ELSE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operatorlariga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satrlarga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A0A21C-15D9-43D9-8310-E554E7C2B011}"/>
              </a:ext>
            </a:extLst>
          </p:cNvPr>
          <p:cNvSpPr/>
          <p:nvPr/>
        </p:nvSpPr>
        <p:spPr>
          <a:xfrm>
            <a:off x="191589" y="205115"/>
            <a:ext cx="6096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Kinochipta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narxi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if/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/else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tanlov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Kinoteatr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chipta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0–6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(6 dan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—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bepul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7–17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10 000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20 000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manfiy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mantiqsiz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kiritsa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130),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xatolik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xabari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—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(0…120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oralig‘ida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to‘g‘ri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Chipta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narxi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&lt;summa&gt;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so'm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Noto'g'ri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618514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9579F2-1FA1-488E-B2B8-D8D4D7295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514" y="759113"/>
            <a:ext cx="2988319" cy="2123658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Chipta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narxi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0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 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16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Chipta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narxi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10000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 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25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Chipta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narxi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20000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 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-2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Noto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'g'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ri yosh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38B336C-C36B-45BB-8FF2-1F800D786880}"/>
              </a:ext>
            </a:extLst>
          </p:cNvPr>
          <p:cNvSpPr/>
          <p:nvPr/>
        </p:nvSpPr>
        <p:spPr>
          <a:xfrm>
            <a:off x="6435634" y="3120624"/>
            <a:ext cx="5564777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Yoshingizni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120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Noto'g'ri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yosh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Chipta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narxi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0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so'm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17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Chipta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narxi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10000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so'm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Chipta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narxi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20000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so'm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49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A0A21C-15D9-43D9-8310-E554E7C2B011}"/>
              </a:ext>
            </a:extLst>
          </p:cNvPr>
          <p:cNvSpPr/>
          <p:nvPr/>
        </p:nvSpPr>
        <p:spPr>
          <a:xfrm>
            <a:off x="181602" y="689189"/>
            <a:ext cx="6096000" cy="486287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Ob-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havo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qisqa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tavsiya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if-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-else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oraliqlarni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harorat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(°C)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quyidagicha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tavsiya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&lt; 0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Juda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sovuq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≤ t &lt; 20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Sovuqroq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 ≤ t ≤ 30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Yoqimli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&gt; 30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Issiq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haqiqiy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son —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harorat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yuqoridagi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toifalardan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618514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574C27C-B66C-4C36-AB7A-08FD6EA1C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599" y="728335"/>
            <a:ext cx="2002971" cy="2123658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-3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Juda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sovuq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18.5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Sovuqroq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Yoqimli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33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Issiq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8DE4EB8-20FA-47A4-B67B-A921EDE649F8}"/>
              </a:ext>
            </a:extLst>
          </p:cNvPr>
          <p:cNvSpPr/>
          <p:nvPr/>
        </p:nvSpPr>
        <p:spPr>
          <a:xfrm>
            <a:off x="6618514" y="3120624"/>
            <a:ext cx="6096000" cy="30623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float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Haroratni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(°C):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Juda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sovuq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Sovuqroq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30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Yoqimli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Issiq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84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A0A21C-15D9-43D9-8310-E554E7C2B011}"/>
              </a:ext>
            </a:extLst>
          </p:cNvPr>
          <p:cNvSpPr/>
          <p:nvPr/>
        </p:nvSpPr>
        <p:spPr>
          <a:xfrm>
            <a:off x="209003" y="904632"/>
            <a:ext cx="5547363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Do‘kondagi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chegirma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if-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-else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toifalash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Xarid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summasiga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qarab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chegirma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100 000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chegirma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100 000 – 299 999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5%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chegirma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300 000 – 999 999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10%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chegirma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1 000 000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15%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chegirma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—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xarid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chegirma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foizi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yakuniy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to‘lov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11A367-F2C4-4310-BC68-6B4F70AFF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033" y="728335"/>
            <a:ext cx="4007828" cy="2123658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80000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Chegirma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% |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'lov: 80000 so'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150000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Chegirma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% |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'lov: 142500 so'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350000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Chegirma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% |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'lov: 315000 so'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1200000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Chegirma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% |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'lov: 1020000 so'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m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2EAB87-C741-4D20-8B5D-6460E697E161}"/>
              </a:ext>
            </a:extLst>
          </p:cNvPr>
          <p:cNvSpPr/>
          <p:nvPr/>
        </p:nvSpPr>
        <p:spPr>
          <a:xfrm>
            <a:off x="6035033" y="2954854"/>
            <a:ext cx="6096000" cy="37394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amount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Xarid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summasi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so'm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):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amount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1_000_000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disc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15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amount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300_000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disc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10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amount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100_000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disc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5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disc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pay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amount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-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amount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disc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"Chegirma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disc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% |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To'lov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pay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so'm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26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A0A21C-15D9-43D9-8310-E554E7C2B011}"/>
              </a:ext>
            </a:extLst>
          </p:cNvPr>
          <p:cNvSpPr/>
          <p:nvPr/>
        </p:nvSpPr>
        <p:spPr>
          <a:xfrm>
            <a:off x="209003" y="904632"/>
            <a:ext cx="5547363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Taksi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kechki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tarif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ikkita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birlashtirish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masofa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quyidagicha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5000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har 1 km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2000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safar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22:00 dan 06:00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gacha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20%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masofa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(km,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(0–23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yakuniy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2EAB87-C741-4D20-8B5D-6460E697E161}"/>
              </a:ext>
            </a:extLst>
          </p:cNvPr>
          <p:cNvSpPr/>
          <p:nvPr/>
        </p:nvSpPr>
        <p:spPr>
          <a:xfrm>
            <a:off x="6035033" y="2693597"/>
            <a:ext cx="6096000" cy="250837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km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Masofa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(km):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hour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Soat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(0-23):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narx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5000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km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2000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hour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hour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narx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narx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narx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100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"Narx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narx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so'm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6F19380-710C-48EF-B1DE-AB76D3281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036" y="825931"/>
            <a:ext cx="2308645" cy="1015663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15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Narx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11000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23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Narx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13200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'm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98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A0A21C-15D9-43D9-8310-E554E7C2B011}"/>
              </a:ext>
            </a:extLst>
          </p:cNvPr>
          <p:cNvSpPr/>
          <p:nvPr/>
        </p:nvSpPr>
        <p:spPr>
          <a:xfrm>
            <a:off x="209003" y="904632"/>
            <a:ext cx="554736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Kabisa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yilini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birlashtirish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Kabisa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400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bo‘linsa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kabisa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agar 4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bo‘linib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bo‘linmasa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kabisa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hollarda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—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Kabisa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2EAB87-C741-4D20-8B5D-6460E697E161}"/>
              </a:ext>
            </a:extLst>
          </p:cNvPr>
          <p:cNvSpPr/>
          <p:nvPr/>
        </p:nvSpPr>
        <p:spPr>
          <a:xfrm>
            <a:off x="6035033" y="2937437"/>
            <a:ext cx="6096000" cy="30008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yil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Yilni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yil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400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Kabisa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yili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yil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Oddiy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yil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yil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Kabisa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yili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Oddiy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yil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AD13E5-F71E-4969-91C8-39483C0F3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649137"/>
            <a:ext cx="2211977" cy="2123658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2000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Kabisa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yili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1900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Oddiy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yil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2024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Kabisa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yili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2023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Oddiy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yil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93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A0A21C-15D9-43D9-8310-E554E7C2B011}"/>
              </a:ext>
            </a:extLst>
          </p:cNvPr>
          <p:cNvSpPr/>
          <p:nvPr/>
        </p:nvSpPr>
        <p:spPr>
          <a:xfrm>
            <a:off x="269962" y="649137"/>
            <a:ext cx="5547363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Uchburchak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turini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a, b, 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uchburchak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Avval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uchburchak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mavjudligini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yig‘indisi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uchinchi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&gt;c,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a+c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&gt;b,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&gt;a)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Hammasi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tomonli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yonli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Uchalasini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tomonli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Uchburchak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bo'lmaydi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b 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2EAB87-C741-4D20-8B5D-6460E697E161}"/>
              </a:ext>
            </a:extLst>
          </p:cNvPr>
          <p:cNvSpPr/>
          <p:nvPr/>
        </p:nvSpPr>
        <p:spPr>
          <a:xfrm>
            <a:off x="6035033" y="2937437"/>
            <a:ext cx="6096000" cy="37394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a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tomon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b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tomon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c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tomon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Teng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tomonli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Teng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yonli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Turli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tomonli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Uchburchak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hosil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bo'lmaydi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DD16B08-E29C-4A94-9D72-3F7263AA2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728335"/>
            <a:ext cx="3158237" cy="2123658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3 3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Teng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tomonli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4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4 7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Teng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yonli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4 5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Turli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tomonli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5 9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Uchburchak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hosil bo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'lmaydi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92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A0A21C-15D9-43D9-8310-E554E7C2B011}"/>
              </a:ext>
            </a:extLst>
          </p:cNvPr>
          <p:cNvSpPr/>
          <p:nvPr/>
        </p:nvSpPr>
        <p:spPr>
          <a:xfrm>
            <a:off x="313505" y="243512"/>
            <a:ext cx="5547363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jadvali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hafta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kuni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tanaffus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vaqtini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murakkab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kunduz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mantiğini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if/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/else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modellashtirish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Ofis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rejimi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Dushanba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Juma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(0–4):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09:00–18:00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tushlik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13:00–14:00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Shanba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(5):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qisqartirilgan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10:00–16:00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tushlik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13:00–13:30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Yakshanba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(6):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dam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hafta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(0–6)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(0–23)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daqiqa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(0–59)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quyidagilardan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vaqti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Tushlik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vaqti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vaqtidan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tashqari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Bugun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dam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kuni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uchta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daqiqa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yuqoridagi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holatlardan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D072AE-ECB2-4F37-B783-06119C972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736716"/>
            <a:ext cx="2733441" cy="3231654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0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10 15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Ish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vaqti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13 20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Tushlik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vaqti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5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15 10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Ish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vaqti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5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13 20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Tushlik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vaqti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6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11 00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Bugun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dam olish kuni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18 01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Ish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vaqtidan tashqari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394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1F792A6-48D7-4909-B288-1171959AA572}"/>
              </a:ext>
            </a:extLst>
          </p:cNvPr>
          <p:cNvSpPr/>
          <p:nvPr/>
        </p:nvSpPr>
        <p:spPr>
          <a:xfrm>
            <a:off x="3048000" y="161582"/>
            <a:ext cx="6096000" cy="64479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kun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Hafta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kuni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(0=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dushanba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... 6=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yakshanba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):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soat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Soat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(0-23):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daq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Daqiqa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(0-59):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not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kun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and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soat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23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and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daq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59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Noto'g'ri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vaqt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# </a:t>
            </a:r>
            <a:r>
              <a:rPr lang="en-US" sz="105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Vaqtni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sz="105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minutlarga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sz="105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o'tkazamiz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, </a:t>
            </a:r>
            <a:r>
              <a:rPr lang="en-US" sz="105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masalan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, 13:20 -&gt; 13*60+20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soat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daq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kun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Bugun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dam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olish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kuni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kun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4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9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ish_tugash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18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13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tush_tugash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14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ish_tugash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tush_tugash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Tushlik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vaqti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Ish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vaqti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Ish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vaqtidan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tashqari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 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# </a:t>
            </a:r>
            <a:r>
              <a:rPr lang="en-US" sz="105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kun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 == 5 (</a:t>
            </a:r>
            <a:r>
              <a:rPr lang="en-US" sz="105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shanba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10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ish_tugash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16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13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tush_tugash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13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30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ish_tugash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tush_tugash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Tushlik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vaqti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Ish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vaqti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Ish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vaqtidan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tashqari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555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8F917C6-1A45-4427-B943-BC6006983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006" y="1122962"/>
            <a:ext cx="5024845" cy="1990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 Unlilar sonini sanash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Matndagi unlilar sonini hisoblang (lotin: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e i o u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katta-kichik farqsiz).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 satr.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Unlilar: &lt;son&gt;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E6CFCAB-06B6-4765-B057-3FE37577E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859917"/>
            <a:ext cx="2223686" cy="461665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Assalomu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alaykum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Unlilar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7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01893F1-D429-4FEF-A402-C8E7A0CA6CA6}"/>
              </a:ext>
            </a:extLst>
          </p:cNvPr>
          <p:cNvGrpSpPr/>
          <p:nvPr/>
        </p:nvGrpSpPr>
        <p:grpSpPr>
          <a:xfrm>
            <a:off x="6096000" y="2810860"/>
            <a:ext cx="5529943" cy="2649465"/>
            <a:chOff x="6096000" y="2810860"/>
            <a:chExt cx="5529943" cy="2649465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921CF6BA-556E-4CAF-99A9-C2DE5FB49293}"/>
                </a:ext>
              </a:extLst>
            </p:cNvPr>
            <p:cNvSpPr/>
            <p:nvPr/>
          </p:nvSpPr>
          <p:spPr>
            <a:xfrm>
              <a:off x="6096000" y="3429000"/>
              <a:ext cx="5529943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s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input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Matn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: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").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lower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vowels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aeiou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cnt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9C5D27"/>
                  </a:solidFill>
                  <a:latin typeface="Consolas" panose="020B0609020204030204" pitchFamily="49" charset="0"/>
                </a:rPr>
                <a:t>0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for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in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s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in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vowels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cnt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+=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9C5D27"/>
                  </a:solidFill>
                  <a:latin typeface="Consolas" panose="020B0609020204030204" pitchFamily="49" charset="0"/>
                </a:rPr>
                <a:t>1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print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Unlilar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: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",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cnt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)</a:t>
              </a:r>
              <a:endPara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F51AD89-F997-4893-A24F-7EBE67D0D489}"/>
                </a:ext>
              </a:extLst>
            </p:cNvPr>
            <p:cNvSpPr/>
            <p:nvPr/>
          </p:nvSpPr>
          <p:spPr>
            <a:xfrm>
              <a:off x="6096000" y="2810860"/>
              <a:ext cx="9926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Yechim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  <a:endParaRPr 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568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01893F1-D429-4FEF-A402-C8E7A0CA6CA6}"/>
              </a:ext>
            </a:extLst>
          </p:cNvPr>
          <p:cNvGrpSpPr/>
          <p:nvPr/>
        </p:nvGrpSpPr>
        <p:grpSpPr>
          <a:xfrm>
            <a:off x="6096000" y="3059668"/>
            <a:ext cx="5529943" cy="2954655"/>
            <a:chOff x="6096000" y="3059668"/>
            <a:chExt cx="5529943" cy="2954655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921CF6BA-556E-4CAF-99A9-C2DE5FB49293}"/>
                </a:ext>
              </a:extLst>
            </p:cNvPr>
            <p:cNvSpPr/>
            <p:nvPr/>
          </p:nvSpPr>
          <p:spPr>
            <a:xfrm>
              <a:off x="6096000" y="3429000"/>
              <a:ext cx="5529943" cy="25853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s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input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So'z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yoki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ibora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: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").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lower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""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for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in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s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r>
                <a:rPr lang="en-US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isalnum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+=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[::-</a:t>
              </a:r>
              <a:r>
                <a:rPr lang="en-US" dirty="0">
                  <a:solidFill>
                    <a:srgbClr val="9C5D27"/>
                  </a:solidFill>
                  <a:latin typeface="Consolas" panose="020B0609020204030204" pitchFamily="49" charset="0"/>
                </a:rPr>
                <a:t>1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]: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print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Palindrom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else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print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Palindrom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emas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F51AD89-F997-4893-A24F-7EBE67D0D489}"/>
                </a:ext>
              </a:extLst>
            </p:cNvPr>
            <p:cNvSpPr/>
            <p:nvPr/>
          </p:nvSpPr>
          <p:spPr>
            <a:xfrm>
              <a:off x="6096000" y="3059668"/>
              <a:ext cx="9926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Yechim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  <a:endParaRPr 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8" name="Rectangle 4">
            <a:extLst>
              <a:ext uri="{FF2B5EF4-FFF2-40B4-BE49-F238E27FC236}">
                <a16:creationId xmlns:a16="http://schemas.microsoft.com/office/drawing/2014/main" id="{FD6E2112-B785-4222-9770-F8BEA3C08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57" y="1497415"/>
            <a:ext cx="5529943" cy="2816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2) Palindrom (bo‘sh joy va belgilarni inkor etib)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Satr orqa-oldiga bir xil o‘qilsa palindrom. Bo‘sh joylar va harf/raqam bo‘lmagan belgilar e’tiborsiz.</a:t>
            </a:r>
            <a:b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Palindrom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yoki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Palindrom emas.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6605C61-94B9-480F-B9BD-69DF686A3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768030"/>
            <a:ext cx="1713931" cy="461665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"NUR  RUN"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Palindrom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24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01893F1-D429-4FEF-A402-C8E7A0CA6CA6}"/>
              </a:ext>
            </a:extLst>
          </p:cNvPr>
          <p:cNvGrpSpPr/>
          <p:nvPr/>
        </p:nvGrpSpPr>
        <p:grpSpPr>
          <a:xfrm>
            <a:off x="6096000" y="3059668"/>
            <a:ext cx="5529943" cy="2954655"/>
            <a:chOff x="6096000" y="3059668"/>
            <a:chExt cx="5529943" cy="2954655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921CF6BA-556E-4CAF-99A9-C2DE5FB49293}"/>
                </a:ext>
              </a:extLst>
            </p:cNvPr>
            <p:cNvSpPr/>
            <p:nvPr/>
          </p:nvSpPr>
          <p:spPr>
            <a:xfrm>
              <a:off x="6096000" y="3429000"/>
              <a:ext cx="5529943" cy="25853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full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input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Ism 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familiya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: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parts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[]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for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p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in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full</a:t>
              </a:r>
              <a:r>
                <a:rPr lang="en-US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split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p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!=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"":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first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p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[</a:t>
              </a:r>
              <a:r>
                <a:rPr lang="en-US" dirty="0">
                  <a:solidFill>
                    <a:srgbClr val="9C5D27"/>
                  </a:solidFill>
                  <a:latin typeface="Consolas" panose="020B0609020204030204" pitchFamily="49" charset="0"/>
                </a:rPr>
                <a:t>0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].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upper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rest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p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[</a:t>
              </a:r>
              <a:r>
                <a:rPr lang="en-US" dirty="0">
                  <a:solidFill>
                    <a:srgbClr val="9C5D27"/>
                  </a:solidFill>
                  <a:latin typeface="Consolas" panose="020B0609020204030204" pitchFamily="49" charset="0"/>
                </a:rPr>
                <a:t>1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:].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lower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len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p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)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&gt;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9C5D27"/>
                  </a:solidFill>
                  <a:latin typeface="Consolas" panose="020B0609020204030204" pitchFamily="49" charset="0"/>
                </a:rPr>
                <a:t>1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else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""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parts</a:t>
              </a:r>
              <a:r>
                <a:rPr lang="en-US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append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first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+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rest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print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".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join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parts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))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F51AD89-F997-4893-A24F-7EBE67D0D489}"/>
                </a:ext>
              </a:extLst>
            </p:cNvPr>
            <p:cNvSpPr/>
            <p:nvPr/>
          </p:nvSpPr>
          <p:spPr>
            <a:xfrm>
              <a:off x="6096000" y="3059668"/>
              <a:ext cx="9926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Yechim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  <a:endParaRPr 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1BFE1DF-2192-4B86-A7D1-A9BBFA38F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98" y="1710325"/>
            <a:ext cx="4841966" cy="2021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3) Ism-familiyani tozalash va bosh harf qilish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Ortiqcha bo‘sh joylarni olib tashlab, har so‘zni Bosh harf + qolganlari kichik shaklida chiqaring.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satr (masalan: "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 vaLIEv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").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 Valiev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113880-0BE5-44BA-BFD4-0F92BBB3A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990712"/>
            <a:ext cx="2818400" cy="461665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"AbDuLlA  QODIR  NoSiR"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"Abdulla Qodir Nasir"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89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01893F1-D429-4FEF-A402-C8E7A0CA6CA6}"/>
              </a:ext>
            </a:extLst>
          </p:cNvPr>
          <p:cNvGrpSpPr/>
          <p:nvPr/>
        </p:nvGrpSpPr>
        <p:grpSpPr>
          <a:xfrm>
            <a:off x="6096000" y="1561793"/>
            <a:ext cx="5529943" cy="4985980"/>
            <a:chOff x="6096000" y="3059668"/>
            <a:chExt cx="5529943" cy="4985980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921CF6BA-556E-4CAF-99A9-C2DE5FB49293}"/>
                </a:ext>
              </a:extLst>
            </p:cNvPr>
            <p:cNvSpPr/>
            <p:nvPr/>
          </p:nvSpPr>
          <p:spPr>
            <a:xfrm>
              <a:off x="6096000" y="3429000"/>
              <a:ext cx="5529943" cy="4616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url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input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sz="1400" dirty="0">
                  <a:solidFill>
                    <a:srgbClr val="448C27"/>
                  </a:solidFill>
                  <a:latin typeface="Consolas" panose="020B0609020204030204" pitchFamily="49" charset="0"/>
                </a:rPr>
                <a:t>URL: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").</a:t>
              </a:r>
              <a:r>
                <a:rPr lang="en-US" sz="1400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strip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url</a:t>
              </a:r>
              <a:r>
                <a:rPr lang="en-US" sz="1400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sz="1400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strip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sz="1400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lower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b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</a:br>
              <a:r>
                <a:rPr lang="en-US" sz="1400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sz="1400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startswith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sz="1400" dirty="0">
                  <a:solidFill>
                    <a:srgbClr val="448C27"/>
                  </a:solidFill>
                  <a:latin typeface="Consolas" panose="020B0609020204030204" pitchFamily="49" charset="0"/>
                </a:rPr>
                <a:t>http://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"):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400" dirty="0">
                  <a:solidFill>
                    <a:srgbClr val="9C5D27"/>
                  </a:solidFill>
                  <a:latin typeface="Consolas" panose="020B0609020204030204" pitchFamily="49" charset="0"/>
                </a:rPr>
                <a:t>7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:]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400" dirty="0">
                  <a:solidFill>
                    <a:srgbClr val="9C5D27"/>
                  </a:solidFill>
                  <a:latin typeface="Consolas" panose="020B0609020204030204" pitchFamily="49" charset="0"/>
                </a:rPr>
                <a:t>7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:]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 err="1">
                  <a:solidFill>
                    <a:srgbClr val="4B69C6"/>
                  </a:solidFill>
                  <a:latin typeface="Consolas" panose="020B0609020204030204" pitchFamily="49" charset="0"/>
                </a:rPr>
                <a:t>elif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sz="1400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startswith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sz="1400" dirty="0">
                  <a:solidFill>
                    <a:srgbClr val="448C27"/>
                  </a:solidFill>
                  <a:latin typeface="Consolas" panose="020B0609020204030204" pitchFamily="49" charset="0"/>
                </a:rPr>
                <a:t>https://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"):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400" dirty="0">
                  <a:solidFill>
                    <a:srgbClr val="9C5D27"/>
                  </a:solidFill>
                  <a:latin typeface="Consolas" panose="020B0609020204030204" pitchFamily="49" charset="0"/>
                </a:rPr>
                <a:t>8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:]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400" dirty="0">
                  <a:solidFill>
                    <a:srgbClr val="9C5D27"/>
                  </a:solidFill>
                  <a:latin typeface="Consolas" panose="020B0609020204030204" pitchFamily="49" charset="0"/>
                </a:rPr>
                <a:t>8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:]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b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</a:br>
              <a:r>
                <a:rPr lang="en-US" sz="1400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sz="1400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startswith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sz="1400" dirty="0">
                  <a:solidFill>
                    <a:srgbClr val="448C27"/>
                  </a:solidFill>
                  <a:latin typeface="Consolas" panose="020B0609020204030204" pitchFamily="49" charset="0"/>
                </a:rPr>
                <a:t>www.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"):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400" dirty="0">
                  <a:solidFill>
                    <a:srgbClr val="9C5D27"/>
                  </a:solidFill>
                  <a:latin typeface="Consolas" panose="020B0609020204030204" pitchFamily="49" charset="0"/>
                </a:rPr>
                <a:t>4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:]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b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</a:b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dom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""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4B69C6"/>
                  </a:solidFill>
                  <a:latin typeface="Consolas" panose="020B0609020204030204" pitchFamily="49" charset="0"/>
                </a:rPr>
                <a:t>for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4B69C6"/>
                  </a:solidFill>
                  <a:latin typeface="Consolas" panose="020B0609020204030204" pitchFamily="49" charset="0"/>
                </a:rPr>
                <a:t>in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: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in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"</a:t>
              </a:r>
              <a:r>
                <a:rPr lang="en-US" sz="1400" dirty="0">
                  <a:solidFill>
                    <a:srgbClr val="448C27"/>
                  </a:solidFill>
                  <a:latin typeface="Consolas" panose="020B0609020204030204" pitchFamily="49" charset="0"/>
                </a:rPr>
                <a:t>/?#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":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400" dirty="0">
                  <a:solidFill>
                    <a:srgbClr val="4B69C6"/>
                  </a:solidFill>
                  <a:latin typeface="Consolas" panose="020B0609020204030204" pitchFamily="49" charset="0"/>
                </a:rPr>
                <a:t>break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dom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+=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b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</a:br>
              <a:r>
                <a:rPr lang="en-US" sz="1400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print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dom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)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F51AD89-F997-4893-A24F-7EBE67D0D489}"/>
                </a:ext>
              </a:extLst>
            </p:cNvPr>
            <p:cNvSpPr/>
            <p:nvPr/>
          </p:nvSpPr>
          <p:spPr>
            <a:xfrm>
              <a:off x="6096000" y="3059668"/>
              <a:ext cx="9926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Yechim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  <a:endParaRPr 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6" name="Rectangle 2">
            <a:extLst>
              <a:ext uri="{FF2B5EF4-FFF2-40B4-BE49-F238E27FC236}">
                <a16:creationId xmlns:a16="http://schemas.microsoft.com/office/drawing/2014/main" id="{1ECFDCA7-C427-4353-843A-CB8343579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73" y="1922197"/>
            <a:ext cx="5486400" cy="2026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URLdan domenni ajratish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Vazifa: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http://, https://, www.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prefikslari bo‘lsa olib tashlang;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/, ?, #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 oldingi qism —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domen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6508617-8FFD-4883-86BB-A91306437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787770"/>
            <a:ext cx="3583032" cy="461665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https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://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www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path?a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example.com 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68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442887" y="1619852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46067-E07E-4250-A194-01ED76E6E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754" y="1619852"/>
            <a:ext cx="5747657" cy="2356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snake_case ↔ camelCase konvertori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Rejim tanlang: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s2c — snake_case → camelCase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c2s — camelCase → snake_case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Bo‘sh bo‘laklar (ketma-ket _) e’tiborsiz; harflarning yuqori/pastki holatini moslang.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DC330A-5ED3-4002-B9C7-FEE666BA3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370" y="2367171"/>
            <a:ext cx="2429686" cy="2123658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s2c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hello_world_python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helloWorldPython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c2s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helloWorld2You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hello_world2_you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250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69BEC7-12D2-4601-BD69-87F90B6A7986}"/>
              </a:ext>
            </a:extLst>
          </p:cNvPr>
          <p:cNvSpPr/>
          <p:nvPr/>
        </p:nvSpPr>
        <p:spPr>
          <a:xfrm>
            <a:off x="3722914" y="58846"/>
            <a:ext cx="4746171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mode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</a:rPr>
              <a:t>Rejim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 (s2c 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</a:rPr>
              <a:t>yoki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 c2s):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").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strip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</a:rPr>
              <a:t>Identifikator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").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strip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snake_to_camel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[]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split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_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"):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!=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"":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parts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append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len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""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].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lower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</a:rPr>
              <a:t>range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len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)):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]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"":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continue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first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].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upper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:].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lower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len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&gt;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""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+=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first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rest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camel_to_snake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""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</a:rPr>
              <a:t>range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len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)):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]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isupper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():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!=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+=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_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+=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lower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+=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mode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s2c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snake_to_camel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mode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c2s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camel_to_snake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</a:rPr>
              <a:t>Noto'g'ri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</a:rPr>
              <a:t>rejim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10F2FD9-8231-46BD-B405-C6A2034D8696}"/>
              </a:ext>
            </a:extLst>
          </p:cNvPr>
          <p:cNvSpPr/>
          <p:nvPr/>
        </p:nvSpPr>
        <p:spPr>
          <a:xfrm>
            <a:off x="1188713" y="58846"/>
            <a:ext cx="992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Yechim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96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18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3308</Words>
  <Application>Microsoft Office PowerPoint</Application>
  <PresentationFormat>Широкоэкранный</PresentationFormat>
  <Paragraphs>297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Courier New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169</cp:revision>
  <dcterms:created xsi:type="dcterms:W3CDTF">2025-09-12T13:04:48Z</dcterms:created>
  <dcterms:modified xsi:type="dcterms:W3CDTF">2025-10-09T09:25:09Z</dcterms:modified>
</cp:coreProperties>
</file>