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8" r:id="rId2"/>
    <p:sldId id="256" r:id="rId3"/>
    <p:sldId id="267" r:id="rId4"/>
    <p:sldId id="290" r:id="rId5"/>
    <p:sldId id="291" r:id="rId6"/>
    <p:sldId id="292" r:id="rId7"/>
    <p:sldId id="293" r:id="rId8"/>
    <p:sldId id="295" r:id="rId9"/>
    <p:sldId id="296" r:id="rId10"/>
    <p:sldId id="279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A978F-F74F-4798-AA49-72C8C461BA93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B5608-1A82-4AE5-8B6A-2C6A3BDEC84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635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6A8FA-5FD5-4D38-B82F-89CA91278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8C3BBB-BF25-484D-A11B-084CF6AF9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44501-AE6D-44BB-9F46-83AE0EC0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7F3EC5-C689-42A9-9B5F-DE4F1FB9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BD698-C6B1-46AB-83F7-12067F74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68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59B97-D663-4D55-9FE2-B599A03ED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AC0DE-2BE2-4F2A-9371-473BA9928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EB7D7F-131B-4804-B797-7F85126D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C3F1A0-48C2-4269-BA20-B7F6CED71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D89435-3B8B-4FE8-98F3-20C9ECAF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590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2C82F-BD7B-48C3-8CF4-71595A30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E6B08C-238A-49B9-A5FC-A0E96BF60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73D9A-2BB8-44C0-A707-B3D1F658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4E885-E111-4DA3-BB97-1C63CF7A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576BB-1A2A-419D-9F80-3F1C3192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700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5A839-1378-4BD0-BE8D-65A1A284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6EA9DD-2FFC-4F1A-9FE7-3181D858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1B73D4-7328-4CBA-917D-DF1B6730A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575C55-F64F-47DF-9730-C1F1D98C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4D718-EE0D-4FA7-ACA6-D4DC1692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BF993C-5446-49AC-8744-5CBC3D76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918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02B2F-79E0-4781-9AA0-EAE33B0C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2AA9D3-56EA-4601-95E1-9FFD535F5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E30AFF-AC0F-4C47-9B62-F79A0C2C6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56A52A-DE4A-40AA-949A-85F582785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E47D78-ADA2-40E3-841C-B6A25A8E7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C237E0-3780-4A01-BE4E-5F41445D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D3F80F-45D9-4CA4-9CBE-A6A8FB00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E3F0AF-DDA2-4CA5-B4C8-C02A9159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72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FEA7F-8196-4B24-AA38-E69A4E20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070A06-6D13-48FC-9E81-FD54BBA5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4E33D2-CF3D-4486-AB49-7054EB48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350ADF-F8C4-4541-BDE1-DC1491F66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79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E863E5-9A1E-4693-8317-634AFC13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CAFA82-DE29-46B4-A26F-2CEB851B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7EB962-525D-4F3D-93C8-0C047ED5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485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14B71-0CD8-4C3A-B424-9E22C4A1F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F2758-6C98-4123-8AE2-E688B824C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FD5B93-3875-4B7B-8B1F-095106A41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237ADF-BE43-46AE-9DD5-6BCC1D3C8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96283F-E263-4B12-B2C9-D5EE8C20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EDAADF-BB42-4A2F-A651-E2F31FA1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033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5054B-FBD5-444A-A146-0143471A0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C98DB1-5998-4B08-9D3A-4C05A2A13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90D716-64F1-4511-B916-CAF75E583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AA5188-7102-442A-A9D4-B37EFEBB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C50E7F-DDF6-4B14-B148-7C41525F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7A8B32-6810-463A-9366-A2077A30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902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25F84-C792-4B92-B101-3381C9E2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304AE4-BD13-4211-B5D9-B69ECE297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39DE7-92AF-48CF-977C-A27A1FC0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BB462F-A5AA-41A7-8528-93BE0E85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1D806D-F41B-456D-9652-A94E8AC8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753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E93A4C-177F-4703-924A-2EA5F4A00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2AA139-E1C7-4C41-8873-904FCC0EE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777716-34CB-4BBC-8328-C6429C1C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4A6ECE-95C9-47B6-823F-D96948936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02EEB7-0789-46B8-B9D4-7A260957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011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097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6A89F-6057-4DD6-981E-C89E3351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E86854-8EAD-4043-9867-77375C74A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F7340E-EA0E-4883-9188-83A578A21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7A81B-DCC6-4A44-9424-A81744E3671E}" type="datetimeFigureOut">
              <a:rPr lang="LID4096" smtClean="0"/>
              <a:t>09/19/2025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3D30DF-8C65-4862-B5A0-462687291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5749B7-DB1F-4EAE-9D7B-F831DAF99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C7076-5998-42A8-8880-88563491AD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229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20951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7-mashg‘ulot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guruhli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for,while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, break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continue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operatorlariga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tuzish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for,while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, break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continue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operatorlariga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doir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dasturlar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tuzish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3429000"/>
            <a:ext cx="11286310" cy="104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Break, continue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1240440" y="75357"/>
            <a:ext cx="9711120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Sikl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operatorlari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for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while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doir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dasturlar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tuzish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51DA3F-73DF-433B-9474-171A5F68228D}"/>
              </a:ext>
            </a:extLst>
          </p:cNvPr>
          <p:cNvSpPr/>
          <p:nvPr/>
        </p:nvSpPr>
        <p:spPr>
          <a:xfrm>
            <a:off x="409303" y="1136545"/>
            <a:ext cx="5686697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1-savol: 1 dan n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gacha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sonlar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yig‘indisi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Savol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 dan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gacha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sonlarning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yig‘indisini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4D8620-3E60-43A2-9252-922DF574D26D}"/>
              </a:ext>
            </a:extLst>
          </p:cNvPr>
          <p:cNvSpPr/>
          <p:nvPr/>
        </p:nvSpPr>
        <p:spPr>
          <a:xfrm>
            <a:off x="409303" y="3090903"/>
            <a:ext cx="5521597" cy="2678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sonini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jami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Yig‘indi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jami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2F3D77-7C8C-4520-93D6-0A83A7C197C7}"/>
              </a:ext>
            </a:extLst>
          </p:cNvPr>
          <p:cNvSpPr/>
          <p:nvPr/>
        </p:nvSpPr>
        <p:spPr>
          <a:xfrm>
            <a:off x="6505303" y="1088863"/>
            <a:ext cx="554736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2-savol: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So‘z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uzunligini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Savol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so‘z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siklidan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belgidan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iborat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ekanligini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17FAFE5-766C-4EF1-91DC-7C0470F650E3}"/>
              </a:ext>
            </a:extLst>
          </p:cNvPr>
          <p:cNvSpPr/>
          <p:nvPr/>
        </p:nvSpPr>
        <p:spPr>
          <a:xfrm>
            <a:off x="6505303" y="3090902"/>
            <a:ext cx="6096000" cy="26782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soz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So‘z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sana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harf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soz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sana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Belgilar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sana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1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E29D5B-4223-4284-89F4-F9284D7EA1BE}"/>
              </a:ext>
            </a:extLst>
          </p:cNvPr>
          <p:cNvSpPr/>
          <p:nvPr/>
        </p:nvSpPr>
        <p:spPr>
          <a:xfrm>
            <a:off x="426546" y="56370"/>
            <a:ext cx="3944982" cy="3524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3-Savol: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archa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balandligini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tanasi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poyasi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balandligini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belgilaridan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kengligi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markazga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tekislangan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archa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uchburchak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tana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chizing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Talablar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Archaning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i-qatordagi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yulduzlar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2*i-1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Har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oldingi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n-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spcBef>
                <a:spcPts val="6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Tana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markazga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tekis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tursin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 ta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balandligi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CBE267-B6A4-426C-9DE8-643F73372C93}"/>
              </a:ext>
            </a:extLst>
          </p:cNvPr>
          <p:cNvSpPr/>
          <p:nvPr/>
        </p:nvSpPr>
        <p:spPr>
          <a:xfrm>
            <a:off x="5190309" y="172899"/>
            <a:ext cx="7001691" cy="4581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yechim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kodi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Kirish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Archa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balandligi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n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masalan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5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Tana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balandligi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t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masalan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2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Archaning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barg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qismi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yulduzlar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bosh_joy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bosh_joy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yulduzlar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Tana (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poya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qismi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markazlangan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1 ta '*'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_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CEDB32-2C79-43C0-9E0F-918D432E9D95}"/>
              </a:ext>
            </a:extLst>
          </p:cNvPr>
          <p:cNvSpPr/>
          <p:nvPr/>
        </p:nvSpPr>
        <p:spPr>
          <a:xfrm>
            <a:off x="426546" y="3526259"/>
            <a:ext cx="2807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Namuna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kiritish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9C9451-1A29-4F70-9310-A8AA34F9A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46" y="3895591"/>
            <a:ext cx="4305901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2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A03E1BC8-E095-4873-9BDC-8471FDF4D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228626"/>
            <a:ext cx="553865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4-savol:</a:t>
            </a:r>
            <a:b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</a:b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n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sonini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kiritadi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belgilaridan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foydalanib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balandligi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2*n-1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bo‘lgan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romb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shaklini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chizib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bering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Times New Roman" panose="02020603050405020304" pitchFamily="18" charset="0"/>
              </a:rPr>
              <a:t>.</a:t>
            </a:r>
            <a:endParaRPr kumimoji="0" lang="ru-RU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2598BC-FF3F-4238-9F65-762076B7A694}"/>
              </a:ext>
            </a:extLst>
          </p:cNvPr>
          <p:cNvSpPr/>
          <p:nvPr/>
        </p:nvSpPr>
        <p:spPr>
          <a:xfrm>
            <a:off x="6217920" y="314919"/>
            <a:ext cx="5878286" cy="5591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Romb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balandligi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yarmi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 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Yuqori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qismi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yulduz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yulduz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Pastki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qismi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yulduz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bosh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yulduz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DD73624-4EB8-46D5-872B-9BE93527C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2436763"/>
            <a:ext cx="14194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n=4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en-US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6BA9BD-BD41-4251-AE28-6644C75A8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26417"/>
            <a:ext cx="304842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1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1F745D-C6EA-4D66-97E5-B23419B6D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39" y="665352"/>
            <a:ext cx="461387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5-savol: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Ko‘paytirish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jadvalini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endParaRPr kumimoji="0" lang="ru-RU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Shu son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 dan 10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ko‘paytirish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jadvalini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02A9E-68F0-4C52-A7D2-182B371EE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39" y="2475952"/>
            <a:ext cx="15279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Namuna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(n=7):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B6DDBF-A984-4874-9133-BE0919350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9" y="3300882"/>
            <a:ext cx="3410426" cy="105742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47BB102-7D2B-4052-B8C1-7946333C1AEA}"/>
              </a:ext>
            </a:extLst>
          </p:cNvPr>
          <p:cNvSpPr/>
          <p:nvPr/>
        </p:nvSpPr>
        <p:spPr>
          <a:xfrm>
            <a:off x="175839" y="4533249"/>
            <a:ext cx="6096000" cy="15291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x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9F0CCBB-4147-4AD6-834E-7510E0389812}"/>
              </a:ext>
            </a:extLst>
          </p:cNvPr>
          <p:cNvGrpSpPr/>
          <p:nvPr/>
        </p:nvGrpSpPr>
        <p:grpSpPr>
          <a:xfrm>
            <a:off x="6749143" y="257239"/>
            <a:ext cx="5181600" cy="2098682"/>
            <a:chOff x="6749143" y="257239"/>
            <a:chExt cx="5181600" cy="2098682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BA70DA9-C074-4BDC-9B2D-A427836A8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143" y="257239"/>
              <a:ext cx="5181600" cy="1077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LID4096" sz="16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kumimoji="0" lang="en-US" altLang="LID4096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-savol: Fibonacci </a:t>
              </a:r>
              <a:r>
                <a:rPr kumimoji="0" lang="en-US" altLang="LID4096" sz="16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ketma-ketligi</a:t>
              </a:r>
              <a:b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kumimoji="0" lang="en-US" altLang="LID4096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Foydalanuvchi</a:t>
              </a:r>
              <a: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n </a:t>
              </a:r>
              <a:r>
                <a:rPr kumimoji="0" lang="en-US" altLang="LID4096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sonini</a:t>
              </a:r>
              <a: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altLang="LID4096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kiritadi</a:t>
              </a:r>
              <a: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 Dastur n ta </a:t>
              </a:r>
              <a:r>
                <a:rPr kumimoji="0" lang="en-US" altLang="LID4096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Fibonacci </a:t>
              </a:r>
              <a:r>
                <a:rPr kumimoji="0" lang="en-US" altLang="LID4096" sz="16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sonlarini</a:t>
              </a:r>
              <a: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altLang="LID4096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chiqarishi</a:t>
              </a:r>
              <a: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altLang="LID4096" sz="16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kerak</a:t>
              </a:r>
              <a: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br>
                <a:rPr kumimoji="0" lang="en-US" altLang="LID4096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kumimoji="0" lang="en-US" altLang="LID4096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(Fibonacci: 0, 1, 1, 2, 3, 5, 8, …)</a:t>
              </a:r>
              <a:endPara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7CD4171-6948-49BF-A77F-E5CF6D3E87CC}"/>
                </a:ext>
              </a:extLst>
            </p:cNvPr>
            <p:cNvSpPr/>
            <p:nvPr/>
          </p:nvSpPr>
          <p:spPr>
            <a:xfrm>
              <a:off x="6749143" y="1557904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Namuna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  <a:endParaRPr 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B71FC842-5276-463B-B7EA-1969214E1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9143" y="1927236"/>
              <a:ext cx="3848637" cy="428685"/>
            </a:xfrm>
            <a:prstGeom prst="rect">
              <a:avLst/>
            </a:prstGeom>
          </p:spPr>
        </p:pic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5BBF185-1FC0-4020-9064-1D35A8C7C5C0}"/>
              </a:ext>
            </a:extLst>
          </p:cNvPr>
          <p:cNvSpPr/>
          <p:nvPr/>
        </p:nvSpPr>
        <p:spPr>
          <a:xfrm>
            <a:off x="6749143" y="2396904"/>
            <a:ext cx="5442857" cy="4114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Nechta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Fibonacci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sonini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chiqaramiz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while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9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60595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180699-CBB9-4812-AF70-A948C22EEA9A}"/>
              </a:ext>
            </a:extLst>
          </p:cNvPr>
          <p:cNvSpPr/>
          <p:nvPr/>
        </p:nvSpPr>
        <p:spPr>
          <a:xfrm>
            <a:off x="1002394" y="52633"/>
            <a:ext cx="10187212" cy="5305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Break, continue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else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operatorlariga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doir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dasturlar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tuzish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E39C5C-9784-4BB2-B812-F820256B4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45" y="765654"/>
            <a:ext cx="5625737" cy="42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bo‘linuvchi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(k)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bayoni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ketma-ketlikda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bo‘linadigan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 dan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element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-1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INPUT.TXT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 ≤ n ≤ 200000, 1 ≤ k ≤ 10^9).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ta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a1, a2, …, an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(|ai| ≤ 10^9).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OUTPUT.TXT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—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bo‘linadigan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elementning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1-indeksli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pozitsiyasi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topilmasa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-1.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Izoh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g‘oyasi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Ketma-ketlikni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chapdan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o‘ngga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ko‘zdan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kechiring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ai % k != 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continue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o‘tkazing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kelganda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break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sikl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breaksiz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tugasa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-1.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2B36C6-599B-445A-9978-E7D1983567DD}"/>
              </a:ext>
            </a:extLst>
          </p:cNvPr>
          <p:cNvSpPr/>
          <p:nvPr/>
        </p:nvSpPr>
        <p:spPr>
          <a:xfrm>
            <a:off x="6871062" y="662378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Misollar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64FCFD26-0353-4D5F-9F25-BBE22BB05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343478"/>
              </p:ext>
            </p:extLst>
          </p:nvPr>
        </p:nvGraphicFramePr>
        <p:xfrm>
          <a:off x="6871062" y="1031710"/>
          <a:ext cx="3265715" cy="150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3509">
                  <a:extLst>
                    <a:ext uri="{9D8B030D-6E8A-4147-A177-3AD203B41FA5}">
                      <a16:colId xmlns:a16="http://schemas.microsoft.com/office/drawing/2014/main" val="522671658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3943771576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2682548990"/>
                    </a:ext>
                  </a:extLst>
                </a:gridCol>
              </a:tblGrid>
              <a:tr h="2235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input.txt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output.txt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933607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7 4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3 6 9 12 5 8 16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111226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5 7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14 2 3 4 5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28879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5 11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1 2 3 4 5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72647642"/>
                  </a:ext>
                </a:extLst>
              </a:tr>
            </a:tbl>
          </a:graphicData>
        </a:graphic>
      </p:graphicFrame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23CCE2B-3E3F-41C8-BD48-974960365D3B}"/>
              </a:ext>
            </a:extLst>
          </p:cNvPr>
          <p:cNvSpPr/>
          <p:nvPr/>
        </p:nvSpPr>
        <p:spPr>
          <a:xfrm>
            <a:off x="6670769" y="2651207"/>
            <a:ext cx="4998717" cy="4206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INPUT: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k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a1 a2 ... an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n_k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n_k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idx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enumerate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start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val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continue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idx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for break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bo'lmasa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ishlaydi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(-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59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9021AE-0959-4498-8E67-96856D1F8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35791"/>
            <a:ext cx="5219700" cy="5011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 ta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bayoni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kelgan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segmentning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oxirgi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 dan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INPUT.TXT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 (1 ≤ n ≤ 200000, 1 ≤ K ≤ n).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qatorda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ta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a1, a2, …, an (|ai| ≤ 10^9).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OUTPUT.TXT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agar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 ta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musbat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oxirining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1-indeksi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topilmasa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Izoh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g‘oyasi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o‘tishda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sanagich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tuting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ai &gt; 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sanagichni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tushiring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(continue dan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Sanagich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bo‘lishi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bilanoq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chiqarib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break.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sikl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tugagach</a:t>
            </a:r>
            <a:r>
              <a:rPr kumimoji="0" lang="ru-RU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NO.</a:t>
            </a:r>
            <a:endParaRPr kumimoji="0" lang="ru-RU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458E48-6816-4CCA-A680-CCA4AC40360A}"/>
              </a:ext>
            </a:extLst>
          </p:cNvPr>
          <p:cNvSpPr/>
          <p:nvPr/>
        </p:nvSpPr>
        <p:spPr>
          <a:xfrm>
            <a:off x="6756402" y="135791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Misollar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E9D95AC-4A26-4AAB-9F99-1B439E3B8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241480"/>
              </p:ext>
            </p:extLst>
          </p:nvPr>
        </p:nvGraphicFramePr>
        <p:xfrm>
          <a:off x="6868794" y="505123"/>
          <a:ext cx="3669666" cy="1493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4666">
                  <a:extLst>
                    <a:ext uri="{9D8B030D-6E8A-4147-A177-3AD203B41FA5}">
                      <a16:colId xmlns:a16="http://schemas.microsoft.com/office/drawing/2014/main" val="3071763577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62462523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662033114"/>
                    </a:ext>
                  </a:extLst>
                </a:gridCol>
              </a:tblGrid>
              <a:tr h="1709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input.txt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output.txt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9904961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10 3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 5 2 3 -2 1 1 1 0 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269978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8 4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1 -3 2 2 2 2 -1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9295289"/>
                  </a:ext>
                </a:extLst>
              </a:tr>
              <a:tr h="3419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6 2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 0 -2 -3 0 -4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8120519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661F4D-66C2-4D53-84F8-5072FF736661}"/>
              </a:ext>
            </a:extLst>
          </p:cNvPr>
          <p:cNvSpPr/>
          <p:nvPr/>
        </p:nvSpPr>
        <p:spPr>
          <a:xfrm>
            <a:off x="6812280" y="2017298"/>
            <a:ext cx="5163820" cy="4726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INPUT: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n K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a1 a2 ... an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n_K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n_K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map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split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enumerate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start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+=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birinchi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segmentning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oxiri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break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0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continue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8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10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1510</Words>
  <Application>Microsoft Office PowerPoint</Application>
  <PresentationFormat>Широкоэкранный</PresentationFormat>
  <Paragraphs>159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Courier New</vt:lpstr>
      <vt:lpstr>Symbol</vt:lpstr>
      <vt:lpstr>Times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50</cp:revision>
  <dcterms:created xsi:type="dcterms:W3CDTF">2025-09-19T02:57:10Z</dcterms:created>
  <dcterms:modified xsi:type="dcterms:W3CDTF">2025-09-19T03:51:36Z</dcterms:modified>
</cp:coreProperties>
</file>