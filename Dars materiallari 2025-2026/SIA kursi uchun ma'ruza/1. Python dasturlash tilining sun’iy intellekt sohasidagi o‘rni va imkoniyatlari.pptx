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8" r:id="rId2"/>
    <p:sldId id="267" r:id="rId3"/>
    <p:sldId id="291" r:id="rId4"/>
    <p:sldId id="292" r:id="rId5"/>
    <p:sldId id="294" r:id="rId6"/>
    <p:sldId id="295" r:id="rId7"/>
    <p:sldId id="298" r:id="rId8"/>
    <p:sldId id="297" r:id="rId9"/>
    <p:sldId id="300" r:id="rId10"/>
    <p:sldId id="301" r:id="rId11"/>
    <p:sldId id="303" r:id="rId12"/>
    <p:sldId id="304" r:id="rId13"/>
    <p:sldId id="307" r:id="rId14"/>
    <p:sldId id="308" r:id="rId15"/>
    <p:sldId id="306" r:id="rId16"/>
    <p:sldId id="309" r:id="rId17"/>
    <p:sldId id="310" r:id="rId18"/>
    <p:sldId id="279" r:id="rId19"/>
    <p:sldId id="312" r:id="rId20"/>
    <p:sldId id="313" r:id="rId21"/>
    <p:sldId id="302" r:id="rId22"/>
    <p:sldId id="314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6B997D-24FF-489C-90FA-DBF3FF6B0DAB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EAF20-399A-47E0-90CA-02D2DD2BE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693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393D3-4B8A-45FC-B638-0C8792846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02B52E-7526-4779-B004-B95E387CA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6D3A70-915E-41EE-9D71-61C4A221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FB2DF-41CF-4F85-B985-3B5579D03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A17D30-B00C-487C-B41D-194EDF43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20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D988F-5677-4A50-90C8-9C3B1B2D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F68110-0A98-48B9-AD7D-52A6BC575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BC5E2E-EAEE-4976-A934-30E0CC373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C9BD76-6FD8-48C1-92EF-5FBC887B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55F3FC-5A36-4406-9CFC-2AD4A696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82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3A1D9-515B-47F9-B6C6-087466111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78D72F-6AA6-464D-B6C8-8F4F1BAEE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ACFE6-0062-4766-B432-4AFDE18C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7E3F16-6254-49D0-88B4-798DF044A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C3253B-2E2B-4C89-AF3E-CC7C9E0C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22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06FE3-DDFA-4714-8D0C-3856306C3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1D56F-6B94-4483-8947-623D66E57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1FEFAF-64F9-4804-A1FA-EE4BC0D21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B7C50F-D187-4BD8-B5C3-D14C5681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50E76D-E127-4C52-8491-24A8B0B5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A46B5B-B3C5-4849-9717-3086FF16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155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E3AB2-A3EC-43F9-9A5F-41550C5F2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E5B335-C97B-4B8D-931D-9D1DE929A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A1219B-9F04-4D46-9DF1-CC4E51DFE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D3D567-BF5C-47CF-BADA-B5FCEDD47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D5EBCDE-0E92-412B-844C-A42940BF8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A5DCB33-2554-4717-9148-F5BAB705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CC2B71-005B-44A8-80BE-005133607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CA16ECF-B796-4C51-A08C-80B72B15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723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61451-ACBC-4E3C-82FF-7851B1DE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62B7FF-4214-44B0-871E-B4A0DF9E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FA38AA-A930-43AC-9686-86A480F4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46DC66-3621-452B-B544-F1FB1C58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3688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D6EA916-6486-4AB3-A116-9DDE66DF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279489B-A1B9-4839-A9E7-C8838D1EE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422041-CBA0-4CCF-B5ED-117ECE58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007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100C6-5BB0-4899-822A-D3164DF1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EA629-4DDF-435B-BD7E-72F09E81F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91FA39-BC1A-4C0B-B6E8-4F43B0162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E2E63F-DCD4-4759-ACFF-CAD497A61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6C4559-2F12-4CC6-BC16-655611932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2EEB51-F98C-4DAD-94F5-D6666C07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1625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AE8A1-9F96-483B-A75F-BF17324BE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6CDF4B-ADE8-4A52-A583-112F93322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3AA857-2538-4383-B7DC-E8A44F58C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7FF382-FFC0-41E9-82A6-9667A5B5B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0E491B-BDBA-43CB-BCB8-DC343315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FBEC04-BF11-4288-9E7E-E884F21C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5391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52BED-2DD0-4DF5-B429-6CB003BC4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11CB4C-8E45-494B-8624-E35F2CC89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E755F2-1CEC-4612-BB8D-5172CB5E3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BF2849-D5C8-4945-9502-61C92320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A771B3-4257-48A7-9058-95BE8B56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1175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4DEC41D-6680-4D3D-9266-4D207D4A2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C4BB1C-0804-4EDC-ABA4-B420C830B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7349DF-8795-4BE6-9DF7-15515CF8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2A2EB3-057D-47CD-80E6-8485455C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0A116E-810D-4267-81B7-673FBCFA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7170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038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06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17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22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73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493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51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5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76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14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77C77E-8726-4DFB-A1F5-F3C0BCEA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456D11-C88B-4BF9-BA32-26AFEC0E0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4A4D8-9818-4285-A57B-1E852141A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237BB-90D2-4E61-891D-BF7D4994DAF7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72DF31-687E-4C4F-8625-500D5D304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3C3341-52B9-48B4-88C2-6A50C7A89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1BFC2-248B-4AE4-8C30-7378FFE9F81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9242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830997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PYTHON DASTURLASH TILINING SUN’IY INTELLEKT SOHASIDAGI O‘RNI VA IMKONIYATLARI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Ma’ruzachi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511760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1081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 DASTURLASH TILINING SUN’IY INTELLEKT SOHASIDAGI O‘RNI VA IMKONIYATLARI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110280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5" y="2143230"/>
            <a:ext cx="11286310" cy="2794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yo‘nalishida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kutubxonalari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Python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boshlovchilar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Nima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uchun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Python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dasturlash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tili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AI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sohasida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keng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qo‘llaniladi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89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F69200-9635-4EA2-9A8A-40C36F9B4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737" y="659288"/>
            <a:ext cx="7058526" cy="559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6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957B13-53CF-4A1B-A4CB-6244C5E0B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997" y="717798"/>
            <a:ext cx="9048006" cy="54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F08E7B1-7D6A-4EE3-A2C0-DC28B5256991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2"/>
          <a:stretch/>
        </p:blipFill>
        <p:spPr bwMode="auto">
          <a:xfrm>
            <a:off x="2220227" y="673768"/>
            <a:ext cx="7751546" cy="59696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B9985F5-85DF-41A2-B4DA-787C74B26908}"/>
              </a:ext>
            </a:extLst>
          </p:cNvPr>
          <p:cNvSpPr/>
          <p:nvPr/>
        </p:nvSpPr>
        <p:spPr>
          <a:xfrm>
            <a:off x="4441220" y="304436"/>
            <a:ext cx="3309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kutubxonalar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ekotizimi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27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9028B6B-3EC2-4E28-A4DB-491DADD0EA63}"/>
              </a:ext>
            </a:extLst>
          </p:cNvPr>
          <p:cNvSpPr/>
          <p:nvPr/>
        </p:nvSpPr>
        <p:spPr>
          <a:xfrm>
            <a:off x="3597880" y="173252"/>
            <a:ext cx="4996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Tez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prototiplash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iteratsiya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imkoniyati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0FE771-DE1C-49D0-9AC0-CFF05BCB1C82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2"/>
          <a:stretch/>
        </p:blipFill>
        <p:spPr bwMode="auto">
          <a:xfrm>
            <a:off x="2287603" y="731517"/>
            <a:ext cx="7616794" cy="48951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2728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89D295-0D4C-488C-9D55-C8D7E24DA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4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8A80D8-3215-426C-AAD0-8B1A3FCA6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19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348478-95D6-4FB1-BA75-575BEB82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94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8150B95-F5D4-46FB-9D1C-D5EBDC455D7C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9649" b="18975"/>
          <a:stretch/>
        </p:blipFill>
        <p:spPr bwMode="auto">
          <a:xfrm>
            <a:off x="1921845" y="633846"/>
            <a:ext cx="7790046" cy="55903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69281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C6BA64-A9FF-44ED-B13E-30650BF864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509"/>
          <a:stretch/>
        </p:blipFill>
        <p:spPr>
          <a:xfrm>
            <a:off x="304292" y="784459"/>
            <a:ext cx="11583416" cy="528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17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0186D2-983F-4645-97E0-480C75F3D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40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2.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Sun’iy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intellekt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yo‘nalishida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ishlatiladigan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asosiy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Python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kutubxonalari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89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FB785A-6495-4BAC-8A5E-ABE5C0D117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496" y="661517"/>
            <a:ext cx="6327008" cy="55349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5538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3. Python </a:t>
            </a:r>
            <a:r>
              <a:rPr lang="en-US" sz="27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yordamida</a:t>
            </a:r>
            <a:r>
              <a:rPr lang="en-US" sz="2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AI </a:t>
            </a:r>
            <a:r>
              <a:rPr lang="en-US" sz="27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sohasida</a:t>
            </a:r>
            <a:r>
              <a:rPr lang="en-US" sz="2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qanday</a:t>
            </a:r>
            <a:r>
              <a:rPr lang="en-US" sz="2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amaliy</a:t>
            </a:r>
            <a:r>
              <a:rPr lang="en-US" sz="2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vazifalarni</a:t>
            </a:r>
            <a:r>
              <a:rPr lang="en-US" sz="2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bajarish</a:t>
            </a:r>
            <a:r>
              <a:rPr lang="en-US" sz="2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mumkin</a:t>
            </a:r>
            <a:r>
              <a:rPr lang="en-US" sz="2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89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FE6FA23-313E-4926-BE44-C143B617C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288848"/>
              </p:ext>
            </p:extLst>
          </p:nvPr>
        </p:nvGraphicFramePr>
        <p:xfrm>
          <a:off x="445369" y="703737"/>
          <a:ext cx="11298956" cy="56093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6156">
                  <a:extLst>
                    <a:ext uri="{9D8B030D-6E8A-4147-A177-3AD203B41FA5}">
                      <a16:colId xmlns:a16="http://schemas.microsoft.com/office/drawing/2014/main" val="199511830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1256152388"/>
                    </a:ext>
                  </a:extLst>
                </a:gridCol>
                <a:gridCol w="6143625">
                  <a:extLst>
                    <a:ext uri="{9D8B030D-6E8A-4147-A177-3AD203B41FA5}">
                      <a16:colId xmlns:a16="http://schemas.microsoft.com/office/drawing/2014/main" val="2516850348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3750603649"/>
                    </a:ext>
                  </a:extLst>
                </a:gridCol>
              </a:tblGrid>
              <a:tr h="39856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UM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Soha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Amaliyotda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Kutubxonalar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extLst>
                  <a:ext uri="{0D108BD9-81ED-4DB2-BD59-A6C34878D82A}">
                    <a16:rowId xmlns:a16="http://schemas.microsoft.com/office/drawing/2014/main" val="2722504482"/>
                  </a:ext>
                </a:extLst>
              </a:tr>
              <a:tr h="1042157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M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Jadval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klassik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ML)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banklarda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kredit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skoring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sug‘urta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kompaniyalarida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baholash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-joy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narxini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prognoz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talabalarning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imtihon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natijalarini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oldindan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korxonada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xodimning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tashlab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ehtimolini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pandas, </a:t>
                      </a: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scikit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-learn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extLst>
                  <a:ext uri="{0D108BD9-81ED-4DB2-BD59-A6C34878D82A}">
                    <a16:rowId xmlns:a16="http://schemas.microsoft.com/office/drawing/2014/main" val="3951229895"/>
                  </a:ext>
                </a:extLst>
              </a:tr>
              <a:tr h="145902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M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(NLP)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ijtimoiy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tarmoqdagi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sharhlarni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ijobiy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yoki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salbiy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deb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ajratish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onlayn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do‘kon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izohlaridan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xizmat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sifati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haqida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xulosa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chiqarish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call-center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suhbatlaridan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ko‘p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uchraydigan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muammolarni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hujjatlardan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ism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manzil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kabi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ajratib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chat-bot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yangiliklardan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qisqa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xulosa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tuzish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matnni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avtomatik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tarjima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transformers, </a:t>
                      </a: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spaCy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extLst>
                  <a:ext uri="{0D108BD9-81ED-4DB2-BD59-A6C34878D82A}">
                    <a16:rowId xmlns:a16="http://schemas.microsoft.com/office/drawing/2014/main" val="4075385254"/>
                  </a:ext>
                </a:extLst>
              </a:tr>
              <a:tr h="145902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M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t-IT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Rasm va video (Computer Vision)</a:t>
                      </a:r>
                      <a:endParaRPr lang="it-IT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chiqarishda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nuqsonli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mahsulotni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xavfsizlik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tizimlarida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yuzni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hujjatdan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matnni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transport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oqimini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kameralar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orqali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kuzatish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odam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qishloq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xo‘jaligida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orqali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kasallangan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ekinlarni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tibbiyotda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rentgen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yoki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MRT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tasviridan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kasallikni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opencv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ultralytics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extLst>
                  <a:ext uri="{0D108BD9-81ED-4DB2-BD59-A6C34878D82A}">
                    <a16:rowId xmlns:a16="http://schemas.microsoft.com/office/drawing/2014/main" val="280828316"/>
                  </a:ext>
                </a:extLst>
              </a:tr>
              <a:tr h="125058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M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Ovoz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nutq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qo‘ng‘iroq markazida suhbatlarni yozib olish va avtomatik tahlil qilish; </a:t>
                      </a:r>
                      <a:b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ovozli buyruqlarni bajarish; </a:t>
                      </a:r>
                      <a:b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shaxsni ovoz orqali aniqlash; </a:t>
                      </a:r>
                      <a:b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nutqni boshqa tilga tarjima qilish; </a:t>
                      </a:r>
                      <a:b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audiokitob yaratish; </a:t>
                      </a:r>
                      <a:b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ovozdan kayfiyatni aniqlash;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librosa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, transformers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extLst>
                  <a:ext uri="{0D108BD9-81ED-4DB2-BD59-A6C34878D82A}">
                    <a16:rowId xmlns:a16="http://schemas.microsoft.com/office/drawing/2014/main" val="90848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18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73105EB-7D80-456C-B34D-325ABF1B2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788926"/>
              </p:ext>
            </p:extLst>
          </p:nvPr>
        </p:nvGraphicFramePr>
        <p:xfrm>
          <a:off x="445369" y="703737"/>
          <a:ext cx="11298956" cy="54729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6156">
                  <a:extLst>
                    <a:ext uri="{9D8B030D-6E8A-4147-A177-3AD203B41FA5}">
                      <a16:colId xmlns:a16="http://schemas.microsoft.com/office/drawing/2014/main" val="199511830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1256152388"/>
                    </a:ext>
                  </a:extLst>
                </a:gridCol>
                <a:gridCol w="6143625">
                  <a:extLst>
                    <a:ext uri="{9D8B030D-6E8A-4147-A177-3AD203B41FA5}">
                      <a16:colId xmlns:a16="http://schemas.microsoft.com/office/drawing/2014/main" val="2516850348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3750603649"/>
                    </a:ext>
                  </a:extLst>
                </a:gridCol>
              </a:tblGrid>
              <a:tr h="39856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UM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Soha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Amaliyotda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Kutubxonalar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extLst>
                  <a:ext uri="{0D108BD9-81ED-4DB2-BD59-A6C34878D82A}">
                    <a16:rowId xmlns:a16="http://schemas.microsoft.com/office/drawing/2014/main" val="2722504482"/>
                  </a:ext>
                </a:extLst>
              </a:tr>
              <a:tr h="1214299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M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Vaqt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ma’lumotlar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(Time Series)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do‘konning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oygi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sotuvini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prognoz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elektr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energiyasi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iste’molini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oldindan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aytish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serverda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trafikdagi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keskin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o‘zgarishlarni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moliya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bozorida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aksiyalar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narxini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bashorat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chiqarishda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uskunalar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buzilishini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oldindan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ko‘rish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yo‘lovchi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oqimini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prognoz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statsmodels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prophet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1229895"/>
                  </a:ext>
                </a:extLst>
              </a:tr>
              <a:tr h="1150498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M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Tavsiya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tizimlari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onlayn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do‘konlarda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mahsulot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tavsiya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video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platformalarda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foydalanuvchiga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mos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filmlarni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ko‘rsatish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musiqa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ilovalarida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shaxsiy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playlist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tuzish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ta’lim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platformalarida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talabaga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mos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kurslarni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tavsiya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yangiliklar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saytida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foydalanuvchiga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qiziq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maqolalarni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ko‘rsatish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LightFM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implicit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5385254"/>
                  </a:ext>
                </a:extLst>
              </a:tr>
              <a:tr h="145902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M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Generativ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AI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mahsulot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tavsiflarini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avtomatik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yozish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surat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tavsifidan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yangi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rasm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chizish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eski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rasmlarni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qayta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tiklash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ovozli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dublyaj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yangi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musiqa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darsliklar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avtomatik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mashqlar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tuzish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dasturchilarga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kod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avtomatik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yordam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berish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transformers, diffusers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828316"/>
                  </a:ext>
                </a:extLst>
              </a:tr>
              <a:tr h="1250589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M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Reinforcement Learning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ombor robotini eng qisqa yo‘l bilan yurishga o‘rgatish; </a:t>
                      </a:r>
                      <a:b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kompyuter o‘yinlarida sun’iy intellektli raqib yaratish; </a:t>
                      </a:r>
                      <a:b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avtonom mashinalarda qaror qabul qilishni o‘rgatish; </a:t>
                      </a:r>
                      <a:b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logistika tizimida yetkazib berish marshrutini optimallashtirish;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stable-baselines3, gymnasium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848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610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DF630DB-2D4F-4784-8190-849ED1C26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182301"/>
              </p:ext>
            </p:extLst>
          </p:nvPr>
        </p:nvGraphicFramePr>
        <p:xfrm>
          <a:off x="445369" y="703737"/>
          <a:ext cx="11298956" cy="5272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6156">
                  <a:extLst>
                    <a:ext uri="{9D8B030D-6E8A-4147-A177-3AD203B41FA5}">
                      <a16:colId xmlns:a16="http://schemas.microsoft.com/office/drawing/2014/main" val="199511830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1256152388"/>
                    </a:ext>
                  </a:extLst>
                </a:gridCol>
                <a:gridCol w="6143625">
                  <a:extLst>
                    <a:ext uri="{9D8B030D-6E8A-4147-A177-3AD203B41FA5}">
                      <a16:colId xmlns:a16="http://schemas.microsoft.com/office/drawing/2014/main" val="2516850348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3750603649"/>
                    </a:ext>
                  </a:extLst>
                </a:gridCol>
              </a:tblGrid>
              <a:tr h="39856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UM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Soha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Amaliyotda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Kutubxonalar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11" marR="48111" marT="0" marB="0" anchor="ctr"/>
                </a:tc>
                <a:extLst>
                  <a:ext uri="{0D108BD9-81ED-4DB2-BD59-A6C34878D82A}">
                    <a16:rowId xmlns:a16="http://schemas.microsoft.com/office/drawing/2014/main" val="2722504482"/>
                  </a:ext>
                </a:extLst>
              </a:tr>
              <a:tr h="1042157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M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Graf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ma’lumotlari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ijtimoiy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tarmoqlarda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do‘st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tavsiya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firibgarlik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zanjirlarini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qisqa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yo‘lni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topish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ilmiy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maqolalar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orasidagi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aloqalarni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ta’lim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sohasida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bilim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graflaridan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foydalanish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networkx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torch-geometric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1229895"/>
                  </a:ext>
                </a:extLst>
              </a:tr>
              <a:tr h="1122615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M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Amalda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joriy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MLOps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sayt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yoki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ilovaga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API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kredit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ballini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real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vaqtda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hisoblab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berish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model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versiyalarini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kuzatish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taqqoslash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telefon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ilovalariga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tayyor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AI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xizmatlarini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</a:txBody>
                  <a:tcPr marL="48111" marR="4811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MLflow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5385254"/>
                  </a:ext>
                </a:extLst>
              </a:tr>
              <a:tr h="145902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M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Katta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ma’lumotlar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(Big Data)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har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kuni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tushayotgan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millionlab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log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fayllarni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tozalash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saqlash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turli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manbalardan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kelgan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ma’lumotlarni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birlashtirish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katta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tranzaksiyalarni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yil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davomida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yig‘ilgan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buyurtmalar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tarixidan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xulosa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chiqarish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Dask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PySpark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828316"/>
                  </a:ext>
                </a:extLst>
              </a:tr>
              <a:tr h="125058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M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Mobil va IoT qurilmalari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telefon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kamerasi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orqali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offline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rasm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qishloq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xo‘jaligi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dronida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daladagi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nuqsonlarni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smart-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soat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orqali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yurak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urishini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kuzatish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internet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bo‘lmasa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ham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ishlaydigan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AI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ilova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TensorFlow Lite, ONNX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848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69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F6058D-CFE4-4A74-869B-33655A64B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1104900"/>
            <a:ext cx="8629650" cy="57531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ABBB7C-6B48-4751-A2B3-A8FDCBC2EA9F}"/>
              </a:ext>
            </a:extLst>
          </p:cNvPr>
          <p:cNvSpPr/>
          <p:nvPr/>
        </p:nvSpPr>
        <p:spPr>
          <a:xfrm>
            <a:off x="390525" y="67360"/>
            <a:ext cx="114109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boshlovchilar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9D74E6A-3C12-4FB2-917A-AAAD032F8A82}"/>
              </a:ext>
            </a:extLst>
          </p:cNvPr>
          <p:cNvCxnSpPr/>
          <p:nvPr/>
        </p:nvCxnSpPr>
        <p:spPr>
          <a:xfrm>
            <a:off x="0" y="54489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711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18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033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078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ABD9DA7-F2BA-432D-A45C-237FBBA8C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66" y="0"/>
            <a:ext cx="10010468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B9D619C-B941-40EB-90D3-C946F550EBCB}"/>
              </a:ext>
            </a:extLst>
          </p:cNvPr>
          <p:cNvSpPr/>
          <p:nvPr/>
        </p:nvSpPr>
        <p:spPr>
          <a:xfrm>
            <a:off x="5091764" y="6660682"/>
            <a:ext cx="3436219" cy="1973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0073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661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803374"/>
            <a:ext cx="378043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Pythonning Tarixi</a:t>
            </a:r>
            <a:endParaRPr lang="en-US" sz="2958" dirty="0"/>
          </a:p>
        </p:txBody>
      </p:sp>
      <p:sp>
        <p:nvSpPr>
          <p:cNvPr id="3" name="Text 1"/>
          <p:cNvSpPr/>
          <p:nvPr/>
        </p:nvSpPr>
        <p:spPr>
          <a:xfrm>
            <a:off x="661492" y="1464866"/>
            <a:ext cx="52039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1990-yillarning boshida Niderlandiyada Gvido van Rossum tomonidan yaratilgan.</a:t>
            </a:r>
            <a:endParaRPr lang="en-US" sz="1458" dirty="0"/>
          </a:p>
        </p:txBody>
      </p:sp>
      <p:sp>
        <p:nvSpPr>
          <p:cNvPr id="4" name="Text 2"/>
          <p:cNvSpPr/>
          <p:nvPr/>
        </p:nvSpPr>
        <p:spPr>
          <a:xfrm>
            <a:off x="661492" y="2135783"/>
            <a:ext cx="52039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"Monty Python" komediya shousi sharafiga nomlangan.</a:t>
            </a:r>
            <a:endParaRPr lang="en-US" sz="1458" dirty="0"/>
          </a:p>
        </p:txBody>
      </p:sp>
      <p:sp>
        <p:nvSpPr>
          <p:cNvPr id="5" name="Text 3"/>
          <p:cNvSpPr/>
          <p:nvPr/>
        </p:nvSpPr>
        <p:spPr>
          <a:xfrm>
            <a:off x="661492" y="2806700"/>
            <a:ext cx="52039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Dastlabki versiyadan boshlab ochiq va bepul bo'lib, tezda ommalashgan.</a:t>
            </a:r>
            <a:endParaRPr lang="en-US" sz="1458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935" y="826989"/>
            <a:ext cx="520392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933873"/>
            <a:ext cx="3496965" cy="2305248"/>
          </a:xfrm>
          <a:prstGeom prst="roundRect">
            <a:avLst>
              <a:gd name="adj" fmla="val 5289"/>
            </a:avLst>
          </a:prstGeom>
          <a:solidFill>
            <a:srgbClr val="F2F2F2">
              <a:alpha val="9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1492" y="1908473"/>
            <a:ext cx="3496965" cy="10160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4" name="Shape 2"/>
          <p:cNvSpPr/>
          <p:nvPr/>
        </p:nvSpPr>
        <p:spPr>
          <a:xfrm>
            <a:off x="2126407" y="1650405"/>
            <a:ext cx="567035" cy="567035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468" y="1792189"/>
            <a:ext cx="226814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5904" y="240635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Oson va Tushunarli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875903" y="2815034"/>
            <a:ext cx="3068142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Interpretatsiya qilinadigan, yuqori darajadagi, sodda va o'qishga qulay sintaksisga ega.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4347468" y="1933873"/>
            <a:ext cx="3496965" cy="2305248"/>
          </a:xfrm>
          <a:prstGeom prst="roundRect">
            <a:avLst>
              <a:gd name="adj" fmla="val 5289"/>
            </a:avLst>
          </a:prstGeom>
          <a:solidFill>
            <a:srgbClr val="F2F2F2">
              <a:alpha val="9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347468" y="1908473"/>
            <a:ext cx="3496965" cy="10160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0" name="Shape 7"/>
          <p:cNvSpPr/>
          <p:nvPr/>
        </p:nvSpPr>
        <p:spPr>
          <a:xfrm>
            <a:off x="5812383" y="1650405"/>
            <a:ext cx="567035" cy="567035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445" y="1792189"/>
            <a:ext cx="226814" cy="2834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1880" y="240635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Ko'p Paradigmali</a:t>
            </a:r>
            <a:endParaRPr lang="en-US" sz="1833" dirty="0"/>
          </a:p>
        </p:txBody>
      </p:sp>
      <p:sp>
        <p:nvSpPr>
          <p:cNvPr id="13" name="Text 9"/>
          <p:cNvSpPr/>
          <p:nvPr/>
        </p:nvSpPr>
        <p:spPr>
          <a:xfrm>
            <a:off x="4561880" y="2815034"/>
            <a:ext cx="3068142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Obyektga yo'naltirilgan va funksional dasturlashni qo'llab-quvvatlaydi.</a:t>
            </a:r>
            <a:endParaRPr lang="en-US" sz="1458" dirty="0"/>
          </a:p>
        </p:txBody>
      </p:sp>
      <p:sp>
        <p:nvSpPr>
          <p:cNvPr id="14" name="Shape 10"/>
          <p:cNvSpPr/>
          <p:nvPr/>
        </p:nvSpPr>
        <p:spPr>
          <a:xfrm>
            <a:off x="8033444" y="1933873"/>
            <a:ext cx="3496965" cy="2305248"/>
          </a:xfrm>
          <a:prstGeom prst="roundRect">
            <a:avLst>
              <a:gd name="adj" fmla="val 5289"/>
            </a:avLst>
          </a:prstGeom>
          <a:solidFill>
            <a:srgbClr val="F2F2F2">
              <a:alpha val="9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033444" y="1908473"/>
            <a:ext cx="3496965" cy="10160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6" name="Shape 12"/>
          <p:cNvSpPr/>
          <p:nvPr/>
        </p:nvSpPr>
        <p:spPr>
          <a:xfrm>
            <a:off x="9498360" y="1650405"/>
            <a:ext cx="567035" cy="567035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421" y="1792189"/>
            <a:ext cx="226814" cy="2834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47856" y="240635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Keng Tarqalgan</a:t>
            </a:r>
            <a:endParaRPr lang="en-US" sz="1833" dirty="0"/>
          </a:p>
        </p:txBody>
      </p:sp>
      <p:sp>
        <p:nvSpPr>
          <p:cNvPr id="19" name="Text 14"/>
          <p:cNvSpPr/>
          <p:nvPr/>
        </p:nvSpPr>
        <p:spPr>
          <a:xfrm>
            <a:off x="8247856" y="2815034"/>
            <a:ext cx="30681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Google, NASA, Instagram, Dropbox va boshqa ko'plab tashkilotlar tomonidan foydalaniladi.</a:t>
            </a:r>
            <a:endParaRPr lang="en-US" sz="1458" dirty="0"/>
          </a:p>
        </p:txBody>
      </p:sp>
      <p:sp>
        <p:nvSpPr>
          <p:cNvPr id="20" name="Text 15"/>
          <p:cNvSpPr/>
          <p:nvPr/>
        </p:nvSpPr>
        <p:spPr>
          <a:xfrm>
            <a:off x="661492" y="4451747"/>
            <a:ext cx="10869018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958"/>
              </a:lnSpc>
            </a:pPr>
            <a:r>
              <a:rPr lang="en-US" sz="1833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Nima uchun aynan Python?</a:t>
            </a:r>
            <a:r>
              <a:rPr lang="en-US" sz="18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Uning soddaligi va moslashuvchanligi uni barcha darajadagi dasturchilar uchun ideal tanlovga aylantiradi.</a:t>
            </a:r>
            <a:endParaRPr lang="en-US" sz="183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748903"/>
            <a:ext cx="5086846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Tilning Asosiy Xususiyatlari</a:t>
            </a:r>
            <a:endParaRPr lang="en-US" sz="2958" dirty="0"/>
          </a:p>
        </p:txBody>
      </p:sp>
      <p:sp>
        <p:nvSpPr>
          <p:cNvPr id="3" name="Shape 1"/>
          <p:cNvSpPr/>
          <p:nvPr/>
        </p:nvSpPr>
        <p:spPr>
          <a:xfrm>
            <a:off x="661492" y="1599407"/>
            <a:ext cx="5339953" cy="2160290"/>
          </a:xfrm>
          <a:prstGeom prst="roundRect">
            <a:avLst>
              <a:gd name="adj" fmla="val 3675"/>
            </a:avLst>
          </a:prstGeom>
          <a:solidFill>
            <a:srgbClr val="D2D9F9"/>
          </a:solidFill>
          <a:ln w="7620">
            <a:solidFill>
              <a:srgbClr val="4967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53" y="1794768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25" y="1918792"/>
            <a:ext cx="255092" cy="3188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54" y="2550815"/>
            <a:ext cx="26596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Hamma Narsa – Obyekt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856853" y="2959497"/>
            <a:ext cx="494923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Raqamlar, satrlar, funksiyalar va sinflar kabi barcha elementlar obyekt hisoblanadi.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6190457" y="1599407"/>
            <a:ext cx="5340053" cy="2160290"/>
          </a:xfrm>
          <a:prstGeom prst="roundRect">
            <a:avLst>
              <a:gd name="adj" fmla="val 3675"/>
            </a:avLst>
          </a:prstGeom>
          <a:solidFill>
            <a:srgbClr val="D2D9F9"/>
          </a:solidFill>
          <a:ln w="7620">
            <a:solidFill>
              <a:srgbClr val="4967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818" y="1794768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790" y="1918792"/>
            <a:ext cx="255092" cy="3188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819" y="2550815"/>
            <a:ext cx="332769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Avtomatik Xotira Boshqaruvi</a:t>
            </a:r>
            <a:endParaRPr lang="en-US" sz="1833" dirty="0"/>
          </a:p>
        </p:txBody>
      </p:sp>
      <p:sp>
        <p:nvSpPr>
          <p:cNvPr id="12" name="Text 8"/>
          <p:cNvSpPr/>
          <p:nvPr/>
        </p:nvSpPr>
        <p:spPr>
          <a:xfrm>
            <a:off x="6385819" y="2959497"/>
            <a:ext cx="49493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Dasturchining xotira bilan qo'lda ishlashiga hojat qolmaydi.</a:t>
            </a:r>
            <a:endParaRPr lang="en-US" sz="1458" dirty="0"/>
          </a:p>
        </p:txBody>
      </p:sp>
      <p:sp>
        <p:nvSpPr>
          <p:cNvPr id="13" name="Shape 9"/>
          <p:cNvSpPr/>
          <p:nvPr/>
        </p:nvSpPr>
        <p:spPr>
          <a:xfrm>
            <a:off x="661492" y="3948708"/>
            <a:ext cx="5339953" cy="2160290"/>
          </a:xfrm>
          <a:prstGeom prst="roundRect">
            <a:avLst>
              <a:gd name="adj" fmla="val 3675"/>
            </a:avLst>
          </a:prstGeom>
          <a:solidFill>
            <a:srgbClr val="D2D9F9"/>
          </a:solidFill>
          <a:ln w="7620">
            <a:solidFill>
              <a:srgbClr val="4967E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53" y="4144069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825" y="4268094"/>
            <a:ext cx="255092" cy="31888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54" y="490011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Dinamik Tipizatsiya</a:t>
            </a:r>
            <a:endParaRPr lang="en-US" sz="1833" dirty="0"/>
          </a:p>
        </p:txBody>
      </p:sp>
      <p:sp>
        <p:nvSpPr>
          <p:cNvPr id="17" name="Text 12"/>
          <p:cNvSpPr/>
          <p:nvPr/>
        </p:nvSpPr>
        <p:spPr>
          <a:xfrm>
            <a:off x="856853" y="5308799"/>
            <a:ext cx="494923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Kuchli o'rnatilgan ma'lumotlar turlari (ro'yxatlar, lug'atlar) bilan birga keladi.</a:t>
            </a:r>
            <a:endParaRPr lang="en-US" sz="1458" dirty="0"/>
          </a:p>
        </p:txBody>
      </p:sp>
      <p:sp>
        <p:nvSpPr>
          <p:cNvPr id="18" name="Shape 13"/>
          <p:cNvSpPr/>
          <p:nvPr/>
        </p:nvSpPr>
        <p:spPr>
          <a:xfrm>
            <a:off x="6190457" y="3948708"/>
            <a:ext cx="5340053" cy="2160290"/>
          </a:xfrm>
          <a:prstGeom prst="roundRect">
            <a:avLst>
              <a:gd name="adj" fmla="val 3675"/>
            </a:avLst>
          </a:prstGeom>
          <a:solidFill>
            <a:srgbClr val="D2D9F9"/>
          </a:solidFill>
          <a:ln w="7620">
            <a:solidFill>
              <a:srgbClr val="4967E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818" y="4144069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790" y="4268094"/>
            <a:ext cx="255092" cy="31888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819" y="490011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Aniqlik va Struktura</a:t>
            </a:r>
            <a:endParaRPr lang="en-US" sz="1833" dirty="0"/>
          </a:p>
        </p:txBody>
      </p:sp>
      <p:sp>
        <p:nvSpPr>
          <p:cNvPr id="22" name="Text 16"/>
          <p:cNvSpPr/>
          <p:nvPr/>
        </p:nvSpPr>
        <p:spPr>
          <a:xfrm>
            <a:off x="6385819" y="5308799"/>
            <a:ext cx="49493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Qavslar o'rniga aniq joylashuv (indentatsiya) bilan ajralib turadi, bu esa kodni o'qishni osonlashtiradi.</a:t>
            </a:r>
            <a:endParaRPr lang="en-US" sz="1458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612081"/>
            <a:ext cx="383222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2083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Sintaksis va Asosiy Tuzilmalar</a:t>
            </a:r>
            <a:endParaRPr lang="en-US" sz="2083" dirty="0"/>
          </a:p>
        </p:txBody>
      </p:sp>
      <p:sp>
        <p:nvSpPr>
          <p:cNvPr id="3" name="Shape 1"/>
          <p:cNvSpPr/>
          <p:nvPr/>
        </p:nvSpPr>
        <p:spPr>
          <a:xfrm>
            <a:off x="661492" y="1240433"/>
            <a:ext cx="6392268" cy="4856559"/>
          </a:xfrm>
          <a:prstGeom prst="roundRect">
            <a:avLst>
              <a:gd name="adj" fmla="val 1144"/>
            </a:avLst>
          </a:prstGeom>
          <a:solidFill>
            <a:srgbClr val="ECECF2"/>
          </a:solidFill>
          <a:ln/>
        </p:spPr>
      </p:sp>
      <p:sp>
        <p:nvSpPr>
          <p:cNvPr id="4" name="Shape 2"/>
          <p:cNvSpPr/>
          <p:nvPr/>
        </p:nvSpPr>
        <p:spPr>
          <a:xfrm>
            <a:off x="654944" y="1240433"/>
            <a:ext cx="6405364" cy="4856559"/>
          </a:xfrm>
          <a:prstGeom prst="roundRect">
            <a:avLst>
              <a:gd name="adj" fmla="val 409"/>
            </a:avLst>
          </a:prstGeom>
          <a:solidFill>
            <a:srgbClr val="ECECF2"/>
          </a:solidFill>
          <a:ln/>
        </p:spPr>
      </p:sp>
      <p:sp>
        <p:nvSpPr>
          <p:cNvPr id="5" name="Text 3"/>
          <p:cNvSpPr/>
          <p:nvPr/>
        </p:nvSpPr>
        <p:spPr>
          <a:xfrm>
            <a:off x="787202" y="1339652"/>
            <a:ext cx="6140847" cy="4658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Salom, dunyo!print("Salom, dunyo!")# O'zgaruvchilarism = "Ali"yosh = 25# Arifmetik amallara = 10b = 5natija = a + b# Shart operatorlariif yosh &gt;= 18:    print("Katta yoshli")else:    print("Voyaga yetmagan")# Tsikllarfor i in range(5):    print(i)            </a:t>
            </a:r>
            <a:endParaRPr lang="en-US" sz="1042" dirty="0"/>
          </a:p>
        </p:txBody>
      </p:sp>
      <p:sp>
        <p:nvSpPr>
          <p:cNvPr id="6" name="Text 4"/>
          <p:cNvSpPr/>
          <p:nvPr/>
        </p:nvSpPr>
        <p:spPr>
          <a:xfrm>
            <a:off x="7382768" y="1210668"/>
            <a:ext cx="4153992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Misol: Ekraningizga chiqaring</a:t>
            </a:r>
            <a:endParaRPr lang="en-US" sz="1042" dirty="0"/>
          </a:p>
        </p:txBody>
      </p:sp>
      <p:sp>
        <p:nvSpPr>
          <p:cNvPr id="7" name="Text 5"/>
          <p:cNvSpPr/>
          <p:nvPr/>
        </p:nvSpPr>
        <p:spPr>
          <a:xfrm>
            <a:off x="7382768" y="1541463"/>
            <a:ext cx="4153992" cy="43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print("Salom, dunyo!")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oddiygina "Salom, dunyo!" yozuvini konsolga chiqaradi.</a:t>
            </a:r>
            <a:endParaRPr lang="en-US" sz="1042" dirty="0"/>
          </a:p>
        </p:txBody>
      </p:sp>
      <p:sp>
        <p:nvSpPr>
          <p:cNvPr id="8" name="Text 6"/>
          <p:cNvSpPr/>
          <p:nvPr/>
        </p:nvSpPr>
        <p:spPr>
          <a:xfrm>
            <a:off x="7382768" y="2096691"/>
            <a:ext cx="4153992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O'zgaruvchilar va Turlar: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Python </a:t>
            </a:r>
            <a:r>
              <a:rPr lang="en-US" sz="1042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(butun son), </a:t>
            </a:r>
            <a:r>
              <a:rPr lang="en-US" sz="1042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(o'nli son), </a:t>
            </a:r>
            <a:r>
              <a:rPr lang="en-US" sz="1042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(matn) va </a:t>
            </a:r>
            <a:r>
              <a:rPr lang="en-US" sz="1042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(mantiqiy) kabi asosiy turlarni qo'llab-quvvatlaydi.</a:t>
            </a:r>
            <a:endParaRPr lang="en-US" sz="1042" dirty="0"/>
          </a:p>
        </p:txBody>
      </p:sp>
      <p:sp>
        <p:nvSpPr>
          <p:cNvPr id="9" name="Text 7"/>
          <p:cNvSpPr/>
          <p:nvPr/>
        </p:nvSpPr>
        <p:spPr>
          <a:xfrm>
            <a:off x="7382768" y="2876352"/>
            <a:ext cx="4153992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Arifmetik Amallar: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Qo'shish, ayirish, ko'paytirish, bo'lish kabi standart amallarni bajaring.</a:t>
            </a:r>
            <a:endParaRPr lang="en-US" sz="1042" dirty="0"/>
          </a:p>
        </p:txBody>
      </p:sp>
      <p:sp>
        <p:nvSpPr>
          <p:cNvPr id="10" name="Text 8"/>
          <p:cNvSpPr/>
          <p:nvPr/>
        </p:nvSpPr>
        <p:spPr>
          <a:xfrm>
            <a:off x="7382768" y="3418880"/>
            <a:ext cx="4153992" cy="43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Shartli Operatorlar va Tsikllar: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042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sharti, </a:t>
            </a:r>
            <a:r>
              <a:rPr lang="en-US" sz="1042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va </a:t>
            </a:r>
            <a:r>
              <a:rPr lang="en-US" sz="1042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042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tsikllari dasturingizdagi mantiqiy oqimni boshqarishga yordam beradi.</a:t>
            </a:r>
            <a:endParaRPr lang="en-US" sz="1042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0697" y="332979"/>
            <a:ext cx="4850607" cy="522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083"/>
              </a:lnSpc>
            </a:pPr>
            <a:r>
              <a:rPr lang="en-US" sz="32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Funksiyalar va Modullar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2429073" y="1157783"/>
            <a:ext cx="1513880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58"/>
              </a:lnSpc>
            </a:pPr>
            <a:r>
              <a:rPr lang="en-US" sz="1167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Funksiyalar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423863" y="1468041"/>
            <a:ext cx="5524401" cy="40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91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Python'da </a:t>
            </a:r>
            <a:r>
              <a:rPr lang="en-US" sz="917" dirty="0">
                <a:solidFill>
                  <a:srgbClr val="FFFFFF"/>
                </a:solidFill>
                <a:highlight>
                  <a:srgbClr val="567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91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kalit so'zi yordamida funksiyalar aniqlanadi. Funksiyalar kodni qayta ishlatishga yordam beradi va uni tartibli qiladi.</a:t>
            </a:r>
            <a:endParaRPr lang="en-US" sz="917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3" y="2004517"/>
            <a:ext cx="5524401" cy="5524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55298" y="1157783"/>
            <a:ext cx="1513880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58"/>
              </a:lnSpc>
            </a:pPr>
            <a:r>
              <a:rPr lang="en-US" sz="1167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Modullar</a:t>
            </a:r>
            <a:endParaRPr lang="en-US" sz="1167" dirty="0"/>
          </a:p>
        </p:txBody>
      </p:sp>
      <p:sp>
        <p:nvSpPr>
          <p:cNvPr id="7" name="Text 4"/>
          <p:cNvSpPr/>
          <p:nvPr/>
        </p:nvSpPr>
        <p:spPr>
          <a:xfrm>
            <a:off x="6250087" y="1468041"/>
            <a:ext cx="5524401" cy="40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91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Standart va uchinchi tomon kutubxonalarini (</a:t>
            </a:r>
            <a:r>
              <a:rPr lang="en-US" sz="917" dirty="0">
                <a:solidFill>
                  <a:srgbClr val="FFFFFF"/>
                </a:solidFill>
                <a:highlight>
                  <a:srgbClr val="567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91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917" dirty="0">
                <a:solidFill>
                  <a:srgbClr val="FFFFFF"/>
                </a:solidFill>
                <a:highlight>
                  <a:srgbClr val="567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91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kabi) </a:t>
            </a:r>
            <a:r>
              <a:rPr lang="en-US" sz="917" dirty="0">
                <a:solidFill>
                  <a:srgbClr val="FFFFFF"/>
                </a:solidFill>
                <a:highlight>
                  <a:srgbClr val="567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1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qilish orqali siz o'z dasturlaringizga yangi funksionallik qo'shishingiz mumkin.</a:t>
            </a:r>
            <a:endParaRPr lang="en-US" sz="917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087" y="2004517"/>
            <a:ext cx="5524401" cy="55244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618629"/>
            <a:ext cx="6548041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58"/>
              </a:lnSpc>
            </a:pPr>
            <a:r>
              <a:rPr lang="en-US" sz="2375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Python'da Obyektga Yo'naltirilgan Dasturlash</a:t>
            </a:r>
            <a:endParaRPr lang="en-US" sz="2375" dirty="0"/>
          </a:p>
        </p:txBody>
      </p:sp>
      <p:sp>
        <p:nvSpPr>
          <p:cNvPr id="3" name="Shape 1"/>
          <p:cNvSpPr/>
          <p:nvPr/>
        </p:nvSpPr>
        <p:spPr>
          <a:xfrm>
            <a:off x="2699345" y="1299071"/>
            <a:ext cx="1358603" cy="1113135"/>
          </a:xfrm>
          <a:prstGeom prst="roundRect">
            <a:avLst>
              <a:gd name="adj" fmla="val 5706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72334" y="1722735"/>
            <a:ext cx="21262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67"/>
              </a:lnSpc>
            </a:pPr>
            <a:r>
              <a:rPr lang="en-US" sz="166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667" dirty="0"/>
          </a:p>
        </p:txBody>
      </p:sp>
      <p:sp>
        <p:nvSpPr>
          <p:cNvPr id="5" name="Text 3"/>
          <p:cNvSpPr/>
          <p:nvPr/>
        </p:nvSpPr>
        <p:spPr>
          <a:xfrm>
            <a:off x="4209157" y="1450281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Sinflar va Obyektlar</a:t>
            </a:r>
            <a:endParaRPr lang="en-US" sz="1458" dirty="0"/>
          </a:p>
        </p:txBody>
      </p:sp>
      <p:sp>
        <p:nvSpPr>
          <p:cNvPr id="6" name="Text 4"/>
          <p:cNvSpPr/>
          <p:nvPr/>
        </p:nvSpPr>
        <p:spPr>
          <a:xfrm>
            <a:off x="4209157" y="1777207"/>
            <a:ext cx="7170143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Sinf — obyektlar uchun shablon, obyekt esa sinfning namunasidir. Obyekt yaratish va undan foydalanish OOPning asosidir.</a:t>
            </a:r>
            <a:endParaRPr lang="en-US" sz="1167" dirty="0"/>
          </a:p>
        </p:txBody>
      </p:sp>
      <p:sp>
        <p:nvSpPr>
          <p:cNvPr id="7" name="Shape 5"/>
          <p:cNvSpPr/>
          <p:nvPr/>
        </p:nvSpPr>
        <p:spPr>
          <a:xfrm>
            <a:off x="4133552" y="2404269"/>
            <a:ext cx="7321352" cy="9525"/>
          </a:xfrm>
          <a:prstGeom prst="roundRect">
            <a:avLst>
              <a:gd name="adj" fmla="val 666790"/>
            </a:avLst>
          </a:prstGeom>
          <a:solidFill>
            <a:srgbClr val="B8BFDF"/>
          </a:solidFill>
          <a:ln/>
        </p:spPr>
      </p:sp>
      <p:sp>
        <p:nvSpPr>
          <p:cNvPr id="8" name="Shape 6"/>
          <p:cNvSpPr/>
          <p:nvPr/>
        </p:nvSpPr>
        <p:spPr>
          <a:xfrm>
            <a:off x="2020094" y="2487811"/>
            <a:ext cx="2717205" cy="1113135"/>
          </a:xfrm>
          <a:prstGeom prst="roundRect">
            <a:avLst>
              <a:gd name="adj" fmla="val 5706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2334" y="2911475"/>
            <a:ext cx="21262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67"/>
              </a:lnSpc>
            </a:pPr>
            <a:r>
              <a:rPr lang="en-US" sz="166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667" dirty="0"/>
          </a:p>
        </p:txBody>
      </p:sp>
      <p:sp>
        <p:nvSpPr>
          <p:cNvPr id="10" name="Text 8"/>
          <p:cNvSpPr/>
          <p:nvPr/>
        </p:nvSpPr>
        <p:spPr>
          <a:xfrm>
            <a:off x="4888507" y="2639020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Merosxo'rlik</a:t>
            </a:r>
            <a:endParaRPr lang="en-US" sz="1458" dirty="0"/>
          </a:p>
        </p:txBody>
      </p:sp>
      <p:sp>
        <p:nvSpPr>
          <p:cNvPr id="11" name="Text 9"/>
          <p:cNvSpPr/>
          <p:nvPr/>
        </p:nvSpPr>
        <p:spPr>
          <a:xfrm>
            <a:off x="4888507" y="2965946"/>
            <a:ext cx="6490792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Bitta sinfning xususiyatlarini boshqa sinfga o'tkazish, bu esa kodni qayta ishlatish va ierarxiyani yaratish imkonini beradi.</a:t>
            </a:r>
            <a:endParaRPr lang="en-US" sz="1167" dirty="0"/>
          </a:p>
        </p:txBody>
      </p:sp>
      <p:sp>
        <p:nvSpPr>
          <p:cNvPr id="12" name="Shape 10"/>
          <p:cNvSpPr/>
          <p:nvPr/>
        </p:nvSpPr>
        <p:spPr>
          <a:xfrm>
            <a:off x="4812904" y="3593008"/>
            <a:ext cx="6642001" cy="9525"/>
          </a:xfrm>
          <a:prstGeom prst="roundRect">
            <a:avLst>
              <a:gd name="adj" fmla="val 666790"/>
            </a:avLst>
          </a:prstGeom>
          <a:solidFill>
            <a:srgbClr val="B8BFD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0743" y="3676551"/>
            <a:ext cx="4075807" cy="1113135"/>
          </a:xfrm>
          <a:prstGeom prst="roundRect">
            <a:avLst>
              <a:gd name="adj" fmla="val 5706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2334" y="4100215"/>
            <a:ext cx="21262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67"/>
              </a:lnSpc>
            </a:pPr>
            <a:r>
              <a:rPr lang="en-US" sz="166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667" dirty="0"/>
          </a:p>
        </p:txBody>
      </p:sp>
      <p:sp>
        <p:nvSpPr>
          <p:cNvPr id="15" name="Text 13"/>
          <p:cNvSpPr/>
          <p:nvPr/>
        </p:nvSpPr>
        <p:spPr>
          <a:xfrm>
            <a:off x="5567759" y="3827760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Polimorfizm</a:t>
            </a:r>
            <a:endParaRPr lang="en-US" sz="1458" dirty="0"/>
          </a:p>
        </p:txBody>
      </p:sp>
      <p:sp>
        <p:nvSpPr>
          <p:cNvPr id="16" name="Text 14"/>
          <p:cNvSpPr/>
          <p:nvPr/>
        </p:nvSpPr>
        <p:spPr>
          <a:xfrm>
            <a:off x="5567759" y="4154686"/>
            <a:ext cx="5811540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Turli sinflardagi obyektlarga bir xil usulda murojaat qilish imkoniyati. Bir xil nomdagi funksiyalar turli xil natijalarni berishi mumkin.</a:t>
            </a:r>
            <a:endParaRPr lang="en-US" sz="1167" dirty="0"/>
          </a:p>
        </p:txBody>
      </p:sp>
      <p:sp>
        <p:nvSpPr>
          <p:cNvPr id="17" name="Shape 15"/>
          <p:cNvSpPr/>
          <p:nvPr/>
        </p:nvSpPr>
        <p:spPr>
          <a:xfrm>
            <a:off x="5492156" y="4781748"/>
            <a:ext cx="5962749" cy="9525"/>
          </a:xfrm>
          <a:prstGeom prst="roundRect">
            <a:avLst>
              <a:gd name="adj" fmla="val 666790"/>
            </a:avLst>
          </a:prstGeom>
          <a:solidFill>
            <a:srgbClr val="B8BFDF"/>
          </a:solidFill>
          <a:ln/>
        </p:spPr>
      </p:sp>
      <p:sp>
        <p:nvSpPr>
          <p:cNvPr id="18" name="Shape 16"/>
          <p:cNvSpPr/>
          <p:nvPr/>
        </p:nvSpPr>
        <p:spPr>
          <a:xfrm>
            <a:off x="661492" y="4865291"/>
            <a:ext cx="5434508" cy="1374081"/>
          </a:xfrm>
          <a:prstGeom prst="roundRect">
            <a:avLst>
              <a:gd name="adj" fmla="val 462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2433" y="5419427"/>
            <a:ext cx="21262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67"/>
              </a:lnSpc>
            </a:pPr>
            <a:r>
              <a:rPr lang="en-US" sz="166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1667" dirty="0"/>
          </a:p>
        </p:txBody>
      </p:sp>
      <p:sp>
        <p:nvSpPr>
          <p:cNvPr id="20" name="Text 18"/>
          <p:cNvSpPr/>
          <p:nvPr/>
        </p:nvSpPr>
        <p:spPr>
          <a:xfrm>
            <a:off x="6247209" y="5016500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Maxsus Usullar</a:t>
            </a:r>
            <a:endParaRPr lang="en-US" sz="1458" dirty="0"/>
          </a:p>
        </p:txBody>
      </p:sp>
      <p:sp>
        <p:nvSpPr>
          <p:cNvPr id="21" name="Text 19"/>
          <p:cNvSpPr/>
          <p:nvPr/>
        </p:nvSpPr>
        <p:spPr>
          <a:xfrm>
            <a:off x="6247209" y="5343426"/>
            <a:ext cx="5132090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r>
              <a:rPr lang="en-US" sz="11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(obyektni ishga tushirish), </a:t>
            </a:r>
            <a:r>
              <a:rPr lang="en-US" sz="1167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__str__</a:t>
            </a:r>
            <a:r>
              <a:rPr lang="en-US" sz="11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(obyektni matn ko'rinishida ifodalash) kabi usullar obyekt xatti-harakatlarini sozlashga yordam beradi.</a:t>
            </a:r>
            <a:endParaRPr lang="en-US" sz="1167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997943"/>
            <a:ext cx="6492082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Pythonning Zamonaviy Qo'llanilishi</a:t>
            </a:r>
            <a:endParaRPr lang="en-US" sz="2958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1848445"/>
            <a:ext cx="567035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92" y="265172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Veb-Dasturlash</a:t>
            </a:r>
            <a:endParaRPr lang="en-US" sz="1833" dirty="0"/>
          </a:p>
        </p:txBody>
      </p:sp>
      <p:sp>
        <p:nvSpPr>
          <p:cNvPr id="5" name="Text 2"/>
          <p:cNvSpPr/>
          <p:nvPr/>
        </p:nvSpPr>
        <p:spPr>
          <a:xfrm>
            <a:off x="661492" y="3060403"/>
            <a:ext cx="53163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Django va Flask kabi freymvorklar yordamida veb-ilovalarni tezda yaratish.</a:t>
            </a:r>
            <a:endParaRPr lang="en-US" sz="145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070" y="1848445"/>
            <a:ext cx="567035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4070" y="2651720"/>
            <a:ext cx="42535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Ma'lumotlar Ilmi va Machine Learning</a:t>
            </a:r>
            <a:endParaRPr lang="en-US" sz="1833" dirty="0"/>
          </a:p>
        </p:txBody>
      </p:sp>
      <p:sp>
        <p:nvSpPr>
          <p:cNvPr id="8" name="Text 4"/>
          <p:cNvSpPr/>
          <p:nvPr/>
        </p:nvSpPr>
        <p:spPr>
          <a:xfrm>
            <a:off x="6214070" y="3060403"/>
            <a:ext cx="53164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Pandas, scikit-learn, TensorFlow kabi kutubxonalar yordamida ma'lumotlarni tahlil qilish va modellar yaratish.</a:t>
            </a:r>
            <a:endParaRPr lang="en-US" sz="1458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92" y="4043263"/>
            <a:ext cx="567035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92" y="484653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Avtomatlashtirish</a:t>
            </a:r>
            <a:endParaRPr lang="en-US" sz="1833" dirty="0"/>
          </a:p>
        </p:txBody>
      </p:sp>
      <p:sp>
        <p:nvSpPr>
          <p:cNvPr id="11" name="Text 6"/>
          <p:cNvSpPr/>
          <p:nvPr/>
        </p:nvSpPr>
        <p:spPr>
          <a:xfrm>
            <a:off x="661492" y="5255220"/>
            <a:ext cx="53163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Tizim ma'muriyati uchun skriptlar yozish va takrorlanuvchi vazifalarni avtomatlashtirish.</a:t>
            </a:r>
            <a:endParaRPr lang="en-US" sz="1458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070" y="4043263"/>
            <a:ext cx="567035" cy="5670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4070" y="484653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O'yin Dasturlash</a:t>
            </a:r>
            <a:endParaRPr lang="en-US" sz="1833" dirty="0"/>
          </a:p>
        </p:txBody>
      </p:sp>
      <p:sp>
        <p:nvSpPr>
          <p:cNvPr id="14" name="Text 8"/>
          <p:cNvSpPr/>
          <p:nvPr/>
        </p:nvSpPr>
        <p:spPr>
          <a:xfrm>
            <a:off x="6214070" y="5255220"/>
            <a:ext cx="53164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Pygame kabi kutubxonalar bilan oddiy o'yinlar va grafik ilovalar yaratish.</a:t>
            </a:r>
            <a:endParaRPr lang="en-US" sz="1458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960" y="1657053"/>
            <a:ext cx="10585549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3708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"Python – bu dasturchilarga qancha erkinlik kerakligi bo'yicha eksperiment. Juda ko'p bo'lsa – hech kim boshqa odamning kodini tushunmaydi, juda oz bo'lsa – ifodalilik yo'qoladi."</a:t>
            </a:r>
            <a:endParaRPr lang="en-US" sz="3708" dirty="0"/>
          </a:p>
        </p:txBody>
      </p:sp>
      <p:sp>
        <p:nvSpPr>
          <p:cNvPr id="3" name="Shape 1"/>
          <p:cNvSpPr/>
          <p:nvPr/>
        </p:nvSpPr>
        <p:spPr>
          <a:xfrm>
            <a:off x="661492" y="1373584"/>
            <a:ext cx="25400" cy="3520182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4" name="Text 2"/>
          <p:cNvSpPr/>
          <p:nvPr/>
        </p:nvSpPr>
        <p:spPr>
          <a:xfrm>
            <a:off x="661492" y="5106393"/>
            <a:ext cx="10869018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58"/>
              </a:lnSpc>
            </a:pPr>
            <a:r>
              <a:rPr lang="en-US" sz="1833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Gvido van Rossum, Python asoschisi</a:t>
            </a:r>
            <a:endParaRPr lang="en-US" sz="183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564978"/>
            <a:ext cx="10869018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08"/>
              </a:lnSpc>
            </a:pPr>
            <a:r>
              <a:rPr lang="en-US" sz="2958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Yakuniy Xulosa: Nima uchun Pythonni Bugun O'rganish Kerak?</a:t>
            </a:r>
            <a:endParaRPr lang="en-US" sz="2958" dirty="0"/>
          </a:p>
        </p:txBody>
      </p:sp>
      <p:sp>
        <p:nvSpPr>
          <p:cNvPr id="3" name="Text 1"/>
          <p:cNvSpPr/>
          <p:nvPr/>
        </p:nvSpPr>
        <p:spPr>
          <a:xfrm>
            <a:off x="1275755" y="288796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Oson Boshlanish</a:t>
            </a:r>
            <a:endParaRPr lang="en-US" sz="1833" dirty="0"/>
          </a:p>
        </p:txBody>
      </p:sp>
      <p:sp>
        <p:nvSpPr>
          <p:cNvPr id="4" name="Text 2"/>
          <p:cNvSpPr/>
          <p:nvPr/>
        </p:nvSpPr>
        <p:spPr>
          <a:xfrm>
            <a:off x="1275755" y="3296643"/>
            <a:ext cx="470207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O'rganish oson va tezda foydali dasturlar yaratish imkoniyati.</a:t>
            </a:r>
            <a:endParaRPr lang="en-US" sz="1458" dirty="0"/>
          </a:p>
        </p:txBody>
      </p:sp>
      <p:sp>
        <p:nvSpPr>
          <p:cNvPr id="5" name="Text 3"/>
          <p:cNvSpPr/>
          <p:nvPr/>
        </p:nvSpPr>
        <p:spPr>
          <a:xfrm>
            <a:off x="6828334" y="2887960"/>
            <a:ext cx="34466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Katta Jamiyat va Kutubxonalar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6828333" y="3296643"/>
            <a:ext cx="47021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Keng jamoatchilik tomonidan qo'llab-quvvatlanadi va minglab kutubxonalarga ega.</a:t>
            </a:r>
            <a:endParaRPr lang="en-US" sz="1458" dirty="0"/>
          </a:p>
        </p:txBody>
      </p:sp>
      <p:sp>
        <p:nvSpPr>
          <p:cNvPr id="7" name="Text 5"/>
          <p:cNvSpPr/>
          <p:nvPr/>
        </p:nvSpPr>
        <p:spPr>
          <a:xfrm>
            <a:off x="1275755" y="4279503"/>
            <a:ext cx="27479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Mehnat Bozoridagi Talab</a:t>
            </a: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1275755" y="4688185"/>
            <a:ext cx="470207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Mehnat bozorida yuqori talab va keng imkoniyatlar yaratadi.</a:t>
            </a:r>
            <a:endParaRPr lang="en-US" sz="1458" dirty="0"/>
          </a:p>
        </p:txBody>
      </p:sp>
      <p:sp>
        <p:nvSpPr>
          <p:cNvPr id="9" name="Text 7"/>
          <p:cNvSpPr/>
          <p:nvPr/>
        </p:nvSpPr>
        <p:spPr>
          <a:xfrm>
            <a:off x="6828334" y="4279503"/>
            <a:ext cx="32195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Dasturlash Dunyosiga Eshik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6828333" y="4688185"/>
            <a:ext cx="47021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Bugun kod yozishni boshlang va dasturlash olamini kashf eting!</a:t>
            </a:r>
            <a:endParaRPr lang="en-US" sz="145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1488</Words>
  <Application>Microsoft Office PowerPoint</Application>
  <PresentationFormat>Широкоэкранный</PresentationFormat>
  <Paragraphs>156</Paragraphs>
  <Slides>31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Corben</vt:lpstr>
      <vt:lpstr>Nobile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57</cp:revision>
  <dcterms:created xsi:type="dcterms:W3CDTF">2025-09-16T03:00:26Z</dcterms:created>
  <dcterms:modified xsi:type="dcterms:W3CDTF">2025-09-16T11:23:32Z</dcterms:modified>
</cp:coreProperties>
</file>