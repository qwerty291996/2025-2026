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8" r:id="rId1"/>
  </p:sldMasterIdLst>
  <p:notesMasterIdLst>
    <p:notesMasterId r:id="rId14"/>
  </p:notesMasterIdLst>
  <p:sldIdLst>
    <p:sldId id="364" r:id="rId2"/>
    <p:sldId id="365" r:id="rId3"/>
    <p:sldId id="256" r:id="rId4"/>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Bricolage Grotesque Semi Bold" panose="020B0604020202020204" charset="0"/>
      <p:regular r:id="rId15"/>
    </p:embeddedFont>
    <p:embeddedFont>
      <p:font typeface="Calibri" panose="020F0502020204030204" pitchFamily="34" charset="0"/>
      <p:regular r:id="rId16"/>
      <p:bold r:id="rId17"/>
      <p:italic r:id="rId18"/>
      <p:boldItalic r:id="rId19"/>
    </p:embeddedFont>
    <p:embeddedFont>
      <p:font typeface="Century Gothic" panose="020B0502020202020204" pitchFamily="34" charset="0"/>
      <p:regular r:id="rId20"/>
      <p:bold r:id="rId21"/>
      <p:italic r:id="rId22"/>
      <p:boldItalic r:id="rId23"/>
    </p:embeddedFont>
    <p:embeddedFont>
      <p:font typeface="Inter" panose="020B0604020202020204" charset="0"/>
      <p:regular r:id="rId24"/>
    </p:embeddedFont>
    <p:embeddedFont>
      <p:font typeface="Wingdings 3" panose="05040102010807070707" pitchFamily="18" charset="2"/>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48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113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Образ слайда 1"/>
          <p:cNvSpPr>
            <a:spLocks noGrp="1" noRot="1" noChangeAspect="1" noTextEdit="1"/>
          </p:cNvSpPr>
          <p:nvPr>
            <p:ph type="sldImg"/>
          </p:nvPr>
        </p:nvSpPr>
        <p:spPr>
          <a:xfrm>
            <a:off x="401638" y="698500"/>
            <a:ext cx="6132512" cy="3449638"/>
          </a:xfrm>
          <a:ln/>
        </p:spPr>
      </p:sp>
      <p:sp>
        <p:nvSpPr>
          <p:cNvPr id="25603" name="Заметки 2"/>
          <p:cNvSpPr>
            <a:spLocks noGrp="1"/>
          </p:cNvSpPr>
          <p:nvPr>
            <p:ph type="body" idx="1"/>
          </p:nvPr>
        </p:nvSpPr>
        <p:spPr>
          <a:noFill/>
        </p:spPr>
        <p:txBody>
          <a:bodyPr/>
          <a:lstStyle/>
          <a:p>
            <a:endParaRPr lang="ru-RU"/>
          </a:p>
        </p:txBody>
      </p:sp>
      <p:sp>
        <p:nvSpPr>
          <p:cNvPr id="25604" name="Номер слайда 3"/>
          <p:cNvSpPr>
            <a:spLocks noGrp="1"/>
          </p:cNvSpPr>
          <p:nvPr>
            <p:ph type="sldNum" sz="quarter" idx="5"/>
          </p:nvPr>
        </p:nvSpPr>
        <p:spPr>
          <a:noFill/>
          <a:ln>
            <a:miter lim="800000"/>
            <a:headEnd/>
            <a:tailEnd/>
          </a:ln>
        </p:spPr>
        <p:txBody>
          <a:bodyPr/>
          <a:lstStyle/>
          <a:p>
            <a:fld id="{D0FAECC0-339F-459C-94A4-2692D98FE7CE}" type="slidenum">
              <a:rPr lang="ru-RU" smtClean="0"/>
              <a:pPr/>
              <a:t>1</a:t>
            </a:fld>
            <a:endParaRPr lang="ru-RU"/>
          </a:p>
        </p:txBody>
      </p:sp>
    </p:spTree>
    <p:extLst>
      <p:ext uri="{BB962C8B-B14F-4D97-AF65-F5344CB8AC3E}">
        <p14:creationId xmlns:p14="http://schemas.microsoft.com/office/powerpoint/2010/main" val="3538921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821054" y="822960"/>
            <a:ext cx="9601200" cy="3566161"/>
          </a:xfrm>
        </p:spPr>
        <p:txBody>
          <a:bodyPr anchor="b">
            <a:normAutofit/>
          </a:bodyPr>
          <a:lstStyle>
            <a:lvl1pPr algn="l">
              <a:defRPr sz="5760">
                <a:effectLst/>
              </a:defRPr>
            </a:lvl1pPr>
          </a:lstStyle>
          <a:p>
            <a:r>
              <a:rPr lang="ru-RU"/>
              <a:t>Образец заголовка</a:t>
            </a:r>
            <a:endParaRPr lang="en-US" dirty="0"/>
          </a:p>
        </p:txBody>
      </p:sp>
      <p:sp>
        <p:nvSpPr>
          <p:cNvPr id="3" name="Subtitle 2"/>
          <p:cNvSpPr>
            <a:spLocks noGrp="1"/>
          </p:cNvSpPr>
          <p:nvPr>
            <p:ph type="subTitle" idx="1"/>
          </p:nvPr>
        </p:nvSpPr>
        <p:spPr>
          <a:xfrm>
            <a:off x="821054" y="4612641"/>
            <a:ext cx="7680960" cy="2336800"/>
          </a:xfrm>
        </p:spPr>
        <p:txBody>
          <a:bodyPr anchor="t">
            <a:normAutofit/>
          </a:bodyPr>
          <a:lstStyle>
            <a:lvl1pPr marL="0" indent="0" algn="l">
              <a:buNone/>
              <a:defRPr sz="2520">
                <a:solidFill>
                  <a:schemeClr val="bg2">
                    <a:lumMod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flipH="1">
            <a:off x="9873614" y="10160"/>
            <a:ext cx="4572000" cy="4572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7329805" y="109855"/>
            <a:ext cx="7296786" cy="729678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8682990" y="274320"/>
            <a:ext cx="5943600" cy="59436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8803005" y="38734"/>
            <a:ext cx="5823587" cy="5823587"/>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9414512" y="731522"/>
            <a:ext cx="5212079" cy="521207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9031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2710779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21054" y="2407920"/>
            <a:ext cx="10241281" cy="2737920"/>
          </a:xfrm>
        </p:spPr>
        <p:txBody>
          <a:bodyPr anchor="b">
            <a:normAutofit/>
          </a:bodyPr>
          <a:lstStyle>
            <a:lvl1pPr algn="l">
              <a:defRPr sz="4320" b="0" cap="all"/>
            </a:lvl1pPr>
          </a:lstStyle>
          <a:p>
            <a:r>
              <a:rPr lang="ru-RU"/>
              <a:t>Образец заголовка</a:t>
            </a:r>
            <a:endParaRPr lang="en-US" dirty="0"/>
          </a:p>
        </p:txBody>
      </p:sp>
      <p:sp>
        <p:nvSpPr>
          <p:cNvPr id="3" name="Text Placeholder 2"/>
          <p:cNvSpPr>
            <a:spLocks noGrp="1"/>
          </p:cNvSpPr>
          <p:nvPr>
            <p:ph type="body" idx="1"/>
          </p:nvPr>
        </p:nvSpPr>
        <p:spPr>
          <a:xfrm>
            <a:off x="821056" y="5394960"/>
            <a:ext cx="10241280" cy="1798320"/>
          </a:xfrm>
        </p:spPr>
        <p:txBody>
          <a:bodyPr anchor="t">
            <a:normAutofit/>
          </a:bodyPr>
          <a:lstStyle>
            <a:lvl1pPr marL="0" indent="0" algn="l">
              <a:buNone/>
              <a:defRPr sz="216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796027F-7875-4030-9381-8BD8C4F21935}"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104195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21054" y="822961"/>
            <a:ext cx="5925186" cy="433832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969760" y="822961"/>
            <a:ext cx="5921375" cy="4338319"/>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1934639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166497" y="822960"/>
            <a:ext cx="5579744" cy="691514"/>
          </a:xfrm>
        </p:spPr>
        <p:txBody>
          <a:bodyPr anchor="b">
            <a:no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a:t>Образец текста</a:t>
            </a:r>
          </a:p>
        </p:txBody>
      </p:sp>
      <p:sp>
        <p:nvSpPr>
          <p:cNvPr id="4" name="Content Placeholder 3"/>
          <p:cNvSpPr>
            <a:spLocks noGrp="1"/>
          </p:cNvSpPr>
          <p:nvPr>
            <p:ph sz="half" idx="2"/>
          </p:nvPr>
        </p:nvSpPr>
        <p:spPr>
          <a:xfrm>
            <a:off x="821054" y="1524635"/>
            <a:ext cx="5925186" cy="3636646"/>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294879" y="822960"/>
            <a:ext cx="5598161" cy="691514"/>
          </a:xfrm>
        </p:spPr>
        <p:txBody>
          <a:bodyPr anchor="b">
            <a:no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a:t>Образец текста</a:t>
            </a:r>
          </a:p>
        </p:txBody>
      </p:sp>
      <p:sp>
        <p:nvSpPr>
          <p:cNvPr id="6" name="Content Placeholder 5"/>
          <p:cNvSpPr>
            <a:spLocks noGrp="1"/>
          </p:cNvSpPr>
          <p:nvPr>
            <p:ph sz="quarter" idx="4"/>
          </p:nvPr>
        </p:nvSpPr>
        <p:spPr>
          <a:xfrm>
            <a:off x="6967854" y="1514474"/>
            <a:ext cx="5915026" cy="3636646"/>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11/30/2025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596019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1389560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1600549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502014" y="822960"/>
            <a:ext cx="4389120" cy="1645920"/>
          </a:xfrm>
        </p:spPr>
        <p:txBody>
          <a:bodyPr anchor="b">
            <a:normAutofit/>
          </a:bodyPr>
          <a:lstStyle>
            <a:lvl1pPr algn="l">
              <a:defRPr sz="2880" b="0"/>
            </a:lvl1pPr>
          </a:lstStyle>
          <a:p>
            <a:r>
              <a:rPr lang="ru-RU"/>
              <a:t>Образец заголовка</a:t>
            </a:r>
            <a:endParaRPr lang="en-US" dirty="0"/>
          </a:p>
        </p:txBody>
      </p:sp>
      <p:sp>
        <p:nvSpPr>
          <p:cNvPr id="3" name="Content Placeholder 2"/>
          <p:cNvSpPr>
            <a:spLocks noGrp="1"/>
          </p:cNvSpPr>
          <p:nvPr>
            <p:ph idx="1"/>
          </p:nvPr>
        </p:nvSpPr>
        <p:spPr>
          <a:xfrm>
            <a:off x="821055" y="822960"/>
            <a:ext cx="7132321" cy="6370320"/>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502014" y="2651760"/>
            <a:ext cx="4389120" cy="2509520"/>
          </a:xfrm>
        </p:spPr>
        <p:txBody>
          <a:bodyPr anchor="t">
            <a:normAutofit/>
          </a:bodyPr>
          <a:lstStyle>
            <a:lvl1pPr marL="0" indent="0">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ru-RU"/>
              <a:t>Образец текста</a:t>
            </a:r>
          </a:p>
        </p:txBody>
      </p:sp>
      <p:sp>
        <p:nvSpPr>
          <p:cNvPr id="5" name="Date Placeholder 4"/>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472460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5667374" y="1737360"/>
            <a:ext cx="7223760" cy="1371600"/>
          </a:xfrm>
        </p:spPr>
        <p:txBody>
          <a:bodyPr anchor="b">
            <a:normAutofit/>
          </a:bodyPr>
          <a:lstStyle>
            <a:lvl1pPr algn="l">
              <a:defRPr sz="3360" b="0"/>
            </a:lvl1pPr>
          </a:lstStyle>
          <a:p>
            <a:r>
              <a:rPr lang="ru-RU"/>
              <a:t>Образец заголовка</a:t>
            </a:r>
            <a:endParaRPr lang="en-US" dirty="0"/>
          </a:p>
        </p:txBody>
      </p:sp>
      <p:sp>
        <p:nvSpPr>
          <p:cNvPr id="14" name="Picture Placeholder 2"/>
          <p:cNvSpPr>
            <a:spLocks noGrp="1" noChangeAspect="1"/>
          </p:cNvSpPr>
          <p:nvPr>
            <p:ph type="pic" idx="1"/>
          </p:nvPr>
        </p:nvSpPr>
        <p:spPr>
          <a:xfrm>
            <a:off x="1186814" y="1097280"/>
            <a:ext cx="3937169" cy="54864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ru-RU"/>
              <a:t>Вставка рисунка</a:t>
            </a:r>
            <a:endParaRPr lang="en-US" dirty="0"/>
          </a:p>
        </p:txBody>
      </p:sp>
      <p:sp>
        <p:nvSpPr>
          <p:cNvPr id="4" name="Text Placeholder 3"/>
          <p:cNvSpPr>
            <a:spLocks noGrp="1"/>
          </p:cNvSpPr>
          <p:nvPr>
            <p:ph type="body" sz="half" idx="2"/>
          </p:nvPr>
        </p:nvSpPr>
        <p:spPr>
          <a:xfrm>
            <a:off x="5667374" y="3332480"/>
            <a:ext cx="7225666" cy="2458720"/>
          </a:xfrm>
        </p:spPr>
        <p:txBody>
          <a:bodyPr anchor="t">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ru-RU"/>
              <a:t>Образец текста</a:t>
            </a:r>
          </a:p>
        </p:txBody>
      </p:sp>
      <p:sp>
        <p:nvSpPr>
          <p:cNvPr id="5" name="Date Placeholder 4"/>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60986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17" name="Picture Placeholder 2"/>
          <p:cNvSpPr>
            <a:spLocks noGrp="1" noChangeAspect="1"/>
          </p:cNvSpPr>
          <p:nvPr>
            <p:ph type="pic" idx="13"/>
          </p:nvPr>
        </p:nvSpPr>
        <p:spPr>
          <a:xfrm>
            <a:off x="822960" y="640080"/>
            <a:ext cx="12982574" cy="374904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ru-RU"/>
              <a:t>Вставка рисунка</a:t>
            </a:r>
            <a:endParaRPr lang="en-US" dirty="0"/>
          </a:p>
        </p:txBody>
      </p:sp>
      <p:sp>
        <p:nvSpPr>
          <p:cNvPr id="16" name="Text Placeholder 9"/>
          <p:cNvSpPr>
            <a:spLocks noGrp="1"/>
          </p:cNvSpPr>
          <p:nvPr>
            <p:ph type="body" sz="quarter" idx="14"/>
          </p:nvPr>
        </p:nvSpPr>
        <p:spPr>
          <a:xfrm>
            <a:off x="1097282" y="4612640"/>
            <a:ext cx="9965052" cy="548640"/>
          </a:xfrm>
        </p:spPr>
        <p:txBody>
          <a:bodyPr anchor="t">
            <a:normAutofit/>
          </a:bodyPr>
          <a:lstStyle>
            <a:lvl1pPr marL="0" indent="0">
              <a:buFontTx/>
              <a:buNone/>
              <a:defRPr sz="1920"/>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ru-RU"/>
              <a:t>Образец текста</a:t>
            </a:r>
          </a:p>
        </p:txBody>
      </p:sp>
      <p:sp>
        <p:nvSpPr>
          <p:cNvPr id="3" name="Date Placeholder 2"/>
          <p:cNvSpPr>
            <a:spLocks noGrp="1"/>
          </p:cNvSpPr>
          <p:nvPr>
            <p:ph type="dt" sz="half" idx="10"/>
          </p:nvPr>
        </p:nvSpPr>
        <p:spPr/>
        <p:txBody>
          <a:bodyPr/>
          <a:lstStyle/>
          <a:p>
            <a:fld id="{4AAD347D-5ACD-4C99-B74B-A9C85AD731AF}" type="datetimeFigureOut">
              <a:rPr lang="en-US" smtClean="0"/>
              <a:t>11/30/2025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6156190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821056" y="822960"/>
            <a:ext cx="12070080" cy="3291840"/>
          </a:xfrm>
        </p:spPr>
        <p:txBody>
          <a:bodyPr anchor="ctr">
            <a:normAutofit/>
          </a:bodyPr>
          <a:lstStyle>
            <a:lvl1pPr algn="l">
              <a:defRPr sz="3840" b="0" cap="all"/>
            </a:lvl1pPr>
          </a:lstStyle>
          <a:p>
            <a:r>
              <a:rPr lang="ru-RU"/>
              <a:t>Образец заголовка</a:t>
            </a:r>
            <a:endParaRPr lang="en-US" dirty="0"/>
          </a:p>
        </p:txBody>
      </p:sp>
      <p:sp>
        <p:nvSpPr>
          <p:cNvPr id="3" name="Text Placeholder 2"/>
          <p:cNvSpPr>
            <a:spLocks noGrp="1"/>
          </p:cNvSpPr>
          <p:nvPr>
            <p:ph type="body" idx="1"/>
          </p:nvPr>
        </p:nvSpPr>
        <p:spPr>
          <a:xfrm>
            <a:off x="821054" y="4937760"/>
            <a:ext cx="10243186" cy="2255520"/>
          </a:xfrm>
        </p:spPr>
        <p:txBody>
          <a:bodyPr anchor="ctr">
            <a:normAutofit/>
          </a:bodyPr>
          <a:lstStyle>
            <a:lvl1pPr marL="0" indent="0" algn="l">
              <a:buNone/>
              <a:defRPr sz="240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AAD347D-5ACD-4C99-B74B-A9C85AD731AF}"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287641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369694" y="822960"/>
            <a:ext cx="10972801" cy="3291840"/>
          </a:xfrm>
        </p:spPr>
        <p:txBody>
          <a:bodyPr anchor="ctr">
            <a:normAutofit/>
          </a:bodyPr>
          <a:lstStyle>
            <a:lvl1pPr algn="l">
              <a:defRPr sz="3840" b="0" cap="all">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1735454" y="4114800"/>
            <a:ext cx="10241280" cy="457200"/>
          </a:xfrm>
        </p:spPr>
        <p:txBody>
          <a:bodyPr anchor="ctr"/>
          <a:lstStyle>
            <a:lvl1pPr marL="0" indent="0">
              <a:buFontTx/>
              <a:buNone/>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ru-RU"/>
              <a:t>Образец текста</a:t>
            </a:r>
          </a:p>
        </p:txBody>
      </p:sp>
      <p:sp>
        <p:nvSpPr>
          <p:cNvPr id="3" name="Text Placeholder 2"/>
          <p:cNvSpPr>
            <a:spLocks noGrp="1"/>
          </p:cNvSpPr>
          <p:nvPr>
            <p:ph type="body" idx="1"/>
          </p:nvPr>
        </p:nvSpPr>
        <p:spPr>
          <a:xfrm>
            <a:off x="821056" y="5161281"/>
            <a:ext cx="10241280" cy="2021838"/>
          </a:xfrm>
        </p:spPr>
        <p:txBody>
          <a:bodyPr anchor="ctr">
            <a:normAutofit/>
          </a:bodyPr>
          <a:lstStyle>
            <a:lvl1pPr marL="0" indent="0" algn="l">
              <a:buNone/>
              <a:defRPr sz="240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AAD347D-5ACD-4C99-B74B-A9C85AD731AF}"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4" name="TextBox 13"/>
          <p:cNvSpPr txBox="1"/>
          <p:nvPr/>
        </p:nvSpPr>
        <p:spPr>
          <a:xfrm>
            <a:off x="638174" y="974667"/>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5" name="TextBox 14"/>
          <p:cNvSpPr txBox="1"/>
          <p:nvPr/>
        </p:nvSpPr>
        <p:spPr>
          <a:xfrm>
            <a:off x="12342494" y="3322321"/>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spTree>
    <p:extLst>
      <p:ext uri="{BB962C8B-B14F-4D97-AF65-F5344CB8AC3E}">
        <p14:creationId xmlns:p14="http://schemas.microsoft.com/office/powerpoint/2010/main" val="19950678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821054" y="4114800"/>
            <a:ext cx="10241280" cy="2036880"/>
          </a:xfrm>
        </p:spPr>
        <p:txBody>
          <a:bodyPr anchor="b">
            <a:normAutofit/>
          </a:bodyPr>
          <a:lstStyle>
            <a:lvl1pPr algn="l">
              <a:defRPr sz="3840" b="0" cap="all"/>
            </a:lvl1pPr>
          </a:lstStyle>
          <a:p>
            <a:r>
              <a:rPr lang="ru-RU"/>
              <a:t>Образец заголовка</a:t>
            </a:r>
            <a:endParaRPr lang="en-US" dirty="0"/>
          </a:p>
        </p:txBody>
      </p:sp>
      <p:sp>
        <p:nvSpPr>
          <p:cNvPr id="3" name="Text Placeholder 2"/>
          <p:cNvSpPr>
            <a:spLocks noGrp="1"/>
          </p:cNvSpPr>
          <p:nvPr>
            <p:ph type="body" idx="1"/>
          </p:nvPr>
        </p:nvSpPr>
        <p:spPr>
          <a:xfrm>
            <a:off x="821053" y="6159577"/>
            <a:ext cx="10243188" cy="1032480"/>
          </a:xfrm>
        </p:spPr>
        <p:txBody>
          <a:bodyPr anchor="t">
            <a:normAutofit/>
          </a:bodyPr>
          <a:lstStyle>
            <a:lvl1pPr marL="0" indent="0" algn="l">
              <a:buNone/>
              <a:defRPr sz="240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349922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369696" y="822960"/>
            <a:ext cx="10972800" cy="3291840"/>
          </a:xfrm>
        </p:spPr>
        <p:txBody>
          <a:bodyPr anchor="ctr">
            <a:normAutofit/>
          </a:bodyPr>
          <a:lstStyle>
            <a:lvl1pPr algn="l">
              <a:defRPr sz="3840" b="0" cap="all">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821055" y="4714241"/>
            <a:ext cx="10241281" cy="1259839"/>
          </a:xfrm>
        </p:spPr>
        <p:txBody>
          <a:bodyPr vert="horz" lIns="91440" tIns="45720" rIns="91440" bIns="45720" rtlCol="0" anchor="b">
            <a:normAutofit/>
          </a:bodyPr>
          <a:lstStyle>
            <a:lvl1pPr>
              <a:buNone/>
              <a:defRPr lang="en-US" sz="2880" b="0" cap="all"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821054" y="5974080"/>
            <a:ext cx="10241281" cy="1219200"/>
          </a:xfrm>
        </p:spPr>
        <p:txBody>
          <a:bodyPr anchor="t">
            <a:normAutofit/>
          </a:bodyPr>
          <a:lstStyle>
            <a:lvl1pPr marL="0" indent="0" algn="l">
              <a:buNone/>
              <a:defRPr sz="216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AAD347D-5ACD-4C99-B74B-A9C85AD731AF}"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638174" y="974667"/>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2" name="TextBox 11"/>
          <p:cNvSpPr txBox="1"/>
          <p:nvPr/>
        </p:nvSpPr>
        <p:spPr>
          <a:xfrm>
            <a:off x="12342494" y="3322321"/>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spTree>
    <p:extLst>
      <p:ext uri="{BB962C8B-B14F-4D97-AF65-F5344CB8AC3E}">
        <p14:creationId xmlns:p14="http://schemas.microsoft.com/office/powerpoint/2010/main" val="303910720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821056" y="822960"/>
            <a:ext cx="12070080" cy="3291840"/>
          </a:xfrm>
        </p:spPr>
        <p:txBody>
          <a:bodyPr vert="horz" lIns="91440" tIns="45720" rIns="91440" bIns="45720" rtlCol="0" anchor="ctr">
            <a:normAutofit/>
          </a:bodyPr>
          <a:lstStyle>
            <a:lvl1pPr>
              <a:defRPr lang="en-US" b="0" dirty="0"/>
            </a:lvl1pPr>
          </a:lstStyle>
          <a:p>
            <a:pPr marL="0" lvl="0"/>
            <a:r>
              <a:rPr lang="ru-RU"/>
              <a:t>Образец заголовка</a:t>
            </a:r>
            <a:endParaRPr lang="en-US" dirty="0"/>
          </a:p>
        </p:txBody>
      </p:sp>
      <p:sp>
        <p:nvSpPr>
          <p:cNvPr id="10" name="Text Placeholder 9"/>
          <p:cNvSpPr>
            <a:spLocks noGrp="1"/>
          </p:cNvSpPr>
          <p:nvPr>
            <p:ph type="body" sz="quarter" idx="13"/>
          </p:nvPr>
        </p:nvSpPr>
        <p:spPr>
          <a:xfrm>
            <a:off x="821054" y="4714241"/>
            <a:ext cx="10241280" cy="1005840"/>
          </a:xfrm>
        </p:spPr>
        <p:txBody>
          <a:bodyPr vert="horz" lIns="91440" tIns="45720" rIns="91440" bIns="45720" rtlCol="0" anchor="b">
            <a:normAutofit/>
          </a:bodyPr>
          <a:lstStyle>
            <a:lvl1pPr>
              <a:buNone/>
              <a:defRPr lang="en-US" sz="2880" b="0" cap="all"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821054" y="5720079"/>
            <a:ext cx="10241281" cy="1473200"/>
          </a:xfrm>
        </p:spPr>
        <p:txBody>
          <a:bodyPr anchor="t">
            <a:normAutofit/>
          </a:bodyPr>
          <a:lstStyle>
            <a:lvl1pPr marL="0" indent="0" algn="l">
              <a:buNone/>
              <a:defRPr sz="216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AAD347D-5ACD-4C99-B74B-A9C85AD731AF}"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0086820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0221337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22254" y="822960"/>
            <a:ext cx="2468880" cy="54864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22960" y="822960"/>
            <a:ext cx="9387840" cy="637032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53581040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12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7419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127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396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42382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0405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54726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5545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11980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256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11048363" y="3556000"/>
            <a:ext cx="3578230" cy="385064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821054" y="5384799"/>
            <a:ext cx="10241280" cy="1808480"/>
          </a:xfrm>
          <a:prstGeom prst="rect">
            <a:avLst/>
          </a:prstGeom>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21054" y="822961"/>
            <a:ext cx="10241280" cy="4338320"/>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1885294" y="7406641"/>
            <a:ext cx="1920240" cy="438150"/>
          </a:xfrm>
          <a:prstGeom prst="rect">
            <a:avLst/>
          </a:prstGeom>
        </p:spPr>
        <p:txBody>
          <a:bodyPr vert="horz" lIns="91440" tIns="45720" rIns="91440" bIns="45720" rtlCol="0" anchor="t"/>
          <a:lstStyle>
            <a:lvl1pPr algn="r">
              <a:defRPr sz="1200" b="0" i="0">
                <a:solidFill>
                  <a:schemeClr val="bg2">
                    <a:lumMod val="50000"/>
                  </a:schemeClr>
                </a:solidFill>
                <a:effectLst/>
                <a:latin typeface="+mn-lt"/>
              </a:defRPr>
            </a:lvl1pPr>
          </a:lstStyle>
          <a:p>
            <a:fld id="{4AAD347D-5ACD-4C99-B74B-A9C85AD731AF}" type="datetimeFigureOut">
              <a:rPr lang="en-US" smtClean="0"/>
              <a:t>11/30/2025</a:t>
            </a:fld>
            <a:endParaRPr lang="en-US" dirty="0"/>
          </a:p>
        </p:txBody>
      </p:sp>
      <p:sp>
        <p:nvSpPr>
          <p:cNvPr id="5" name="Footer Placeholder 4"/>
          <p:cNvSpPr>
            <a:spLocks noGrp="1"/>
          </p:cNvSpPr>
          <p:nvPr>
            <p:ph type="ftr" sz="quarter" idx="3"/>
          </p:nvPr>
        </p:nvSpPr>
        <p:spPr>
          <a:xfrm>
            <a:off x="821054" y="7406641"/>
            <a:ext cx="9052560" cy="438150"/>
          </a:xfrm>
          <a:prstGeom prst="rect">
            <a:avLst/>
          </a:prstGeom>
        </p:spPr>
        <p:txBody>
          <a:bodyPr vert="horz" lIns="91440" tIns="45720" rIns="91440" bIns="45720" rtlCol="0" anchor="t"/>
          <a:lstStyle>
            <a:lvl1pPr algn="l">
              <a:defRPr sz="12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2435841" y="6694171"/>
            <a:ext cx="1370694" cy="803910"/>
          </a:xfrm>
          <a:prstGeom prst="rect">
            <a:avLst/>
          </a:prstGeom>
        </p:spPr>
        <p:txBody>
          <a:bodyPr vert="horz" lIns="91440" tIns="45720" rIns="91440" bIns="45720" rtlCol="0" anchor="b"/>
          <a:lstStyle>
            <a:lvl1pPr algn="r">
              <a:defRPr sz="3840" b="0" i="0">
                <a:solidFill>
                  <a:schemeClr val="bg2">
                    <a:lumMod val="50000"/>
                  </a:schemeClr>
                </a:solidFill>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55711754"/>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Lst>
  <p:hf sldNum="0" hdr="0" ftr="0" dt="0"/>
  <p:txStyles>
    <p:titleStyle>
      <a:lvl1pPr algn="l" defTabSz="548640" rtl="0" eaLnBrk="1" latinLnBrk="0" hangingPunct="1">
        <a:spcBef>
          <a:spcPct val="0"/>
        </a:spcBef>
        <a:buNone/>
        <a:defRPr sz="432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tx1"/>
        </a:buClr>
        <a:buSzPct val="80000"/>
        <a:buFont typeface="Wingdings 3" panose="05040102010807070707" pitchFamily="18" charset="2"/>
        <a:buChar char=""/>
        <a:defRPr sz="2400" kern="1200" cap="none">
          <a:solidFill>
            <a:schemeClr val="bg2">
              <a:lumMod val="75000"/>
            </a:schemeClr>
          </a:solidFill>
          <a:effectLst/>
          <a:latin typeface="+mn-lt"/>
          <a:ea typeface="+mn-ea"/>
          <a:cs typeface="+mn-cs"/>
        </a:defRPr>
      </a:lvl1pPr>
      <a:lvl2pPr marL="891540" indent="-342900" algn="l" defTabSz="548640" rtl="0" eaLnBrk="1" latinLnBrk="0" hangingPunct="1">
        <a:spcBef>
          <a:spcPct val="20000"/>
        </a:spcBef>
        <a:spcAft>
          <a:spcPts val="720"/>
        </a:spcAft>
        <a:buClr>
          <a:schemeClr val="tx1"/>
        </a:buClr>
        <a:buSzPct val="80000"/>
        <a:buFont typeface="Wingdings 3" panose="05040102010807070707" pitchFamily="18" charset="2"/>
        <a:buChar char=""/>
        <a:defRPr sz="2160" kern="1200" cap="none">
          <a:solidFill>
            <a:schemeClr val="bg2">
              <a:lumMod val="75000"/>
            </a:schemeClr>
          </a:solidFill>
          <a:effectLst/>
          <a:latin typeface="+mn-lt"/>
          <a:ea typeface="+mn-ea"/>
          <a:cs typeface="+mn-cs"/>
        </a:defRPr>
      </a:lvl2pPr>
      <a:lvl3pPr marL="1440180" indent="-342900" algn="l" defTabSz="548640" rtl="0" eaLnBrk="1" latinLnBrk="0" hangingPunct="1">
        <a:spcBef>
          <a:spcPct val="20000"/>
        </a:spcBef>
        <a:spcAft>
          <a:spcPts val="720"/>
        </a:spcAft>
        <a:buClr>
          <a:schemeClr val="tx1"/>
        </a:buClr>
        <a:buSzPct val="80000"/>
        <a:buFont typeface="Wingdings 3" panose="05040102010807070707" pitchFamily="18" charset="2"/>
        <a:buChar char=""/>
        <a:defRPr sz="1920" kern="1200" cap="none">
          <a:solidFill>
            <a:schemeClr val="bg2">
              <a:lumMod val="75000"/>
            </a:schemeClr>
          </a:solidFill>
          <a:effectLst/>
          <a:latin typeface="+mn-lt"/>
          <a:ea typeface="+mn-ea"/>
          <a:cs typeface="+mn-cs"/>
        </a:defRPr>
      </a:lvl3pPr>
      <a:lvl4pPr marL="1851660" indent="-20574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4pPr>
      <a:lvl5pPr marL="2400300" indent="-20574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5pPr>
      <a:lvl6pPr marL="301752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6pPr>
      <a:lvl7pPr marL="356616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7pPr>
      <a:lvl8pPr marL="411480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8pPr>
      <a:lvl9pPr marL="466344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4.xml"/><Relationship Id="rId5" Type="http://schemas.openxmlformats.org/officeDocument/2006/relationships/image" Target="../media/image20.sv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image" Target="../media/image21.pn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6.png"/><Relationship Id="rId9" Type="http://schemas.openxmlformats.org/officeDocument/2006/relationships/image" Target="../media/image26.svg"/></Relationships>
</file>

<file path=ppt/slides/_rels/slide12.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png"/><Relationship Id="rId7" Type="http://schemas.openxmlformats.org/officeDocument/2006/relationships/image" Target="../media/image34.svg"/><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image" Target="../media/image33.svg"/><Relationship Id="rId5" Type="http://schemas.openxmlformats.org/officeDocument/2006/relationships/image" Target="../media/image6.png"/><Relationship Id="rId4" Type="http://schemas.openxmlformats.org/officeDocument/2006/relationships/image" Target="../media/image32.png"/><Relationship Id="rId9"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122" name="Group 39"/>
          <p:cNvGrpSpPr>
            <a:grpSpLocks/>
          </p:cNvGrpSpPr>
          <p:nvPr/>
        </p:nvGrpSpPr>
        <p:grpSpPr bwMode="auto">
          <a:xfrm>
            <a:off x="4265263" y="1500039"/>
            <a:ext cx="7479697" cy="4646130"/>
            <a:chOff x="1627" y="1269"/>
            <a:chExt cx="4649" cy="3063"/>
          </a:xfrm>
        </p:grpSpPr>
        <p:sp>
          <p:nvSpPr>
            <p:cNvPr id="2" name="Freeform 3"/>
            <p:cNvSpPr>
              <a:spLocks/>
            </p:cNvSpPr>
            <p:nvPr/>
          </p:nvSpPr>
          <p:spPr bwMode="auto">
            <a:xfrm>
              <a:off x="1627" y="1269"/>
              <a:ext cx="142" cy="281"/>
            </a:xfrm>
            <a:custGeom>
              <a:avLst/>
              <a:gdLst>
                <a:gd name="T0" fmla="*/ 1 w 3469"/>
                <a:gd name="T1" fmla="*/ 1 h 3393"/>
                <a:gd name="T2" fmla="*/ 1 w 3469"/>
                <a:gd name="T3" fmla="*/ 1 h 3393"/>
                <a:gd name="T4" fmla="*/ 1 w 3469"/>
                <a:gd name="T5" fmla="*/ 1 h 3393"/>
                <a:gd name="T6" fmla="*/ 1 w 3469"/>
                <a:gd name="T7" fmla="*/ 1 h 3393"/>
                <a:gd name="T8" fmla="*/ 1 w 3469"/>
                <a:gd name="T9" fmla="*/ 1 h 3393"/>
                <a:gd name="T10" fmla="*/ 1 w 3469"/>
                <a:gd name="T11" fmla="*/ 1 h 3393"/>
                <a:gd name="T12" fmla="*/ 1 w 3469"/>
                <a:gd name="T13" fmla="*/ 1 h 3393"/>
                <a:gd name="T14" fmla="*/ 1 w 3469"/>
                <a:gd name="T15" fmla="*/ 1 h 3393"/>
                <a:gd name="T16" fmla="*/ 1 w 3469"/>
                <a:gd name="T17" fmla="*/ 1 h 3393"/>
                <a:gd name="T18" fmla="*/ 1 w 3469"/>
                <a:gd name="T19" fmla="*/ 1 h 3393"/>
                <a:gd name="T20" fmla="*/ 1 w 3469"/>
                <a:gd name="T21" fmla="*/ 1 h 3393"/>
                <a:gd name="T22" fmla="*/ 1 w 3469"/>
                <a:gd name="T23" fmla="*/ 1 h 3393"/>
                <a:gd name="T24" fmla="*/ 1 w 3469"/>
                <a:gd name="T25" fmla="*/ 1 h 3393"/>
                <a:gd name="T26" fmla="*/ 1 w 3469"/>
                <a:gd name="T27" fmla="*/ 1 h 3393"/>
                <a:gd name="T28" fmla="*/ 1 w 3469"/>
                <a:gd name="T29" fmla="*/ 1 h 3393"/>
                <a:gd name="T30" fmla="*/ 1 w 3469"/>
                <a:gd name="T31" fmla="*/ 1 h 3393"/>
                <a:gd name="T32" fmla="*/ 1 w 3469"/>
                <a:gd name="T33" fmla="*/ 1 h 3393"/>
                <a:gd name="T34" fmla="*/ 1 w 3469"/>
                <a:gd name="T35" fmla="*/ 1 h 3393"/>
                <a:gd name="T36" fmla="*/ 1 w 3469"/>
                <a:gd name="T37" fmla="*/ 1 h 3393"/>
                <a:gd name="T38" fmla="*/ 1 w 3469"/>
                <a:gd name="T39" fmla="*/ 1 h 3393"/>
                <a:gd name="T40" fmla="*/ 1 w 3469"/>
                <a:gd name="T41" fmla="*/ 1 h 3393"/>
                <a:gd name="T42" fmla="*/ 1 w 3469"/>
                <a:gd name="T43" fmla="*/ 1 h 3393"/>
                <a:gd name="T44" fmla="*/ 1 w 3469"/>
                <a:gd name="T45" fmla="*/ 1 h 3393"/>
                <a:gd name="T46" fmla="*/ 1 w 3469"/>
                <a:gd name="T47" fmla="*/ 1 h 3393"/>
                <a:gd name="T48" fmla="*/ 1 w 3469"/>
                <a:gd name="T49" fmla="*/ 1 h 3393"/>
                <a:gd name="T50" fmla="*/ 1 w 3469"/>
                <a:gd name="T51" fmla="*/ 1 h 3393"/>
                <a:gd name="T52" fmla="*/ 1 w 3469"/>
                <a:gd name="T53" fmla="*/ 1 h 3393"/>
                <a:gd name="T54" fmla="*/ 1 w 3469"/>
                <a:gd name="T55" fmla="*/ 1 h 3393"/>
                <a:gd name="T56" fmla="*/ 1 w 3469"/>
                <a:gd name="T57" fmla="*/ 1 h 3393"/>
                <a:gd name="T58" fmla="*/ 0 w 3469"/>
                <a:gd name="T59" fmla="*/ 1 h 3393"/>
                <a:gd name="T60" fmla="*/ 1 w 3469"/>
                <a:gd name="T61" fmla="*/ 1 h 3393"/>
                <a:gd name="T62" fmla="*/ 1 w 3469"/>
                <a:gd name="T63" fmla="*/ 0 h 3393"/>
                <a:gd name="T64" fmla="*/ 1 w 3469"/>
                <a:gd name="T65" fmla="*/ 1 h 339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469" h="3393">
                  <a:moveTo>
                    <a:pt x="3312" y="1552"/>
                  </a:moveTo>
                  <a:lnTo>
                    <a:pt x="3424" y="1752"/>
                  </a:lnTo>
                  <a:lnTo>
                    <a:pt x="3432" y="1872"/>
                  </a:lnTo>
                  <a:lnTo>
                    <a:pt x="3320" y="2056"/>
                  </a:lnTo>
                  <a:lnTo>
                    <a:pt x="3192" y="2240"/>
                  </a:lnTo>
                  <a:lnTo>
                    <a:pt x="3160" y="2328"/>
                  </a:lnTo>
                  <a:lnTo>
                    <a:pt x="3216" y="2672"/>
                  </a:lnTo>
                  <a:lnTo>
                    <a:pt x="3112" y="2752"/>
                  </a:lnTo>
                  <a:lnTo>
                    <a:pt x="3120" y="2832"/>
                  </a:lnTo>
                  <a:lnTo>
                    <a:pt x="3232" y="2976"/>
                  </a:lnTo>
                  <a:lnTo>
                    <a:pt x="3376" y="3112"/>
                  </a:lnTo>
                  <a:lnTo>
                    <a:pt x="3469" y="3252"/>
                  </a:lnTo>
                  <a:lnTo>
                    <a:pt x="3464" y="3312"/>
                  </a:lnTo>
                  <a:lnTo>
                    <a:pt x="3397" y="3390"/>
                  </a:lnTo>
                  <a:lnTo>
                    <a:pt x="3313" y="3393"/>
                  </a:lnTo>
                  <a:lnTo>
                    <a:pt x="3274" y="3372"/>
                  </a:lnTo>
                  <a:lnTo>
                    <a:pt x="3208" y="3280"/>
                  </a:lnTo>
                  <a:lnTo>
                    <a:pt x="3144" y="3176"/>
                  </a:lnTo>
                  <a:lnTo>
                    <a:pt x="3072" y="3112"/>
                  </a:lnTo>
                  <a:lnTo>
                    <a:pt x="2920" y="3088"/>
                  </a:lnTo>
                  <a:lnTo>
                    <a:pt x="2760" y="3056"/>
                  </a:lnTo>
                  <a:lnTo>
                    <a:pt x="2600" y="2984"/>
                  </a:lnTo>
                  <a:lnTo>
                    <a:pt x="2503" y="2928"/>
                  </a:lnTo>
                  <a:lnTo>
                    <a:pt x="2456" y="2880"/>
                  </a:lnTo>
                  <a:lnTo>
                    <a:pt x="2392" y="2766"/>
                  </a:lnTo>
                  <a:lnTo>
                    <a:pt x="2288" y="2704"/>
                  </a:lnTo>
                  <a:lnTo>
                    <a:pt x="2232" y="2792"/>
                  </a:lnTo>
                  <a:lnTo>
                    <a:pt x="2200" y="2848"/>
                  </a:lnTo>
                  <a:lnTo>
                    <a:pt x="2072" y="2808"/>
                  </a:lnTo>
                  <a:lnTo>
                    <a:pt x="2064" y="2744"/>
                  </a:lnTo>
                  <a:lnTo>
                    <a:pt x="2112" y="2712"/>
                  </a:lnTo>
                  <a:lnTo>
                    <a:pt x="2200" y="2680"/>
                  </a:lnTo>
                  <a:lnTo>
                    <a:pt x="2192" y="2600"/>
                  </a:lnTo>
                  <a:lnTo>
                    <a:pt x="2080" y="2584"/>
                  </a:lnTo>
                  <a:lnTo>
                    <a:pt x="2120" y="2528"/>
                  </a:lnTo>
                  <a:lnTo>
                    <a:pt x="2200" y="2424"/>
                  </a:lnTo>
                  <a:lnTo>
                    <a:pt x="2112" y="2440"/>
                  </a:lnTo>
                  <a:lnTo>
                    <a:pt x="2000" y="2480"/>
                  </a:lnTo>
                  <a:lnTo>
                    <a:pt x="1864" y="2496"/>
                  </a:lnTo>
                  <a:lnTo>
                    <a:pt x="1720" y="2408"/>
                  </a:lnTo>
                  <a:lnTo>
                    <a:pt x="1592" y="2168"/>
                  </a:lnTo>
                  <a:lnTo>
                    <a:pt x="1488" y="1992"/>
                  </a:lnTo>
                  <a:lnTo>
                    <a:pt x="1416" y="2032"/>
                  </a:lnTo>
                  <a:lnTo>
                    <a:pt x="1392" y="2152"/>
                  </a:lnTo>
                  <a:lnTo>
                    <a:pt x="1336" y="2280"/>
                  </a:lnTo>
                  <a:lnTo>
                    <a:pt x="1176" y="2248"/>
                  </a:lnTo>
                  <a:lnTo>
                    <a:pt x="1312" y="2448"/>
                  </a:lnTo>
                  <a:lnTo>
                    <a:pt x="1264" y="2528"/>
                  </a:lnTo>
                  <a:lnTo>
                    <a:pt x="1064" y="2384"/>
                  </a:lnTo>
                  <a:lnTo>
                    <a:pt x="1016" y="2408"/>
                  </a:lnTo>
                  <a:lnTo>
                    <a:pt x="1016" y="2536"/>
                  </a:lnTo>
                  <a:lnTo>
                    <a:pt x="944" y="2632"/>
                  </a:lnTo>
                  <a:lnTo>
                    <a:pt x="736" y="2640"/>
                  </a:lnTo>
                  <a:lnTo>
                    <a:pt x="440" y="2920"/>
                  </a:lnTo>
                  <a:lnTo>
                    <a:pt x="520" y="2992"/>
                  </a:lnTo>
                  <a:lnTo>
                    <a:pt x="632" y="3040"/>
                  </a:lnTo>
                  <a:lnTo>
                    <a:pt x="592" y="3208"/>
                  </a:lnTo>
                  <a:lnTo>
                    <a:pt x="304" y="3264"/>
                  </a:lnTo>
                  <a:lnTo>
                    <a:pt x="8" y="3264"/>
                  </a:lnTo>
                  <a:lnTo>
                    <a:pt x="0" y="864"/>
                  </a:lnTo>
                  <a:lnTo>
                    <a:pt x="0" y="440"/>
                  </a:lnTo>
                  <a:lnTo>
                    <a:pt x="376" y="336"/>
                  </a:lnTo>
                  <a:lnTo>
                    <a:pt x="704" y="240"/>
                  </a:lnTo>
                  <a:lnTo>
                    <a:pt x="1304" y="0"/>
                  </a:lnTo>
                  <a:lnTo>
                    <a:pt x="2664" y="808"/>
                  </a:lnTo>
                  <a:lnTo>
                    <a:pt x="2896" y="1144"/>
                  </a:lnTo>
                  <a:lnTo>
                    <a:pt x="3304" y="1552"/>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 name="Freeform 6"/>
            <p:cNvSpPr>
              <a:spLocks/>
            </p:cNvSpPr>
            <p:nvPr/>
          </p:nvSpPr>
          <p:spPr bwMode="auto">
            <a:xfrm>
              <a:off x="4881" y="3219"/>
              <a:ext cx="142" cy="281"/>
            </a:xfrm>
            <a:custGeom>
              <a:avLst/>
              <a:gdLst>
                <a:gd name="T0" fmla="*/ 0 w 428"/>
                <a:gd name="T1" fmla="*/ 1 h 876"/>
                <a:gd name="T2" fmla="*/ 1 w 428"/>
                <a:gd name="T3" fmla="*/ 1 h 876"/>
                <a:gd name="T4" fmla="*/ 1 w 428"/>
                <a:gd name="T5" fmla="*/ 1 h 876"/>
                <a:gd name="T6" fmla="*/ 1 w 428"/>
                <a:gd name="T7" fmla="*/ 1 h 876"/>
                <a:gd name="T8" fmla="*/ 1 w 428"/>
                <a:gd name="T9" fmla="*/ 1 h 876"/>
                <a:gd name="T10" fmla="*/ 1 w 428"/>
                <a:gd name="T11" fmla="*/ 0 h 876"/>
                <a:gd name="T12" fmla="*/ 1 w 428"/>
                <a:gd name="T13" fmla="*/ 1 h 876"/>
                <a:gd name="T14" fmla="*/ 1 w 428"/>
                <a:gd name="T15" fmla="*/ 1 h 876"/>
                <a:gd name="T16" fmla="*/ 1 w 428"/>
                <a:gd name="T17" fmla="*/ 1 h 876"/>
                <a:gd name="T18" fmla="*/ 1 w 428"/>
                <a:gd name="T19" fmla="*/ 1 h 876"/>
                <a:gd name="T20" fmla="*/ 1 w 428"/>
                <a:gd name="T21" fmla="*/ 1 h 876"/>
                <a:gd name="T22" fmla="*/ 1 w 428"/>
                <a:gd name="T23" fmla="*/ 1 h 876"/>
                <a:gd name="T24" fmla="*/ 1 w 428"/>
                <a:gd name="T25" fmla="*/ 1 h 876"/>
                <a:gd name="T26" fmla="*/ 1 w 428"/>
                <a:gd name="T27" fmla="*/ 1 h 876"/>
                <a:gd name="T28" fmla="*/ 1 w 428"/>
                <a:gd name="T29" fmla="*/ 1 h 876"/>
                <a:gd name="T30" fmla="*/ 1 w 428"/>
                <a:gd name="T31" fmla="*/ 1 h 876"/>
                <a:gd name="T32" fmla="*/ 1 w 428"/>
                <a:gd name="T33" fmla="*/ 1 h 876"/>
                <a:gd name="T34" fmla="*/ 1 w 428"/>
                <a:gd name="T35" fmla="*/ 1 h 876"/>
                <a:gd name="T36" fmla="*/ 1 w 428"/>
                <a:gd name="T37" fmla="*/ 1 h 876"/>
                <a:gd name="T38" fmla="*/ 1 w 428"/>
                <a:gd name="T39" fmla="*/ 1 h 876"/>
                <a:gd name="T40" fmla="*/ 1 w 428"/>
                <a:gd name="T41" fmla="*/ 1 h 876"/>
                <a:gd name="T42" fmla="*/ 1 w 428"/>
                <a:gd name="T43" fmla="*/ 1 h 876"/>
                <a:gd name="T44" fmla="*/ 1 w 428"/>
                <a:gd name="T45" fmla="*/ 1 h 876"/>
                <a:gd name="T46" fmla="*/ 1 w 428"/>
                <a:gd name="T47" fmla="*/ 1 h 876"/>
                <a:gd name="T48" fmla="*/ 1 w 428"/>
                <a:gd name="T49" fmla="*/ 1 h 8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28" h="876">
                  <a:moveTo>
                    <a:pt x="0" y="276"/>
                  </a:moveTo>
                  <a:lnTo>
                    <a:pt x="76" y="332"/>
                  </a:lnTo>
                  <a:lnTo>
                    <a:pt x="132" y="300"/>
                  </a:lnTo>
                  <a:lnTo>
                    <a:pt x="136" y="200"/>
                  </a:lnTo>
                  <a:lnTo>
                    <a:pt x="140" y="80"/>
                  </a:lnTo>
                  <a:lnTo>
                    <a:pt x="180" y="0"/>
                  </a:lnTo>
                  <a:lnTo>
                    <a:pt x="232" y="12"/>
                  </a:lnTo>
                  <a:lnTo>
                    <a:pt x="212" y="84"/>
                  </a:lnTo>
                  <a:lnTo>
                    <a:pt x="244" y="152"/>
                  </a:lnTo>
                  <a:lnTo>
                    <a:pt x="324" y="212"/>
                  </a:lnTo>
                  <a:lnTo>
                    <a:pt x="388" y="300"/>
                  </a:lnTo>
                  <a:lnTo>
                    <a:pt x="400" y="440"/>
                  </a:lnTo>
                  <a:lnTo>
                    <a:pt x="428" y="564"/>
                  </a:lnTo>
                  <a:lnTo>
                    <a:pt x="368" y="540"/>
                  </a:lnTo>
                  <a:lnTo>
                    <a:pt x="264" y="508"/>
                  </a:lnTo>
                  <a:lnTo>
                    <a:pt x="240" y="528"/>
                  </a:lnTo>
                  <a:lnTo>
                    <a:pt x="276" y="584"/>
                  </a:lnTo>
                  <a:lnTo>
                    <a:pt x="312" y="660"/>
                  </a:lnTo>
                  <a:lnTo>
                    <a:pt x="276" y="768"/>
                  </a:lnTo>
                  <a:lnTo>
                    <a:pt x="192" y="824"/>
                  </a:lnTo>
                  <a:lnTo>
                    <a:pt x="104" y="876"/>
                  </a:lnTo>
                  <a:lnTo>
                    <a:pt x="92" y="696"/>
                  </a:lnTo>
                  <a:lnTo>
                    <a:pt x="56" y="544"/>
                  </a:lnTo>
                  <a:lnTo>
                    <a:pt x="8" y="388"/>
                  </a:lnTo>
                  <a:lnTo>
                    <a:pt x="4" y="280"/>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4" name="Freeform 7"/>
            <p:cNvSpPr>
              <a:spLocks/>
            </p:cNvSpPr>
            <p:nvPr/>
          </p:nvSpPr>
          <p:spPr bwMode="auto">
            <a:xfrm>
              <a:off x="5333" y="2627"/>
              <a:ext cx="142" cy="281"/>
            </a:xfrm>
            <a:custGeom>
              <a:avLst/>
              <a:gdLst>
                <a:gd name="T0" fmla="*/ 1 w 1408"/>
                <a:gd name="T1" fmla="*/ 1 h 1596"/>
                <a:gd name="T2" fmla="*/ 1 w 1408"/>
                <a:gd name="T3" fmla="*/ 1 h 1596"/>
                <a:gd name="T4" fmla="*/ 1 w 1408"/>
                <a:gd name="T5" fmla="*/ 1 h 1596"/>
                <a:gd name="T6" fmla="*/ 1 w 1408"/>
                <a:gd name="T7" fmla="*/ 1 h 1596"/>
                <a:gd name="T8" fmla="*/ 1 w 1408"/>
                <a:gd name="T9" fmla="*/ 1 h 1596"/>
                <a:gd name="T10" fmla="*/ 1 w 1408"/>
                <a:gd name="T11" fmla="*/ 1 h 1596"/>
                <a:gd name="T12" fmla="*/ 1 w 1408"/>
                <a:gd name="T13" fmla="*/ 1 h 1596"/>
                <a:gd name="T14" fmla="*/ 1 w 1408"/>
                <a:gd name="T15" fmla="*/ 1 h 1596"/>
                <a:gd name="T16" fmla="*/ 1 w 1408"/>
                <a:gd name="T17" fmla="*/ 1 h 1596"/>
                <a:gd name="T18" fmla="*/ 1 w 1408"/>
                <a:gd name="T19" fmla="*/ 1 h 1596"/>
                <a:gd name="T20" fmla="*/ 1 w 1408"/>
                <a:gd name="T21" fmla="*/ 1 h 1596"/>
                <a:gd name="T22" fmla="*/ 1 w 1408"/>
                <a:gd name="T23" fmla="*/ 1 h 1596"/>
                <a:gd name="T24" fmla="*/ 1 w 1408"/>
                <a:gd name="T25" fmla="*/ 1 h 1596"/>
                <a:gd name="T26" fmla="*/ 1 w 1408"/>
                <a:gd name="T27" fmla="*/ 0 h 1596"/>
                <a:gd name="T28" fmla="*/ 1 w 1408"/>
                <a:gd name="T29" fmla="*/ 1 h 1596"/>
                <a:gd name="T30" fmla="*/ 1 w 1408"/>
                <a:gd name="T31" fmla="*/ 1 h 1596"/>
                <a:gd name="T32" fmla="*/ 1 w 1408"/>
                <a:gd name="T33" fmla="*/ 1 h 1596"/>
                <a:gd name="T34" fmla="*/ 1 w 1408"/>
                <a:gd name="T35" fmla="*/ 1 h 1596"/>
                <a:gd name="T36" fmla="*/ 1 w 1408"/>
                <a:gd name="T37" fmla="*/ 1 h 1596"/>
                <a:gd name="T38" fmla="*/ 1 w 1408"/>
                <a:gd name="T39" fmla="*/ 1 h 1596"/>
                <a:gd name="T40" fmla="*/ 1 w 1408"/>
                <a:gd name="T41" fmla="*/ 1 h 1596"/>
                <a:gd name="T42" fmla="*/ 1 w 1408"/>
                <a:gd name="T43" fmla="*/ 1 h 1596"/>
                <a:gd name="T44" fmla="*/ 1 w 1408"/>
                <a:gd name="T45" fmla="*/ 1 h 1596"/>
                <a:gd name="T46" fmla="*/ 1 w 1408"/>
                <a:gd name="T47" fmla="*/ 1 h 1596"/>
                <a:gd name="T48" fmla="*/ 1 w 1408"/>
                <a:gd name="T49" fmla="*/ 1 h 1596"/>
                <a:gd name="T50" fmla="*/ 1 w 1408"/>
                <a:gd name="T51" fmla="*/ 1 h 1596"/>
                <a:gd name="T52" fmla="*/ 1 w 1408"/>
                <a:gd name="T53" fmla="*/ 1 h 1596"/>
                <a:gd name="T54" fmla="*/ 1 w 1408"/>
                <a:gd name="T55" fmla="*/ 1 h 1596"/>
                <a:gd name="T56" fmla="*/ 1 w 1408"/>
                <a:gd name="T57" fmla="*/ 1 h 1596"/>
                <a:gd name="T58" fmla="*/ 1 w 1408"/>
                <a:gd name="T59" fmla="*/ 1 h 1596"/>
                <a:gd name="T60" fmla="*/ 1 w 1408"/>
                <a:gd name="T61" fmla="*/ 1 h 1596"/>
                <a:gd name="T62" fmla="*/ 1 w 1408"/>
                <a:gd name="T63" fmla="*/ 1 h 1596"/>
                <a:gd name="T64" fmla="*/ 0 w 1408"/>
                <a:gd name="T65" fmla="*/ 1 h 15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08" h="1596">
                  <a:moveTo>
                    <a:pt x="24" y="1060"/>
                  </a:moveTo>
                  <a:lnTo>
                    <a:pt x="68" y="1080"/>
                  </a:lnTo>
                  <a:lnTo>
                    <a:pt x="104" y="1036"/>
                  </a:lnTo>
                  <a:lnTo>
                    <a:pt x="128" y="884"/>
                  </a:lnTo>
                  <a:lnTo>
                    <a:pt x="176" y="756"/>
                  </a:lnTo>
                  <a:lnTo>
                    <a:pt x="240" y="676"/>
                  </a:lnTo>
                  <a:lnTo>
                    <a:pt x="316" y="680"/>
                  </a:lnTo>
                  <a:lnTo>
                    <a:pt x="352" y="640"/>
                  </a:lnTo>
                  <a:lnTo>
                    <a:pt x="408" y="648"/>
                  </a:lnTo>
                  <a:lnTo>
                    <a:pt x="428" y="576"/>
                  </a:lnTo>
                  <a:lnTo>
                    <a:pt x="472" y="512"/>
                  </a:lnTo>
                  <a:lnTo>
                    <a:pt x="536" y="492"/>
                  </a:lnTo>
                  <a:lnTo>
                    <a:pt x="600" y="452"/>
                  </a:lnTo>
                  <a:lnTo>
                    <a:pt x="672" y="392"/>
                  </a:lnTo>
                  <a:lnTo>
                    <a:pt x="708" y="332"/>
                  </a:lnTo>
                  <a:lnTo>
                    <a:pt x="760" y="288"/>
                  </a:lnTo>
                  <a:lnTo>
                    <a:pt x="764" y="196"/>
                  </a:lnTo>
                  <a:lnTo>
                    <a:pt x="792" y="136"/>
                  </a:lnTo>
                  <a:lnTo>
                    <a:pt x="832" y="120"/>
                  </a:lnTo>
                  <a:lnTo>
                    <a:pt x="888" y="160"/>
                  </a:lnTo>
                  <a:lnTo>
                    <a:pt x="944" y="180"/>
                  </a:lnTo>
                  <a:lnTo>
                    <a:pt x="1004" y="208"/>
                  </a:lnTo>
                  <a:lnTo>
                    <a:pt x="1044" y="208"/>
                  </a:lnTo>
                  <a:lnTo>
                    <a:pt x="1092" y="172"/>
                  </a:lnTo>
                  <a:lnTo>
                    <a:pt x="1112" y="72"/>
                  </a:lnTo>
                  <a:lnTo>
                    <a:pt x="1164" y="60"/>
                  </a:lnTo>
                  <a:lnTo>
                    <a:pt x="1204" y="8"/>
                  </a:lnTo>
                  <a:lnTo>
                    <a:pt x="1268" y="0"/>
                  </a:lnTo>
                  <a:lnTo>
                    <a:pt x="1348" y="32"/>
                  </a:lnTo>
                  <a:lnTo>
                    <a:pt x="1400" y="96"/>
                  </a:lnTo>
                  <a:lnTo>
                    <a:pt x="1408" y="144"/>
                  </a:lnTo>
                  <a:lnTo>
                    <a:pt x="1272" y="200"/>
                  </a:lnTo>
                  <a:lnTo>
                    <a:pt x="1208" y="252"/>
                  </a:lnTo>
                  <a:lnTo>
                    <a:pt x="1124" y="296"/>
                  </a:lnTo>
                  <a:lnTo>
                    <a:pt x="1036" y="396"/>
                  </a:lnTo>
                  <a:lnTo>
                    <a:pt x="964" y="436"/>
                  </a:lnTo>
                  <a:lnTo>
                    <a:pt x="896" y="516"/>
                  </a:lnTo>
                  <a:lnTo>
                    <a:pt x="848" y="580"/>
                  </a:lnTo>
                  <a:lnTo>
                    <a:pt x="884" y="620"/>
                  </a:lnTo>
                  <a:lnTo>
                    <a:pt x="948" y="652"/>
                  </a:lnTo>
                  <a:lnTo>
                    <a:pt x="908" y="712"/>
                  </a:lnTo>
                  <a:lnTo>
                    <a:pt x="888" y="776"/>
                  </a:lnTo>
                  <a:lnTo>
                    <a:pt x="888" y="848"/>
                  </a:lnTo>
                  <a:lnTo>
                    <a:pt x="884" y="940"/>
                  </a:lnTo>
                  <a:lnTo>
                    <a:pt x="936" y="1044"/>
                  </a:lnTo>
                  <a:lnTo>
                    <a:pt x="888" y="1084"/>
                  </a:lnTo>
                  <a:lnTo>
                    <a:pt x="796" y="1132"/>
                  </a:lnTo>
                  <a:lnTo>
                    <a:pt x="732" y="1200"/>
                  </a:lnTo>
                  <a:lnTo>
                    <a:pt x="664" y="1244"/>
                  </a:lnTo>
                  <a:lnTo>
                    <a:pt x="584" y="1260"/>
                  </a:lnTo>
                  <a:lnTo>
                    <a:pt x="572" y="1276"/>
                  </a:lnTo>
                  <a:lnTo>
                    <a:pt x="496" y="1236"/>
                  </a:lnTo>
                  <a:lnTo>
                    <a:pt x="424" y="1160"/>
                  </a:lnTo>
                  <a:lnTo>
                    <a:pt x="340" y="1160"/>
                  </a:lnTo>
                  <a:lnTo>
                    <a:pt x="276" y="1200"/>
                  </a:lnTo>
                  <a:lnTo>
                    <a:pt x="276" y="1304"/>
                  </a:lnTo>
                  <a:lnTo>
                    <a:pt x="300" y="1360"/>
                  </a:lnTo>
                  <a:lnTo>
                    <a:pt x="340" y="1428"/>
                  </a:lnTo>
                  <a:lnTo>
                    <a:pt x="344" y="1516"/>
                  </a:lnTo>
                  <a:lnTo>
                    <a:pt x="288" y="1568"/>
                  </a:lnTo>
                  <a:lnTo>
                    <a:pt x="216" y="1596"/>
                  </a:lnTo>
                  <a:lnTo>
                    <a:pt x="188" y="1436"/>
                  </a:lnTo>
                  <a:lnTo>
                    <a:pt x="172" y="1328"/>
                  </a:lnTo>
                  <a:lnTo>
                    <a:pt x="136" y="1272"/>
                  </a:lnTo>
                  <a:lnTo>
                    <a:pt x="52" y="1200"/>
                  </a:lnTo>
                  <a:lnTo>
                    <a:pt x="0" y="1120"/>
                  </a:lnTo>
                  <a:lnTo>
                    <a:pt x="16" y="1060"/>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5" name="Freeform 8"/>
            <p:cNvSpPr>
              <a:spLocks/>
            </p:cNvSpPr>
            <p:nvPr/>
          </p:nvSpPr>
          <p:spPr bwMode="auto">
            <a:xfrm>
              <a:off x="5834" y="2943"/>
              <a:ext cx="142" cy="281"/>
            </a:xfrm>
            <a:custGeom>
              <a:avLst/>
              <a:gdLst>
                <a:gd name="T0" fmla="*/ 1 w 1202"/>
                <a:gd name="T1" fmla="*/ 1 h 632"/>
                <a:gd name="T2" fmla="*/ 1 w 1202"/>
                <a:gd name="T3" fmla="*/ 1 h 632"/>
                <a:gd name="T4" fmla="*/ 1 w 1202"/>
                <a:gd name="T5" fmla="*/ 1 h 632"/>
                <a:gd name="T6" fmla="*/ 1 w 1202"/>
                <a:gd name="T7" fmla="*/ 1 h 632"/>
                <a:gd name="T8" fmla="*/ 1 w 1202"/>
                <a:gd name="T9" fmla="*/ 1 h 632"/>
                <a:gd name="T10" fmla="*/ 1 w 1202"/>
                <a:gd name="T11" fmla="*/ 1 h 632"/>
                <a:gd name="T12" fmla="*/ 1 w 1202"/>
                <a:gd name="T13" fmla="*/ 1 h 632"/>
                <a:gd name="T14" fmla="*/ 1 w 1202"/>
                <a:gd name="T15" fmla="*/ 1 h 632"/>
                <a:gd name="T16" fmla="*/ 1 w 1202"/>
                <a:gd name="T17" fmla="*/ 1 h 632"/>
                <a:gd name="T18" fmla="*/ 1 w 1202"/>
                <a:gd name="T19" fmla="*/ 1 h 632"/>
                <a:gd name="T20" fmla="*/ 1 w 1202"/>
                <a:gd name="T21" fmla="*/ 1 h 632"/>
                <a:gd name="T22" fmla="*/ 1 w 1202"/>
                <a:gd name="T23" fmla="*/ 1 h 632"/>
                <a:gd name="T24" fmla="*/ 1 w 1202"/>
                <a:gd name="T25" fmla="*/ 1 h 632"/>
                <a:gd name="T26" fmla="*/ 1 w 1202"/>
                <a:gd name="T27" fmla="*/ 1 h 632"/>
                <a:gd name="T28" fmla="*/ 1 w 1202"/>
                <a:gd name="T29" fmla="*/ 1 h 632"/>
                <a:gd name="T30" fmla="*/ 1 w 1202"/>
                <a:gd name="T31" fmla="*/ 0 h 632"/>
                <a:gd name="T32" fmla="*/ 1 w 1202"/>
                <a:gd name="T33" fmla="*/ 1 h 632"/>
                <a:gd name="T34" fmla="*/ 1 w 1202"/>
                <a:gd name="T35" fmla="*/ 1 h 632"/>
                <a:gd name="T36" fmla="*/ 1 w 1202"/>
                <a:gd name="T37" fmla="*/ 1 h 632"/>
                <a:gd name="T38" fmla="*/ 1 w 1202"/>
                <a:gd name="T39" fmla="*/ 1 h 632"/>
                <a:gd name="T40" fmla="*/ 1 w 1202"/>
                <a:gd name="T41" fmla="*/ 1 h 632"/>
                <a:gd name="T42" fmla="*/ 1 w 1202"/>
                <a:gd name="T43" fmla="*/ 1 h 632"/>
                <a:gd name="T44" fmla="*/ 1 w 1202"/>
                <a:gd name="T45" fmla="*/ 1 h 632"/>
                <a:gd name="T46" fmla="*/ 1 w 1202"/>
                <a:gd name="T47" fmla="*/ 1 h 632"/>
                <a:gd name="T48" fmla="*/ 1 w 1202"/>
                <a:gd name="T49" fmla="*/ 1 h 632"/>
                <a:gd name="T50" fmla="*/ 1 w 1202"/>
                <a:gd name="T51" fmla="*/ 1 h 632"/>
                <a:gd name="T52" fmla="*/ 1 w 1202"/>
                <a:gd name="T53" fmla="*/ 1 h 632"/>
                <a:gd name="T54" fmla="*/ 1 w 1202"/>
                <a:gd name="T55" fmla="*/ 1 h 632"/>
                <a:gd name="T56" fmla="*/ 1 w 1202"/>
                <a:gd name="T57" fmla="*/ 1 h 632"/>
                <a:gd name="T58" fmla="*/ 1 w 1202"/>
                <a:gd name="T59" fmla="*/ 1 h 632"/>
                <a:gd name="T60" fmla="*/ 1 w 1202"/>
                <a:gd name="T61" fmla="*/ 1 h 632"/>
                <a:gd name="T62" fmla="*/ 1 w 1202"/>
                <a:gd name="T63" fmla="*/ 1 h 632"/>
                <a:gd name="T64" fmla="*/ 1 w 1202"/>
                <a:gd name="T65" fmla="*/ 1 h 632"/>
                <a:gd name="T66" fmla="*/ 1 w 1202"/>
                <a:gd name="T67" fmla="*/ 1 h 632"/>
                <a:gd name="T68" fmla="*/ 1 w 1202"/>
                <a:gd name="T69" fmla="*/ 1 h 632"/>
                <a:gd name="T70" fmla="*/ 1 w 1202"/>
                <a:gd name="T71" fmla="*/ 1 h 632"/>
                <a:gd name="T72" fmla="*/ 0 w 1202"/>
                <a:gd name="T73" fmla="*/ 1 h 632"/>
                <a:gd name="T74" fmla="*/ 1 w 1202"/>
                <a:gd name="T75" fmla="*/ 1 h 632"/>
                <a:gd name="T76" fmla="*/ 1 w 1202"/>
                <a:gd name="T77" fmla="*/ 1 h 632"/>
                <a:gd name="T78" fmla="*/ 1 w 1202"/>
                <a:gd name="T79" fmla="*/ 1 h 63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02" h="632">
                  <a:moveTo>
                    <a:pt x="72" y="96"/>
                  </a:moveTo>
                  <a:lnTo>
                    <a:pt x="130" y="120"/>
                  </a:lnTo>
                  <a:lnTo>
                    <a:pt x="258" y="144"/>
                  </a:lnTo>
                  <a:lnTo>
                    <a:pt x="318" y="216"/>
                  </a:lnTo>
                  <a:lnTo>
                    <a:pt x="290" y="284"/>
                  </a:lnTo>
                  <a:lnTo>
                    <a:pt x="282" y="344"/>
                  </a:lnTo>
                  <a:lnTo>
                    <a:pt x="350" y="356"/>
                  </a:lnTo>
                  <a:lnTo>
                    <a:pt x="426" y="360"/>
                  </a:lnTo>
                  <a:lnTo>
                    <a:pt x="518" y="408"/>
                  </a:lnTo>
                  <a:lnTo>
                    <a:pt x="598" y="400"/>
                  </a:lnTo>
                  <a:lnTo>
                    <a:pt x="586" y="264"/>
                  </a:lnTo>
                  <a:lnTo>
                    <a:pt x="642" y="200"/>
                  </a:lnTo>
                  <a:lnTo>
                    <a:pt x="726" y="148"/>
                  </a:lnTo>
                  <a:lnTo>
                    <a:pt x="742" y="88"/>
                  </a:lnTo>
                  <a:lnTo>
                    <a:pt x="758" y="28"/>
                  </a:lnTo>
                  <a:lnTo>
                    <a:pt x="798" y="0"/>
                  </a:lnTo>
                  <a:lnTo>
                    <a:pt x="930" y="136"/>
                  </a:lnTo>
                  <a:lnTo>
                    <a:pt x="954" y="196"/>
                  </a:lnTo>
                  <a:lnTo>
                    <a:pt x="942" y="256"/>
                  </a:lnTo>
                  <a:lnTo>
                    <a:pt x="938" y="376"/>
                  </a:lnTo>
                  <a:lnTo>
                    <a:pt x="994" y="420"/>
                  </a:lnTo>
                  <a:lnTo>
                    <a:pt x="1074" y="380"/>
                  </a:lnTo>
                  <a:lnTo>
                    <a:pt x="1154" y="364"/>
                  </a:lnTo>
                  <a:lnTo>
                    <a:pt x="1202" y="380"/>
                  </a:lnTo>
                  <a:lnTo>
                    <a:pt x="1150" y="452"/>
                  </a:lnTo>
                  <a:lnTo>
                    <a:pt x="1086" y="476"/>
                  </a:lnTo>
                  <a:lnTo>
                    <a:pt x="994" y="512"/>
                  </a:lnTo>
                  <a:lnTo>
                    <a:pt x="870" y="556"/>
                  </a:lnTo>
                  <a:lnTo>
                    <a:pt x="722" y="576"/>
                  </a:lnTo>
                  <a:lnTo>
                    <a:pt x="530" y="564"/>
                  </a:lnTo>
                  <a:lnTo>
                    <a:pt x="434" y="580"/>
                  </a:lnTo>
                  <a:lnTo>
                    <a:pt x="194" y="632"/>
                  </a:lnTo>
                  <a:lnTo>
                    <a:pt x="182" y="556"/>
                  </a:lnTo>
                  <a:lnTo>
                    <a:pt x="102" y="496"/>
                  </a:lnTo>
                  <a:lnTo>
                    <a:pt x="54" y="504"/>
                  </a:lnTo>
                  <a:lnTo>
                    <a:pt x="18" y="424"/>
                  </a:lnTo>
                  <a:lnTo>
                    <a:pt x="0" y="369"/>
                  </a:lnTo>
                  <a:lnTo>
                    <a:pt x="6" y="240"/>
                  </a:lnTo>
                  <a:lnTo>
                    <a:pt x="21" y="168"/>
                  </a:lnTo>
                  <a:lnTo>
                    <a:pt x="66" y="96"/>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6" name="Freeform 9"/>
            <p:cNvSpPr>
              <a:spLocks/>
            </p:cNvSpPr>
            <p:nvPr/>
          </p:nvSpPr>
          <p:spPr bwMode="auto">
            <a:xfrm>
              <a:off x="5825" y="3275"/>
              <a:ext cx="142" cy="281"/>
            </a:xfrm>
            <a:custGeom>
              <a:avLst/>
              <a:gdLst>
                <a:gd name="T0" fmla="*/ 1 w 1068"/>
                <a:gd name="T1" fmla="*/ 1 h 472"/>
                <a:gd name="T2" fmla="*/ 1 w 1068"/>
                <a:gd name="T3" fmla="*/ 0 h 472"/>
                <a:gd name="T4" fmla="*/ 1 w 1068"/>
                <a:gd name="T5" fmla="*/ 1 h 472"/>
                <a:gd name="T6" fmla="*/ 1 w 1068"/>
                <a:gd name="T7" fmla="*/ 1 h 472"/>
                <a:gd name="T8" fmla="*/ 1 w 1068"/>
                <a:gd name="T9" fmla="*/ 1 h 472"/>
                <a:gd name="T10" fmla="*/ 1 w 1068"/>
                <a:gd name="T11" fmla="*/ 1 h 472"/>
                <a:gd name="T12" fmla="*/ 1 w 1068"/>
                <a:gd name="T13" fmla="*/ 1 h 472"/>
                <a:gd name="T14" fmla="*/ 1 w 1068"/>
                <a:gd name="T15" fmla="*/ 1 h 472"/>
                <a:gd name="T16" fmla="*/ 1 w 1068"/>
                <a:gd name="T17" fmla="*/ 1 h 472"/>
                <a:gd name="T18" fmla="*/ 1 w 1068"/>
                <a:gd name="T19" fmla="*/ 1 h 472"/>
                <a:gd name="T20" fmla="*/ 1 w 1068"/>
                <a:gd name="T21" fmla="*/ 1 h 472"/>
                <a:gd name="T22" fmla="*/ 1 w 1068"/>
                <a:gd name="T23" fmla="*/ 1 h 472"/>
                <a:gd name="T24" fmla="*/ 1 w 1068"/>
                <a:gd name="T25" fmla="*/ 1 h 472"/>
                <a:gd name="T26" fmla="*/ 1 w 1068"/>
                <a:gd name="T27" fmla="*/ 1 h 472"/>
                <a:gd name="T28" fmla="*/ 1 w 1068"/>
                <a:gd name="T29" fmla="*/ 1 h 472"/>
                <a:gd name="T30" fmla="*/ 1 w 1068"/>
                <a:gd name="T31" fmla="*/ 1 h 472"/>
                <a:gd name="T32" fmla="*/ 1 w 1068"/>
                <a:gd name="T33" fmla="*/ 1 h 472"/>
                <a:gd name="T34" fmla="*/ 1 w 1068"/>
                <a:gd name="T35" fmla="*/ 1 h 472"/>
                <a:gd name="T36" fmla="*/ 1 w 1068"/>
                <a:gd name="T37" fmla="*/ 1 h 472"/>
                <a:gd name="T38" fmla="*/ 1 w 1068"/>
                <a:gd name="T39" fmla="*/ 1 h 472"/>
                <a:gd name="T40" fmla="*/ 1 w 1068"/>
                <a:gd name="T41" fmla="*/ 1 h 472"/>
                <a:gd name="T42" fmla="*/ 0 w 1068"/>
                <a:gd name="T43" fmla="*/ 1 h 472"/>
                <a:gd name="T44" fmla="*/ 1 w 1068"/>
                <a:gd name="T45" fmla="*/ 1 h 472"/>
                <a:gd name="T46" fmla="*/ 1 w 1068"/>
                <a:gd name="T47" fmla="*/ 1 h 472"/>
                <a:gd name="T48" fmla="*/ 1 w 1068"/>
                <a:gd name="T49" fmla="*/ 1 h 4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68" h="472">
                  <a:moveTo>
                    <a:pt x="141" y="50"/>
                  </a:moveTo>
                  <a:lnTo>
                    <a:pt x="388" y="0"/>
                  </a:lnTo>
                  <a:lnTo>
                    <a:pt x="492" y="65"/>
                  </a:lnTo>
                  <a:lnTo>
                    <a:pt x="596" y="136"/>
                  </a:lnTo>
                  <a:lnTo>
                    <a:pt x="656" y="100"/>
                  </a:lnTo>
                  <a:lnTo>
                    <a:pt x="732" y="77"/>
                  </a:lnTo>
                  <a:lnTo>
                    <a:pt x="834" y="173"/>
                  </a:lnTo>
                  <a:lnTo>
                    <a:pt x="1068" y="328"/>
                  </a:lnTo>
                  <a:lnTo>
                    <a:pt x="1004" y="384"/>
                  </a:lnTo>
                  <a:lnTo>
                    <a:pt x="1036" y="440"/>
                  </a:lnTo>
                  <a:lnTo>
                    <a:pt x="992" y="472"/>
                  </a:lnTo>
                  <a:lnTo>
                    <a:pt x="916" y="456"/>
                  </a:lnTo>
                  <a:lnTo>
                    <a:pt x="824" y="452"/>
                  </a:lnTo>
                  <a:lnTo>
                    <a:pt x="764" y="408"/>
                  </a:lnTo>
                  <a:lnTo>
                    <a:pt x="688" y="376"/>
                  </a:lnTo>
                  <a:lnTo>
                    <a:pt x="580" y="388"/>
                  </a:lnTo>
                  <a:lnTo>
                    <a:pt x="472" y="404"/>
                  </a:lnTo>
                  <a:lnTo>
                    <a:pt x="364" y="412"/>
                  </a:lnTo>
                  <a:lnTo>
                    <a:pt x="220" y="432"/>
                  </a:lnTo>
                  <a:lnTo>
                    <a:pt x="76" y="416"/>
                  </a:lnTo>
                  <a:lnTo>
                    <a:pt x="4" y="364"/>
                  </a:lnTo>
                  <a:lnTo>
                    <a:pt x="0" y="268"/>
                  </a:lnTo>
                  <a:lnTo>
                    <a:pt x="40" y="192"/>
                  </a:lnTo>
                  <a:lnTo>
                    <a:pt x="108" y="120"/>
                  </a:lnTo>
                  <a:lnTo>
                    <a:pt x="135" y="62"/>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1" name="Freeform 10"/>
            <p:cNvSpPr>
              <a:spLocks/>
            </p:cNvSpPr>
            <p:nvPr/>
          </p:nvSpPr>
          <p:spPr bwMode="auto">
            <a:xfrm>
              <a:off x="6134" y="3165"/>
              <a:ext cx="142" cy="281"/>
            </a:xfrm>
            <a:custGeom>
              <a:avLst/>
              <a:gdLst>
                <a:gd name="T0" fmla="*/ 1 w 1252"/>
                <a:gd name="T1" fmla="*/ 1 h 525"/>
                <a:gd name="T2" fmla="*/ 1 w 1252"/>
                <a:gd name="T3" fmla="*/ 1 h 525"/>
                <a:gd name="T4" fmla="*/ 1 w 1252"/>
                <a:gd name="T5" fmla="*/ 1 h 525"/>
                <a:gd name="T6" fmla="*/ 1 w 1252"/>
                <a:gd name="T7" fmla="*/ 1 h 525"/>
                <a:gd name="T8" fmla="*/ 1 w 1252"/>
                <a:gd name="T9" fmla="*/ 1 h 525"/>
                <a:gd name="T10" fmla="*/ 1 w 1252"/>
                <a:gd name="T11" fmla="*/ 1 h 525"/>
                <a:gd name="T12" fmla="*/ 1 w 1252"/>
                <a:gd name="T13" fmla="*/ 1 h 525"/>
                <a:gd name="T14" fmla="*/ 1 w 1252"/>
                <a:gd name="T15" fmla="*/ 0 h 525"/>
                <a:gd name="T16" fmla="*/ 1 w 1252"/>
                <a:gd name="T17" fmla="*/ 1 h 525"/>
                <a:gd name="T18" fmla="*/ 1 w 1252"/>
                <a:gd name="T19" fmla="*/ 1 h 525"/>
                <a:gd name="T20" fmla="*/ 1 w 1252"/>
                <a:gd name="T21" fmla="*/ 1 h 525"/>
                <a:gd name="T22" fmla="*/ 1 w 1252"/>
                <a:gd name="T23" fmla="*/ 1 h 525"/>
                <a:gd name="T24" fmla="*/ 1 w 1252"/>
                <a:gd name="T25" fmla="*/ 1 h 525"/>
                <a:gd name="T26" fmla="*/ 1 w 1252"/>
                <a:gd name="T27" fmla="*/ 1 h 525"/>
                <a:gd name="T28" fmla="*/ 1 w 1252"/>
                <a:gd name="T29" fmla="*/ 1 h 525"/>
                <a:gd name="T30" fmla="*/ 1 w 1252"/>
                <a:gd name="T31" fmla="*/ 1 h 525"/>
                <a:gd name="T32" fmla="*/ 1 w 1252"/>
                <a:gd name="T33" fmla="*/ 1 h 525"/>
                <a:gd name="T34" fmla="*/ 1 w 1252"/>
                <a:gd name="T35" fmla="*/ 1 h 525"/>
                <a:gd name="T36" fmla="*/ 1 w 1252"/>
                <a:gd name="T37" fmla="*/ 1 h 525"/>
                <a:gd name="T38" fmla="*/ 1 w 1252"/>
                <a:gd name="T39" fmla="*/ 1 h 525"/>
                <a:gd name="T40" fmla="*/ 1 w 1252"/>
                <a:gd name="T41" fmla="*/ 1 h 525"/>
                <a:gd name="T42" fmla="*/ 1 w 1252"/>
                <a:gd name="T43" fmla="*/ 1 h 525"/>
                <a:gd name="T44" fmla="*/ 1 w 1252"/>
                <a:gd name="T45" fmla="*/ 1 h 525"/>
                <a:gd name="T46" fmla="*/ 1 w 1252"/>
                <a:gd name="T47" fmla="*/ 1 h 525"/>
                <a:gd name="T48" fmla="*/ 1 w 1252"/>
                <a:gd name="T49" fmla="*/ 1 h 525"/>
                <a:gd name="T50" fmla="*/ 1 w 1252"/>
                <a:gd name="T51" fmla="*/ 1 h 525"/>
                <a:gd name="T52" fmla="*/ 1 w 1252"/>
                <a:gd name="T53" fmla="*/ 1 h 525"/>
                <a:gd name="T54" fmla="*/ 1 w 1252"/>
                <a:gd name="T55" fmla="*/ 1 h 525"/>
                <a:gd name="T56" fmla="*/ 1 w 1252"/>
                <a:gd name="T57" fmla="*/ 1 h 525"/>
                <a:gd name="T58" fmla="*/ 1 w 1252"/>
                <a:gd name="T59" fmla="*/ 1 h 525"/>
                <a:gd name="T60" fmla="*/ 1 w 1252"/>
                <a:gd name="T61" fmla="*/ 1 h 525"/>
                <a:gd name="T62" fmla="*/ 1 w 1252"/>
                <a:gd name="T63" fmla="*/ 1 h 525"/>
                <a:gd name="T64" fmla="*/ 0 w 1252"/>
                <a:gd name="T65" fmla="*/ 1 h 5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52" h="525">
                  <a:moveTo>
                    <a:pt x="4" y="189"/>
                  </a:moveTo>
                  <a:lnTo>
                    <a:pt x="76" y="181"/>
                  </a:lnTo>
                  <a:lnTo>
                    <a:pt x="221" y="189"/>
                  </a:lnTo>
                  <a:lnTo>
                    <a:pt x="293" y="186"/>
                  </a:lnTo>
                  <a:lnTo>
                    <a:pt x="440" y="165"/>
                  </a:lnTo>
                  <a:lnTo>
                    <a:pt x="548" y="129"/>
                  </a:lnTo>
                  <a:lnTo>
                    <a:pt x="716" y="61"/>
                  </a:lnTo>
                  <a:lnTo>
                    <a:pt x="752" y="0"/>
                  </a:lnTo>
                  <a:lnTo>
                    <a:pt x="888" y="1"/>
                  </a:lnTo>
                  <a:lnTo>
                    <a:pt x="872" y="69"/>
                  </a:lnTo>
                  <a:lnTo>
                    <a:pt x="924" y="121"/>
                  </a:lnTo>
                  <a:lnTo>
                    <a:pt x="988" y="149"/>
                  </a:lnTo>
                  <a:lnTo>
                    <a:pt x="1120" y="109"/>
                  </a:lnTo>
                  <a:lnTo>
                    <a:pt x="1176" y="81"/>
                  </a:lnTo>
                  <a:lnTo>
                    <a:pt x="1220" y="65"/>
                  </a:lnTo>
                  <a:lnTo>
                    <a:pt x="1252" y="97"/>
                  </a:lnTo>
                  <a:lnTo>
                    <a:pt x="1204" y="137"/>
                  </a:lnTo>
                  <a:lnTo>
                    <a:pt x="1200" y="177"/>
                  </a:lnTo>
                  <a:lnTo>
                    <a:pt x="1236" y="201"/>
                  </a:lnTo>
                  <a:lnTo>
                    <a:pt x="1200" y="217"/>
                  </a:lnTo>
                  <a:lnTo>
                    <a:pt x="1136" y="249"/>
                  </a:lnTo>
                  <a:lnTo>
                    <a:pt x="1056" y="293"/>
                  </a:lnTo>
                  <a:lnTo>
                    <a:pt x="984" y="317"/>
                  </a:lnTo>
                  <a:lnTo>
                    <a:pt x="936" y="393"/>
                  </a:lnTo>
                  <a:lnTo>
                    <a:pt x="888" y="477"/>
                  </a:lnTo>
                  <a:lnTo>
                    <a:pt x="828" y="489"/>
                  </a:lnTo>
                  <a:lnTo>
                    <a:pt x="808" y="429"/>
                  </a:lnTo>
                  <a:lnTo>
                    <a:pt x="744" y="429"/>
                  </a:lnTo>
                  <a:lnTo>
                    <a:pt x="680" y="525"/>
                  </a:lnTo>
                  <a:lnTo>
                    <a:pt x="444" y="361"/>
                  </a:lnTo>
                  <a:lnTo>
                    <a:pt x="344" y="265"/>
                  </a:lnTo>
                  <a:lnTo>
                    <a:pt x="208" y="325"/>
                  </a:lnTo>
                  <a:lnTo>
                    <a:pt x="0" y="189"/>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2" name="Freeform 11"/>
            <p:cNvSpPr>
              <a:spLocks/>
            </p:cNvSpPr>
            <p:nvPr/>
          </p:nvSpPr>
          <p:spPr bwMode="auto">
            <a:xfrm>
              <a:off x="3385" y="1996"/>
              <a:ext cx="142" cy="281"/>
            </a:xfrm>
            <a:custGeom>
              <a:avLst/>
              <a:gdLst>
                <a:gd name="T0" fmla="*/ 163258 w 1505"/>
                <a:gd name="T1" fmla="*/ 36909 h 1588"/>
                <a:gd name="T2" fmla="*/ 298177 w 1505"/>
                <a:gd name="T3" fmla="*/ 44115 h 1588"/>
                <a:gd name="T4" fmla="*/ 444225 w 1505"/>
                <a:gd name="T5" fmla="*/ 139595 h 1588"/>
                <a:gd name="T6" fmla="*/ 485843 w 1505"/>
                <a:gd name="T7" fmla="*/ 197597 h 1588"/>
                <a:gd name="T8" fmla="*/ 448763 w 1505"/>
                <a:gd name="T9" fmla="*/ 213200 h 1588"/>
                <a:gd name="T10" fmla="*/ 485843 w 1505"/>
                <a:gd name="T11" fmla="*/ 261585 h 1588"/>
                <a:gd name="T12" fmla="*/ 529159 w 1505"/>
                <a:gd name="T13" fmla="*/ 288317 h 1588"/>
                <a:gd name="T14" fmla="*/ 542361 w 1505"/>
                <a:gd name="T15" fmla="*/ 400922 h 1588"/>
                <a:gd name="T16" fmla="*/ 554909 w 1505"/>
                <a:gd name="T17" fmla="*/ 450721 h 1588"/>
                <a:gd name="T18" fmla="*/ 519740 w 1505"/>
                <a:gd name="T19" fmla="*/ 444730 h 1588"/>
                <a:gd name="T20" fmla="*/ 478952 w 1505"/>
                <a:gd name="T21" fmla="*/ 438413 h 1588"/>
                <a:gd name="T22" fmla="*/ 469999 w 1505"/>
                <a:gd name="T23" fmla="*/ 478377 h 1588"/>
                <a:gd name="T24" fmla="*/ 445676 w 1505"/>
                <a:gd name="T25" fmla="*/ 488691 h 1588"/>
                <a:gd name="T26" fmla="*/ 400918 w 1505"/>
                <a:gd name="T27" fmla="*/ 485383 h 1588"/>
                <a:gd name="T28" fmla="*/ 388137 w 1505"/>
                <a:gd name="T29" fmla="*/ 510203 h 1588"/>
                <a:gd name="T30" fmla="*/ 373828 w 1505"/>
                <a:gd name="T31" fmla="*/ 547800 h 1588"/>
                <a:gd name="T32" fmla="*/ 350991 w 1505"/>
                <a:gd name="T33" fmla="*/ 584418 h 1588"/>
                <a:gd name="T34" fmla="*/ 333126 w 1505"/>
                <a:gd name="T35" fmla="*/ 547800 h 1588"/>
                <a:gd name="T36" fmla="*/ 296139 w 1505"/>
                <a:gd name="T37" fmla="*/ 537086 h 1588"/>
                <a:gd name="T38" fmla="*/ 295521 w 1505"/>
                <a:gd name="T39" fmla="*/ 521284 h 1588"/>
                <a:gd name="T40" fmla="*/ 317890 w 1505"/>
                <a:gd name="T41" fmla="*/ 488691 h 1588"/>
                <a:gd name="T42" fmla="*/ 345380 w 1505"/>
                <a:gd name="T43" fmla="*/ 475034 h 1588"/>
                <a:gd name="T44" fmla="*/ 371808 w 1505"/>
                <a:gd name="T45" fmla="*/ 474643 h 1588"/>
                <a:gd name="T46" fmla="*/ 371808 w 1505"/>
                <a:gd name="T47" fmla="*/ 450721 h 1588"/>
                <a:gd name="T48" fmla="*/ 388137 w 1505"/>
                <a:gd name="T49" fmla="*/ 420944 h 1588"/>
                <a:gd name="T50" fmla="*/ 325205 w 1505"/>
                <a:gd name="T51" fmla="*/ 396652 h 1588"/>
                <a:gd name="T52" fmla="*/ 287012 w 1505"/>
                <a:gd name="T53" fmla="*/ 393376 h 1588"/>
                <a:gd name="T54" fmla="*/ 254911 w 1505"/>
                <a:gd name="T55" fmla="*/ 398652 h 1588"/>
                <a:gd name="T56" fmla="*/ 228904 w 1505"/>
                <a:gd name="T57" fmla="*/ 407759 h 1588"/>
                <a:gd name="T58" fmla="*/ 206481 w 1505"/>
                <a:gd name="T59" fmla="*/ 422419 h 1588"/>
                <a:gd name="T60" fmla="*/ 140554 w 1505"/>
                <a:gd name="T61" fmla="*/ 369943 h 1588"/>
                <a:gd name="T62" fmla="*/ 105117 w 1505"/>
                <a:gd name="T63" fmla="*/ 315876 h 1588"/>
                <a:gd name="T64" fmla="*/ 48887 w 1505"/>
                <a:gd name="T65" fmla="*/ 318096 h 1588"/>
                <a:gd name="T66" fmla="*/ 15808 w 1505"/>
                <a:gd name="T67" fmla="*/ 285867 h 1588"/>
                <a:gd name="T68" fmla="*/ 6793 w 1505"/>
                <a:gd name="T69" fmla="*/ 268690 h 1588"/>
                <a:gd name="T70" fmla="*/ 13351 w 1505"/>
                <a:gd name="T71" fmla="*/ 242638 h 1588"/>
                <a:gd name="T72" fmla="*/ 8652 w 1505"/>
                <a:gd name="T73" fmla="*/ 189688 h 1588"/>
                <a:gd name="T74" fmla="*/ 6793 w 1505"/>
                <a:gd name="T75" fmla="*/ 132418 h 1588"/>
                <a:gd name="T76" fmla="*/ 68679 w 1505"/>
                <a:gd name="T77" fmla="*/ 96383 h 1588"/>
                <a:gd name="T78" fmla="*/ 46281 w 1505"/>
                <a:gd name="T79" fmla="*/ 50224 h 158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505" h="1588">
                  <a:moveTo>
                    <a:pt x="124" y="136"/>
                  </a:moveTo>
                  <a:lnTo>
                    <a:pt x="441" y="100"/>
                  </a:lnTo>
                  <a:lnTo>
                    <a:pt x="632" y="108"/>
                  </a:lnTo>
                  <a:lnTo>
                    <a:pt x="806" y="120"/>
                  </a:lnTo>
                  <a:lnTo>
                    <a:pt x="906" y="0"/>
                  </a:lnTo>
                  <a:lnTo>
                    <a:pt x="1201" y="379"/>
                  </a:lnTo>
                  <a:lnTo>
                    <a:pt x="1279" y="332"/>
                  </a:lnTo>
                  <a:lnTo>
                    <a:pt x="1314" y="537"/>
                  </a:lnTo>
                  <a:lnTo>
                    <a:pt x="1270" y="545"/>
                  </a:lnTo>
                  <a:lnTo>
                    <a:pt x="1214" y="580"/>
                  </a:lnTo>
                  <a:lnTo>
                    <a:pt x="1249" y="699"/>
                  </a:lnTo>
                  <a:lnTo>
                    <a:pt x="1314" y="711"/>
                  </a:lnTo>
                  <a:lnTo>
                    <a:pt x="1388" y="730"/>
                  </a:lnTo>
                  <a:lnTo>
                    <a:pt x="1431" y="784"/>
                  </a:lnTo>
                  <a:lnTo>
                    <a:pt x="1466" y="978"/>
                  </a:lnTo>
                  <a:lnTo>
                    <a:pt x="1466" y="1090"/>
                  </a:lnTo>
                  <a:lnTo>
                    <a:pt x="1457" y="1194"/>
                  </a:lnTo>
                  <a:lnTo>
                    <a:pt x="1501" y="1225"/>
                  </a:lnTo>
                  <a:lnTo>
                    <a:pt x="1505" y="1275"/>
                  </a:lnTo>
                  <a:lnTo>
                    <a:pt x="1405" y="1209"/>
                  </a:lnTo>
                  <a:lnTo>
                    <a:pt x="1340" y="1182"/>
                  </a:lnTo>
                  <a:lnTo>
                    <a:pt x="1295" y="1192"/>
                  </a:lnTo>
                  <a:lnTo>
                    <a:pt x="1275" y="1267"/>
                  </a:lnTo>
                  <a:lnTo>
                    <a:pt x="1271" y="1300"/>
                  </a:lnTo>
                  <a:lnTo>
                    <a:pt x="1249" y="1325"/>
                  </a:lnTo>
                  <a:lnTo>
                    <a:pt x="1205" y="1329"/>
                  </a:lnTo>
                  <a:lnTo>
                    <a:pt x="1137" y="1319"/>
                  </a:lnTo>
                  <a:lnTo>
                    <a:pt x="1084" y="1319"/>
                  </a:lnTo>
                  <a:lnTo>
                    <a:pt x="1045" y="1356"/>
                  </a:lnTo>
                  <a:lnTo>
                    <a:pt x="1049" y="1387"/>
                  </a:lnTo>
                  <a:lnTo>
                    <a:pt x="1075" y="1437"/>
                  </a:lnTo>
                  <a:lnTo>
                    <a:pt x="1010" y="1488"/>
                  </a:lnTo>
                  <a:lnTo>
                    <a:pt x="1045" y="1557"/>
                  </a:lnTo>
                  <a:lnTo>
                    <a:pt x="949" y="1588"/>
                  </a:lnTo>
                  <a:lnTo>
                    <a:pt x="924" y="1511"/>
                  </a:lnTo>
                  <a:lnTo>
                    <a:pt x="901" y="1488"/>
                  </a:lnTo>
                  <a:lnTo>
                    <a:pt x="840" y="1480"/>
                  </a:lnTo>
                  <a:lnTo>
                    <a:pt x="801" y="1460"/>
                  </a:lnTo>
                  <a:lnTo>
                    <a:pt x="806" y="1433"/>
                  </a:lnTo>
                  <a:lnTo>
                    <a:pt x="800" y="1417"/>
                  </a:lnTo>
                  <a:lnTo>
                    <a:pt x="827" y="1387"/>
                  </a:lnTo>
                  <a:lnTo>
                    <a:pt x="860" y="1329"/>
                  </a:lnTo>
                  <a:lnTo>
                    <a:pt x="884" y="1283"/>
                  </a:lnTo>
                  <a:lnTo>
                    <a:pt x="934" y="1291"/>
                  </a:lnTo>
                  <a:lnTo>
                    <a:pt x="984" y="1314"/>
                  </a:lnTo>
                  <a:lnTo>
                    <a:pt x="1005" y="1290"/>
                  </a:lnTo>
                  <a:lnTo>
                    <a:pt x="992" y="1263"/>
                  </a:lnTo>
                  <a:lnTo>
                    <a:pt x="1005" y="1225"/>
                  </a:lnTo>
                  <a:lnTo>
                    <a:pt x="1038" y="1184"/>
                  </a:lnTo>
                  <a:lnTo>
                    <a:pt x="1049" y="1144"/>
                  </a:lnTo>
                  <a:lnTo>
                    <a:pt x="962" y="1117"/>
                  </a:lnTo>
                  <a:lnTo>
                    <a:pt x="879" y="1078"/>
                  </a:lnTo>
                  <a:lnTo>
                    <a:pt x="818" y="1048"/>
                  </a:lnTo>
                  <a:lnTo>
                    <a:pt x="776" y="1069"/>
                  </a:lnTo>
                  <a:lnTo>
                    <a:pt x="706" y="1117"/>
                  </a:lnTo>
                  <a:lnTo>
                    <a:pt x="689" y="1084"/>
                  </a:lnTo>
                  <a:lnTo>
                    <a:pt x="658" y="1078"/>
                  </a:lnTo>
                  <a:lnTo>
                    <a:pt x="619" y="1109"/>
                  </a:lnTo>
                  <a:lnTo>
                    <a:pt x="598" y="1136"/>
                  </a:lnTo>
                  <a:lnTo>
                    <a:pt x="558" y="1148"/>
                  </a:lnTo>
                  <a:lnTo>
                    <a:pt x="493" y="1090"/>
                  </a:lnTo>
                  <a:lnTo>
                    <a:pt x="380" y="1005"/>
                  </a:lnTo>
                  <a:lnTo>
                    <a:pt x="315" y="954"/>
                  </a:lnTo>
                  <a:lnTo>
                    <a:pt x="285" y="858"/>
                  </a:lnTo>
                  <a:lnTo>
                    <a:pt x="193" y="823"/>
                  </a:lnTo>
                  <a:lnTo>
                    <a:pt x="132" y="864"/>
                  </a:lnTo>
                  <a:lnTo>
                    <a:pt x="80" y="824"/>
                  </a:lnTo>
                  <a:lnTo>
                    <a:pt x="43" y="777"/>
                  </a:lnTo>
                  <a:lnTo>
                    <a:pt x="20" y="752"/>
                  </a:lnTo>
                  <a:lnTo>
                    <a:pt x="18" y="730"/>
                  </a:lnTo>
                  <a:lnTo>
                    <a:pt x="15" y="714"/>
                  </a:lnTo>
                  <a:lnTo>
                    <a:pt x="36" y="660"/>
                  </a:lnTo>
                  <a:lnTo>
                    <a:pt x="36" y="606"/>
                  </a:lnTo>
                  <a:lnTo>
                    <a:pt x="24" y="516"/>
                  </a:lnTo>
                  <a:lnTo>
                    <a:pt x="0" y="432"/>
                  </a:lnTo>
                  <a:lnTo>
                    <a:pt x="18" y="360"/>
                  </a:lnTo>
                  <a:lnTo>
                    <a:pt x="6" y="318"/>
                  </a:lnTo>
                  <a:lnTo>
                    <a:pt x="186" y="262"/>
                  </a:lnTo>
                  <a:lnTo>
                    <a:pt x="72" y="252"/>
                  </a:lnTo>
                  <a:lnTo>
                    <a:pt x="126" y="136"/>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3" name="Freeform 12"/>
            <p:cNvSpPr>
              <a:spLocks/>
            </p:cNvSpPr>
            <p:nvPr/>
          </p:nvSpPr>
          <p:spPr bwMode="auto">
            <a:xfrm>
              <a:off x="3994" y="3812"/>
              <a:ext cx="142" cy="281"/>
            </a:xfrm>
            <a:custGeom>
              <a:avLst/>
              <a:gdLst>
                <a:gd name="T0" fmla="*/ 1 w 1841"/>
                <a:gd name="T1" fmla="*/ 1 h 1228"/>
                <a:gd name="T2" fmla="*/ 1 w 1841"/>
                <a:gd name="T3" fmla="*/ 1 h 1228"/>
                <a:gd name="T4" fmla="*/ 1 w 1841"/>
                <a:gd name="T5" fmla="*/ 1 h 1228"/>
                <a:gd name="T6" fmla="*/ 1 w 1841"/>
                <a:gd name="T7" fmla="*/ 1 h 1228"/>
                <a:gd name="T8" fmla="*/ 1 w 1841"/>
                <a:gd name="T9" fmla="*/ 1 h 1228"/>
                <a:gd name="T10" fmla="*/ 1 w 1841"/>
                <a:gd name="T11" fmla="*/ 1 h 1228"/>
                <a:gd name="T12" fmla="*/ 1 w 1841"/>
                <a:gd name="T13" fmla="*/ 1 h 1228"/>
                <a:gd name="T14" fmla="*/ 1 w 1841"/>
                <a:gd name="T15" fmla="*/ 1 h 1228"/>
                <a:gd name="T16" fmla="*/ 1 w 1841"/>
                <a:gd name="T17" fmla="*/ 1 h 1228"/>
                <a:gd name="T18" fmla="*/ 1 w 1841"/>
                <a:gd name="T19" fmla="*/ 1 h 1228"/>
                <a:gd name="T20" fmla="*/ 1 w 1841"/>
                <a:gd name="T21" fmla="*/ 1 h 1228"/>
                <a:gd name="T22" fmla="*/ 1 w 1841"/>
                <a:gd name="T23" fmla="*/ 1 h 1228"/>
                <a:gd name="T24" fmla="*/ 1 w 1841"/>
                <a:gd name="T25" fmla="*/ 1 h 1228"/>
                <a:gd name="T26" fmla="*/ 1 w 1841"/>
                <a:gd name="T27" fmla="*/ 1 h 1228"/>
                <a:gd name="T28" fmla="*/ 1 w 1841"/>
                <a:gd name="T29" fmla="*/ 1 h 1228"/>
                <a:gd name="T30" fmla="*/ 1 w 1841"/>
                <a:gd name="T31" fmla="*/ 1 h 1228"/>
                <a:gd name="T32" fmla="*/ 1 w 1841"/>
                <a:gd name="T33" fmla="*/ 1 h 1228"/>
                <a:gd name="T34" fmla="*/ 1 w 1841"/>
                <a:gd name="T35" fmla="*/ 1 h 1228"/>
                <a:gd name="T36" fmla="*/ 0 w 1841"/>
                <a:gd name="T37" fmla="*/ 1 h 1228"/>
                <a:gd name="T38" fmla="*/ 1 w 1841"/>
                <a:gd name="T39" fmla="*/ 1 h 1228"/>
                <a:gd name="T40" fmla="*/ 1 w 1841"/>
                <a:gd name="T41" fmla="*/ 1 h 1228"/>
                <a:gd name="T42" fmla="*/ 1 w 1841"/>
                <a:gd name="T43" fmla="*/ 1 h 1228"/>
                <a:gd name="T44" fmla="*/ 1 w 1841"/>
                <a:gd name="T45" fmla="*/ 1 h 1228"/>
                <a:gd name="T46" fmla="*/ 1 w 1841"/>
                <a:gd name="T47" fmla="*/ 1 h 1228"/>
                <a:gd name="T48" fmla="*/ 1 w 1841"/>
                <a:gd name="T49" fmla="*/ 1 h 1228"/>
                <a:gd name="T50" fmla="*/ 1 w 1841"/>
                <a:gd name="T51" fmla="*/ 0 h 1228"/>
                <a:gd name="T52" fmla="*/ 1 w 1841"/>
                <a:gd name="T53" fmla="*/ 1 h 1228"/>
                <a:gd name="T54" fmla="*/ 1 w 1841"/>
                <a:gd name="T55" fmla="*/ 1 h 1228"/>
                <a:gd name="T56" fmla="*/ 1 w 1841"/>
                <a:gd name="T57" fmla="*/ 1 h 1228"/>
                <a:gd name="T58" fmla="*/ 1 w 1841"/>
                <a:gd name="T59" fmla="*/ 1 h 1228"/>
                <a:gd name="T60" fmla="*/ 1 w 1841"/>
                <a:gd name="T61" fmla="*/ 1 h 1228"/>
                <a:gd name="T62" fmla="*/ 1 w 1841"/>
                <a:gd name="T63" fmla="*/ 1 h 1228"/>
                <a:gd name="T64" fmla="*/ 1 w 1841"/>
                <a:gd name="T65" fmla="*/ 1 h 1228"/>
                <a:gd name="T66" fmla="*/ 1 w 1841"/>
                <a:gd name="T67" fmla="*/ 1 h 1228"/>
                <a:gd name="T68" fmla="*/ 1 w 1841"/>
                <a:gd name="T69" fmla="*/ 1 h 1228"/>
                <a:gd name="T70" fmla="*/ 1 w 1841"/>
                <a:gd name="T71" fmla="*/ 1 h 1228"/>
                <a:gd name="T72" fmla="*/ 1 w 1841"/>
                <a:gd name="T73" fmla="*/ 1 h 1228"/>
                <a:gd name="T74" fmla="*/ 1 w 1841"/>
                <a:gd name="T75" fmla="*/ 1 h 1228"/>
                <a:gd name="T76" fmla="*/ 1 w 1841"/>
                <a:gd name="T77" fmla="*/ 1 h 1228"/>
                <a:gd name="T78" fmla="*/ 1 w 1841"/>
                <a:gd name="T79" fmla="*/ 1 h 1228"/>
                <a:gd name="T80" fmla="*/ 1 w 1841"/>
                <a:gd name="T81" fmla="*/ 1 h 122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41" h="1228">
                  <a:moveTo>
                    <a:pt x="1841" y="418"/>
                  </a:moveTo>
                  <a:lnTo>
                    <a:pt x="1832" y="480"/>
                  </a:lnTo>
                  <a:lnTo>
                    <a:pt x="1754" y="532"/>
                  </a:lnTo>
                  <a:lnTo>
                    <a:pt x="1756" y="600"/>
                  </a:lnTo>
                  <a:lnTo>
                    <a:pt x="1692" y="648"/>
                  </a:lnTo>
                  <a:lnTo>
                    <a:pt x="1607" y="679"/>
                  </a:lnTo>
                  <a:lnTo>
                    <a:pt x="1560" y="768"/>
                  </a:lnTo>
                  <a:lnTo>
                    <a:pt x="1535" y="892"/>
                  </a:lnTo>
                  <a:lnTo>
                    <a:pt x="1412" y="988"/>
                  </a:lnTo>
                  <a:lnTo>
                    <a:pt x="1332" y="1004"/>
                  </a:lnTo>
                  <a:lnTo>
                    <a:pt x="1136" y="1228"/>
                  </a:lnTo>
                  <a:lnTo>
                    <a:pt x="996" y="1136"/>
                  </a:lnTo>
                  <a:lnTo>
                    <a:pt x="884" y="1036"/>
                  </a:lnTo>
                  <a:lnTo>
                    <a:pt x="816" y="1024"/>
                  </a:lnTo>
                  <a:lnTo>
                    <a:pt x="680" y="1004"/>
                  </a:lnTo>
                  <a:lnTo>
                    <a:pt x="556" y="932"/>
                  </a:lnTo>
                  <a:lnTo>
                    <a:pt x="328" y="792"/>
                  </a:lnTo>
                  <a:lnTo>
                    <a:pt x="160" y="644"/>
                  </a:lnTo>
                  <a:lnTo>
                    <a:pt x="0" y="472"/>
                  </a:lnTo>
                  <a:lnTo>
                    <a:pt x="173" y="400"/>
                  </a:lnTo>
                  <a:lnTo>
                    <a:pt x="180" y="260"/>
                  </a:lnTo>
                  <a:lnTo>
                    <a:pt x="240" y="204"/>
                  </a:lnTo>
                  <a:lnTo>
                    <a:pt x="336" y="116"/>
                  </a:lnTo>
                  <a:lnTo>
                    <a:pt x="516" y="56"/>
                  </a:lnTo>
                  <a:lnTo>
                    <a:pt x="604" y="76"/>
                  </a:lnTo>
                  <a:lnTo>
                    <a:pt x="772" y="0"/>
                  </a:lnTo>
                  <a:lnTo>
                    <a:pt x="816" y="92"/>
                  </a:lnTo>
                  <a:lnTo>
                    <a:pt x="860" y="256"/>
                  </a:lnTo>
                  <a:lnTo>
                    <a:pt x="900" y="292"/>
                  </a:lnTo>
                  <a:lnTo>
                    <a:pt x="1012" y="164"/>
                  </a:lnTo>
                  <a:lnTo>
                    <a:pt x="1080" y="96"/>
                  </a:lnTo>
                  <a:lnTo>
                    <a:pt x="1220" y="68"/>
                  </a:lnTo>
                  <a:lnTo>
                    <a:pt x="1268" y="106"/>
                  </a:lnTo>
                  <a:lnTo>
                    <a:pt x="1256" y="172"/>
                  </a:lnTo>
                  <a:lnTo>
                    <a:pt x="1264" y="240"/>
                  </a:lnTo>
                  <a:lnTo>
                    <a:pt x="1364" y="296"/>
                  </a:lnTo>
                  <a:lnTo>
                    <a:pt x="1432" y="256"/>
                  </a:lnTo>
                  <a:lnTo>
                    <a:pt x="1612" y="284"/>
                  </a:lnTo>
                  <a:lnTo>
                    <a:pt x="1652" y="308"/>
                  </a:lnTo>
                  <a:lnTo>
                    <a:pt x="1772" y="352"/>
                  </a:lnTo>
                  <a:lnTo>
                    <a:pt x="1841" y="421"/>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4" name="Freeform 13"/>
            <p:cNvSpPr>
              <a:spLocks/>
            </p:cNvSpPr>
            <p:nvPr/>
          </p:nvSpPr>
          <p:spPr bwMode="auto">
            <a:xfrm>
              <a:off x="4516" y="3108"/>
              <a:ext cx="142" cy="281"/>
            </a:xfrm>
            <a:custGeom>
              <a:avLst/>
              <a:gdLst>
                <a:gd name="T0" fmla="*/ 1 w 918"/>
                <a:gd name="T1" fmla="*/ 1 h 1200"/>
                <a:gd name="T2" fmla="*/ 1 w 918"/>
                <a:gd name="T3" fmla="*/ 1 h 1200"/>
                <a:gd name="T4" fmla="*/ 1 w 918"/>
                <a:gd name="T5" fmla="*/ 1 h 1200"/>
                <a:gd name="T6" fmla="*/ 1 w 918"/>
                <a:gd name="T7" fmla="*/ 0 h 1200"/>
                <a:gd name="T8" fmla="*/ 1 w 918"/>
                <a:gd name="T9" fmla="*/ 1 h 1200"/>
                <a:gd name="T10" fmla="*/ 1 w 918"/>
                <a:gd name="T11" fmla="*/ 1 h 1200"/>
                <a:gd name="T12" fmla="*/ 1 w 918"/>
                <a:gd name="T13" fmla="*/ 1 h 1200"/>
                <a:gd name="T14" fmla="*/ 1 w 918"/>
                <a:gd name="T15" fmla="*/ 1 h 1200"/>
                <a:gd name="T16" fmla="*/ 1 w 918"/>
                <a:gd name="T17" fmla="*/ 1 h 1200"/>
                <a:gd name="T18" fmla="*/ 1 w 918"/>
                <a:gd name="T19" fmla="*/ 1 h 1200"/>
                <a:gd name="T20" fmla="*/ 1 w 918"/>
                <a:gd name="T21" fmla="*/ 1 h 1200"/>
                <a:gd name="T22" fmla="*/ 1 w 918"/>
                <a:gd name="T23" fmla="*/ 1 h 1200"/>
                <a:gd name="T24" fmla="*/ 1 w 918"/>
                <a:gd name="T25" fmla="*/ 1 h 1200"/>
                <a:gd name="T26" fmla="*/ 1 w 918"/>
                <a:gd name="T27" fmla="*/ 1 h 1200"/>
                <a:gd name="T28" fmla="*/ 1 w 918"/>
                <a:gd name="T29" fmla="*/ 1 h 1200"/>
                <a:gd name="T30" fmla="*/ 1 w 918"/>
                <a:gd name="T31" fmla="*/ 1 h 1200"/>
                <a:gd name="T32" fmla="*/ 1 w 918"/>
                <a:gd name="T33" fmla="*/ 1 h 1200"/>
                <a:gd name="T34" fmla="*/ 1 w 918"/>
                <a:gd name="T35" fmla="*/ 1 h 1200"/>
                <a:gd name="T36" fmla="*/ 1 w 918"/>
                <a:gd name="T37" fmla="*/ 1 h 1200"/>
                <a:gd name="T38" fmla="*/ 1 w 918"/>
                <a:gd name="T39" fmla="*/ 1 h 1200"/>
                <a:gd name="T40" fmla="*/ 1 w 918"/>
                <a:gd name="T41" fmla="*/ 1 h 1200"/>
                <a:gd name="T42" fmla="*/ 1 w 918"/>
                <a:gd name="T43" fmla="*/ 1 h 1200"/>
                <a:gd name="T44" fmla="*/ 1 w 918"/>
                <a:gd name="T45" fmla="*/ 1 h 1200"/>
                <a:gd name="T46" fmla="*/ 1 w 918"/>
                <a:gd name="T47" fmla="*/ 1 h 1200"/>
                <a:gd name="T48" fmla="*/ 1 w 918"/>
                <a:gd name="T49" fmla="*/ 1 h 1200"/>
                <a:gd name="T50" fmla="*/ 0 w 918"/>
                <a:gd name="T51" fmla="*/ 1 h 1200"/>
                <a:gd name="T52" fmla="*/ 1 w 918"/>
                <a:gd name="T53" fmla="*/ 1 h 12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8" h="1200">
                  <a:moveTo>
                    <a:pt x="22" y="104"/>
                  </a:moveTo>
                  <a:lnTo>
                    <a:pt x="118" y="68"/>
                  </a:lnTo>
                  <a:lnTo>
                    <a:pt x="294" y="48"/>
                  </a:lnTo>
                  <a:lnTo>
                    <a:pt x="558" y="0"/>
                  </a:lnTo>
                  <a:lnTo>
                    <a:pt x="702" y="184"/>
                  </a:lnTo>
                  <a:lnTo>
                    <a:pt x="746" y="244"/>
                  </a:lnTo>
                  <a:lnTo>
                    <a:pt x="726" y="368"/>
                  </a:lnTo>
                  <a:lnTo>
                    <a:pt x="790" y="432"/>
                  </a:lnTo>
                  <a:lnTo>
                    <a:pt x="822" y="464"/>
                  </a:lnTo>
                  <a:lnTo>
                    <a:pt x="822" y="576"/>
                  </a:lnTo>
                  <a:lnTo>
                    <a:pt x="870" y="736"/>
                  </a:lnTo>
                  <a:lnTo>
                    <a:pt x="910" y="896"/>
                  </a:lnTo>
                  <a:lnTo>
                    <a:pt x="918" y="1080"/>
                  </a:lnTo>
                  <a:lnTo>
                    <a:pt x="838" y="1144"/>
                  </a:lnTo>
                  <a:lnTo>
                    <a:pt x="670" y="1184"/>
                  </a:lnTo>
                  <a:lnTo>
                    <a:pt x="374" y="1200"/>
                  </a:lnTo>
                  <a:lnTo>
                    <a:pt x="350" y="1080"/>
                  </a:lnTo>
                  <a:lnTo>
                    <a:pt x="390" y="992"/>
                  </a:lnTo>
                  <a:lnTo>
                    <a:pt x="302" y="904"/>
                  </a:lnTo>
                  <a:lnTo>
                    <a:pt x="246" y="864"/>
                  </a:lnTo>
                  <a:lnTo>
                    <a:pt x="182" y="824"/>
                  </a:lnTo>
                  <a:lnTo>
                    <a:pt x="96" y="780"/>
                  </a:lnTo>
                  <a:lnTo>
                    <a:pt x="84" y="711"/>
                  </a:lnTo>
                  <a:lnTo>
                    <a:pt x="81" y="606"/>
                  </a:lnTo>
                  <a:lnTo>
                    <a:pt x="14" y="536"/>
                  </a:lnTo>
                  <a:lnTo>
                    <a:pt x="0" y="513"/>
                  </a:lnTo>
                  <a:lnTo>
                    <a:pt x="22" y="104"/>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5" name="Freeform 14"/>
            <p:cNvSpPr>
              <a:spLocks/>
            </p:cNvSpPr>
            <p:nvPr/>
          </p:nvSpPr>
          <p:spPr bwMode="auto">
            <a:xfrm>
              <a:off x="4082" y="3398"/>
              <a:ext cx="142" cy="281"/>
            </a:xfrm>
            <a:custGeom>
              <a:avLst/>
              <a:gdLst>
                <a:gd name="T0" fmla="*/ 1 w 1212"/>
                <a:gd name="T1" fmla="*/ 1 h 1016"/>
                <a:gd name="T2" fmla="*/ 1 w 1212"/>
                <a:gd name="T3" fmla="*/ 1 h 1016"/>
                <a:gd name="T4" fmla="*/ 0 w 1212"/>
                <a:gd name="T5" fmla="*/ 1 h 1016"/>
                <a:gd name="T6" fmla="*/ 1 w 1212"/>
                <a:gd name="T7" fmla="*/ 1 h 1016"/>
                <a:gd name="T8" fmla="*/ 1 w 1212"/>
                <a:gd name="T9" fmla="*/ 1 h 1016"/>
                <a:gd name="T10" fmla="*/ 1 w 1212"/>
                <a:gd name="T11" fmla="*/ 1 h 1016"/>
                <a:gd name="T12" fmla="*/ 1 w 1212"/>
                <a:gd name="T13" fmla="*/ 1 h 1016"/>
                <a:gd name="T14" fmla="*/ 1 w 1212"/>
                <a:gd name="T15" fmla="*/ 1 h 1016"/>
                <a:gd name="T16" fmla="*/ 1 w 1212"/>
                <a:gd name="T17" fmla="*/ 1 h 1016"/>
                <a:gd name="T18" fmla="*/ 1 w 1212"/>
                <a:gd name="T19" fmla="*/ 1 h 1016"/>
                <a:gd name="T20" fmla="*/ 1 w 1212"/>
                <a:gd name="T21" fmla="*/ 1 h 1016"/>
                <a:gd name="T22" fmla="*/ 1 w 1212"/>
                <a:gd name="T23" fmla="*/ 1 h 1016"/>
                <a:gd name="T24" fmla="*/ 1 w 1212"/>
                <a:gd name="T25" fmla="*/ 1 h 1016"/>
                <a:gd name="T26" fmla="*/ 1 w 1212"/>
                <a:gd name="T27" fmla="*/ 1 h 1016"/>
                <a:gd name="T28" fmla="*/ 1 w 1212"/>
                <a:gd name="T29" fmla="*/ 1 h 1016"/>
                <a:gd name="T30" fmla="*/ 1 w 1212"/>
                <a:gd name="T31" fmla="*/ 0 h 1016"/>
                <a:gd name="T32" fmla="*/ 1 w 1212"/>
                <a:gd name="T33" fmla="*/ 1 h 1016"/>
                <a:gd name="T34" fmla="*/ 1 w 1212"/>
                <a:gd name="T35" fmla="*/ 1 h 1016"/>
                <a:gd name="T36" fmla="*/ 1 w 1212"/>
                <a:gd name="T37" fmla="*/ 1 h 1016"/>
                <a:gd name="T38" fmla="*/ 1 w 1212"/>
                <a:gd name="T39" fmla="*/ 1 h 1016"/>
                <a:gd name="T40" fmla="*/ 1 w 1212"/>
                <a:gd name="T41" fmla="*/ 1 h 1016"/>
                <a:gd name="T42" fmla="*/ 1 w 1212"/>
                <a:gd name="T43" fmla="*/ 1 h 1016"/>
                <a:gd name="T44" fmla="*/ 1 w 1212"/>
                <a:gd name="T45" fmla="*/ 1 h 1016"/>
                <a:gd name="T46" fmla="*/ 1 w 1212"/>
                <a:gd name="T47" fmla="*/ 1 h 1016"/>
                <a:gd name="T48" fmla="*/ 1 w 1212"/>
                <a:gd name="T49" fmla="*/ 1 h 1016"/>
                <a:gd name="T50" fmla="*/ 1 w 1212"/>
                <a:gd name="T51" fmla="*/ 1 h 1016"/>
                <a:gd name="T52" fmla="*/ 1 w 1212"/>
                <a:gd name="T53" fmla="*/ 1 h 1016"/>
                <a:gd name="T54" fmla="*/ 1 w 1212"/>
                <a:gd name="T55" fmla="*/ 1 h 1016"/>
                <a:gd name="T56" fmla="*/ 1 w 1212"/>
                <a:gd name="T57" fmla="*/ 1 h 1016"/>
                <a:gd name="T58" fmla="*/ 1 w 1212"/>
                <a:gd name="T59" fmla="*/ 1 h 1016"/>
                <a:gd name="T60" fmla="*/ 1 w 1212"/>
                <a:gd name="T61" fmla="*/ 1 h 1016"/>
                <a:gd name="T62" fmla="*/ 1 w 1212"/>
                <a:gd name="T63" fmla="*/ 1 h 1016"/>
                <a:gd name="T64" fmla="*/ 1 w 1212"/>
                <a:gd name="T65" fmla="*/ 1 h 1016"/>
                <a:gd name="T66" fmla="*/ 1 w 1212"/>
                <a:gd name="T67" fmla="*/ 1 h 1016"/>
                <a:gd name="T68" fmla="*/ 1 w 1212"/>
                <a:gd name="T69" fmla="*/ 1 h 1016"/>
                <a:gd name="T70" fmla="*/ 1 w 1212"/>
                <a:gd name="T71" fmla="*/ 1 h 1016"/>
                <a:gd name="T72" fmla="*/ 1 w 1212"/>
                <a:gd name="T73" fmla="*/ 1 h 1016"/>
                <a:gd name="T74" fmla="*/ 1 w 1212"/>
                <a:gd name="T75" fmla="*/ 1 h 1016"/>
                <a:gd name="T76" fmla="*/ 1 w 1212"/>
                <a:gd name="T77" fmla="*/ 1 h 1016"/>
                <a:gd name="T78" fmla="*/ 1 w 1212"/>
                <a:gd name="T79" fmla="*/ 1 h 1016"/>
                <a:gd name="T80" fmla="*/ 1 w 1212"/>
                <a:gd name="T81" fmla="*/ 1 h 1016"/>
                <a:gd name="T82" fmla="*/ 1 w 1212"/>
                <a:gd name="T83" fmla="*/ 1 h 1016"/>
                <a:gd name="T84" fmla="*/ 1 w 1212"/>
                <a:gd name="T85" fmla="*/ 1 h 1016"/>
                <a:gd name="T86" fmla="*/ 1 w 1212"/>
                <a:gd name="T87" fmla="*/ 1 h 1016"/>
                <a:gd name="T88" fmla="*/ 1 w 1212"/>
                <a:gd name="T89" fmla="*/ 1 h 1016"/>
                <a:gd name="T90" fmla="*/ 1 w 1212"/>
                <a:gd name="T91" fmla="*/ 1 h 1016"/>
                <a:gd name="T92" fmla="*/ 1 w 1212"/>
                <a:gd name="T93" fmla="*/ 1 h 1016"/>
                <a:gd name="T94" fmla="*/ 1 w 1212"/>
                <a:gd name="T95" fmla="*/ 1 h 1016"/>
                <a:gd name="T96" fmla="*/ 1 w 1212"/>
                <a:gd name="T97" fmla="*/ 1 h 1016"/>
                <a:gd name="T98" fmla="*/ 1 w 1212"/>
                <a:gd name="T99" fmla="*/ 1 h 1016"/>
                <a:gd name="T100" fmla="*/ 1 w 1212"/>
                <a:gd name="T101" fmla="*/ 1 h 10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212" h="1016">
                  <a:moveTo>
                    <a:pt x="68" y="780"/>
                  </a:moveTo>
                  <a:lnTo>
                    <a:pt x="12" y="652"/>
                  </a:lnTo>
                  <a:lnTo>
                    <a:pt x="0" y="632"/>
                  </a:lnTo>
                  <a:lnTo>
                    <a:pt x="12" y="612"/>
                  </a:lnTo>
                  <a:lnTo>
                    <a:pt x="124" y="524"/>
                  </a:lnTo>
                  <a:lnTo>
                    <a:pt x="84" y="448"/>
                  </a:lnTo>
                  <a:lnTo>
                    <a:pt x="64" y="364"/>
                  </a:lnTo>
                  <a:lnTo>
                    <a:pt x="78" y="329"/>
                  </a:lnTo>
                  <a:lnTo>
                    <a:pt x="128" y="280"/>
                  </a:lnTo>
                  <a:lnTo>
                    <a:pt x="192" y="281"/>
                  </a:lnTo>
                  <a:lnTo>
                    <a:pt x="296" y="284"/>
                  </a:lnTo>
                  <a:lnTo>
                    <a:pt x="435" y="299"/>
                  </a:lnTo>
                  <a:lnTo>
                    <a:pt x="468" y="232"/>
                  </a:lnTo>
                  <a:lnTo>
                    <a:pt x="496" y="88"/>
                  </a:lnTo>
                  <a:lnTo>
                    <a:pt x="532" y="20"/>
                  </a:lnTo>
                  <a:lnTo>
                    <a:pt x="612" y="0"/>
                  </a:lnTo>
                  <a:lnTo>
                    <a:pt x="764" y="72"/>
                  </a:lnTo>
                  <a:lnTo>
                    <a:pt x="904" y="188"/>
                  </a:lnTo>
                  <a:lnTo>
                    <a:pt x="912" y="276"/>
                  </a:lnTo>
                  <a:lnTo>
                    <a:pt x="1032" y="320"/>
                  </a:lnTo>
                  <a:lnTo>
                    <a:pt x="1168" y="436"/>
                  </a:lnTo>
                  <a:lnTo>
                    <a:pt x="1212" y="484"/>
                  </a:lnTo>
                  <a:lnTo>
                    <a:pt x="1176" y="560"/>
                  </a:lnTo>
                  <a:lnTo>
                    <a:pt x="1188" y="636"/>
                  </a:lnTo>
                  <a:lnTo>
                    <a:pt x="1188" y="720"/>
                  </a:lnTo>
                  <a:lnTo>
                    <a:pt x="1172" y="800"/>
                  </a:lnTo>
                  <a:lnTo>
                    <a:pt x="1208" y="844"/>
                  </a:lnTo>
                  <a:lnTo>
                    <a:pt x="1196" y="900"/>
                  </a:lnTo>
                  <a:lnTo>
                    <a:pt x="1156" y="956"/>
                  </a:lnTo>
                  <a:lnTo>
                    <a:pt x="1164" y="1008"/>
                  </a:lnTo>
                  <a:lnTo>
                    <a:pt x="1016" y="984"/>
                  </a:lnTo>
                  <a:lnTo>
                    <a:pt x="957" y="989"/>
                  </a:lnTo>
                  <a:lnTo>
                    <a:pt x="915" y="1016"/>
                  </a:lnTo>
                  <a:lnTo>
                    <a:pt x="804" y="956"/>
                  </a:lnTo>
                  <a:lnTo>
                    <a:pt x="804" y="892"/>
                  </a:lnTo>
                  <a:lnTo>
                    <a:pt x="816" y="828"/>
                  </a:lnTo>
                  <a:lnTo>
                    <a:pt x="776" y="796"/>
                  </a:lnTo>
                  <a:lnTo>
                    <a:pt x="680" y="808"/>
                  </a:lnTo>
                  <a:lnTo>
                    <a:pt x="616" y="828"/>
                  </a:lnTo>
                  <a:lnTo>
                    <a:pt x="555" y="893"/>
                  </a:lnTo>
                  <a:lnTo>
                    <a:pt x="500" y="948"/>
                  </a:lnTo>
                  <a:lnTo>
                    <a:pt x="468" y="988"/>
                  </a:lnTo>
                  <a:lnTo>
                    <a:pt x="448" y="1012"/>
                  </a:lnTo>
                  <a:lnTo>
                    <a:pt x="404" y="980"/>
                  </a:lnTo>
                  <a:lnTo>
                    <a:pt x="384" y="888"/>
                  </a:lnTo>
                  <a:lnTo>
                    <a:pt x="351" y="779"/>
                  </a:lnTo>
                  <a:lnTo>
                    <a:pt x="324" y="725"/>
                  </a:lnTo>
                  <a:lnTo>
                    <a:pt x="260" y="756"/>
                  </a:lnTo>
                  <a:lnTo>
                    <a:pt x="204" y="776"/>
                  </a:lnTo>
                  <a:lnTo>
                    <a:pt x="156" y="796"/>
                  </a:lnTo>
                  <a:lnTo>
                    <a:pt x="68" y="780"/>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6" name="Freeform 15"/>
            <p:cNvSpPr>
              <a:spLocks/>
            </p:cNvSpPr>
            <p:nvPr/>
          </p:nvSpPr>
          <p:spPr bwMode="auto">
            <a:xfrm>
              <a:off x="4478" y="4051"/>
              <a:ext cx="142" cy="281"/>
            </a:xfrm>
            <a:custGeom>
              <a:avLst/>
              <a:gdLst>
                <a:gd name="T0" fmla="*/ 1 w 1108"/>
                <a:gd name="T1" fmla="*/ 1 h 1536"/>
                <a:gd name="T2" fmla="*/ 1 w 1108"/>
                <a:gd name="T3" fmla="*/ 1 h 1536"/>
                <a:gd name="T4" fmla="*/ 1 w 1108"/>
                <a:gd name="T5" fmla="*/ 1 h 1536"/>
                <a:gd name="T6" fmla="*/ 1 w 1108"/>
                <a:gd name="T7" fmla="*/ 1 h 1536"/>
                <a:gd name="T8" fmla="*/ 0 w 1108"/>
                <a:gd name="T9" fmla="*/ 1 h 1536"/>
                <a:gd name="T10" fmla="*/ 1 w 1108"/>
                <a:gd name="T11" fmla="*/ 1 h 1536"/>
                <a:gd name="T12" fmla="*/ 1 w 1108"/>
                <a:gd name="T13" fmla="*/ 1 h 1536"/>
                <a:gd name="T14" fmla="*/ 1 w 1108"/>
                <a:gd name="T15" fmla="*/ 1 h 1536"/>
                <a:gd name="T16" fmla="*/ 1 w 1108"/>
                <a:gd name="T17" fmla="*/ 1 h 1536"/>
                <a:gd name="T18" fmla="*/ 1 w 1108"/>
                <a:gd name="T19" fmla="*/ 1 h 1536"/>
                <a:gd name="T20" fmla="*/ 1 w 1108"/>
                <a:gd name="T21" fmla="*/ 1 h 1536"/>
                <a:gd name="T22" fmla="*/ 1 w 1108"/>
                <a:gd name="T23" fmla="*/ 1 h 1536"/>
                <a:gd name="T24" fmla="*/ 1 w 1108"/>
                <a:gd name="T25" fmla="*/ 1 h 1536"/>
                <a:gd name="T26" fmla="*/ 1 w 1108"/>
                <a:gd name="T27" fmla="*/ 1 h 1536"/>
                <a:gd name="T28" fmla="*/ 1 w 1108"/>
                <a:gd name="T29" fmla="*/ 1 h 1536"/>
                <a:gd name="T30" fmla="*/ 1 w 1108"/>
                <a:gd name="T31" fmla="*/ 1 h 1536"/>
                <a:gd name="T32" fmla="*/ 1 w 1108"/>
                <a:gd name="T33" fmla="*/ 1 h 1536"/>
                <a:gd name="T34" fmla="*/ 1 w 1108"/>
                <a:gd name="T35" fmla="*/ 1 h 1536"/>
                <a:gd name="T36" fmla="*/ 1 w 1108"/>
                <a:gd name="T37" fmla="*/ 1 h 1536"/>
                <a:gd name="T38" fmla="*/ 1 w 1108"/>
                <a:gd name="T39" fmla="*/ 1 h 1536"/>
                <a:gd name="T40" fmla="*/ 1 w 1108"/>
                <a:gd name="T41" fmla="*/ 1 h 1536"/>
                <a:gd name="T42" fmla="*/ 1 w 1108"/>
                <a:gd name="T43" fmla="*/ 1 h 1536"/>
                <a:gd name="T44" fmla="*/ 1 w 1108"/>
                <a:gd name="T45" fmla="*/ 1 h 1536"/>
                <a:gd name="T46" fmla="*/ 1 w 1108"/>
                <a:gd name="T47" fmla="*/ 1 h 1536"/>
                <a:gd name="T48" fmla="*/ 1 w 1108"/>
                <a:gd name="T49" fmla="*/ 1 h 1536"/>
                <a:gd name="T50" fmla="*/ 1 w 1108"/>
                <a:gd name="T51" fmla="*/ 1 h 1536"/>
                <a:gd name="T52" fmla="*/ 1 w 1108"/>
                <a:gd name="T53" fmla="*/ 1 h 1536"/>
                <a:gd name="T54" fmla="*/ 1 w 1108"/>
                <a:gd name="T55" fmla="*/ 1 h 1536"/>
                <a:gd name="T56" fmla="*/ 1 w 1108"/>
                <a:gd name="T57" fmla="*/ 1 h 1536"/>
                <a:gd name="T58" fmla="*/ 1 w 1108"/>
                <a:gd name="T59" fmla="*/ 1 h 1536"/>
                <a:gd name="T60" fmla="*/ 1 w 1108"/>
                <a:gd name="T61" fmla="*/ 1 h 1536"/>
                <a:gd name="T62" fmla="*/ 1 w 1108"/>
                <a:gd name="T63" fmla="*/ 1 h 1536"/>
                <a:gd name="T64" fmla="*/ 1 w 1108"/>
                <a:gd name="T65" fmla="*/ 0 h 1536"/>
                <a:gd name="T66" fmla="*/ 1 w 1108"/>
                <a:gd name="T67" fmla="*/ 1 h 1536"/>
                <a:gd name="T68" fmla="*/ 1 w 1108"/>
                <a:gd name="T69" fmla="*/ 1 h 1536"/>
                <a:gd name="T70" fmla="*/ 1 w 1108"/>
                <a:gd name="T71" fmla="*/ 1 h 1536"/>
                <a:gd name="T72" fmla="*/ 1 w 1108"/>
                <a:gd name="T73" fmla="*/ 1 h 1536"/>
                <a:gd name="T74" fmla="*/ 1 w 1108"/>
                <a:gd name="T75" fmla="*/ 1 h 1536"/>
                <a:gd name="T76" fmla="*/ 1 w 1108"/>
                <a:gd name="T77" fmla="*/ 1 h 1536"/>
                <a:gd name="T78" fmla="*/ 1 w 1108"/>
                <a:gd name="T79" fmla="*/ 1 h 1536"/>
                <a:gd name="T80" fmla="*/ 1 w 1108"/>
                <a:gd name="T81" fmla="*/ 1 h 1536"/>
                <a:gd name="T82" fmla="*/ 1 w 1108"/>
                <a:gd name="T83" fmla="*/ 1 h 1536"/>
                <a:gd name="T84" fmla="*/ 1 w 1108"/>
                <a:gd name="T85" fmla="*/ 1 h 1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08" h="1536">
                  <a:moveTo>
                    <a:pt x="24" y="812"/>
                  </a:moveTo>
                  <a:lnTo>
                    <a:pt x="80" y="872"/>
                  </a:lnTo>
                  <a:lnTo>
                    <a:pt x="72" y="940"/>
                  </a:lnTo>
                  <a:lnTo>
                    <a:pt x="12" y="1060"/>
                  </a:lnTo>
                  <a:lnTo>
                    <a:pt x="0" y="1152"/>
                  </a:lnTo>
                  <a:lnTo>
                    <a:pt x="8" y="1264"/>
                  </a:lnTo>
                  <a:lnTo>
                    <a:pt x="24" y="1380"/>
                  </a:lnTo>
                  <a:lnTo>
                    <a:pt x="136" y="1380"/>
                  </a:lnTo>
                  <a:lnTo>
                    <a:pt x="272" y="1368"/>
                  </a:lnTo>
                  <a:lnTo>
                    <a:pt x="316" y="1396"/>
                  </a:lnTo>
                  <a:lnTo>
                    <a:pt x="400" y="1448"/>
                  </a:lnTo>
                  <a:lnTo>
                    <a:pt x="444" y="1508"/>
                  </a:lnTo>
                  <a:lnTo>
                    <a:pt x="548" y="1520"/>
                  </a:lnTo>
                  <a:lnTo>
                    <a:pt x="672" y="1484"/>
                  </a:lnTo>
                  <a:lnTo>
                    <a:pt x="768" y="1480"/>
                  </a:lnTo>
                  <a:lnTo>
                    <a:pt x="828" y="1536"/>
                  </a:lnTo>
                  <a:lnTo>
                    <a:pt x="872" y="1444"/>
                  </a:lnTo>
                  <a:lnTo>
                    <a:pt x="888" y="1220"/>
                  </a:lnTo>
                  <a:lnTo>
                    <a:pt x="912" y="996"/>
                  </a:lnTo>
                  <a:lnTo>
                    <a:pt x="912" y="924"/>
                  </a:lnTo>
                  <a:lnTo>
                    <a:pt x="964" y="856"/>
                  </a:lnTo>
                  <a:lnTo>
                    <a:pt x="1060" y="900"/>
                  </a:lnTo>
                  <a:lnTo>
                    <a:pt x="1100" y="824"/>
                  </a:lnTo>
                  <a:lnTo>
                    <a:pt x="1108" y="752"/>
                  </a:lnTo>
                  <a:lnTo>
                    <a:pt x="1052" y="616"/>
                  </a:lnTo>
                  <a:lnTo>
                    <a:pt x="968" y="492"/>
                  </a:lnTo>
                  <a:lnTo>
                    <a:pt x="892" y="368"/>
                  </a:lnTo>
                  <a:lnTo>
                    <a:pt x="884" y="324"/>
                  </a:lnTo>
                  <a:lnTo>
                    <a:pt x="968" y="236"/>
                  </a:lnTo>
                  <a:lnTo>
                    <a:pt x="964" y="156"/>
                  </a:lnTo>
                  <a:lnTo>
                    <a:pt x="912" y="92"/>
                  </a:lnTo>
                  <a:lnTo>
                    <a:pt x="784" y="28"/>
                  </a:lnTo>
                  <a:lnTo>
                    <a:pt x="724" y="0"/>
                  </a:lnTo>
                  <a:lnTo>
                    <a:pt x="712" y="56"/>
                  </a:lnTo>
                  <a:lnTo>
                    <a:pt x="640" y="112"/>
                  </a:lnTo>
                  <a:lnTo>
                    <a:pt x="632" y="180"/>
                  </a:lnTo>
                  <a:lnTo>
                    <a:pt x="584" y="224"/>
                  </a:lnTo>
                  <a:lnTo>
                    <a:pt x="492" y="252"/>
                  </a:lnTo>
                  <a:lnTo>
                    <a:pt x="440" y="352"/>
                  </a:lnTo>
                  <a:lnTo>
                    <a:pt x="412" y="476"/>
                  </a:lnTo>
                  <a:lnTo>
                    <a:pt x="296" y="568"/>
                  </a:lnTo>
                  <a:lnTo>
                    <a:pt x="212" y="584"/>
                  </a:lnTo>
                  <a:lnTo>
                    <a:pt x="16" y="808"/>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7" name="Freeform 16"/>
            <p:cNvSpPr>
              <a:spLocks/>
            </p:cNvSpPr>
            <p:nvPr/>
          </p:nvSpPr>
          <p:spPr bwMode="auto">
            <a:xfrm>
              <a:off x="2319" y="2819"/>
              <a:ext cx="142" cy="281"/>
            </a:xfrm>
            <a:custGeom>
              <a:avLst/>
              <a:gdLst>
                <a:gd name="T0" fmla="*/ 1 w 1332"/>
                <a:gd name="T1" fmla="*/ 1 h 1074"/>
                <a:gd name="T2" fmla="*/ 1 w 1332"/>
                <a:gd name="T3" fmla="*/ 1 h 1074"/>
                <a:gd name="T4" fmla="*/ 1 w 1332"/>
                <a:gd name="T5" fmla="*/ 1 h 1074"/>
                <a:gd name="T6" fmla="*/ 1 w 1332"/>
                <a:gd name="T7" fmla="*/ 1 h 1074"/>
                <a:gd name="T8" fmla="*/ 1 w 1332"/>
                <a:gd name="T9" fmla="*/ 1 h 1074"/>
                <a:gd name="T10" fmla="*/ 1 w 1332"/>
                <a:gd name="T11" fmla="*/ 1 h 1074"/>
                <a:gd name="T12" fmla="*/ 1 w 1332"/>
                <a:gd name="T13" fmla="*/ 1 h 1074"/>
                <a:gd name="T14" fmla="*/ 1 w 1332"/>
                <a:gd name="T15" fmla="*/ 1 h 1074"/>
                <a:gd name="T16" fmla="*/ 1 w 1332"/>
                <a:gd name="T17" fmla="*/ 1 h 1074"/>
                <a:gd name="T18" fmla="*/ 1 w 1332"/>
                <a:gd name="T19" fmla="*/ 1 h 1074"/>
                <a:gd name="T20" fmla="*/ 1 w 1332"/>
                <a:gd name="T21" fmla="*/ 1 h 1074"/>
                <a:gd name="T22" fmla="*/ 1 w 1332"/>
                <a:gd name="T23" fmla="*/ 1 h 1074"/>
                <a:gd name="T24" fmla="*/ 1 w 1332"/>
                <a:gd name="T25" fmla="*/ 1 h 1074"/>
                <a:gd name="T26" fmla="*/ 1 w 1332"/>
                <a:gd name="T27" fmla="*/ 1 h 1074"/>
                <a:gd name="T28" fmla="*/ 1 w 1332"/>
                <a:gd name="T29" fmla="*/ 1 h 1074"/>
                <a:gd name="T30" fmla="*/ 1 w 1332"/>
                <a:gd name="T31" fmla="*/ 1 h 1074"/>
                <a:gd name="T32" fmla="*/ 1 w 1332"/>
                <a:gd name="T33" fmla="*/ 1 h 1074"/>
                <a:gd name="T34" fmla="*/ 0 w 1332"/>
                <a:gd name="T35" fmla="*/ 1 h 1074"/>
                <a:gd name="T36" fmla="*/ 1 w 1332"/>
                <a:gd name="T37" fmla="*/ 1 h 1074"/>
                <a:gd name="T38" fmla="*/ 1 w 1332"/>
                <a:gd name="T39" fmla="*/ 1 h 1074"/>
                <a:gd name="T40" fmla="*/ 1 w 1332"/>
                <a:gd name="T41" fmla="*/ 1 h 1074"/>
                <a:gd name="T42" fmla="*/ 1 w 1332"/>
                <a:gd name="T43" fmla="*/ 1 h 1074"/>
                <a:gd name="T44" fmla="*/ 1 w 1332"/>
                <a:gd name="T45" fmla="*/ 0 h 1074"/>
                <a:gd name="T46" fmla="*/ 1 w 1332"/>
                <a:gd name="T47" fmla="*/ 1 h 1074"/>
                <a:gd name="T48" fmla="*/ 1 w 1332"/>
                <a:gd name="T49" fmla="*/ 1 h 1074"/>
                <a:gd name="T50" fmla="*/ 1 w 1332"/>
                <a:gd name="T51" fmla="*/ 1 h 1074"/>
                <a:gd name="T52" fmla="*/ 1 w 1332"/>
                <a:gd name="T53" fmla="*/ 1 h 1074"/>
                <a:gd name="T54" fmla="*/ 1 w 1332"/>
                <a:gd name="T55" fmla="*/ 1 h 1074"/>
                <a:gd name="T56" fmla="*/ 1 w 1332"/>
                <a:gd name="T57" fmla="*/ 1 h 1074"/>
                <a:gd name="T58" fmla="*/ 1 w 1332"/>
                <a:gd name="T59" fmla="*/ 1 h 1074"/>
                <a:gd name="T60" fmla="*/ 1 w 1332"/>
                <a:gd name="T61" fmla="*/ 1 h 1074"/>
                <a:gd name="T62" fmla="*/ 1 w 1332"/>
                <a:gd name="T63" fmla="*/ 1 h 1074"/>
                <a:gd name="T64" fmla="*/ 1 w 1332"/>
                <a:gd name="T65" fmla="*/ 1 h 1074"/>
                <a:gd name="T66" fmla="*/ 1 w 1332"/>
                <a:gd name="T67" fmla="*/ 1 h 1074"/>
                <a:gd name="T68" fmla="*/ 1 w 1332"/>
                <a:gd name="T69" fmla="*/ 1 h 1074"/>
                <a:gd name="T70" fmla="*/ 1 w 1332"/>
                <a:gd name="T71" fmla="*/ 1 h 10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332" h="1074">
                  <a:moveTo>
                    <a:pt x="1332" y="792"/>
                  </a:moveTo>
                  <a:lnTo>
                    <a:pt x="1326" y="870"/>
                  </a:lnTo>
                  <a:lnTo>
                    <a:pt x="1206" y="1074"/>
                  </a:lnTo>
                  <a:lnTo>
                    <a:pt x="1164" y="1068"/>
                  </a:lnTo>
                  <a:lnTo>
                    <a:pt x="1116" y="1008"/>
                  </a:lnTo>
                  <a:lnTo>
                    <a:pt x="1104" y="912"/>
                  </a:lnTo>
                  <a:lnTo>
                    <a:pt x="1068" y="786"/>
                  </a:lnTo>
                  <a:lnTo>
                    <a:pt x="996" y="630"/>
                  </a:lnTo>
                  <a:lnTo>
                    <a:pt x="876" y="540"/>
                  </a:lnTo>
                  <a:lnTo>
                    <a:pt x="738" y="534"/>
                  </a:lnTo>
                  <a:lnTo>
                    <a:pt x="624" y="594"/>
                  </a:lnTo>
                  <a:lnTo>
                    <a:pt x="558" y="564"/>
                  </a:lnTo>
                  <a:lnTo>
                    <a:pt x="420" y="540"/>
                  </a:lnTo>
                  <a:lnTo>
                    <a:pt x="282" y="534"/>
                  </a:lnTo>
                  <a:lnTo>
                    <a:pt x="84" y="438"/>
                  </a:lnTo>
                  <a:lnTo>
                    <a:pt x="30" y="378"/>
                  </a:lnTo>
                  <a:lnTo>
                    <a:pt x="12" y="318"/>
                  </a:lnTo>
                  <a:lnTo>
                    <a:pt x="0" y="270"/>
                  </a:lnTo>
                  <a:lnTo>
                    <a:pt x="24" y="204"/>
                  </a:lnTo>
                  <a:lnTo>
                    <a:pt x="138" y="204"/>
                  </a:lnTo>
                  <a:lnTo>
                    <a:pt x="156" y="150"/>
                  </a:lnTo>
                  <a:lnTo>
                    <a:pt x="84" y="78"/>
                  </a:lnTo>
                  <a:lnTo>
                    <a:pt x="144" y="0"/>
                  </a:lnTo>
                  <a:lnTo>
                    <a:pt x="246" y="54"/>
                  </a:lnTo>
                  <a:lnTo>
                    <a:pt x="282" y="126"/>
                  </a:lnTo>
                  <a:lnTo>
                    <a:pt x="354" y="222"/>
                  </a:lnTo>
                  <a:lnTo>
                    <a:pt x="462" y="270"/>
                  </a:lnTo>
                  <a:lnTo>
                    <a:pt x="600" y="342"/>
                  </a:lnTo>
                  <a:lnTo>
                    <a:pt x="702" y="354"/>
                  </a:lnTo>
                  <a:lnTo>
                    <a:pt x="900" y="390"/>
                  </a:lnTo>
                  <a:lnTo>
                    <a:pt x="966" y="420"/>
                  </a:lnTo>
                  <a:lnTo>
                    <a:pt x="1038" y="510"/>
                  </a:lnTo>
                  <a:lnTo>
                    <a:pt x="1122" y="660"/>
                  </a:lnTo>
                  <a:lnTo>
                    <a:pt x="1164" y="684"/>
                  </a:lnTo>
                  <a:lnTo>
                    <a:pt x="1254" y="684"/>
                  </a:lnTo>
                  <a:lnTo>
                    <a:pt x="1326" y="804"/>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3098" name="Freeform 17"/>
            <p:cNvSpPr>
              <a:spLocks/>
            </p:cNvSpPr>
            <p:nvPr/>
          </p:nvSpPr>
          <p:spPr bwMode="auto">
            <a:xfrm>
              <a:off x="3118" y="2898"/>
              <a:ext cx="142" cy="281"/>
            </a:xfrm>
            <a:custGeom>
              <a:avLst/>
              <a:gdLst>
                <a:gd name="T0" fmla="*/ 52727 w 1053"/>
                <a:gd name="T1" fmla="*/ 172082 h 1019"/>
                <a:gd name="T2" fmla="*/ 70374 w 1053"/>
                <a:gd name="T3" fmla="*/ 144544 h 1019"/>
                <a:gd name="T4" fmla="*/ 64724 w 1053"/>
                <a:gd name="T5" fmla="*/ 128076 h 1019"/>
                <a:gd name="T6" fmla="*/ 49029 w 1053"/>
                <a:gd name="T7" fmla="*/ 94184 h 1019"/>
                <a:gd name="T8" fmla="*/ 67128 w 1053"/>
                <a:gd name="T9" fmla="*/ 101210 h 1019"/>
                <a:gd name="T10" fmla="*/ 64328 w 1053"/>
                <a:gd name="T11" fmla="*/ 95250 h 1019"/>
                <a:gd name="T12" fmla="*/ 75117 w 1053"/>
                <a:gd name="T13" fmla="*/ 85214 h 1019"/>
                <a:gd name="T14" fmla="*/ 31184 w 1053"/>
                <a:gd name="T15" fmla="*/ 67129 h 1019"/>
                <a:gd name="T16" fmla="*/ 65232 w 1053"/>
                <a:gd name="T17" fmla="*/ 54860 h 1019"/>
                <a:gd name="T18" fmla="*/ 26809 w 1053"/>
                <a:gd name="T19" fmla="*/ 40394 h 1019"/>
                <a:gd name="T20" fmla="*/ 0 w 1053"/>
                <a:gd name="T21" fmla="*/ 0 h 1019"/>
                <a:gd name="T22" fmla="*/ 104561 w 1053"/>
                <a:gd name="T23" fmla="*/ 36209 h 1019"/>
                <a:gd name="T24" fmla="*/ 114195 w 1053"/>
                <a:gd name="T25" fmla="*/ 50802 h 1019"/>
                <a:gd name="T26" fmla="*/ 116928 w 1053"/>
                <a:gd name="T27" fmla="*/ 70777 h 1019"/>
                <a:gd name="T28" fmla="*/ 173654 w 1053"/>
                <a:gd name="T29" fmla="*/ 116899 h 1019"/>
                <a:gd name="T30" fmla="*/ 207647 w 1053"/>
                <a:gd name="T31" fmla="*/ 142940 h 1019"/>
                <a:gd name="T32" fmla="*/ 221863 w 1053"/>
                <a:gd name="T33" fmla="*/ 140307 h 1019"/>
                <a:gd name="T34" fmla="*/ 244543 w 1053"/>
                <a:gd name="T35" fmla="*/ 116899 h 1019"/>
                <a:gd name="T36" fmla="*/ 257641 w 1053"/>
                <a:gd name="T37" fmla="*/ 122980 h 1019"/>
                <a:gd name="T38" fmla="*/ 263915 w 1053"/>
                <a:gd name="T39" fmla="*/ 133027 h 1019"/>
                <a:gd name="T40" fmla="*/ 286590 w 1053"/>
                <a:gd name="T41" fmla="*/ 116899 h 1019"/>
                <a:gd name="T42" fmla="*/ 302697 w 1053"/>
                <a:gd name="T43" fmla="*/ 106847 h 1019"/>
                <a:gd name="T44" fmla="*/ 323545 w 1053"/>
                <a:gd name="T45" fmla="*/ 116899 h 1019"/>
                <a:gd name="T46" fmla="*/ 347821 w 1053"/>
                <a:gd name="T47" fmla="*/ 129954 h 1019"/>
                <a:gd name="T48" fmla="*/ 391647 w 1053"/>
                <a:gd name="T49" fmla="*/ 141616 h 1019"/>
                <a:gd name="T50" fmla="*/ 386808 w 1053"/>
                <a:gd name="T51" fmla="*/ 157570 h 1019"/>
                <a:gd name="T52" fmla="*/ 371855 w 1053"/>
                <a:gd name="T53" fmla="*/ 173364 h 1019"/>
                <a:gd name="T54" fmla="*/ 371855 w 1053"/>
                <a:gd name="T55" fmla="*/ 186701 h 1019"/>
                <a:gd name="T56" fmla="*/ 376838 w 1053"/>
                <a:gd name="T57" fmla="*/ 195136 h 1019"/>
                <a:gd name="T58" fmla="*/ 367402 w 1053"/>
                <a:gd name="T59" fmla="*/ 207090 h 1019"/>
                <a:gd name="T60" fmla="*/ 346405 w 1053"/>
                <a:gd name="T61" fmla="*/ 197748 h 1019"/>
                <a:gd name="T62" fmla="*/ 326989 w 1053"/>
                <a:gd name="T63" fmla="*/ 193543 h 1019"/>
                <a:gd name="T64" fmla="*/ 317010 w 1053"/>
                <a:gd name="T65" fmla="*/ 218544 h 1019"/>
                <a:gd name="T66" fmla="*/ 297912 w 1053"/>
                <a:gd name="T67" fmla="*/ 245721 h 1019"/>
                <a:gd name="T68" fmla="*/ 299678 w 1053"/>
                <a:gd name="T69" fmla="*/ 261862 h 1019"/>
                <a:gd name="T70" fmla="*/ 314004 w 1053"/>
                <a:gd name="T71" fmla="*/ 268981 h 1019"/>
                <a:gd name="T72" fmla="*/ 338648 w 1053"/>
                <a:gd name="T73" fmla="*/ 273027 h 1019"/>
                <a:gd name="T74" fmla="*/ 347821 w 1053"/>
                <a:gd name="T75" fmla="*/ 292016 h 1019"/>
                <a:gd name="T76" fmla="*/ 351219 w 1053"/>
                <a:gd name="T77" fmla="*/ 312441 h 1019"/>
                <a:gd name="T78" fmla="*/ 331704 w 1053"/>
                <a:gd name="T79" fmla="*/ 325080 h 1019"/>
                <a:gd name="T80" fmla="*/ 322094 w 1053"/>
                <a:gd name="T81" fmla="*/ 337030 h 1019"/>
                <a:gd name="T82" fmla="*/ 322094 w 1053"/>
                <a:gd name="T83" fmla="*/ 360131 h 1019"/>
                <a:gd name="T84" fmla="*/ 285230 w 1053"/>
                <a:gd name="T85" fmla="*/ 374336 h 1019"/>
                <a:gd name="T86" fmla="*/ 254135 w 1053"/>
                <a:gd name="T87" fmla="*/ 382028 h 1019"/>
                <a:gd name="T88" fmla="*/ 229969 w 1053"/>
                <a:gd name="T89" fmla="*/ 374336 h 1019"/>
                <a:gd name="T90" fmla="*/ 189755 w 1053"/>
                <a:gd name="T91" fmla="*/ 325080 h 1019"/>
                <a:gd name="T92" fmla="*/ 52727 w 1053"/>
                <a:gd name="T93" fmla="*/ 173364 h 101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053" h="1019">
                  <a:moveTo>
                    <a:pt x="142" y="459"/>
                  </a:moveTo>
                  <a:lnTo>
                    <a:pt x="189" y="386"/>
                  </a:lnTo>
                  <a:lnTo>
                    <a:pt x="174" y="342"/>
                  </a:lnTo>
                  <a:lnTo>
                    <a:pt x="132" y="252"/>
                  </a:lnTo>
                  <a:lnTo>
                    <a:pt x="181" y="270"/>
                  </a:lnTo>
                  <a:lnTo>
                    <a:pt x="172" y="254"/>
                  </a:lnTo>
                  <a:lnTo>
                    <a:pt x="202" y="227"/>
                  </a:lnTo>
                  <a:lnTo>
                    <a:pt x="84" y="180"/>
                  </a:lnTo>
                  <a:lnTo>
                    <a:pt x="176" y="146"/>
                  </a:lnTo>
                  <a:lnTo>
                    <a:pt x="72" y="108"/>
                  </a:lnTo>
                  <a:lnTo>
                    <a:pt x="0" y="0"/>
                  </a:lnTo>
                  <a:lnTo>
                    <a:pt x="281" y="96"/>
                  </a:lnTo>
                  <a:lnTo>
                    <a:pt x="307" y="135"/>
                  </a:lnTo>
                  <a:lnTo>
                    <a:pt x="315" y="189"/>
                  </a:lnTo>
                  <a:lnTo>
                    <a:pt x="467" y="312"/>
                  </a:lnTo>
                  <a:lnTo>
                    <a:pt x="558" y="382"/>
                  </a:lnTo>
                  <a:lnTo>
                    <a:pt x="597" y="374"/>
                  </a:lnTo>
                  <a:lnTo>
                    <a:pt x="658" y="312"/>
                  </a:lnTo>
                  <a:lnTo>
                    <a:pt x="693" y="328"/>
                  </a:lnTo>
                  <a:lnTo>
                    <a:pt x="710" y="355"/>
                  </a:lnTo>
                  <a:lnTo>
                    <a:pt x="771" y="312"/>
                  </a:lnTo>
                  <a:lnTo>
                    <a:pt x="814" y="285"/>
                  </a:lnTo>
                  <a:lnTo>
                    <a:pt x="871" y="312"/>
                  </a:lnTo>
                  <a:lnTo>
                    <a:pt x="936" y="347"/>
                  </a:lnTo>
                  <a:lnTo>
                    <a:pt x="1053" y="378"/>
                  </a:lnTo>
                  <a:lnTo>
                    <a:pt x="1040" y="420"/>
                  </a:lnTo>
                  <a:lnTo>
                    <a:pt x="1001" y="463"/>
                  </a:lnTo>
                  <a:lnTo>
                    <a:pt x="1001" y="498"/>
                  </a:lnTo>
                  <a:lnTo>
                    <a:pt x="1014" y="521"/>
                  </a:lnTo>
                  <a:lnTo>
                    <a:pt x="988" y="552"/>
                  </a:lnTo>
                  <a:lnTo>
                    <a:pt x="931" y="528"/>
                  </a:lnTo>
                  <a:lnTo>
                    <a:pt x="879" y="517"/>
                  </a:lnTo>
                  <a:lnTo>
                    <a:pt x="853" y="583"/>
                  </a:lnTo>
                  <a:lnTo>
                    <a:pt x="801" y="656"/>
                  </a:lnTo>
                  <a:lnTo>
                    <a:pt x="806" y="698"/>
                  </a:lnTo>
                  <a:lnTo>
                    <a:pt x="845" y="718"/>
                  </a:lnTo>
                  <a:lnTo>
                    <a:pt x="910" y="729"/>
                  </a:lnTo>
                  <a:lnTo>
                    <a:pt x="936" y="780"/>
                  </a:lnTo>
                  <a:lnTo>
                    <a:pt x="945" y="834"/>
                  </a:lnTo>
                  <a:lnTo>
                    <a:pt x="892" y="868"/>
                  </a:lnTo>
                  <a:lnTo>
                    <a:pt x="866" y="899"/>
                  </a:lnTo>
                  <a:lnTo>
                    <a:pt x="866" y="961"/>
                  </a:lnTo>
                  <a:lnTo>
                    <a:pt x="767" y="1000"/>
                  </a:lnTo>
                  <a:lnTo>
                    <a:pt x="684" y="1019"/>
                  </a:lnTo>
                  <a:lnTo>
                    <a:pt x="619" y="1000"/>
                  </a:lnTo>
                  <a:lnTo>
                    <a:pt x="511" y="868"/>
                  </a:lnTo>
                  <a:lnTo>
                    <a:pt x="142" y="463"/>
                  </a:lnTo>
                </a:path>
              </a:pathLst>
            </a:custGeom>
            <a:solidFill>
              <a:srgbClr val="CCFFFF"/>
            </a:solidFill>
            <a:ln w="38100" cap="flat" cmpd="sng">
              <a:solidFill>
                <a:srgbClr val="CCFFFF"/>
              </a:solidFill>
              <a:prstDash val="solid"/>
              <a:round/>
              <a:headEnd type="none" w="med" len="med"/>
              <a:tailEnd type="none" w="med" len="med"/>
            </a:ln>
            <a:effectLst>
              <a:outerShdw dist="129515" dir="4721404" algn="ctr" rotWithShape="0">
                <a:schemeClr val="bg2"/>
              </a:outerShdw>
            </a:effectLst>
          </p:spPr>
          <p:txBody>
            <a:bodyPr wrap="none" lIns="112921" tIns="56461" rIns="112921" bIns="56461">
              <a:spAutoFit/>
            </a:bodyPr>
            <a:lstStyle/>
            <a:p>
              <a:pPr algn="ctr" eaLnBrk="0" hangingPunct="0">
                <a:defRPr/>
              </a:pPr>
              <a:endParaRPr lang="ru-RU" sz="2032"/>
            </a:p>
          </p:txBody>
        </p:sp>
        <p:sp>
          <p:nvSpPr>
            <p:cNvPr id="5152" name="Freeform 18"/>
            <p:cNvSpPr>
              <a:spLocks/>
            </p:cNvSpPr>
            <p:nvPr/>
          </p:nvSpPr>
          <p:spPr bwMode="auto">
            <a:xfrm>
              <a:off x="2661" y="2230"/>
              <a:ext cx="142" cy="281"/>
            </a:xfrm>
            <a:custGeom>
              <a:avLst/>
              <a:gdLst>
                <a:gd name="T0" fmla="*/ 44893528 w 474"/>
                <a:gd name="T1" fmla="*/ 117837103 h 1182"/>
                <a:gd name="T2" fmla="*/ 23916158 w 474"/>
                <a:gd name="T3" fmla="*/ 101711308 h 1182"/>
                <a:gd name="T4" fmla="*/ 14261379 w 474"/>
                <a:gd name="T5" fmla="*/ 81321252 h 1182"/>
                <a:gd name="T6" fmla="*/ 0 w 474"/>
                <a:gd name="T7" fmla="*/ 60471049 h 1182"/>
                <a:gd name="T8" fmla="*/ 10841391 w 474"/>
                <a:gd name="T9" fmla="*/ 0 h 1182"/>
                <a:gd name="T10" fmla="*/ 35267613 w 474"/>
                <a:gd name="T11" fmla="*/ 1186715 h 1182"/>
                <a:gd name="T12" fmla="*/ 44893528 w 474"/>
                <a:gd name="T13" fmla="*/ 117248488 h 1182"/>
                <a:gd name="T14" fmla="*/ 0 60000 65536"/>
                <a:gd name="T15" fmla="*/ 0 60000 65536"/>
                <a:gd name="T16" fmla="*/ 0 60000 65536"/>
                <a:gd name="T17" fmla="*/ 0 60000 65536"/>
                <a:gd name="T18" fmla="*/ 0 60000 65536"/>
                <a:gd name="T19" fmla="*/ 0 60000 65536"/>
                <a:gd name="T20" fmla="*/ 0 60000 65536"/>
                <a:gd name="T21" fmla="*/ 0 w 474"/>
                <a:gd name="T22" fmla="*/ 0 h 1182"/>
                <a:gd name="T23" fmla="*/ 474 w 474"/>
                <a:gd name="T24" fmla="*/ 1182 h 1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4" h="1182">
                  <a:moveTo>
                    <a:pt x="474" y="1182"/>
                  </a:moveTo>
                  <a:lnTo>
                    <a:pt x="252" y="1020"/>
                  </a:lnTo>
                  <a:lnTo>
                    <a:pt x="150" y="816"/>
                  </a:lnTo>
                  <a:lnTo>
                    <a:pt x="0" y="606"/>
                  </a:lnTo>
                  <a:lnTo>
                    <a:pt x="114" y="0"/>
                  </a:lnTo>
                  <a:lnTo>
                    <a:pt x="372" y="12"/>
                  </a:lnTo>
                  <a:lnTo>
                    <a:pt x="474" y="1176"/>
                  </a:lnTo>
                </a:path>
              </a:pathLst>
            </a:custGeom>
            <a:solidFill>
              <a:srgbClr val="CCFFFF"/>
            </a:solidFill>
            <a:ln w="9525">
              <a:solidFill>
                <a:srgbClr val="CCFFFF"/>
              </a:solidFill>
              <a:round/>
              <a:headEnd/>
              <a:tailEnd/>
            </a:ln>
          </p:spPr>
          <p:txBody>
            <a:bodyPr wrap="none" lIns="112921" tIns="56461" rIns="112921" bIns="56461">
              <a:spAutoFit/>
            </a:bodyPr>
            <a:lstStyle/>
            <a:p>
              <a:pPr algn="ctr" eaLnBrk="0" hangingPunct="0"/>
              <a:endParaRPr lang="ru-RU" sz="2032"/>
            </a:p>
          </p:txBody>
        </p:sp>
        <p:sp>
          <p:nvSpPr>
            <p:cNvPr id="5153" name="Freeform 19"/>
            <p:cNvSpPr>
              <a:spLocks/>
            </p:cNvSpPr>
            <p:nvPr/>
          </p:nvSpPr>
          <p:spPr bwMode="auto">
            <a:xfrm>
              <a:off x="4689" y="2898"/>
              <a:ext cx="142" cy="281"/>
            </a:xfrm>
            <a:custGeom>
              <a:avLst/>
              <a:gdLst>
                <a:gd name="T0" fmla="*/ 45880871 w 2664"/>
                <a:gd name="T1" fmla="*/ 117837103 h 1182"/>
                <a:gd name="T2" fmla="*/ 24429502 w 2664"/>
                <a:gd name="T3" fmla="*/ 101711308 h 1182"/>
                <a:gd name="T4" fmla="*/ 14569168 w 2664"/>
                <a:gd name="T5" fmla="*/ 81321252 h 1182"/>
                <a:gd name="T6" fmla="*/ 0 w 2664"/>
                <a:gd name="T7" fmla="*/ 60471049 h 1182"/>
                <a:gd name="T8" fmla="*/ 11041899 w 2664"/>
                <a:gd name="T9" fmla="*/ 0 h 1182"/>
                <a:gd name="T10" fmla="*/ 36002726 w 2664"/>
                <a:gd name="T11" fmla="*/ 1186715 h 1182"/>
                <a:gd name="T12" fmla="*/ 136022215 w 2664"/>
                <a:gd name="T13" fmla="*/ 46151504 h 1182"/>
                <a:gd name="T14" fmla="*/ 142435914 w 2664"/>
                <a:gd name="T15" fmla="*/ 43104916 h 1182"/>
                <a:gd name="T16" fmla="*/ 147015179 w 2664"/>
                <a:gd name="T17" fmla="*/ 33488109 h 1182"/>
                <a:gd name="T18" fmla="*/ 191760023 w 2664"/>
                <a:gd name="T19" fmla="*/ 18566698 h 1182"/>
                <a:gd name="T20" fmla="*/ 258155165 w 2664"/>
                <a:gd name="T21" fmla="*/ 35881251 h 1182"/>
                <a:gd name="T22" fmla="*/ 247665022 w 2664"/>
                <a:gd name="T23" fmla="*/ 53847967 h 1182"/>
                <a:gd name="T24" fmla="*/ 234325406 w 2664"/>
                <a:gd name="T25" fmla="*/ 49136389 h 1182"/>
                <a:gd name="T26" fmla="*/ 213364063 w 2664"/>
                <a:gd name="T27" fmla="*/ 46151504 h 1182"/>
                <a:gd name="T28" fmla="*/ 200625317 w 2664"/>
                <a:gd name="T29" fmla="*/ 27450914 h 1182"/>
                <a:gd name="T30" fmla="*/ 157463421 w 2664"/>
                <a:gd name="T31" fmla="*/ 35203282 h 1182"/>
                <a:gd name="T32" fmla="*/ 155842815 w 2664"/>
                <a:gd name="T33" fmla="*/ 51470574 h 1182"/>
                <a:gd name="T34" fmla="*/ 146472123 w 2664"/>
                <a:gd name="T35" fmla="*/ 49709427 h 1182"/>
                <a:gd name="T36" fmla="*/ 140657627 w 2664"/>
                <a:gd name="T37" fmla="*/ 69943440 h 1182"/>
                <a:gd name="T38" fmla="*/ 116258367 w 2664"/>
                <a:gd name="T39" fmla="*/ 73560565 h 1182"/>
                <a:gd name="T40" fmla="*/ 108616939 w 2664"/>
                <a:gd name="T41" fmla="*/ 81321252 h 1182"/>
                <a:gd name="T42" fmla="*/ 112261408 w 2664"/>
                <a:gd name="T43" fmla="*/ 85524870 h 1182"/>
                <a:gd name="T44" fmla="*/ 112727101 w 2664"/>
                <a:gd name="T45" fmla="*/ 92753359 h 1182"/>
                <a:gd name="T46" fmla="*/ 122648956 w 2664"/>
                <a:gd name="T47" fmla="*/ 101106319 h 1182"/>
                <a:gd name="T48" fmla="*/ 45880871 w 2664"/>
                <a:gd name="T49" fmla="*/ 117248488 h 11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64"/>
                <a:gd name="T76" fmla="*/ 0 h 1182"/>
                <a:gd name="T77" fmla="*/ 2664 w 2664"/>
                <a:gd name="T78" fmla="*/ 1182 h 118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64" h="1182">
                  <a:moveTo>
                    <a:pt x="474" y="1182"/>
                  </a:moveTo>
                  <a:lnTo>
                    <a:pt x="252" y="1020"/>
                  </a:lnTo>
                  <a:lnTo>
                    <a:pt x="150" y="816"/>
                  </a:lnTo>
                  <a:lnTo>
                    <a:pt x="0" y="606"/>
                  </a:lnTo>
                  <a:lnTo>
                    <a:pt x="114" y="0"/>
                  </a:lnTo>
                  <a:lnTo>
                    <a:pt x="372" y="12"/>
                  </a:lnTo>
                  <a:lnTo>
                    <a:pt x="1404" y="462"/>
                  </a:lnTo>
                  <a:lnTo>
                    <a:pt x="1470" y="432"/>
                  </a:lnTo>
                  <a:lnTo>
                    <a:pt x="1518" y="336"/>
                  </a:lnTo>
                  <a:lnTo>
                    <a:pt x="1980" y="186"/>
                  </a:lnTo>
                  <a:lnTo>
                    <a:pt x="2664" y="360"/>
                  </a:lnTo>
                  <a:lnTo>
                    <a:pt x="2556" y="540"/>
                  </a:lnTo>
                  <a:lnTo>
                    <a:pt x="2418" y="492"/>
                  </a:lnTo>
                  <a:lnTo>
                    <a:pt x="2202" y="462"/>
                  </a:lnTo>
                  <a:lnTo>
                    <a:pt x="2070" y="276"/>
                  </a:lnTo>
                  <a:lnTo>
                    <a:pt x="1626" y="354"/>
                  </a:lnTo>
                  <a:lnTo>
                    <a:pt x="1608" y="516"/>
                  </a:lnTo>
                  <a:lnTo>
                    <a:pt x="1512" y="498"/>
                  </a:lnTo>
                  <a:lnTo>
                    <a:pt x="1452" y="702"/>
                  </a:lnTo>
                  <a:lnTo>
                    <a:pt x="1200" y="738"/>
                  </a:lnTo>
                  <a:lnTo>
                    <a:pt x="1122" y="816"/>
                  </a:lnTo>
                  <a:lnTo>
                    <a:pt x="1158" y="858"/>
                  </a:lnTo>
                  <a:lnTo>
                    <a:pt x="1164" y="930"/>
                  </a:lnTo>
                  <a:lnTo>
                    <a:pt x="1266" y="1014"/>
                  </a:lnTo>
                  <a:lnTo>
                    <a:pt x="474" y="1176"/>
                  </a:lnTo>
                </a:path>
              </a:pathLst>
            </a:custGeom>
            <a:solidFill>
              <a:srgbClr val="CCFFFF"/>
            </a:solidFill>
            <a:ln w="9525">
              <a:solidFill>
                <a:srgbClr val="CCFFFF"/>
              </a:solidFill>
              <a:round/>
              <a:headEnd/>
              <a:tailEnd/>
            </a:ln>
          </p:spPr>
          <p:txBody>
            <a:bodyPr wrap="none" lIns="112921" tIns="56461" rIns="112921" bIns="56461">
              <a:spAutoFit/>
            </a:bodyPr>
            <a:lstStyle/>
            <a:p>
              <a:pPr algn="ctr" eaLnBrk="0" hangingPunct="0"/>
              <a:endParaRPr lang="ru-RU" sz="2032"/>
            </a:p>
          </p:txBody>
        </p:sp>
        <p:sp>
          <p:nvSpPr>
            <p:cNvPr id="5154" name="Rectangle 21"/>
            <p:cNvSpPr>
              <a:spLocks noChangeArrowheads="1"/>
            </p:cNvSpPr>
            <p:nvPr/>
          </p:nvSpPr>
          <p:spPr bwMode="auto">
            <a:xfrm>
              <a:off x="5095" y="3036"/>
              <a:ext cx="869" cy="285"/>
            </a:xfrm>
            <a:prstGeom prst="rect">
              <a:avLst/>
            </a:prstGeom>
            <a:noFill/>
            <a:ln w="9525">
              <a:noFill/>
              <a:miter lim="800000"/>
              <a:headEnd/>
              <a:tailEnd/>
            </a:ln>
          </p:spPr>
          <p:txBody>
            <a:bodyPr wrap="none" lIns="173863" tIns="86933" rIns="173863" bIns="86933">
              <a:spAutoFit/>
            </a:bodyPr>
            <a:lstStyle/>
            <a:p>
              <a:pPr defTabSz="1727930"/>
              <a:r>
                <a:rPr lang="ru-RU" sz="1669" b="1" i="1">
                  <a:solidFill>
                    <a:schemeClr val="bg2"/>
                  </a:solidFill>
                  <a:latin typeface="Arial" charset="0"/>
                </a:rPr>
                <a:t>ТАШКЕНТ</a:t>
              </a:r>
            </a:p>
          </p:txBody>
        </p:sp>
        <p:sp>
          <p:nvSpPr>
            <p:cNvPr id="5155" name="Oval 22"/>
            <p:cNvSpPr>
              <a:spLocks noChangeArrowheads="1"/>
            </p:cNvSpPr>
            <p:nvPr/>
          </p:nvSpPr>
          <p:spPr bwMode="auto">
            <a:xfrm>
              <a:off x="5045" y="3084"/>
              <a:ext cx="199" cy="396"/>
            </a:xfrm>
            <a:prstGeom prst="ellipse">
              <a:avLst/>
            </a:prstGeom>
            <a:solidFill>
              <a:srgbClr val="FF3300"/>
            </a:solidFill>
            <a:ln w="9525">
              <a:solidFill>
                <a:schemeClr val="tx1"/>
              </a:solidFill>
              <a:round/>
              <a:headEnd/>
              <a:tailEnd/>
            </a:ln>
          </p:spPr>
          <p:txBody>
            <a:bodyPr wrap="none" lIns="112921" tIns="56461" rIns="112921" bIns="56461">
              <a:spAutoFit/>
            </a:bodyPr>
            <a:lstStyle/>
            <a:p>
              <a:pPr algn="ctr" eaLnBrk="0" hangingPunct="0"/>
              <a:endParaRPr lang="ru-RU" sz="2032"/>
            </a:p>
          </p:txBody>
        </p:sp>
      </p:grpSp>
      <p:grpSp>
        <p:nvGrpSpPr>
          <p:cNvPr id="5123" name="Group 33"/>
          <p:cNvGrpSpPr>
            <a:grpSpLocks/>
          </p:cNvGrpSpPr>
          <p:nvPr/>
        </p:nvGrpSpPr>
        <p:grpSpPr bwMode="auto">
          <a:xfrm>
            <a:off x="44704" y="0"/>
            <a:ext cx="14630400" cy="8229600"/>
            <a:chOff x="2544" y="2544"/>
            <a:chExt cx="912" cy="480"/>
          </a:xfrm>
        </p:grpSpPr>
        <p:grpSp>
          <p:nvGrpSpPr>
            <p:cNvPr id="5132" name="Group 32"/>
            <p:cNvGrpSpPr>
              <a:grpSpLocks/>
            </p:cNvGrpSpPr>
            <p:nvPr/>
          </p:nvGrpSpPr>
          <p:grpSpPr bwMode="auto">
            <a:xfrm>
              <a:off x="2544" y="2544"/>
              <a:ext cx="912" cy="480"/>
              <a:chOff x="2544" y="2544"/>
              <a:chExt cx="912" cy="480"/>
            </a:xfrm>
          </p:grpSpPr>
          <p:sp>
            <p:nvSpPr>
              <p:cNvPr id="5135" name="Rectangle 26"/>
              <p:cNvSpPr>
                <a:spLocks noChangeArrowheads="1"/>
              </p:cNvSpPr>
              <p:nvPr/>
            </p:nvSpPr>
            <p:spPr bwMode="auto">
              <a:xfrm>
                <a:off x="2544" y="2704"/>
                <a:ext cx="912" cy="160"/>
              </a:xfrm>
              <a:prstGeom prst="rect">
                <a:avLst/>
              </a:prstGeom>
              <a:solidFill>
                <a:srgbClr val="FFFFFF">
                  <a:alpha val="39999"/>
                </a:srgbClr>
              </a:solidFill>
              <a:ln w="9525">
                <a:solidFill>
                  <a:schemeClr val="tx1"/>
                </a:solidFill>
                <a:miter lim="800000"/>
                <a:headEnd/>
                <a:tailEnd/>
              </a:ln>
            </p:spPr>
            <p:txBody>
              <a:bodyPr wrap="none" anchor="ctr"/>
              <a:lstStyle/>
              <a:p>
                <a:pPr algn="ctr" eaLnBrk="0" hangingPunct="0"/>
                <a:endParaRPr lang="ru-RU" sz="2032"/>
              </a:p>
            </p:txBody>
          </p:sp>
          <p:grpSp>
            <p:nvGrpSpPr>
              <p:cNvPr id="5136" name="Group 31"/>
              <p:cNvGrpSpPr>
                <a:grpSpLocks/>
              </p:cNvGrpSpPr>
              <p:nvPr/>
            </p:nvGrpSpPr>
            <p:grpSpPr bwMode="auto">
              <a:xfrm>
                <a:off x="2544" y="2544"/>
                <a:ext cx="912" cy="480"/>
                <a:chOff x="2544" y="2544"/>
                <a:chExt cx="912" cy="480"/>
              </a:xfrm>
            </p:grpSpPr>
            <p:sp>
              <p:nvSpPr>
                <p:cNvPr id="5137" name="Rectangle 25"/>
                <p:cNvSpPr>
                  <a:spLocks noChangeArrowheads="1"/>
                </p:cNvSpPr>
                <p:nvPr/>
              </p:nvSpPr>
              <p:spPr bwMode="auto">
                <a:xfrm>
                  <a:off x="2544" y="2544"/>
                  <a:ext cx="912" cy="160"/>
                </a:xfrm>
                <a:prstGeom prst="rect">
                  <a:avLst/>
                </a:prstGeom>
                <a:solidFill>
                  <a:srgbClr val="0066FF">
                    <a:alpha val="30196"/>
                  </a:srgbClr>
                </a:solidFill>
                <a:ln w="9525">
                  <a:solidFill>
                    <a:schemeClr val="tx1"/>
                  </a:solidFill>
                  <a:miter lim="800000"/>
                  <a:headEnd/>
                  <a:tailEnd/>
                </a:ln>
              </p:spPr>
              <p:txBody>
                <a:bodyPr wrap="none" anchor="ctr"/>
                <a:lstStyle/>
                <a:p>
                  <a:pPr algn="ctr" eaLnBrk="0" hangingPunct="0"/>
                  <a:endParaRPr lang="ru-RU" sz="2032"/>
                </a:p>
              </p:txBody>
            </p:sp>
            <p:sp>
              <p:nvSpPr>
                <p:cNvPr id="5138" name="Rectangle 27"/>
                <p:cNvSpPr>
                  <a:spLocks noChangeArrowheads="1"/>
                </p:cNvSpPr>
                <p:nvPr/>
              </p:nvSpPr>
              <p:spPr bwMode="auto">
                <a:xfrm>
                  <a:off x="2544" y="2864"/>
                  <a:ext cx="912" cy="160"/>
                </a:xfrm>
                <a:prstGeom prst="rect">
                  <a:avLst/>
                </a:prstGeom>
                <a:solidFill>
                  <a:srgbClr val="00FF00">
                    <a:alpha val="39999"/>
                  </a:srgbClr>
                </a:solidFill>
                <a:ln w="9525">
                  <a:solidFill>
                    <a:schemeClr val="tx1"/>
                  </a:solidFill>
                  <a:miter lim="800000"/>
                  <a:headEnd/>
                  <a:tailEnd/>
                </a:ln>
              </p:spPr>
              <p:txBody>
                <a:bodyPr wrap="none" anchor="ctr"/>
                <a:lstStyle/>
                <a:p>
                  <a:r>
                    <a:rPr lang="uz-Latn-UZ" sz="2160" dirty="0"/>
                    <a:t> </a:t>
                  </a:r>
                  <a:endParaRPr lang="ru-RU" sz="2160" dirty="0"/>
                </a:p>
                <a:p>
                  <a:r>
                    <a:rPr lang="uz-Latn-UZ" sz="2880" dirty="0">
                      <a:latin typeface="Times New Roman" panose="02020603050405020304" pitchFamily="18" charset="0"/>
                      <a:cs typeface="Times New Roman" panose="02020603050405020304" pitchFamily="18" charset="0"/>
                    </a:rPr>
                    <a:t>Guruhi: 5.1</a:t>
                  </a:r>
                  <a:endParaRPr lang="ru-RU" sz="2880" dirty="0">
                    <a:latin typeface="Times New Roman" panose="02020603050405020304" pitchFamily="18" charset="0"/>
                    <a:cs typeface="Times New Roman" panose="02020603050405020304" pitchFamily="18" charset="0"/>
                  </a:endParaRPr>
                </a:p>
                <a:p>
                  <a:r>
                    <a:rPr lang="uz-Latn-UZ" sz="2880" dirty="0">
                      <a:latin typeface="Times New Roman" panose="02020603050405020304" pitchFamily="18" charset="0"/>
                      <a:cs typeface="Times New Roman" panose="02020603050405020304" pitchFamily="18" charset="0"/>
                    </a:rPr>
                    <a:t>Bajardi : Kursant Meyliyev A.</a:t>
                  </a:r>
                  <a:endParaRPr lang="ru-RU" sz="2880" dirty="0">
                    <a:latin typeface="Times New Roman" panose="02020603050405020304" pitchFamily="18" charset="0"/>
                    <a:cs typeface="Times New Roman" panose="02020603050405020304" pitchFamily="18" charset="0"/>
                  </a:endParaRPr>
                </a:p>
                <a:p>
                  <a:r>
                    <a:rPr lang="uz-Latn-UZ" sz="2880" dirty="0">
                      <a:latin typeface="Times New Roman" panose="02020603050405020304" pitchFamily="18" charset="0"/>
                      <a:cs typeface="Times New Roman" panose="02020603050405020304" pitchFamily="18" charset="0"/>
                    </a:rPr>
                    <a:t>Tekshirdi : </a:t>
                  </a:r>
                  <a:r>
                    <a:rPr lang="en-US" sz="2880" b="1" dirty="0" err="1">
                      <a:latin typeface="Times New Roman" panose="02020603050405020304" pitchFamily="18" charset="0"/>
                      <a:cs typeface="Times New Roman" panose="02020603050405020304" pitchFamily="18" charset="0"/>
                    </a:rPr>
                    <a:t>Abzalov</a:t>
                  </a:r>
                  <a:r>
                    <a:rPr lang="en-US" sz="2880" b="1" dirty="0">
                      <a:latin typeface="Times New Roman" panose="02020603050405020304" pitchFamily="18" charset="0"/>
                      <a:cs typeface="Times New Roman" panose="02020603050405020304" pitchFamily="18" charset="0"/>
                    </a:rPr>
                    <a:t> D</a:t>
                  </a:r>
                  <a:r>
                    <a:rPr lang="uz-Latn-UZ" sz="2160" dirty="0"/>
                    <a:t>.</a:t>
                  </a:r>
                  <a:endParaRPr lang="ru-RU" sz="2160" dirty="0"/>
                </a:p>
                <a:p>
                  <a:pPr algn="ctr" eaLnBrk="0" hangingPunct="0"/>
                  <a:endParaRPr lang="ru-RU" sz="2032" dirty="0">
                    <a:solidFill>
                      <a:srgbClr val="002060"/>
                    </a:solidFill>
                  </a:endParaRPr>
                </a:p>
              </p:txBody>
            </p:sp>
          </p:grpSp>
        </p:grpSp>
        <p:sp>
          <p:nvSpPr>
            <p:cNvPr id="5133" name="Line 28"/>
            <p:cNvSpPr>
              <a:spLocks noChangeShapeType="1"/>
            </p:cNvSpPr>
            <p:nvPr/>
          </p:nvSpPr>
          <p:spPr bwMode="auto">
            <a:xfrm>
              <a:off x="2544" y="2704"/>
              <a:ext cx="912" cy="0"/>
            </a:xfrm>
            <a:prstGeom prst="line">
              <a:avLst/>
            </a:prstGeom>
            <a:noFill/>
            <a:ln w="63500">
              <a:solidFill>
                <a:srgbClr val="FF3300"/>
              </a:solidFill>
              <a:round/>
              <a:headEnd/>
              <a:tailEnd/>
            </a:ln>
          </p:spPr>
          <p:txBody>
            <a:bodyPr wrap="none" anchor="ctr"/>
            <a:lstStyle/>
            <a:p>
              <a:endParaRPr lang="ru-RU" sz="2032"/>
            </a:p>
          </p:txBody>
        </p:sp>
        <p:sp>
          <p:nvSpPr>
            <p:cNvPr id="5134" name="Line 29"/>
            <p:cNvSpPr>
              <a:spLocks noChangeShapeType="1"/>
            </p:cNvSpPr>
            <p:nvPr/>
          </p:nvSpPr>
          <p:spPr bwMode="auto">
            <a:xfrm>
              <a:off x="2544" y="2864"/>
              <a:ext cx="912" cy="0"/>
            </a:xfrm>
            <a:prstGeom prst="line">
              <a:avLst/>
            </a:prstGeom>
            <a:noFill/>
            <a:ln w="63500">
              <a:solidFill>
                <a:srgbClr val="FF3300"/>
              </a:solidFill>
              <a:round/>
              <a:headEnd/>
              <a:tailEnd/>
            </a:ln>
          </p:spPr>
          <p:txBody>
            <a:bodyPr wrap="none" anchor="ctr"/>
            <a:lstStyle/>
            <a:p>
              <a:endParaRPr lang="ru-RU" sz="2032"/>
            </a:p>
          </p:txBody>
        </p:sp>
      </p:grpSp>
      <p:sp>
        <p:nvSpPr>
          <p:cNvPr id="5126" name="Rectangle 1033"/>
          <p:cNvSpPr>
            <a:spLocks noChangeArrowheads="1"/>
          </p:cNvSpPr>
          <p:nvPr/>
        </p:nvSpPr>
        <p:spPr bwMode="auto">
          <a:xfrm>
            <a:off x="2489982" y="4119450"/>
            <a:ext cx="9537895" cy="1421928"/>
          </a:xfrm>
          <a:prstGeom prst="rect">
            <a:avLst/>
          </a:prstGeom>
          <a:noFill/>
          <a:ln w="9525">
            <a:noFill/>
            <a:miter lim="800000"/>
            <a:headEnd/>
            <a:tailEnd/>
          </a:ln>
        </p:spPr>
        <p:txBody>
          <a:bodyPr wrap="square" anchor="ctr">
            <a:spAutoFit/>
          </a:bodyPr>
          <a:lstStyle/>
          <a:p>
            <a:pPr algn="ctr"/>
            <a:r>
              <a:rPr lang="ru-RU"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uz-Latn-UZ"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Mavzu</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uz-Cyrl-UZ"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Dasturiy</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kanfigratsiyalanadigan</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Isroil</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xorijiy</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davlatlarn</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qisqa</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to‘lqin</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diapazonli</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radiostansiyalarning</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imkoniyatlari</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taktik-texnik</a:t>
            </a:r>
            <a:r>
              <a:rPr lang="en-US"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80" b="1" dirty="0" err="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ko‘rsatkichlari</a:t>
            </a:r>
            <a:r>
              <a:rPr lang="uz-Latn-UZ"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ru-RU" sz="288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7" name="Группа 6"/>
          <p:cNvGrpSpPr/>
          <p:nvPr/>
        </p:nvGrpSpPr>
        <p:grpSpPr>
          <a:xfrm>
            <a:off x="44705" y="3592"/>
            <a:ext cx="14585695" cy="2589462"/>
            <a:chOff x="0" y="-26988"/>
            <a:chExt cx="15122525" cy="2605088"/>
          </a:xfrm>
        </p:grpSpPr>
        <p:sp>
          <p:nvSpPr>
            <p:cNvPr id="5125" name="Rectangle 32"/>
            <p:cNvSpPr>
              <a:spLocks noChangeArrowheads="1"/>
            </p:cNvSpPr>
            <p:nvPr/>
          </p:nvSpPr>
          <p:spPr bwMode="auto">
            <a:xfrm>
              <a:off x="931" y="24256"/>
              <a:ext cx="234675" cy="227710"/>
            </a:xfrm>
            <a:prstGeom prst="rect">
              <a:avLst/>
            </a:prstGeom>
            <a:noFill/>
            <a:ln w="9525">
              <a:noFill/>
              <a:miter lim="800000"/>
              <a:headEnd/>
              <a:tailEnd/>
            </a:ln>
          </p:spPr>
          <p:txBody>
            <a:bodyPr wrap="none" anchor="ctr">
              <a:spAutoFit/>
            </a:bodyPr>
            <a:lstStyle/>
            <a:p>
              <a:pPr algn="ctr" eaLnBrk="0" hangingPunct="0"/>
              <a:r>
                <a:rPr lang="en-US" sz="871" b="1">
                  <a:ea typeface="Calibri" pitchFamily="34" charset="0"/>
                  <a:cs typeface="Times New Roman" pitchFamily="18" charset="0"/>
                </a:rPr>
                <a:t>(</a:t>
              </a:r>
              <a:endParaRPr lang="en-US" sz="2032">
                <a:ea typeface="Calibri" pitchFamily="34" charset="0"/>
                <a:cs typeface="Times New Roman" pitchFamily="18" charset="0"/>
              </a:endParaRPr>
            </a:p>
          </p:txBody>
        </p:sp>
        <p:grpSp>
          <p:nvGrpSpPr>
            <p:cNvPr id="5128" name="Group 4"/>
            <p:cNvGrpSpPr>
              <a:grpSpLocks/>
            </p:cNvGrpSpPr>
            <p:nvPr/>
          </p:nvGrpSpPr>
          <p:grpSpPr bwMode="auto">
            <a:xfrm>
              <a:off x="0" y="-26988"/>
              <a:ext cx="15122525" cy="2605088"/>
              <a:chOff x="0" y="-17"/>
              <a:chExt cx="5760" cy="1011"/>
            </a:xfrm>
          </p:grpSpPr>
          <p:pic>
            <p:nvPicPr>
              <p:cNvPr id="5130" name="Picture 5" descr="title_ru"/>
              <p:cNvPicPr>
                <a:picLocks noChangeAspect="1" noChangeArrowheads="1" noCrop="1"/>
              </p:cNvPicPr>
              <p:nvPr/>
            </p:nvPicPr>
            <p:blipFill>
              <a:blip r:embed="rId3"/>
              <a:srcRect/>
              <a:stretch>
                <a:fillRect/>
              </a:stretch>
            </p:blipFill>
            <p:spPr bwMode="auto">
              <a:xfrm>
                <a:off x="0" y="-17"/>
                <a:ext cx="5760" cy="1009"/>
              </a:xfrm>
              <a:prstGeom prst="rect">
                <a:avLst/>
              </a:prstGeom>
              <a:noFill/>
              <a:ln w="9525">
                <a:noFill/>
                <a:miter lim="800000"/>
                <a:headEnd/>
                <a:tailEnd/>
              </a:ln>
            </p:spPr>
          </p:pic>
          <p:pic>
            <p:nvPicPr>
              <p:cNvPr id="5131" name="Picture 6" descr="22"/>
              <p:cNvPicPr>
                <a:picLocks noChangeAspect="1" noChangeArrowheads="1"/>
              </p:cNvPicPr>
              <p:nvPr/>
            </p:nvPicPr>
            <p:blipFill>
              <a:blip r:embed="rId4"/>
              <a:srcRect/>
              <a:stretch>
                <a:fillRect/>
              </a:stretch>
            </p:blipFill>
            <p:spPr bwMode="auto">
              <a:xfrm>
                <a:off x="1503" y="-4"/>
                <a:ext cx="3109" cy="998"/>
              </a:xfrm>
              <a:prstGeom prst="rect">
                <a:avLst/>
              </a:prstGeom>
              <a:noFill/>
              <a:ln w="9525">
                <a:noFill/>
                <a:miter lim="800000"/>
                <a:headEnd/>
                <a:tailEnd/>
              </a:ln>
            </p:spPr>
          </p:pic>
        </p:grpSp>
      </p:grpSp>
      <p:sp>
        <p:nvSpPr>
          <p:cNvPr id="36" name="Rectangle 1033"/>
          <p:cNvSpPr>
            <a:spLocks noChangeArrowheads="1"/>
          </p:cNvSpPr>
          <p:nvPr/>
        </p:nvSpPr>
        <p:spPr bwMode="auto">
          <a:xfrm>
            <a:off x="96141" y="3119322"/>
            <a:ext cx="14459966" cy="572464"/>
          </a:xfrm>
          <a:prstGeom prst="rect">
            <a:avLst/>
          </a:prstGeom>
          <a:noFill/>
          <a:ln w="9525">
            <a:noFill/>
            <a:miter lim="800000"/>
            <a:headEnd/>
            <a:tailEnd/>
          </a:ln>
        </p:spPr>
        <p:txBody>
          <a:bodyPr wrap="square" anchor="ctr">
            <a:spAutoFit/>
          </a:bodyPr>
          <a:lstStyle/>
          <a:p>
            <a:pPr algn="ctr"/>
            <a:r>
              <a:rPr lang="ru-RU" sz="3120" b="1" dirty="0">
                <a:solidFill>
                  <a:srgbClr val="002060"/>
                </a:solidFill>
                <a:effectLst>
                  <a:outerShdw blurRad="38100" dist="38100" dir="2700000" algn="tl">
                    <a:srgbClr val="000000">
                      <a:alpha val="43137"/>
                    </a:srgbClr>
                  </a:outerShdw>
                </a:effectLst>
              </a:rPr>
              <a:t> </a:t>
            </a:r>
            <a:r>
              <a:rPr lang="uz-Latn-UZ" sz="3120" b="1" dirty="0">
                <a:solidFill>
                  <a:srgbClr val="002060"/>
                </a:solidFill>
                <a:effectLst>
                  <a:outerShdw blurRad="38100" dist="38100" dir="2700000" algn="tl">
                    <a:srgbClr val="000000">
                      <a:alpha val="43137"/>
                    </a:srgbClr>
                  </a:outerShdw>
                </a:effectLst>
              </a:rPr>
              <a:t>“</a:t>
            </a:r>
            <a:r>
              <a:rPr lang="en-US" sz="3120" b="1" dirty="0">
                <a:solidFill>
                  <a:srgbClr val="002060"/>
                </a:solidFill>
                <a:effectLst>
                  <a:outerShdw blurRad="38100" dist="38100" dir="2700000" algn="tl">
                    <a:srgbClr val="000000">
                      <a:alpha val="43137"/>
                    </a:srgbClr>
                  </a:outerShdw>
                </a:effectLst>
              </a:rPr>
              <a:t>HRT </a:t>
            </a:r>
            <a:r>
              <a:rPr lang="en-US" sz="3120" b="1" dirty="0" err="1">
                <a:solidFill>
                  <a:srgbClr val="002060"/>
                </a:solidFill>
                <a:effectLst>
                  <a:outerShdw blurRad="38100" dist="38100" dir="2700000" algn="tl">
                    <a:srgbClr val="000000">
                      <a:alpha val="43137"/>
                    </a:srgbClr>
                  </a:outerShdw>
                </a:effectLst>
              </a:rPr>
              <a:t>va</a:t>
            </a:r>
            <a:r>
              <a:rPr lang="en-US" sz="3120" b="1" dirty="0">
                <a:solidFill>
                  <a:srgbClr val="002060"/>
                </a:solidFill>
                <a:effectLst>
                  <a:outerShdw blurRad="38100" dist="38100" dir="2700000" algn="tl">
                    <a:srgbClr val="000000">
                      <a:alpha val="43137"/>
                    </a:srgbClr>
                  </a:outerShdw>
                </a:effectLst>
              </a:rPr>
              <a:t> UQ </a:t>
            </a:r>
            <a:r>
              <a:rPr lang="en-US" sz="3120" b="1" dirty="0" err="1">
                <a:solidFill>
                  <a:srgbClr val="002060"/>
                </a:solidFill>
                <a:effectLst>
                  <a:outerShdw blurRad="38100" dist="38100" dir="2700000" algn="tl">
                    <a:srgbClr val="000000">
                      <a:alpha val="43137"/>
                    </a:srgbClr>
                  </a:outerShdw>
                </a:effectLst>
              </a:rPr>
              <a:t>fanidan</a:t>
            </a:r>
            <a:r>
              <a:rPr lang="uz-Latn-UZ" sz="3120" b="1" dirty="0">
                <a:solidFill>
                  <a:srgbClr val="002060"/>
                </a:solidFill>
                <a:effectLst>
                  <a:outerShdw blurRad="38100" dist="38100" dir="2700000" algn="tl">
                    <a:srgbClr val="000000">
                      <a:alpha val="43137"/>
                    </a:srgbClr>
                  </a:outerShdw>
                </a:effectLst>
              </a:rPr>
              <a:t>”</a:t>
            </a:r>
            <a:endParaRPr lang="ru-RU" sz="3120" b="1" dirty="0">
              <a:solidFill>
                <a:srgbClr val="002060"/>
              </a:solidFill>
              <a:effectLst>
                <a:outerShdw blurRad="38100" dist="38100" dir="2700000" algn="tl">
                  <a:srgbClr val="000000">
                    <a:alpha val="43137"/>
                  </a:srgbClr>
                </a:outerShdw>
              </a:effectLst>
            </a:endParaRPr>
          </a:p>
        </p:txBody>
      </p:sp>
      <p:sp>
        <p:nvSpPr>
          <p:cNvPr id="37" name="Rectangle 7"/>
          <p:cNvSpPr>
            <a:spLocks noChangeArrowheads="1"/>
          </p:cNvSpPr>
          <p:nvPr/>
        </p:nvSpPr>
        <p:spPr bwMode="auto">
          <a:xfrm>
            <a:off x="4097116" y="514772"/>
            <a:ext cx="7687612" cy="1569660"/>
          </a:xfrm>
          <a:prstGeom prst="rect">
            <a:avLst/>
          </a:prstGeom>
          <a:noFill/>
          <a:ln w="9525">
            <a:noFill/>
            <a:miter lim="800000"/>
            <a:headEnd/>
            <a:tailEnd/>
          </a:ln>
          <a:effectLst/>
        </p:spPr>
        <p:txBody>
          <a:bodyPr wrap="square">
            <a:spAutoFit/>
          </a:bodyPr>
          <a:lstStyle/>
          <a:p>
            <a:pPr algn="ctr"/>
            <a:r>
              <a:rPr lang="uz-Latn-UZ" sz="2400" b="1" i="1" dirty="0">
                <a:latin typeface="+mj-lt"/>
              </a:rPr>
              <a:t>O'ZBEKISTON RESPUBLIKASI HARBIY XAVFSIZLIK VA MUDOFAA UNIVERSITETINING</a:t>
            </a:r>
            <a:endParaRPr lang="ru-RU" sz="2400" b="1" dirty="0">
              <a:latin typeface="+mj-lt"/>
            </a:endParaRPr>
          </a:p>
          <a:p>
            <a:pPr algn="ctr"/>
            <a:r>
              <a:rPr lang="uz-Latn-UZ" sz="2400" b="1" i="1" dirty="0">
                <a:latin typeface="+mj-lt"/>
              </a:rPr>
              <a:t>AXBOROT-KOMMUNIKATSIYA TEXNOLOGIYALARI VA HARBIY ALOQA INSTITUTI</a:t>
            </a:r>
            <a:endParaRPr lang="ru-RU" sz="2400" b="1" dirty="0">
              <a:latin typeface="+mj-lt"/>
            </a:endParaRPr>
          </a:p>
        </p:txBody>
      </p:sp>
      <p:pic>
        <p:nvPicPr>
          <p:cNvPr id="38" name="Рисунок 37">
            <a:extLst>
              <a:ext uri="{FF2B5EF4-FFF2-40B4-BE49-F238E27FC236}">
                <a16:creationId xmlns:a16="http://schemas.microsoft.com/office/drawing/2014/main" id="{0C4AAA66-A606-4A5C-AFD9-79162BF9285B}"/>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33782" y="2585213"/>
            <a:ext cx="3036570" cy="3036570"/>
          </a:xfrm>
          <a:prstGeom prst="rect">
            <a:avLst/>
          </a:prstGeom>
        </p:spPr>
      </p:pic>
      <p:pic>
        <p:nvPicPr>
          <p:cNvPr id="39" name="Рисунок 38">
            <a:extLst>
              <a:ext uri="{FF2B5EF4-FFF2-40B4-BE49-F238E27FC236}">
                <a16:creationId xmlns:a16="http://schemas.microsoft.com/office/drawing/2014/main" id="{6AA090EA-B135-4E8C-9555-96E3D9350A69}"/>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1792289" y="2635144"/>
            <a:ext cx="3036570" cy="3036570"/>
          </a:xfrm>
          <a:prstGeom prst="rect">
            <a:avLst/>
          </a:prstGeom>
        </p:spPr>
      </p:pic>
    </p:spTree>
    <p:extLst>
      <p:ext uri="{BB962C8B-B14F-4D97-AF65-F5344CB8AC3E}">
        <p14:creationId xmlns:p14="http://schemas.microsoft.com/office/powerpoint/2010/main" val="2387592937"/>
      </p:ext>
    </p:extLst>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60AF466-8F28-43DC-A522-06AD7F1B7BA8}"/>
              </a:ext>
            </a:extLst>
          </p:cNvPr>
          <p:cNvSpPr/>
          <p:nvPr/>
        </p:nvSpPr>
        <p:spPr>
          <a:xfrm>
            <a:off x="1087821" y="1189985"/>
            <a:ext cx="12454758" cy="3539430"/>
          </a:xfrm>
          <a:prstGeom prst="rect">
            <a:avLst/>
          </a:prstGeom>
        </p:spPr>
        <p:txBody>
          <a:bodyPr wrap="square">
            <a:spAutoFit/>
          </a:bodyPr>
          <a:lstStyle/>
          <a:p>
            <a:pPr algn="ct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REJA</a:t>
            </a:r>
          </a:p>
          <a:p>
            <a:pPr algn="ctr"/>
            <a:endPar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endParaRPr>
          </a:p>
          <a:p>
            <a:pPr marL="457200" indent="-457200">
              <a:buFont typeface="+mj-lt"/>
              <a:buAutoNum type="arabicPeriod"/>
            </a:pP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Dasturiy</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Konfiguratsiyalanadigan</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Radiostansiyalar</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Imkoniyatlari</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va</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Ko‘rsatkichlari</a:t>
            </a:r>
            <a:endPar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endParaRPr>
          </a:p>
          <a:p>
            <a:pPr marL="457200" indent="-457200">
              <a:buFont typeface="+mj-lt"/>
              <a:buAutoNum type="arabicPeriod"/>
            </a:pP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Xorijiy</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SDR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Radiostansiyalarning</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Turlari</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va</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Umumiy</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Xususiyatlari</a:t>
            </a:r>
            <a:endParaRPr lang="en-US" sz="3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Texnik</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Ko‘rsatkichlarni</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Taqqoslash</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Chastota</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diapazoni</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quvvat</a:t>
            </a:r>
            <a:r>
              <a:rPr lang="en-US" sz="32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 </a:t>
            </a:r>
            <a:r>
              <a:rPr lang="en-US" sz="3200" dirty="0" err="1">
                <a:solidFill>
                  <a:srgbClr val="2C2926"/>
                </a:solidFill>
                <a:latin typeface="Times New Roman" panose="02020603050405020304" pitchFamily="18" charset="0"/>
                <a:ea typeface="Bricolage Grotesque Semi Bold" pitchFamily="34" charset="-122"/>
                <a:cs typeface="Times New Roman" panose="02020603050405020304" pitchFamily="18" charset="0"/>
              </a:rPr>
              <a:t>xavfsizlik</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550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867727"/>
            <a:ext cx="7556421" cy="2480310"/>
          </a:xfrm>
          <a:prstGeom prst="rect">
            <a:avLst/>
          </a:prstGeom>
          <a:noFill/>
          <a:ln/>
        </p:spPr>
        <p:txBody>
          <a:bodyPr wrap="square" lIns="0" tIns="0" rIns="0" bIns="0" rtlCol="0" anchor="t"/>
          <a:lstStyle/>
          <a:p>
            <a:pPr marL="0" indent="0" algn="l">
              <a:lnSpc>
                <a:spcPts val="4850"/>
              </a:lnSpc>
              <a:buNone/>
            </a:pPr>
            <a:r>
              <a:rPr lang="en-US" sz="3900" dirty="0">
                <a:solidFill>
                  <a:srgbClr val="2C2926"/>
                </a:solidFill>
                <a:latin typeface="Bricolage Grotesque Semi Bold" pitchFamily="34" charset="0"/>
                <a:ea typeface="Bricolage Grotesque Semi Bold" pitchFamily="34" charset="-122"/>
                <a:cs typeface="Bricolage Grotesque Semi Bold" pitchFamily="34" charset="-120"/>
              </a:rPr>
              <a:t>Dasturiy Konfiguratsiyalanadigan Radiostansiyalar: Imkoniyatlari va Ko‘rsatkichlari</a:t>
            </a:r>
            <a:endParaRPr lang="en-US" sz="3900" dirty="0"/>
          </a:p>
        </p:txBody>
      </p:sp>
      <p:sp>
        <p:nvSpPr>
          <p:cNvPr id="4" name="Text 1"/>
          <p:cNvSpPr/>
          <p:nvPr/>
        </p:nvSpPr>
        <p:spPr>
          <a:xfrm>
            <a:off x="793790" y="3645694"/>
            <a:ext cx="7556421" cy="1905238"/>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Bugungi kunda aloqa texnologiyalari jadal rivojlanib bormoqda va harbiy, favqulodda vaziyatlar hamda boshqa muhim sohalarda dasturiy konfiguratsiyalanadigan radiostansiyalar (SDR – Software Defined Radio) katta ahamiyat kasb etmoqda. Ushbu taqdimotda biz xorijiy SDR radiostansiyalarning imkoniyatlari, texnik ko‘rsatkichlari va ularning qo‘llash sohalari haqida batafsil ma’lumot beramiz.</a:t>
            </a:r>
            <a:endParaRPr lang="en-US" sz="1550" dirty="0"/>
          </a:p>
        </p:txBody>
      </p:sp>
      <p:sp>
        <p:nvSpPr>
          <p:cNvPr id="5" name="Text 2"/>
          <p:cNvSpPr/>
          <p:nvPr/>
        </p:nvSpPr>
        <p:spPr>
          <a:xfrm>
            <a:off x="793790" y="5774174"/>
            <a:ext cx="7556421" cy="1587698"/>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SDR texnologiyasi an’anaviy radiostansiyalarga nisbatan yuqori moslashuvchanlik, yangilanish imkoniyati va keng funksionallikni taqdim etadi, bu esa ularni zamonaviy aloqa ehtiyojlari uchun ajralmas vositaga aylantiradi. Biz ushbu sohadagi yetakchi ishlab chiqaruvchilarning mahsulotlarini ko‘rib chiqamiz va ularning asosiy afzalliklarini tahlil qilamiz.</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73743"/>
            <a:ext cx="11529774" cy="620078"/>
          </a:xfrm>
          <a:prstGeom prst="rect">
            <a:avLst/>
          </a:prstGeom>
          <a:noFill/>
          <a:ln/>
        </p:spPr>
        <p:txBody>
          <a:bodyPr wrap="none" lIns="0" tIns="0" rIns="0" bIns="0" rtlCol="0" anchor="t"/>
          <a:lstStyle/>
          <a:p>
            <a:pPr marL="0" indent="0" algn="l">
              <a:lnSpc>
                <a:spcPts val="4850"/>
              </a:lnSpc>
              <a:buNone/>
            </a:pPr>
            <a:r>
              <a:rPr lang="en-US" sz="3900" dirty="0">
                <a:solidFill>
                  <a:srgbClr val="2C2926"/>
                </a:solidFill>
                <a:latin typeface="Bricolage Grotesque Semi Bold" pitchFamily="34" charset="0"/>
                <a:ea typeface="Bricolage Grotesque Semi Bold" pitchFamily="34" charset="-122"/>
                <a:cs typeface="Bricolage Grotesque Semi Bold" pitchFamily="34" charset="-120"/>
              </a:rPr>
              <a:t>SDR Texnologiyasiga Kirish: Nima uchun muhim?</a:t>
            </a:r>
            <a:endParaRPr lang="en-US" sz="3900" dirty="0"/>
          </a:p>
        </p:txBody>
      </p:sp>
      <p:sp>
        <p:nvSpPr>
          <p:cNvPr id="3" name="Text 1"/>
          <p:cNvSpPr/>
          <p:nvPr/>
        </p:nvSpPr>
        <p:spPr>
          <a:xfrm>
            <a:off x="793790" y="239065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Dasturiy konfiguratsiyalanadigan radiostansiya (SDR) – bu radioaloqa tizimi bo‘lib, unda an’anaviy apparat komponentlari (mikserlar, filtrlar, modulyatorlar/demodulyatorlar va boshqalar) dasturiy ta’minot orqali amalga oshiriladi. Bu yondashuv radiostansiya funksiyalarini dasturiy yo‘l bilan o‘zgartirish va yangilash imkoniyatini beradi, bu esa uning moslashuvchanligini sezilarli darajada oshiradi.</a:t>
            </a:r>
            <a:endParaRPr lang="en-US" sz="1550" dirty="0"/>
          </a:p>
        </p:txBody>
      </p:sp>
      <p:sp>
        <p:nvSpPr>
          <p:cNvPr id="4" name="Text 2"/>
          <p:cNvSpPr/>
          <p:nvPr/>
        </p:nvSpPr>
        <p:spPr>
          <a:xfrm>
            <a:off x="793790" y="356651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SDR ning muhimligi bir necha jihatdan namoyon bo‘ladi:</a:t>
            </a:r>
            <a:endParaRPr lang="en-US" sz="1550" dirty="0"/>
          </a:p>
        </p:txBody>
      </p:sp>
      <p:sp>
        <p:nvSpPr>
          <p:cNvPr id="5" name="Text 3"/>
          <p:cNvSpPr/>
          <p:nvPr/>
        </p:nvSpPr>
        <p:spPr>
          <a:xfrm>
            <a:off x="793790" y="4107299"/>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Moslashuvchanlik:</a:t>
            </a:r>
            <a:r>
              <a:rPr lang="en-US" sz="1550" dirty="0">
                <a:solidFill>
                  <a:srgbClr val="2C2926"/>
                </a:solidFill>
                <a:latin typeface="Inter" pitchFamily="34" charset="0"/>
                <a:ea typeface="Inter" pitchFamily="34" charset="-122"/>
                <a:cs typeface="Inter" pitchFamily="34" charset="-120"/>
              </a:rPr>
              <a:t> Chastota diapazonini, modulyatsiya turini va boshqa aloqa protokollarini apparatni o‘zgartirmasdan, faqat dasturiy ta’minotni yangilash orqali o‘zgartirish mumkin. Bu turli xil aloqa muhitlariga tezda moslashish imkonini beradi.</a:t>
            </a:r>
            <a:endParaRPr lang="en-US" sz="1550" dirty="0"/>
          </a:p>
        </p:txBody>
      </p:sp>
      <p:sp>
        <p:nvSpPr>
          <p:cNvPr id="6" name="Text 4"/>
          <p:cNvSpPr/>
          <p:nvPr/>
        </p:nvSpPr>
        <p:spPr>
          <a:xfrm>
            <a:off x="793790" y="4811792"/>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Yangilanish imkoniyati:</a:t>
            </a:r>
            <a:r>
              <a:rPr lang="en-US" sz="1550" dirty="0">
                <a:solidFill>
                  <a:srgbClr val="2C2926"/>
                </a:solidFill>
                <a:latin typeface="Inter" pitchFamily="34" charset="0"/>
                <a:ea typeface="Inter" pitchFamily="34" charset="-122"/>
                <a:cs typeface="Inter" pitchFamily="34" charset="-120"/>
              </a:rPr>
              <a:t> Yangi texnologiyalar va standartlar paydo bo‘lganda, mavjud SDR radiostansiyalarni yangi funksiyalar bilan dasturiy yo‘l bilan boyitish mumkin, bu esa ularning umr davomiyligini uzaytiradi va xarajatlarni kamaytiradi.</a:t>
            </a:r>
            <a:endParaRPr lang="en-US" sz="1550" dirty="0"/>
          </a:p>
        </p:txBody>
      </p:sp>
      <p:sp>
        <p:nvSpPr>
          <p:cNvPr id="7" name="Text 5"/>
          <p:cNvSpPr/>
          <p:nvPr/>
        </p:nvSpPr>
        <p:spPr>
          <a:xfrm>
            <a:off x="793790" y="5516285"/>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Keng funksionallik:</a:t>
            </a:r>
            <a:r>
              <a:rPr lang="en-US" sz="1550" dirty="0">
                <a:solidFill>
                  <a:srgbClr val="2C2926"/>
                </a:solidFill>
                <a:latin typeface="Inter" pitchFamily="34" charset="0"/>
                <a:ea typeface="Inter" pitchFamily="34" charset="-122"/>
                <a:cs typeface="Inter" pitchFamily="34" charset="-120"/>
              </a:rPr>
              <a:t> Birgina SDR qurilmasi bir nechta an’anaviy radiostansiyaning funksiyalarini bajarishi mumkin, bu esa operatsion samaradorlikni oshiradi va uskuna hajmini kamaytiradi.</a:t>
            </a:r>
            <a:endParaRPr lang="en-US" sz="1550" dirty="0"/>
          </a:p>
        </p:txBody>
      </p:sp>
      <p:sp>
        <p:nvSpPr>
          <p:cNvPr id="8" name="Text 6"/>
          <p:cNvSpPr/>
          <p:nvPr/>
        </p:nvSpPr>
        <p:spPr>
          <a:xfrm>
            <a:off x="793790" y="6220777"/>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Xavfsizlik:</a:t>
            </a:r>
            <a:r>
              <a:rPr lang="en-US" sz="1550" dirty="0">
                <a:solidFill>
                  <a:srgbClr val="2C2926"/>
                </a:solidFill>
                <a:latin typeface="Inter" pitchFamily="34" charset="0"/>
                <a:ea typeface="Inter" pitchFamily="34" charset="-122"/>
                <a:cs typeface="Inter" pitchFamily="34" charset="-120"/>
              </a:rPr>
              <a:t> Dasturiy ta’minot orqali kriptografik algoritmlarni osongina yangilash va o‘zgartirish mumkin, bu esa yuqori darajadagi aloqa xavfsizligini ta’minlaydi.</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11831"/>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2C2926"/>
                </a:solidFill>
                <a:latin typeface="Bricolage Grotesque Semi Bold" pitchFamily="34" charset="0"/>
                <a:ea typeface="Bricolage Grotesque Semi Bold" pitchFamily="34" charset="-122"/>
                <a:cs typeface="Bricolage Grotesque Semi Bold" pitchFamily="34" charset="-120"/>
              </a:rPr>
              <a:t>Xorijiy SDR Radiostansiyalarning Turlari va Umumiy Xususiyatlari</a:t>
            </a:r>
            <a:endParaRPr lang="en-US" sz="3900" dirty="0"/>
          </a:p>
        </p:txBody>
      </p:sp>
      <p:sp>
        <p:nvSpPr>
          <p:cNvPr id="3" name="Text 1"/>
          <p:cNvSpPr/>
          <p:nvPr/>
        </p:nvSpPr>
        <p:spPr>
          <a:xfrm>
            <a:off x="793790" y="294882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Xorijiy bozorlarda dasturiy konfiguratsiyalanadigan radiostansiyalar bir qancha yetakchi kompaniyalar tomonidan ishlab chiqariladi. Ularning har biri o‘ziga xos xususiyatlarga va qo‘llash sohalariga ega. Umumiy xususiyatlariga quyidagilar kiradi:</a:t>
            </a:r>
            <a:endParaRPr lang="en-US" sz="1550" dirty="0"/>
          </a:p>
        </p:txBody>
      </p:sp>
      <p:sp>
        <p:nvSpPr>
          <p:cNvPr id="4" name="Text 2"/>
          <p:cNvSpPr/>
          <p:nvPr/>
        </p:nvSpPr>
        <p:spPr>
          <a:xfrm>
            <a:off x="793790" y="380714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Keng chastota diapazoni:</a:t>
            </a:r>
            <a:r>
              <a:rPr lang="en-US" sz="1550" dirty="0">
                <a:solidFill>
                  <a:srgbClr val="2C2926"/>
                </a:solidFill>
                <a:latin typeface="Inter" pitchFamily="34" charset="0"/>
                <a:ea typeface="Inter" pitchFamily="34" charset="-122"/>
                <a:cs typeface="Inter" pitchFamily="34" charset="-120"/>
              </a:rPr>
              <a:t> HF, VHF, UHF diapazonlarida ishlash qobiliyati.</a:t>
            </a:r>
            <a:endParaRPr lang="en-US" sz="1550" dirty="0"/>
          </a:p>
        </p:txBody>
      </p:sp>
      <p:sp>
        <p:nvSpPr>
          <p:cNvPr id="5" name="Text 3"/>
          <p:cNvSpPr/>
          <p:nvPr/>
        </p:nvSpPr>
        <p:spPr>
          <a:xfrm>
            <a:off x="793790" y="419409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Ko‘p protokollilik:</a:t>
            </a:r>
            <a:r>
              <a:rPr lang="en-US" sz="1550" dirty="0">
                <a:solidFill>
                  <a:srgbClr val="2C2926"/>
                </a:solidFill>
                <a:latin typeface="Inter" pitchFamily="34" charset="0"/>
                <a:ea typeface="Inter" pitchFamily="34" charset="-122"/>
                <a:cs typeface="Inter" pitchFamily="34" charset="-120"/>
              </a:rPr>
              <a:t> AM, FM, SSB, FSK, PSK kabi turli modulyatsiya turlarini va aloqa protokollarini qo‘llab-quvvatlash.</a:t>
            </a:r>
            <a:endParaRPr lang="en-US" sz="1550" dirty="0"/>
          </a:p>
        </p:txBody>
      </p:sp>
      <p:sp>
        <p:nvSpPr>
          <p:cNvPr id="6" name="Text 4"/>
          <p:cNvSpPr/>
          <p:nvPr/>
        </p:nvSpPr>
        <p:spPr>
          <a:xfrm>
            <a:off x="793790" y="4581049"/>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Yuqori ma’lumot uzatish tezligi:</a:t>
            </a:r>
            <a:r>
              <a:rPr lang="en-US" sz="1550" dirty="0">
                <a:solidFill>
                  <a:srgbClr val="2C2926"/>
                </a:solidFill>
                <a:latin typeface="Inter" pitchFamily="34" charset="0"/>
                <a:ea typeface="Inter" pitchFamily="34" charset="-122"/>
                <a:cs typeface="Inter" pitchFamily="34" charset="-120"/>
              </a:rPr>
              <a:t> Raqamli ma’lumotlarni tez va ishonchli uzatish imkoniyati.</a:t>
            </a:r>
            <a:endParaRPr lang="en-US" sz="1550" dirty="0"/>
          </a:p>
        </p:txBody>
      </p:sp>
      <p:sp>
        <p:nvSpPr>
          <p:cNvPr id="7" name="Text 5"/>
          <p:cNvSpPr/>
          <p:nvPr/>
        </p:nvSpPr>
        <p:spPr>
          <a:xfrm>
            <a:off x="793790" y="4968002"/>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Kriptografik himoya:</a:t>
            </a:r>
            <a:r>
              <a:rPr lang="en-US" sz="1550" dirty="0">
                <a:solidFill>
                  <a:srgbClr val="2C2926"/>
                </a:solidFill>
                <a:latin typeface="Inter" pitchFamily="34" charset="0"/>
                <a:ea typeface="Inter" pitchFamily="34" charset="-122"/>
                <a:cs typeface="Inter" pitchFamily="34" charset="-120"/>
              </a:rPr>
              <a:t> Aloqani ruxsatsiz tinglashdan himoya qilish uchun kuchli shifrlash algoritmlari.</a:t>
            </a:r>
            <a:endParaRPr lang="en-US" sz="1550" dirty="0"/>
          </a:p>
        </p:txBody>
      </p:sp>
      <p:sp>
        <p:nvSpPr>
          <p:cNvPr id="8" name="Text 6"/>
          <p:cNvSpPr/>
          <p:nvPr/>
        </p:nvSpPr>
        <p:spPr>
          <a:xfrm>
            <a:off x="793790" y="5354955"/>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Taktik tarmoqlarga integratsiya:</a:t>
            </a:r>
            <a:r>
              <a:rPr lang="en-US" sz="1550" dirty="0">
                <a:solidFill>
                  <a:srgbClr val="2C2926"/>
                </a:solidFill>
                <a:latin typeface="Inter" pitchFamily="34" charset="0"/>
                <a:ea typeface="Inter" pitchFamily="34" charset="-122"/>
                <a:cs typeface="Inter" pitchFamily="34" charset="-120"/>
              </a:rPr>
              <a:t> Harbiy va favqulodda vaziyatlar sharoitida boshqa aloqa tizimlari bilan integratsiya qilish imkoniyati.</a:t>
            </a:r>
            <a:endParaRPr lang="en-US" sz="1550" dirty="0"/>
          </a:p>
        </p:txBody>
      </p:sp>
      <p:sp>
        <p:nvSpPr>
          <p:cNvPr id="9" name="Text 7"/>
          <p:cNvSpPr/>
          <p:nvPr/>
        </p:nvSpPr>
        <p:spPr>
          <a:xfrm>
            <a:off x="793790" y="5741908"/>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C2926"/>
                </a:solidFill>
                <a:latin typeface="Inter" pitchFamily="34" charset="0"/>
                <a:ea typeface="Inter" pitchFamily="34" charset="-122"/>
                <a:cs typeface="Inter" pitchFamily="34" charset="-120"/>
              </a:rPr>
              <a:t>Bardoshlilik va ishonchlilik:</a:t>
            </a:r>
            <a:r>
              <a:rPr lang="en-US" sz="1550" dirty="0">
                <a:solidFill>
                  <a:srgbClr val="2C2926"/>
                </a:solidFill>
                <a:latin typeface="Inter" pitchFamily="34" charset="0"/>
                <a:ea typeface="Inter" pitchFamily="34" charset="-122"/>
                <a:cs typeface="Inter" pitchFamily="34" charset="-120"/>
              </a:rPr>
              <a:t> Ekstremal sharoitlarda (harorat, namlik, zarba, tebranish) ishlashga mo‘ljallangan mustahkam konstruktsiya.</a:t>
            </a:r>
            <a:endParaRPr lang="en-US" sz="1550" dirty="0"/>
          </a:p>
        </p:txBody>
      </p:sp>
      <p:sp>
        <p:nvSpPr>
          <p:cNvPr id="10" name="Text 8"/>
          <p:cNvSpPr/>
          <p:nvPr/>
        </p:nvSpPr>
        <p:spPr>
          <a:xfrm>
            <a:off x="793790" y="628269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Ushbu xususiyatlar SDR radiostansiyalarining zamonaviy talablarga javob berishini va turli xil operatsion muhitlarda samarali ishlashini ta’minlaydi.</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8774" y="697706"/>
            <a:ext cx="11545967" cy="522446"/>
          </a:xfrm>
          <a:prstGeom prst="rect">
            <a:avLst/>
          </a:prstGeom>
          <a:noFill/>
          <a:ln/>
        </p:spPr>
        <p:txBody>
          <a:bodyPr wrap="none" lIns="0" tIns="0" rIns="0" bIns="0" rtlCol="0" anchor="t"/>
          <a:lstStyle/>
          <a:p>
            <a:pPr marL="0" indent="0" algn="l">
              <a:lnSpc>
                <a:spcPts val="4100"/>
              </a:lnSpc>
              <a:buNone/>
            </a:pPr>
            <a:r>
              <a:rPr lang="en-US" sz="3250" dirty="0">
                <a:solidFill>
                  <a:srgbClr val="2C2926"/>
                </a:solidFill>
                <a:latin typeface="Bricolage Grotesque Semi Bold" pitchFamily="34" charset="0"/>
                <a:ea typeface="Bricolage Grotesque Semi Bold" pitchFamily="34" charset="-122"/>
                <a:cs typeface="Bricolage Grotesque Semi Bold" pitchFamily="34" charset="-120"/>
              </a:rPr>
              <a:t>Harris RF-7800 seriyasi: Asosiy Imkoniyatlar va Afzalliklar</a:t>
            </a:r>
            <a:endParaRPr lang="en-US" sz="3250" dirty="0"/>
          </a:p>
        </p:txBody>
      </p:sp>
      <p:sp>
        <p:nvSpPr>
          <p:cNvPr id="3" name="Text 1"/>
          <p:cNvSpPr/>
          <p:nvPr/>
        </p:nvSpPr>
        <p:spPr>
          <a:xfrm>
            <a:off x="668774" y="1554480"/>
            <a:ext cx="13292852" cy="534829"/>
          </a:xfrm>
          <a:prstGeom prst="rect">
            <a:avLst/>
          </a:prstGeom>
          <a:noFill/>
          <a:ln/>
        </p:spPr>
        <p:txBody>
          <a:bodyPr wrap="square" lIns="0" tIns="0" rIns="0" bIns="0" rtlCol="0" anchor="t"/>
          <a:lstStyle/>
          <a:p>
            <a:pPr marL="0" indent="0" algn="l">
              <a:lnSpc>
                <a:spcPts val="2100"/>
              </a:lnSpc>
              <a:buNone/>
            </a:pPr>
            <a:r>
              <a:rPr lang="en-US" sz="1300" dirty="0">
                <a:solidFill>
                  <a:srgbClr val="2C2926"/>
                </a:solidFill>
                <a:latin typeface="Inter" pitchFamily="34" charset="0"/>
                <a:ea typeface="Inter" pitchFamily="34" charset="-122"/>
                <a:cs typeface="Inter" pitchFamily="34" charset="-120"/>
              </a:rPr>
              <a:t>Harris korporatsiyasi (hozirgi L3Harris Technologies) SDR texnologiyalari sohasida yetakchi hisoblanadi. Ularning RF-7800 seriyali radiostansiyalari yuqori ishonchliligi va keng funksionalligi bilan ajralib turadi.</a:t>
            </a:r>
            <a:endParaRPr lang="en-US" sz="1300" dirty="0"/>
          </a:p>
        </p:txBody>
      </p:sp>
      <p:sp>
        <p:nvSpPr>
          <p:cNvPr id="4" name="Shape 2"/>
          <p:cNvSpPr/>
          <p:nvPr/>
        </p:nvSpPr>
        <p:spPr>
          <a:xfrm>
            <a:off x="668774" y="2277428"/>
            <a:ext cx="6562844" cy="2449592"/>
          </a:xfrm>
          <a:prstGeom prst="roundRect">
            <a:avLst>
              <a:gd name="adj" fmla="val 2867"/>
            </a:avLst>
          </a:prstGeom>
          <a:solidFill>
            <a:srgbClr val="FFFFFF"/>
          </a:solidFill>
          <a:ln w="7620">
            <a:solidFill>
              <a:srgbClr val="F8ECD3"/>
            </a:solidFill>
            <a:prstDash val="solid"/>
          </a:ln>
        </p:spPr>
      </p:sp>
      <p:pic>
        <p:nvPicPr>
          <p:cNvPr id="5" name="Image 0" descr="preencoded.png"/>
          <p:cNvPicPr>
            <a:picLocks noChangeAspect="1"/>
          </p:cNvPicPr>
          <p:nvPr/>
        </p:nvPicPr>
        <p:blipFill>
          <a:blip r:embed="rId3"/>
          <a:stretch>
            <a:fillRect/>
          </a:stretch>
        </p:blipFill>
        <p:spPr>
          <a:xfrm>
            <a:off x="843558" y="2452211"/>
            <a:ext cx="501610" cy="501610"/>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1432" y="2590086"/>
            <a:ext cx="225743" cy="225743"/>
          </a:xfrm>
          <a:prstGeom prst="rect">
            <a:avLst/>
          </a:prstGeom>
        </p:spPr>
      </p:pic>
      <p:sp>
        <p:nvSpPr>
          <p:cNvPr id="7" name="Text 3"/>
          <p:cNvSpPr/>
          <p:nvPr/>
        </p:nvSpPr>
        <p:spPr>
          <a:xfrm>
            <a:off x="843558" y="3120985"/>
            <a:ext cx="2090142" cy="261342"/>
          </a:xfrm>
          <a:prstGeom prst="rect">
            <a:avLst/>
          </a:prstGeom>
          <a:noFill/>
          <a:ln/>
        </p:spPr>
        <p:txBody>
          <a:bodyPr wrap="none" lIns="0" tIns="0" rIns="0" bIns="0" rtlCol="0" anchor="t"/>
          <a:lstStyle/>
          <a:p>
            <a:pPr marL="0" indent="0" algn="l">
              <a:lnSpc>
                <a:spcPts val="205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Xavfsizlik</a:t>
            </a:r>
            <a:endParaRPr lang="en-US" sz="1600" dirty="0"/>
          </a:p>
        </p:txBody>
      </p:sp>
      <p:sp>
        <p:nvSpPr>
          <p:cNvPr id="8" name="Text 4"/>
          <p:cNvSpPr/>
          <p:nvPr/>
        </p:nvSpPr>
        <p:spPr>
          <a:xfrm>
            <a:off x="843558" y="3482578"/>
            <a:ext cx="6213277" cy="802243"/>
          </a:xfrm>
          <a:prstGeom prst="rect">
            <a:avLst/>
          </a:prstGeom>
          <a:noFill/>
          <a:ln/>
        </p:spPr>
        <p:txBody>
          <a:bodyPr wrap="square" lIns="0" tIns="0" rIns="0" bIns="0" rtlCol="0" anchor="t"/>
          <a:lstStyle/>
          <a:p>
            <a:pPr marL="0" indent="0" algn="l">
              <a:lnSpc>
                <a:spcPts val="2100"/>
              </a:lnSpc>
              <a:buNone/>
            </a:pPr>
            <a:r>
              <a:rPr lang="en-US" sz="1300" dirty="0">
                <a:solidFill>
                  <a:srgbClr val="2C2926"/>
                </a:solidFill>
                <a:latin typeface="Inter" pitchFamily="34" charset="0"/>
                <a:ea typeface="Inter" pitchFamily="34" charset="-122"/>
                <a:cs typeface="Inter" pitchFamily="34" charset="-120"/>
              </a:rPr>
              <a:t>Ushbu seriyadagi radiostansiyalar yuqori darajadagi shifrlash tizimlari bilan jihozlangan bo‘lib, aloqaning maxfiyligini ta’minlaydi. Jumladan, AES 256-bitli shifrlash standartlari qo‘llaniladi.</a:t>
            </a:r>
            <a:endParaRPr lang="en-US" sz="1300" dirty="0"/>
          </a:p>
        </p:txBody>
      </p:sp>
      <p:sp>
        <p:nvSpPr>
          <p:cNvPr id="9" name="Shape 5"/>
          <p:cNvSpPr/>
          <p:nvPr/>
        </p:nvSpPr>
        <p:spPr>
          <a:xfrm>
            <a:off x="7398782" y="2277428"/>
            <a:ext cx="6562844" cy="2449592"/>
          </a:xfrm>
          <a:prstGeom prst="roundRect">
            <a:avLst>
              <a:gd name="adj" fmla="val 2867"/>
            </a:avLst>
          </a:prstGeom>
          <a:solidFill>
            <a:srgbClr val="FFFFFF"/>
          </a:solidFill>
          <a:ln w="7620">
            <a:solidFill>
              <a:srgbClr val="F8ECD3"/>
            </a:solidFill>
            <a:prstDash val="solid"/>
          </a:ln>
        </p:spPr>
      </p:sp>
      <p:pic>
        <p:nvPicPr>
          <p:cNvPr id="10" name="Image 2" descr="preencoded.png"/>
          <p:cNvPicPr>
            <a:picLocks noChangeAspect="1"/>
          </p:cNvPicPr>
          <p:nvPr/>
        </p:nvPicPr>
        <p:blipFill>
          <a:blip r:embed="rId6"/>
          <a:stretch>
            <a:fillRect/>
          </a:stretch>
        </p:blipFill>
        <p:spPr>
          <a:xfrm>
            <a:off x="7573566" y="2452211"/>
            <a:ext cx="501610" cy="501610"/>
          </a:xfrm>
          <a:prstGeom prst="rect">
            <a:avLst/>
          </a:prstGeom>
        </p:spPr>
      </p:pic>
      <p:pic>
        <p:nvPicPr>
          <p:cNvPr id="11"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7711440" y="2590086"/>
            <a:ext cx="225743" cy="225743"/>
          </a:xfrm>
          <a:prstGeom prst="rect">
            <a:avLst/>
          </a:prstGeom>
        </p:spPr>
      </p:pic>
      <p:sp>
        <p:nvSpPr>
          <p:cNvPr id="12" name="Text 6"/>
          <p:cNvSpPr/>
          <p:nvPr/>
        </p:nvSpPr>
        <p:spPr>
          <a:xfrm>
            <a:off x="7573566" y="3120985"/>
            <a:ext cx="2090142" cy="261342"/>
          </a:xfrm>
          <a:prstGeom prst="rect">
            <a:avLst/>
          </a:prstGeom>
          <a:noFill/>
          <a:ln/>
        </p:spPr>
        <p:txBody>
          <a:bodyPr wrap="none" lIns="0" tIns="0" rIns="0" bIns="0" rtlCol="0" anchor="t"/>
          <a:lstStyle/>
          <a:p>
            <a:pPr marL="0" indent="0" algn="l">
              <a:lnSpc>
                <a:spcPts val="205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Keng diapazon</a:t>
            </a:r>
            <a:endParaRPr lang="en-US" sz="1600" dirty="0"/>
          </a:p>
        </p:txBody>
      </p:sp>
      <p:sp>
        <p:nvSpPr>
          <p:cNvPr id="13" name="Text 7"/>
          <p:cNvSpPr/>
          <p:nvPr/>
        </p:nvSpPr>
        <p:spPr>
          <a:xfrm>
            <a:off x="7573566" y="3482578"/>
            <a:ext cx="6213277" cy="1069658"/>
          </a:xfrm>
          <a:prstGeom prst="rect">
            <a:avLst/>
          </a:prstGeom>
          <a:noFill/>
          <a:ln/>
        </p:spPr>
        <p:txBody>
          <a:bodyPr wrap="square" lIns="0" tIns="0" rIns="0" bIns="0" rtlCol="0" anchor="t"/>
          <a:lstStyle/>
          <a:p>
            <a:pPr marL="0" indent="0" algn="l">
              <a:lnSpc>
                <a:spcPts val="2100"/>
              </a:lnSpc>
              <a:buNone/>
            </a:pPr>
            <a:r>
              <a:rPr lang="en-US" sz="1300" dirty="0">
                <a:solidFill>
                  <a:srgbClr val="2C2926"/>
                </a:solidFill>
                <a:latin typeface="Inter" pitchFamily="34" charset="0"/>
                <a:ea typeface="Inter" pitchFamily="34" charset="-122"/>
                <a:cs typeface="Inter" pitchFamily="34" charset="-120"/>
              </a:rPr>
              <a:t>RF-7800 seriyasi HF, VHF va UHF diapazonlarida ishlash qobiliyatiga ega, bu esa turli geografik sharoitlarda barqaror aloqani ta’minlaydi. Jumladan, HF diapazonida uzoq masofali aloqa, VHF/UHF diapazonida esa taktik darajadagi aloqa imkoniyatini beradi.</a:t>
            </a:r>
            <a:endParaRPr lang="en-US" sz="1300" dirty="0"/>
          </a:p>
        </p:txBody>
      </p:sp>
      <p:sp>
        <p:nvSpPr>
          <p:cNvPr id="14" name="Shape 8"/>
          <p:cNvSpPr/>
          <p:nvPr/>
        </p:nvSpPr>
        <p:spPr>
          <a:xfrm>
            <a:off x="668774" y="4894183"/>
            <a:ext cx="6562844" cy="2182177"/>
          </a:xfrm>
          <a:prstGeom prst="roundRect">
            <a:avLst>
              <a:gd name="adj" fmla="val 3218"/>
            </a:avLst>
          </a:prstGeom>
          <a:solidFill>
            <a:srgbClr val="FFFFFF"/>
          </a:solidFill>
          <a:ln w="7620">
            <a:solidFill>
              <a:srgbClr val="F8ECD3"/>
            </a:solidFill>
            <a:prstDash val="solid"/>
          </a:ln>
        </p:spPr>
      </p:sp>
      <p:pic>
        <p:nvPicPr>
          <p:cNvPr id="15" name="Image 4" descr="preencoded.png"/>
          <p:cNvPicPr>
            <a:picLocks noChangeAspect="1"/>
          </p:cNvPicPr>
          <p:nvPr/>
        </p:nvPicPr>
        <p:blipFill>
          <a:blip r:embed="rId8"/>
          <a:stretch>
            <a:fillRect/>
          </a:stretch>
        </p:blipFill>
        <p:spPr>
          <a:xfrm>
            <a:off x="843558" y="5068967"/>
            <a:ext cx="501610" cy="501610"/>
          </a:xfrm>
          <a:prstGeom prst="rect">
            <a:avLst/>
          </a:prstGeom>
        </p:spPr>
      </p:pic>
      <p:pic>
        <p:nvPicPr>
          <p:cNvPr id="16" name="Image 5" descr="preencoded.png"/>
          <p:cNvPicPr>
            <a:picLocks noChangeAspect="1"/>
          </p:cNvPicPr>
          <p:nvPr/>
        </p:nvPicPr>
        <p:blipFill>
          <a:blip r:embed="rId4">
            <a:extLst>
              <a:ext uri="{96DAC541-7B7A-43D3-8B79-37D633B846F1}">
                <asvg:svgBlip xmlns:asvg="http://schemas.microsoft.com/office/drawing/2016/SVG/main" r:embed="rId9"/>
              </a:ext>
            </a:extLst>
          </a:blip>
          <a:stretch>
            <a:fillRect/>
          </a:stretch>
        </p:blipFill>
        <p:spPr>
          <a:xfrm>
            <a:off x="981432" y="5206841"/>
            <a:ext cx="225743" cy="225743"/>
          </a:xfrm>
          <a:prstGeom prst="rect">
            <a:avLst/>
          </a:prstGeom>
        </p:spPr>
      </p:pic>
      <p:sp>
        <p:nvSpPr>
          <p:cNvPr id="17" name="Text 9"/>
          <p:cNvSpPr/>
          <p:nvPr/>
        </p:nvSpPr>
        <p:spPr>
          <a:xfrm>
            <a:off x="843558" y="5737741"/>
            <a:ext cx="2227540" cy="261342"/>
          </a:xfrm>
          <a:prstGeom prst="rect">
            <a:avLst/>
          </a:prstGeom>
          <a:noFill/>
          <a:ln/>
        </p:spPr>
        <p:txBody>
          <a:bodyPr wrap="none" lIns="0" tIns="0" rIns="0" bIns="0" rtlCol="0" anchor="t"/>
          <a:lstStyle/>
          <a:p>
            <a:pPr marL="0" indent="0" algn="l">
              <a:lnSpc>
                <a:spcPts val="205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Uzoq muddatli ishlash</a:t>
            </a:r>
            <a:endParaRPr lang="en-US" sz="1600" dirty="0"/>
          </a:p>
        </p:txBody>
      </p:sp>
      <p:sp>
        <p:nvSpPr>
          <p:cNvPr id="18" name="Text 10"/>
          <p:cNvSpPr/>
          <p:nvPr/>
        </p:nvSpPr>
        <p:spPr>
          <a:xfrm>
            <a:off x="843558" y="6099334"/>
            <a:ext cx="6213277" cy="802243"/>
          </a:xfrm>
          <a:prstGeom prst="rect">
            <a:avLst/>
          </a:prstGeom>
          <a:noFill/>
          <a:ln/>
        </p:spPr>
        <p:txBody>
          <a:bodyPr wrap="square" lIns="0" tIns="0" rIns="0" bIns="0" rtlCol="0" anchor="t"/>
          <a:lstStyle/>
          <a:p>
            <a:pPr marL="0" indent="0" algn="l">
              <a:lnSpc>
                <a:spcPts val="2100"/>
              </a:lnSpc>
              <a:buNone/>
            </a:pPr>
            <a:r>
              <a:rPr lang="en-US" sz="1300" dirty="0">
                <a:solidFill>
                  <a:srgbClr val="2C2926"/>
                </a:solidFill>
                <a:latin typeface="Inter" pitchFamily="34" charset="0"/>
                <a:ea typeface="Inter" pitchFamily="34" charset="-122"/>
                <a:cs typeface="Inter" pitchFamily="34" charset="-120"/>
              </a:rPr>
              <a:t>Energiya samaradorligi yuqori bo‘lgan batareyalar yordamida uzoq muddatli avtonom ishlash qobiliyati ta’minlanadi. Bu, ayniqsa, uzoq muddatli operatsiyalar uchun juda muhim.</a:t>
            </a:r>
            <a:endParaRPr lang="en-US" sz="1300" dirty="0"/>
          </a:p>
        </p:txBody>
      </p:sp>
      <p:sp>
        <p:nvSpPr>
          <p:cNvPr id="19" name="Shape 11"/>
          <p:cNvSpPr/>
          <p:nvPr/>
        </p:nvSpPr>
        <p:spPr>
          <a:xfrm>
            <a:off x="7398782" y="4894183"/>
            <a:ext cx="6562844" cy="2182177"/>
          </a:xfrm>
          <a:prstGeom prst="roundRect">
            <a:avLst>
              <a:gd name="adj" fmla="val 3218"/>
            </a:avLst>
          </a:prstGeom>
          <a:solidFill>
            <a:srgbClr val="FFFFFF"/>
          </a:solidFill>
          <a:ln w="7620">
            <a:solidFill>
              <a:srgbClr val="F8ECD3"/>
            </a:solidFill>
            <a:prstDash val="solid"/>
          </a:ln>
        </p:spPr>
      </p:sp>
      <p:pic>
        <p:nvPicPr>
          <p:cNvPr id="20" name="Image 6" descr="preencoded.png"/>
          <p:cNvPicPr>
            <a:picLocks noChangeAspect="1"/>
          </p:cNvPicPr>
          <p:nvPr/>
        </p:nvPicPr>
        <p:blipFill>
          <a:blip r:embed="rId10"/>
          <a:stretch>
            <a:fillRect/>
          </a:stretch>
        </p:blipFill>
        <p:spPr>
          <a:xfrm>
            <a:off x="7573566" y="5068967"/>
            <a:ext cx="501610" cy="501610"/>
          </a:xfrm>
          <a:prstGeom prst="rect">
            <a:avLst/>
          </a:prstGeom>
        </p:spPr>
      </p:pic>
      <p:pic>
        <p:nvPicPr>
          <p:cNvPr id="21" name="Image 7" descr="preencoded.png"/>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7711440" y="5206841"/>
            <a:ext cx="225743" cy="225743"/>
          </a:xfrm>
          <a:prstGeom prst="rect">
            <a:avLst/>
          </a:prstGeom>
        </p:spPr>
      </p:pic>
      <p:sp>
        <p:nvSpPr>
          <p:cNvPr id="22" name="Text 12"/>
          <p:cNvSpPr/>
          <p:nvPr/>
        </p:nvSpPr>
        <p:spPr>
          <a:xfrm>
            <a:off x="7573566" y="5737741"/>
            <a:ext cx="2090142" cy="261342"/>
          </a:xfrm>
          <a:prstGeom prst="rect">
            <a:avLst/>
          </a:prstGeom>
          <a:noFill/>
          <a:ln/>
        </p:spPr>
        <p:txBody>
          <a:bodyPr wrap="none" lIns="0" tIns="0" rIns="0" bIns="0" rtlCol="0" anchor="t"/>
          <a:lstStyle/>
          <a:p>
            <a:pPr marL="0" indent="0" algn="l">
              <a:lnSpc>
                <a:spcPts val="205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Moslashuvchanlik</a:t>
            </a:r>
            <a:endParaRPr lang="en-US" sz="1600" dirty="0"/>
          </a:p>
        </p:txBody>
      </p:sp>
      <p:sp>
        <p:nvSpPr>
          <p:cNvPr id="23" name="Text 13"/>
          <p:cNvSpPr/>
          <p:nvPr/>
        </p:nvSpPr>
        <p:spPr>
          <a:xfrm>
            <a:off x="7573566" y="6099334"/>
            <a:ext cx="6213277" cy="802243"/>
          </a:xfrm>
          <a:prstGeom prst="rect">
            <a:avLst/>
          </a:prstGeom>
          <a:noFill/>
          <a:ln/>
        </p:spPr>
        <p:txBody>
          <a:bodyPr wrap="square" lIns="0" tIns="0" rIns="0" bIns="0" rtlCol="0" anchor="t"/>
          <a:lstStyle/>
          <a:p>
            <a:pPr marL="0" indent="0" algn="l">
              <a:lnSpc>
                <a:spcPts val="2100"/>
              </a:lnSpc>
              <a:buNone/>
            </a:pPr>
            <a:r>
              <a:rPr lang="en-US" sz="1300" dirty="0">
                <a:solidFill>
                  <a:srgbClr val="2C2926"/>
                </a:solidFill>
                <a:latin typeface="Inter" pitchFamily="34" charset="0"/>
                <a:ea typeface="Inter" pitchFamily="34" charset="-122"/>
                <a:cs typeface="Inter" pitchFamily="34" charset="-120"/>
              </a:rPr>
              <a:t>Dasturiy ta’minot orqali yangi modulyatsiya turlarini va tarmoq protokollarini qo‘shish imkoniyati mavjud. Bu radiostansiyani kelajakdagi texnologik o‘zgarishlarga moslashtirishga yordam beradi.</a:t>
            </a:r>
            <a:endParaRPr lang="en-US" sz="1300" dirty="0"/>
          </a:p>
        </p:txBody>
      </p:sp>
      <p:sp>
        <p:nvSpPr>
          <p:cNvPr id="24" name="Text 14"/>
          <p:cNvSpPr/>
          <p:nvPr/>
        </p:nvSpPr>
        <p:spPr>
          <a:xfrm>
            <a:off x="668774" y="7264479"/>
            <a:ext cx="13292852" cy="267414"/>
          </a:xfrm>
          <a:prstGeom prst="rect">
            <a:avLst/>
          </a:prstGeom>
          <a:noFill/>
          <a:ln/>
        </p:spPr>
        <p:txBody>
          <a:bodyPr wrap="none" lIns="0" tIns="0" rIns="0" bIns="0" rtlCol="0" anchor="t"/>
          <a:lstStyle/>
          <a:p>
            <a:pPr marL="0" indent="0" algn="l">
              <a:lnSpc>
                <a:spcPts val="2100"/>
              </a:lnSpc>
              <a:buNone/>
            </a:pPr>
            <a:r>
              <a:rPr lang="en-US" sz="1300" dirty="0">
                <a:solidFill>
                  <a:srgbClr val="2C2926"/>
                </a:solidFill>
                <a:latin typeface="Inter" pitchFamily="34" charset="0"/>
                <a:ea typeface="Inter" pitchFamily="34" charset="-122"/>
                <a:cs typeface="Inter" pitchFamily="34" charset="-120"/>
              </a:rPr>
              <a:t>Harris RF-7800 seriyasi ayniqsa harbiy va maxsus xizmatlar uchun mo‘ljallangan bo‘lib, og‘ir operatsion sharoitlarda ham ishonchli ishlashni kafolatlaydi.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90337"/>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2C2926"/>
                </a:solidFill>
                <a:latin typeface="Bricolage Grotesque Semi Bold" pitchFamily="34" charset="0"/>
                <a:ea typeface="Bricolage Grotesque Semi Bold" pitchFamily="34" charset="-122"/>
                <a:cs typeface="Bricolage Grotesque Semi Bold" pitchFamily="34" charset="-120"/>
              </a:rPr>
              <a:t>Thales Communications mahsulotlari: Taktik Ko'rsatkichlarga Chuqur Nazar</a:t>
            </a:r>
            <a:endParaRPr lang="en-US" sz="3900" dirty="0"/>
          </a:p>
        </p:txBody>
      </p:sp>
      <p:sp>
        <p:nvSpPr>
          <p:cNvPr id="3" name="Text 1"/>
          <p:cNvSpPr/>
          <p:nvPr/>
        </p:nvSpPr>
        <p:spPr>
          <a:xfrm>
            <a:off x="793790" y="242732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Thales Communications – yana bir global lider bo‘lib, u yuqori texnologik SDR yechimlarini taklif etadi. Ularning radiostansiyalari, xususan, </a:t>
            </a:r>
            <a:r>
              <a:rPr lang="en-US" sz="1550" b="1" dirty="0">
                <a:solidFill>
                  <a:srgbClr val="2C2926"/>
                </a:solidFill>
                <a:latin typeface="Inter" pitchFamily="34" charset="0"/>
                <a:ea typeface="Inter" pitchFamily="34" charset="-122"/>
                <a:cs typeface="Inter" pitchFamily="34" charset="-120"/>
              </a:rPr>
              <a:t>PR4G</a:t>
            </a:r>
            <a:r>
              <a:rPr lang="en-US" sz="1550" dirty="0">
                <a:solidFill>
                  <a:srgbClr val="2C2926"/>
                </a:solidFill>
                <a:latin typeface="Inter" pitchFamily="34" charset="0"/>
                <a:ea typeface="Inter" pitchFamily="34" charset="-122"/>
                <a:cs typeface="Inter" pitchFamily="34" charset="-120"/>
              </a:rPr>
              <a:t> va </a:t>
            </a:r>
            <a:r>
              <a:rPr lang="en-US" sz="1550" b="1" dirty="0">
                <a:solidFill>
                  <a:srgbClr val="2C2926"/>
                </a:solidFill>
                <a:latin typeface="Inter" pitchFamily="34" charset="0"/>
                <a:ea typeface="Inter" pitchFamily="34" charset="-122"/>
                <a:cs typeface="Inter" pitchFamily="34" charset="-120"/>
              </a:rPr>
              <a:t>SDR-MM</a:t>
            </a:r>
            <a:r>
              <a:rPr lang="en-US" sz="1550" dirty="0">
                <a:solidFill>
                  <a:srgbClr val="2C2926"/>
                </a:solidFill>
                <a:latin typeface="Inter" pitchFamily="34" charset="0"/>
                <a:ea typeface="Inter" pitchFamily="34" charset="-122"/>
                <a:cs typeface="Inter" pitchFamily="34" charset="-120"/>
              </a:rPr>
              <a:t> seriyalari taktik aloqa uchun mo‘ljallangan.</a:t>
            </a:r>
            <a:endParaRPr lang="en-US" sz="1550" dirty="0"/>
          </a:p>
        </p:txBody>
      </p:sp>
      <p:sp>
        <p:nvSpPr>
          <p:cNvPr id="4" name="Shape 2"/>
          <p:cNvSpPr/>
          <p:nvPr/>
        </p:nvSpPr>
        <p:spPr>
          <a:xfrm>
            <a:off x="793790" y="3285649"/>
            <a:ext cx="6422231" cy="3295293"/>
          </a:xfrm>
          <a:prstGeom prst="roundRect">
            <a:avLst>
              <a:gd name="adj" fmla="val 3330"/>
            </a:avLst>
          </a:prstGeom>
          <a:solidFill>
            <a:srgbClr val="FFFFFF">
              <a:alpha val="95000"/>
            </a:srgbClr>
          </a:solidFill>
          <a:ln w="22860">
            <a:solidFill>
              <a:srgbClr val="F8ECD3"/>
            </a:solidFill>
            <a:prstDash val="solid"/>
          </a:ln>
        </p:spPr>
      </p:sp>
      <p:pic>
        <p:nvPicPr>
          <p:cNvPr id="5" name="Image 0" descr="preencoded.png"/>
          <p:cNvPicPr>
            <a:picLocks noChangeAspect="1"/>
          </p:cNvPicPr>
          <p:nvPr/>
        </p:nvPicPr>
        <p:blipFill>
          <a:blip r:embed="rId3"/>
          <a:stretch>
            <a:fillRect/>
          </a:stretch>
        </p:blipFill>
        <p:spPr>
          <a:xfrm>
            <a:off x="770930" y="3285649"/>
            <a:ext cx="91440" cy="3295293"/>
          </a:xfrm>
          <a:prstGeom prst="rect">
            <a:avLst/>
          </a:prstGeom>
        </p:spPr>
      </p:pic>
      <p:sp>
        <p:nvSpPr>
          <p:cNvPr id="6" name="Text 3"/>
          <p:cNvSpPr/>
          <p:nvPr/>
        </p:nvSpPr>
        <p:spPr>
          <a:xfrm>
            <a:off x="1083588" y="3506867"/>
            <a:ext cx="4470916" cy="310158"/>
          </a:xfrm>
          <a:prstGeom prst="rect">
            <a:avLst/>
          </a:prstGeom>
          <a:noFill/>
          <a:ln/>
        </p:spPr>
        <p:txBody>
          <a:bodyPr wrap="none" lIns="0" tIns="0" rIns="0" bIns="0" rtlCol="0" anchor="t"/>
          <a:lstStyle/>
          <a:p>
            <a:pPr marL="0" indent="0" algn="l">
              <a:lnSpc>
                <a:spcPts val="2400"/>
              </a:lnSpc>
              <a:buNone/>
            </a:pPr>
            <a:r>
              <a:rPr lang="en-US" sz="1950" dirty="0">
                <a:solidFill>
                  <a:srgbClr val="2C2926"/>
                </a:solidFill>
                <a:latin typeface="Bricolage Grotesque Semi Bold" pitchFamily="34" charset="0"/>
                <a:ea typeface="Bricolage Grotesque Semi Bold" pitchFamily="34" charset="-122"/>
                <a:cs typeface="Bricolage Grotesque Semi Bold" pitchFamily="34" charset="-120"/>
              </a:rPr>
              <a:t>PR4G (Portable Radio 4th Generation)</a:t>
            </a:r>
            <a:endParaRPr lang="en-US" sz="1950" dirty="0"/>
          </a:p>
        </p:txBody>
      </p:sp>
      <p:sp>
        <p:nvSpPr>
          <p:cNvPr id="7" name="Text 4"/>
          <p:cNvSpPr/>
          <p:nvPr/>
        </p:nvSpPr>
        <p:spPr>
          <a:xfrm>
            <a:off x="1083588" y="3936087"/>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Asosan VHF diapazonida ishlaydi.</a:t>
            </a:r>
            <a:endParaRPr lang="en-US" sz="1550" dirty="0"/>
          </a:p>
        </p:txBody>
      </p:sp>
      <p:sp>
        <p:nvSpPr>
          <p:cNvPr id="8" name="Text 5"/>
          <p:cNvSpPr/>
          <p:nvPr/>
        </p:nvSpPr>
        <p:spPr>
          <a:xfrm>
            <a:off x="1083588" y="4323040"/>
            <a:ext cx="5911215"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Hoppin g chastota texnologiyasi yordamida aloqa uzilishlariga va elektron qarshi kurashga chidamliligi yuqori.</a:t>
            </a:r>
            <a:endParaRPr lang="en-US" sz="1550" dirty="0"/>
          </a:p>
        </p:txBody>
      </p:sp>
      <p:sp>
        <p:nvSpPr>
          <p:cNvPr id="9" name="Text 6"/>
          <p:cNvSpPr/>
          <p:nvPr/>
        </p:nvSpPr>
        <p:spPr>
          <a:xfrm>
            <a:off x="1083588" y="5027533"/>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Raqamli ovoz va ma’lumot uzatish imkoniyatlari.</a:t>
            </a:r>
            <a:endParaRPr lang="en-US" sz="1550" dirty="0"/>
          </a:p>
        </p:txBody>
      </p:sp>
      <p:sp>
        <p:nvSpPr>
          <p:cNvPr id="10" name="Text 7"/>
          <p:cNvSpPr/>
          <p:nvPr/>
        </p:nvSpPr>
        <p:spPr>
          <a:xfrm>
            <a:off x="1083588" y="5414486"/>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Modulli dizayn tufayli oson ta’mirlanadi va yangilanadi.</a:t>
            </a:r>
            <a:endParaRPr lang="en-US" sz="1550" dirty="0"/>
          </a:p>
        </p:txBody>
      </p:sp>
      <p:sp>
        <p:nvSpPr>
          <p:cNvPr id="11" name="Shape 8"/>
          <p:cNvSpPr/>
          <p:nvPr/>
        </p:nvSpPr>
        <p:spPr>
          <a:xfrm>
            <a:off x="7414379" y="3285649"/>
            <a:ext cx="6422231" cy="3295293"/>
          </a:xfrm>
          <a:prstGeom prst="roundRect">
            <a:avLst>
              <a:gd name="adj" fmla="val 3330"/>
            </a:avLst>
          </a:prstGeom>
          <a:solidFill>
            <a:srgbClr val="FFFFFF">
              <a:alpha val="95000"/>
            </a:srgbClr>
          </a:solidFill>
          <a:ln w="22860">
            <a:solidFill>
              <a:srgbClr val="F8ECD3"/>
            </a:solidFill>
            <a:prstDash val="solid"/>
          </a:ln>
        </p:spPr>
      </p:sp>
      <p:pic>
        <p:nvPicPr>
          <p:cNvPr id="12" name="Image 1" descr="preencoded.png"/>
          <p:cNvPicPr>
            <a:picLocks noChangeAspect="1"/>
          </p:cNvPicPr>
          <p:nvPr/>
        </p:nvPicPr>
        <p:blipFill>
          <a:blip r:embed="rId3"/>
          <a:stretch>
            <a:fillRect/>
          </a:stretch>
        </p:blipFill>
        <p:spPr>
          <a:xfrm>
            <a:off x="7391519" y="3285649"/>
            <a:ext cx="91440" cy="3295293"/>
          </a:xfrm>
          <a:prstGeom prst="rect">
            <a:avLst/>
          </a:prstGeom>
        </p:spPr>
      </p:pic>
      <p:sp>
        <p:nvSpPr>
          <p:cNvPr id="13" name="Text 9"/>
          <p:cNvSpPr/>
          <p:nvPr/>
        </p:nvSpPr>
        <p:spPr>
          <a:xfrm>
            <a:off x="7704177" y="3506867"/>
            <a:ext cx="5911215" cy="620316"/>
          </a:xfrm>
          <a:prstGeom prst="rect">
            <a:avLst/>
          </a:prstGeom>
          <a:noFill/>
          <a:ln/>
        </p:spPr>
        <p:txBody>
          <a:bodyPr wrap="square" lIns="0" tIns="0" rIns="0" bIns="0" rtlCol="0" anchor="t"/>
          <a:lstStyle/>
          <a:p>
            <a:pPr marL="0" indent="0" algn="l">
              <a:lnSpc>
                <a:spcPts val="2400"/>
              </a:lnSpc>
              <a:buNone/>
            </a:pPr>
            <a:r>
              <a:rPr lang="en-US" sz="1950" dirty="0">
                <a:solidFill>
                  <a:srgbClr val="2C2926"/>
                </a:solidFill>
                <a:latin typeface="Bricolage Grotesque Semi Bold" pitchFamily="34" charset="0"/>
                <a:ea typeface="Bricolage Grotesque Semi Bold" pitchFamily="34" charset="-122"/>
                <a:cs typeface="Bricolage Grotesque Semi Bold" pitchFamily="34" charset="-120"/>
              </a:rPr>
              <a:t>SDR-MM (Software Defined Radio – Multi-Mission)</a:t>
            </a:r>
            <a:endParaRPr lang="en-US" sz="1950" dirty="0"/>
          </a:p>
        </p:txBody>
      </p:sp>
      <p:sp>
        <p:nvSpPr>
          <p:cNvPr id="14" name="Text 10"/>
          <p:cNvSpPr/>
          <p:nvPr/>
        </p:nvSpPr>
        <p:spPr>
          <a:xfrm>
            <a:off x="7704177" y="4246245"/>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HF/VHF/UHF diapazonlarida ishlay oladi.</a:t>
            </a:r>
            <a:endParaRPr lang="en-US" sz="1550" dirty="0"/>
          </a:p>
        </p:txBody>
      </p:sp>
      <p:sp>
        <p:nvSpPr>
          <p:cNvPr id="15" name="Text 11"/>
          <p:cNvSpPr/>
          <p:nvPr/>
        </p:nvSpPr>
        <p:spPr>
          <a:xfrm>
            <a:off x="7704177" y="4633198"/>
            <a:ext cx="5911215"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Dasturiy ta’minot orqali juda keng ko‘lamli modulyatsiya turlarini va protokollarni qo‘llab-quvvatlaydi.</a:t>
            </a:r>
            <a:endParaRPr lang="en-US" sz="1550" dirty="0"/>
          </a:p>
        </p:txBody>
      </p:sp>
      <p:sp>
        <p:nvSpPr>
          <p:cNvPr id="16" name="Text 12"/>
          <p:cNvSpPr/>
          <p:nvPr/>
        </p:nvSpPr>
        <p:spPr>
          <a:xfrm>
            <a:off x="7704177" y="5337691"/>
            <a:ext cx="5911215"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Ma’lumot uzatish tezligi yuqori bo‘lib, video va boshqa og‘ir ma’lumotlarni uzatishga qodir.</a:t>
            </a:r>
            <a:endParaRPr lang="en-US" sz="1550" dirty="0"/>
          </a:p>
        </p:txBody>
      </p:sp>
      <p:sp>
        <p:nvSpPr>
          <p:cNvPr id="17" name="Text 13"/>
          <p:cNvSpPr/>
          <p:nvPr/>
        </p:nvSpPr>
        <p:spPr>
          <a:xfrm>
            <a:off x="7704177" y="6042184"/>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926"/>
                </a:solidFill>
                <a:latin typeface="Inter" pitchFamily="34" charset="0"/>
                <a:ea typeface="Inter" pitchFamily="34" charset="-122"/>
                <a:cs typeface="Inter" pitchFamily="34" charset="-120"/>
              </a:rPr>
              <a:t>Network-centric operatsiyalar uchun optimallashtirilgan.</a:t>
            </a:r>
            <a:endParaRPr lang="en-US" sz="1550" dirty="0"/>
          </a:p>
        </p:txBody>
      </p:sp>
      <p:sp>
        <p:nvSpPr>
          <p:cNvPr id="18" name="Text 14"/>
          <p:cNvSpPr/>
          <p:nvPr/>
        </p:nvSpPr>
        <p:spPr>
          <a:xfrm>
            <a:off x="793790" y="680418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C2926"/>
                </a:solidFill>
                <a:latin typeface="Inter" pitchFamily="34" charset="0"/>
                <a:ea typeface="Inter" pitchFamily="34" charset="-122"/>
                <a:cs typeface="Inter" pitchFamily="34" charset="-120"/>
              </a:rPr>
              <a:t>Thales mahsulotlari, ayniqsa, Fransiya va boshqa Yevropa davlatlari qurolli kuchlarida keng qo‘llaniladi. Ularning mahsulotlari harbiy operatsiyalarning barcha bosqichlarida ishonchli va xavfsiz aloqani ta’minlash uchun zarur bo‘lgan barcha xususiyatlarga ega.</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4845" y="519946"/>
            <a:ext cx="13086278" cy="519351"/>
          </a:xfrm>
          <a:prstGeom prst="rect">
            <a:avLst/>
          </a:prstGeom>
          <a:noFill/>
          <a:ln/>
        </p:spPr>
        <p:txBody>
          <a:bodyPr wrap="none" lIns="0" tIns="0" rIns="0" bIns="0" rtlCol="0" anchor="t"/>
          <a:lstStyle/>
          <a:p>
            <a:pPr marL="0" indent="0" algn="l">
              <a:lnSpc>
                <a:spcPts val="4050"/>
              </a:lnSpc>
              <a:buNone/>
            </a:pPr>
            <a:r>
              <a:rPr lang="en-US" sz="3250" dirty="0">
                <a:solidFill>
                  <a:srgbClr val="2C2926"/>
                </a:solidFill>
                <a:latin typeface="Bricolage Grotesque Semi Bold" pitchFamily="34" charset="0"/>
                <a:ea typeface="Bricolage Grotesque Semi Bold" pitchFamily="34" charset="-122"/>
                <a:cs typeface="Bricolage Grotesque Semi Bold" pitchFamily="34" charset="-120"/>
              </a:rPr>
              <a:t>Boshqa yetakchi ishlab chiqaruvchilar va ularning SDR yechimlari</a:t>
            </a:r>
            <a:endParaRPr lang="en-US" sz="3250" dirty="0"/>
          </a:p>
        </p:txBody>
      </p:sp>
      <p:sp>
        <p:nvSpPr>
          <p:cNvPr id="3" name="Text 1"/>
          <p:cNvSpPr/>
          <p:nvPr/>
        </p:nvSpPr>
        <p:spPr>
          <a:xfrm>
            <a:off x="664845" y="1371719"/>
            <a:ext cx="13300710" cy="531733"/>
          </a:xfrm>
          <a:prstGeom prst="rect">
            <a:avLst/>
          </a:prstGeom>
          <a:noFill/>
          <a:ln/>
        </p:spPr>
        <p:txBody>
          <a:bodyPr wrap="squar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Yuqorida tilga olingan Harris va Thalesdan tashqari, SDR radiostansiyalari bozorida bir qator boshqa kuchli o‘yinchilar ham mavjud. Ular ham o‘zlarining innovatsion yechimlari bilan ajralib turishadi.</a:t>
            </a:r>
            <a:endParaRPr lang="en-US" sz="1300" dirty="0"/>
          </a:p>
        </p:txBody>
      </p:sp>
      <p:sp>
        <p:nvSpPr>
          <p:cNvPr id="4" name="Shape 2"/>
          <p:cNvSpPr/>
          <p:nvPr/>
        </p:nvSpPr>
        <p:spPr>
          <a:xfrm>
            <a:off x="664845" y="2090380"/>
            <a:ext cx="664845" cy="1223486"/>
          </a:xfrm>
          <a:prstGeom prst="roundRect">
            <a:avLst>
              <a:gd name="adj" fmla="val 360039"/>
            </a:avLst>
          </a:prstGeom>
          <a:solidFill>
            <a:srgbClr val="FFFFFF"/>
          </a:solidFill>
          <a:ln w="7620">
            <a:solidFill>
              <a:srgbClr val="F8ECD3"/>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2609" y="2577346"/>
            <a:ext cx="249317" cy="249317"/>
          </a:xfrm>
          <a:prstGeom prst="rect">
            <a:avLst/>
          </a:prstGeom>
        </p:spPr>
      </p:pic>
      <p:sp>
        <p:nvSpPr>
          <p:cNvPr id="6" name="Text 3"/>
          <p:cNvSpPr/>
          <p:nvPr/>
        </p:nvSpPr>
        <p:spPr>
          <a:xfrm>
            <a:off x="1495901" y="2256592"/>
            <a:ext cx="3029188" cy="259675"/>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Rohde &amp; Schwarz (Germaniya)</a:t>
            </a:r>
            <a:endParaRPr lang="en-US" sz="1600" dirty="0"/>
          </a:p>
        </p:txBody>
      </p:sp>
      <p:sp>
        <p:nvSpPr>
          <p:cNvPr id="7" name="Text 4"/>
          <p:cNvSpPr/>
          <p:nvPr/>
        </p:nvSpPr>
        <p:spPr>
          <a:xfrm>
            <a:off x="1495901" y="2615922"/>
            <a:ext cx="12469654" cy="531733"/>
          </a:xfrm>
          <a:prstGeom prst="rect">
            <a:avLst/>
          </a:prstGeom>
          <a:noFill/>
          <a:ln/>
        </p:spPr>
        <p:txBody>
          <a:bodyPr wrap="squar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O‘zining </a:t>
            </a:r>
            <a:r>
              <a:rPr lang="en-US" sz="1300" b="1" dirty="0">
                <a:solidFill>
                  <a:srgbClr val="2C2926"/>
                </a:solidFill>
                <a:latin typeface="Inter" pitchFamily="34" charset="0"/>
                <a:ea typeface="Inter" pitchFamily="34" charset="-122"/>
                <a:cs typeface="Inter" pitchFamily="34" charset="-120"/>
              </a:rPr>
              <a:t>SOVERON</a:t>
            </a:r>
            <a:r>
              <a:rPr lang="en-US" sz="1300" dirty="0">
                <a:solidFill>
                  <a:srgbClr val="2C2926"/>
                </a:solidFill>
                <a:latin typeface="Inter" pitchFamily="34" charset="0"/>
                <a:ea typeface="Inter" pitchFamily="34" charset="-122"/>
                <a:cs typeface="Inter" pitchFamily="34" charset="-120"/>
              </a:rPr>
              <a:t> seriyali SDR radiostansiyalari bilan mashhur. Yuqori chastotali aloqa, xavfsizlik va mustahkamlikni ta’minlaydi. Ayniqsa, dengiz va havo kuchlari uchun yechimlar ishlab chiqadi.</a:t>
            </a:r>
            <a:endParaRPr lang="en-US" sz="1300" dirty="0"/>
          </a:p>
        </p:txBody>
      </p:sp>
      <p:sp>
        <p:nvSpPr>
          <p:cNvPr id="8" name="Shape 5"/>
          <p:cNvSpPr/>
          <p:nvPr/>
        </p:nvSpPr>
        <p:spPr>
          <a:xfrm>
            <a:off x="664845" y="3480078"/>
            <a:ext cx="664845" cy="1223486"/>
          </a:xfrm>
          <a:prstGeom prst="roundRect">
            <a:avLst>
              <a:gd name="adj" fmla="val 360039"/>
            </a:avLst>
          </a:prstGeom>
          <a:solidFill>
            <a:srgbClr val="FFFFFF"/>
          </a:solidFill>
          <a:ln w="7620">
            <a:solidFill>
              <a:srgbClr val="F8ECD3"/>
            </a:solidFill>
            <a:prstDash val="solid"/>
          </a:ln>
        </p:spPr>
      </p:sp>
      <p:pic>
        <p:nvPicPr>
          <p:cNvPr id="9"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872609" y="3967043"/>
            <a:ext cx="249317" cy="249317"/>
          </a:xfrm>
          <a:prstGeom prst="rect">
            <a:avLst/>
          </a:prstGeom>
        </p:spPr>
      </p:pic>
      <p:sp>
        <p:nvSpPr>
          <p:cNvPr id="10" name="Text 6"/>
          <p:cNvSpPr/>
          <p:nvPr/>
        </p:nvSpPr>
        <p:spPr>
          <a:xfrm>
            <a:off x="1495901" y="3646289"/>
            <a:ext cx="2077760" cy="259675"/>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Elbit Systems (Isroil)</a:t>
            </a:r>
            <a:endParaRPr lang="en-US" sz="1600" dirty="0"/>
          </a:p>
        </p:txBody>
      </p:sp>
      <p:sp>
        <p:nvSpPr>
          <p:cNvPr id="11" name="Text 7"/>
          <p:cNvSpPr/>
          <p:nvPr/>
        </p:nvSpPr>
        <p:spPr>
          <a:xfrm>
            <a:off x="1495901" y="4005620"/>
            <a:ext cx="12469654" cy="531733"/>
          </a:xfrm>
          <a:prstGeom prst="rect">
            <a:avLst/>
          </a:prstGeom>
          <a:noFill/>
          <a:ln/>
        </p:spPr>
        <p:txBody>
          <a:bodyPr wrap="square" lIns="0" tIns="0" rIns="0" bIns="0" rtlCol="0" anchor="t"/>
          <a:lstStyle/>
          <a:p>
            <a:pPr marL="0" indent="0" algn="l">
              <a:lnSpc>
                <a:spcPts val="2050"/>
              </a:lnSpc>
              <a:buNone/>
            </a:pPr>
            <a:r>
              <a:rPr lang="en-US" sz="1300" b="1" dirty="0">
                <a:solidFill>
                  <a:srgbClr val="2C2926"/>
                </a:solidFill>
                <a:latin typeface="Inter" pitchFamily="34" charset="0"/>
                <a:ea typeface="Inter" pitchFamily="34" charset="-122"/>
                <a:cs typeface="Inter" pitchFamily="34" charset="-120"/>
              </a:rPr>
              <a:t>PNR-1000</a:t>
            </a:r>
            <a:r>
              <a:rPr lang="en-US" sz="1300" dirty="0">
                <a:solidFill>
                  <a:srgbClr val="2C2926"/>
                </a:solidFill>
                <a:latin typeface="Inter" pitchFamily="34" charset="0"/>
                <a:ea typeface="Inter" pitchFamily="34" charset="-122"/>
                <a:cs typeface="Inter" pitchFamily="34" charset="-120"/>
              </a:rPr>
              <a:t> va </a:t>
            </a:r>
            <a:r>
              <a:rPr lang="en-US" sz="1300" b="1" dirty="0">
                <a:solidFill>
                  <a:srgbClr val="2C2926"/>
                </a:solidFill>
                <a:latin typeface="Inter" pitchFamily="34" charset="0"/>
                <a:ea typeface="Inter" pitchFamily="34" charset="-122"/>
                <a:cs typeface="Inter" pitchFamily="34" charset="-120"/>
              </a:rPr>
              <a:t>CNR-9000</a:t>
            </a:r>
            <a:r>
              <a:rPr lang="en-US" sz="1300" dirty="0">
                <a:solidFill>
                  <a:srgbClr val="2C2926"/>
                </a:solidFill>
                <a:latin typeface="Inter" pitchFamily="34" charset="0"/>
                <a:ea typeface="Inter" pitchFamily="34" charset="-122"/>
                <a:cs typeface="Inter" pitchFamily="34" charset="-120"/>
              </a:rPr>
              <a:t> kabi radiostansiyalari bilan tanilgan. Kichik o‘lchamli, yengil va yuqori samaradorlikka ega radiostansiyalarni taklif etadi. Taktik piyoda qo‘shinlari uchun ideal.</a:t>
            </a:r>
            <a:endParaRPr lang="en-US" sz="1300" dirty="0"/>
          </a:p>
        </p:txBody>
      </p:sp>
      <p:sp>
        <p:nvSpPr>
          <p:cNvPr id="12" name="Shape 8"/>
          <p:cNvSpPr/>
          <p:nvPr/>
        </p:nvSpPr>
        <p:spPr>
          <a:xfrm>
            <a:off x="664845" y="4869775"/>
            <a:ext cx="664845" cy="1223486"/>
          </a:xfrm>
          <a:prstGeom prst="roundRect">
            <a:avLst>
              <a:gd name="adj" fmla="val 360039"/>
            </a:avLst>
          </a:prstGeom>
          <a:solidFill>
            <a:srgbClr val="FFFFFF"/>
          </a:solidFill>
          <a:ln w="7620">
            <a:solidFill>
              <a:srgbClr val="F8ECD3"/>
            </a:solidFill>
            <a:prstDash val="solid"/>
          </a:ln>
        </p:spPr>
      </p:sp>
      <p:pic>
        <p:nvPicPr>
          <p:cNvPr id="13"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872609" y="5356741"/>
            <a:ext cx="249317" cy="249317"/>
          </a:xfrm>
          <a:prstGeom prst="rect">
            <a:avLst/>
          </a:prstGeom>
        </p:spPr>
      </p:pic>
      <p:sp>
        <p:nvSpPr>
          <p:cNvPr id="14" name="Text 9"/>
          <p:cNvSpPr/>
          <p:nvPr/>
        </p:nvSpPr>
        <p:spPr>
          <a:xfrm>
            <a:off x="1495901" y="5035987"/>
            <a:ext cx="2517934" cy="259675"/>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Collins Aerospace (AQSh)</a:t>
            </a:r>
            <a:endParaRPr lang="en-US" sz="1600" dirty="0"/>
          </a:p>
        </p:txBody>
      </p:sp>
      <p:sp>
        <p:nvSpPr>
          <p:cNvPr id="15" name="Text 10"/>
          <p:cNvSpPr/>
          <p:nvPr/>
        </p:nvSpPr>
        <p:spPr>
          <a:xfrm>
            <a:off x="1495901" y="5395317"/>
            <a:ext cx="12469654" cy="531733"/>
          </a:xfrm>
          <a:prstGeom prst="rect">
            <a:avLst/>
          </a:prstGeom>
          <a:noFill/>
          <a:ln/>
        </p:spPr>
        <p:txBody>
          <a:bodyPr wrap="squar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Ular asosan aviatsiya va kosmik sanoat uchun SDR yechimlari ishlab chiqaradi. Ularning </a:t>
            </a:r>
            <a:r>
              <a:rPr lang="en-US" sz="1300" b="1" dirty="0">
                <a:solidFill>
                  <a:srgbClr val="2C2926"/>
                </a:solidFill>
                <a:latin typeface="Inter" pitchFamily="34" charset="0"/>
                <a:ea typeface="Inter" pitchFamily="34" charset="-122"/>
                <a:cs typeface="Inter" pitchFamily="34" charset="-120"/>
              </a:rPr>
              <a:t>ARC-210</a:t>
            </a:r>
            <a:r>
              <a:rPr lang="en-US" sz="1300" dirty="0">
                <a:solidFill>
                  <a:srgbClr val="2C2926"/>
                </a:solidFill>
                <a:latin typeface="Inter" pitchFamily="34" charset="0"/>
                <a:ea typeface="Inter" pitchFamily="34" charset="-122"/>
                <a:cs typeface="Inter" pitchFamily="34" charset="-120"/>
              </a:rPr>
              <a:t> seriyali radiostansiyalari havo kemalarida keng qo‘llaniladi va global aloqa imkoniyatlarini ta’minlaydi.</a:t>
            </a:r>
            <a:endParaRPr lang="en-US" sz="1300" dirty="0"/>
          </a:p>
        </p:txBody>
      </p:sp>
      <p:sp>
        <p:nvSpPr>
          <p:cNvPr id="16" name="Shape 11"/>
          <p:cNvSpPr/>
          <p:nvPr/>
        </p:nvSpPr>
        <p:spPr>
          <a:xfrm>
            <a:off x="664845" y="6259473"/>
            <a:ext cx="664845" cy="997268"/>
          </a:xfrm>
          <a:prstGeom prst="roundRect">
            <a:avLst>
              <a:gd name="adj" fmla="val 360039"/>
            </a:avLst>
          </a:prstGeom>
          <a:solidFill>
            <a:srgbClr val="FFFFFF"/>
          </a:solidFill>
          <a:ln w="7620">
            <a:solidFill>
              <a:srgbClr val="F8ECD3"/>
            </a:solidFill>
            <a:prstDash val="solid"/>
          </a:ln>
        </p:spPr>
      </p:sp>
      <p:pic>
        <p:nvPicPr>
          <p:cNvPr id="17"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872609" y="6633329"/>
            <a:ext cx="249317" cy="249317"/>
          </a:xfrm>
          <a:prstGeom prst="rect">
            <a:avLst/>
          </a:prstGeom>
        </p:spPr>
      </p:pic>
      <p:sp>
        <p:nvSpPr>
          <p:cNvPr id="18" name="Text 12"/>
          <p:cNvSpPr/>
          <p:nvPr/>
        </p:nvSpPr>
        <p:spPr>
          <a:xfrm>
            <a:off x="1495901" y="6425684"/>
            <a:ext cx="2077760" cy="259675"/>
          </a:xfrm>
          <a:prstGeom prst="rect">
            <a:avLst/>
          </a:prstGeom>
          <a:noFill/>
          <a:ln/>
        </p:spPr>
        <p:txBody>
          <a:bodyPr wrap="none" lIns="0" tIns="0" rIns="0" bIns="0" rtlCol="0" anchor="t"/>
          <a:lstStyle/>
          <a:p>
            <a:pPr marL="0" indent="0" algn="l">
              <a:lnSpc>
                <a:spcPts val="2000"/>
              </a:lnSpc>
              <a:buNone/>
            </a:pPr>
            <a:r>
              <a:rPr lang="en-US" sz="1600" dirty="0">
                <a:solidFill>
                  <a:srgbClr val="2C2926"/>
                </a:solidFill>
                <a:latin typeface="Bricolage Grotesque Semi Bold" pitchFamily="34" charset="0"/>
                <a:ea typeface="Bricolage Grotesque Semi Bold" pitchFamily="34" charset="-122"/>
                <a:cs typeface="Bricolage Grotesque Semi Bold" pitchFamily="34" charset="-120"/>
              </a:rPr>
              <a:t>Leonardo (Italiya)</a:t>
            </a:r>
            <a:endParaRPr lang="en-US" sz="1600" dirty="0"/>
          </a:p>
        </p:txBody>
      </p:sp>
      <p:sp>
        <p:nvSpPr>
          <p:cNvPr id="19" name="Text 13"/>
          <p:cNvSpPr/>
          <p:nvPr/>
        </p:nvSpPr>
        <p:spPr>
          <a:xfrm>
            <a:off x="1495901" y="6785015"/>
            <a:ext cx="12469654" cy="265867"/>
          </a:xfrm>
          <a:prstGeom prst="rect">
            <a:avLst/>
          </a:prstGeom>
          <a:noFill/>
          <a:ln/>
        </p:spPr>
        <p:txBody>
          <a:bodyPr wrap="none" lIns="0" tIns="0" rIns="0" bIns="0" rtlCol="0" anchor="t"/>
          <a:lstStyle/>
          <a:p>
            <a:pPr marL="0" indent="0" algn="l">
              <a:lnSpc>
                <a:spcPts val="2050"/>
              </a:lnSpc>
              <a:buNone/>
            </a:pPr>
            <a:r>
              <a:rPr lang="en-US" sz="1300" b="1" dirty="0">
                <a:solidFill>
                  <a:srgbClr val="2C2926"/>
                </a:solidFill>
                <a:latin typeface="Inter" pitchFamily="34" charset="0"/>
                <a:ea typeface="Inter" pitchFamily="34" charset="-122"/>
                <a:cs typeface="Inter" pitchFamily="34" charset="-120"/>
              </a:rPr>
              <a:t>SWave</a:t>
            </a:r>
            <a:r>
              <a:rPr lang="en-US" sz="1300" dirty="0">
                <a:solidFill>
                  <a:srgbClr val="2C2926"/>
                </a:solidFill>
                <a:latin typeface="Inter" pitchFamily="34" charset="0"/>
                <a:ea typeface="Inter" pitchFamily="34" charset="-122"/>
                <a:cs typeface="Inter" pitchFamily="34" charset="-120"/>
              </a:rPr>
              <a:t> seriyali radiostansiyalari bilan tanilgan. Har xil operatsion muhitlarga moslashish qobiliyati va keng funksional imkoniyatlarga ega.</a:t>
            </a:r>
            <a:endParaRPr lang="en-US" sz="1300" dirty="0"/>
          </a:p>
        </p:txBody>
      </p:sp>
      <p:sp>
        <p:nvSpPr>
          <p:cNvPr id="20" name="Text 14"/>
          <p:cNvSpPr/>
          <p:nvPr/>
        </p:nvSpPr>
        <p:spPr>
          <a:xfrm>
            <a:off x="664845" y="7443668"/>
            <a:ext cx="13300710" cy="265867"/>
          </a:xfrm>
          <a:prstGeom prst="rect">
            <a:avLst/>
          </a:prstGeom>
          <a:noFill/>
          <a:ln/>
        </p:spPr>
        <p:txBody>
          <a:bodyPr wrap="none" lIns="0" tIns="0" rIns="0" bIns="0" rtlCol="0" anchor="t"/>
          <a:lstStyle/>
          <a:p>
            <a:pPr marL="0" indent="0" algn="l">
              <a:lnSpc>
                <a:spcPts val="2050"/>
              </a:lnSpc>
              <a:buNone/>
            </a:pPr>
            <a:r>
              <a:rPr lang="en-US" sz="1300" dirty="0">
                <a:solidFill>
                  <a:srgbClr val="2C2926"/>
                </a:solidFill>
                <a:latin typeface="Inter" pitchFamily="34" charset="0"/>
                <a:ea typeface="Inter" pitchFamily="34" charset="-122"/>
                <a:cs typeface="Inter" pitchFamily="34" charset="-120"/>
              </a:rPr>
              <a:t>Har bir ishlab chiqaruvchi o‘z mijozlarining o‘ziga xos talablariga javob beradigan yechimlarni taklif etadi, bu esa SDR bozorini yanada diversifikatsiya qiladi.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2358" y="683538"/>
            <a:ext cx="13085683" cy="1206818"/>
          </a:xfrm>
          <a:prstGeom prst="rect">
            <a:avLst/>
          </a:prstGeom>
          <a:noFill/>
          <a:ln/>
        </p:spPr>
        <p:txBody>
          <a:bodyPr wrap="square" lIns="0" tIns="0" rIns="0" bIns="0" rtlCol="0" anchor="t"/>
          <a:lstStyle/>
          <a:p>
            <a:pPr marL="0" indent="0" algn="l">
              <a:lnSpc>
                <a:spcPts val="4750"/>
              </a:lnSpc>
              <a:buNone/>
            </a:pPr>
            <a:r>
              <a:rPr lang="en-US" sz="3800" dirty="0">
                <a:solidFill>
                  <a:srgbClr val="2C2926"/>
                </a:solidFill>
                <a:latin typeface="Bricolage Grotesque Semi Bold" pitchFamily="34" charset="0"/>
                <a:ea typeface="Bricolage Grotesque Semi Bold" pitchFamily="34" charset="-122"/>
                <a:cs typeface="Bricolage Grotesque Semi Bold" pitchFamily="34" charset="-120"/>
              </a:rPr>
              <a:t>Dasturiy Konfiguratsiyaning Afzalliklari: Moslashuvchanlik va Yangilanishlar</a:t>
            </a:r>
            <a:endParaRPr lang="en-US" sz="3800" dirty="0"/>
          </a:p>
        </p:txBody>
      </p:sp>
      <p:sp>
        <p:nvSpPr>
          <p:cNvPr id="3" name="Text 1"/>
          <p:cNvSpPr/>
          <p:nvPr/>
        </p:nvSpPr>
        <p:spPr>
          <a:xfrm>
            <a:off x="772358" y="2276475"/>
            <a:ext cx="13085683" cy="617934"/>
          </a:xfrm>
          <a:prstGeom prst="rect">
            <a:avLst/>
          </a:prstGeom>
          <a:noFill/>
          <a:ln/>
        </p:spPr>
        <p:txBody>
          <a:bodyPr wrap="square" lIns="0" tIns="0" rIns="0" bIns="0" rtlCol="0" anchor="t"/>
          <a:lstStyle/>
          <a:p>
            <a:pPr marL="0" indent="0" algn="l">
              <a:lnSpc>
                <a:spcPts val="2400"/>
              </a:lnSpc>
              <a:buNone/>
            </a:pPr>
            <a:r>
              <a:rPr lang="en-US" sz="1500" dirty="0">
                <a:solidFill>
                  <a:srgbClr val="2C2926"/>
                </a:solidFill>
                <a:latin typeface="Inter" pitchFamily="34" charset="0"/>
                <a:ea typeface="Inter" pitchFamily="34" charset="-122"/>
                <a:cs typeface="Inter" pitchFamily="34" charset="-120"/>
              </a:rPr>
              <a:t>Dasturiy konfiguratsiyalanadigan radiostansiyalarning eng katta afzalliklaridan biri bu ularning </a:t>
            </a:r>
            <a:r>
              <a:rPr lang="en-US" sz="1500" b="1" dirty="0">
                <a:solidFill>
                  <a:srgbClr val="2C2926"/>
                </a:solidFill>
                <a:latin typeface="Inter" pitchFamily="34" charset="0"/>
                <a:ea typeface="Inter" pitchFamily="34" charset="-122"/>
                <a:cs typeface="Inter" pitchFamily="34" charset="-120"/>
              </a:rPr>
              <a:t>moslashuvchanligi</a:t>
            </a:r>
            <a:r>
              <a:rPr lang="en-US" sz="1500" dirty="0">
                <a:solidFill>
                  <a:srgbClr val="2C2926"/>
                </a:solidFill>
                <a:latin typeface="Inter" pitchFamily="34" charset="0"/>
                <a:ea typeface="Inter" pitchFamily="34" charset="-122"/>
                <a:cs typeface="Inter" pitchFamily="34" charset="-120"/>
              </a:rPr>
              <a:t> va </a:t>
            </a:r>
            <a:r>
              <a:rPr lang="en-US" sz="1500" b="1" dirty="0">
                <a:solidFill>
                  <a:srgbClr val="2C2926"/>
                </a:solidFill>
                <a:latin typeface="Inter" pitchFamily="34" charset="0"/>
                <a:ea typeface="Inter" pitchFamily="34" charset="-122"/>
                <a:cs typeface="Inter" pitchFamily="34" charset="-120"/>
              </a:rPr>
              <a:t>yangilanishlarga ochiqligi</a:t>
            </a:r>
            <a:r>
              <a:rPr lang="en-US" sz="1500" dirty="0">
                <a:solidFill>
                  <a:srgbClr val="2C2926"/>
                </a:solidFill>
                <a:latin typeface="Inter" pitchFamily="34" charset="0"/>
                <a:ea typeface="Inter" pitchFamily="34" charset="-122"/>
                <a:cs typeface="Inter" pitchFamily="34" charset="-120"/>
              </a:rPr>
              <a:t>dir. Bu xususiyatlar zamonaviy aloqa muhitining doimiy o‘zgaruvchan talablariga javob berishda hal qiluvchi rol o‘ynaydi.</a:t>
            </a:r>
            <a:endParaRPr lang="en-US" sz="1500" dirty="0"/>
          </a:p>
        </p:txBody>
      </p:sp>
      <p:sp>
        <p:nvSpPr>
          <p:cNvPr id="4" name="Shape 2"/>
          <p:cNvSpPr/>
          <p:nvPr/>
        </p:nvSpPr>
        <p:spPr>
          <a:xfrm>
            <a:off x="772358" y="3111579"/>
            <a:ext cx="13085683" cy="3599378"/>
          </a:xfrm>
          <a:prstGeom prst="roundRect">
            <a:avLst>
              <a:gd name="adj" fmla="val 2253"/>
            </a:avLst>
          </a:prstGeom>
          <a:solidFill>
            <a:srgbClr val="FFFFFF"/>
          </a:solidFill>
          <a:ln w="7620">
            <a:solidFill>
              <a:srgbClr val="F8ECD3"/>
            </a:solidFill>
            <a:prstDash val="solid"/>
          </a:ln>
        </p:spPr>
      </p:sp>
      <p:sp>
        <p:nvSpPr>
          <p:cNvPr id="5" name="Shape 3"/>
          <p:cNvSpPr/>
          <p:nvPr/>
        </p:nvSpPr>
        <p:spPr>
          <a:xfrm>
            <a:off x="779978" y="3119199"/>
            <a:ext cx="4356735" cy="3584138"/>
          </a:xfrm>
          <a:prstGeom prst="roundRect">
            <a:avLst>
              <a:gd name="adj" fmla="val 2263"/>
            </a:avLst>
          </a:prstGeom>
          <a:solidFill>
            <a:srgbClr val="FFFFFF"/>
          </a:solidFill>
          <a:ln/>
        </p:spPr>
      </p:sp>
      <p:sp>
        <p:nvSpPr>
          <p:cNvPr id="6" name="Text 4"/>
          <p:cNvSpPr/>
          <p:nvPr/>
        </p:nvSpPr>
        <p:spPr>
          <a:xfrm>
            <a:off x="972979" y="3312200"/>
            <a:ext cx="2413873" cy="301585"/>
          </a:xfrm>
          <a:prstGeom prst="rect">
            <a:avLst/>
          </a:prstGeom>
          <a:noFill/>
          <a:ln/>
        </p:spPr>
        <p:txBody>
          <a:bodyPr wrap="none" lIns="0" tIns="0" rIns="0" bIns="0" rtlCol="0" anchor="t"/>
          <a:lstStyle/>
          <a:p>
            <a:pPr marL="0" indent="0" algn="l">
              <a:lnSpc>
                <a:spcPts val="2350"/>
              </a:lnSpc>
              <a:buNone/>
            </a:pPr>
            <a:r>
              <a:rPr lang="en-US" sz="1900" dirty="0">
                <a:solidFill>
                  <a:srgbClr val="2C2926"/>
                </a:solidFill>
                <a:latin typeface="Bricolage Grotesque Semi Bold" pitchFamily="34" charset="0"/>
                <a:ea typeface="Bricolage Grotesque Semi Bold" pitchFamily="34" charset="-122"/>
                <a:cs typeface="Bricolage Grotesque Semi Bold" pitchFamily="34" charset="-120"/>
              </a:rPr>
              <a:t>Moslashuvchanlik</a:t>
            </a:r>
            <a:endParaRPr lang="en-US" sz="1900" dirty="0"/>
          </a:p>
        </p:txBody>
      </p:sp>
      <p:sp>
        <p:nvSpPr>
          <p:cNvPr id="7" name="Text 5"/>
          <p:cNvSpPr/>
          <p:nvPr/>
        </p:nvSpPr>
        <p:spPr>
          <a:xfrm>
            <a:off x="972979" y="3729633"/>
            <a:ext cx="3681055" cy="2471738"/>
          </a:xfrm>
          <a:prstGeom prst="rect">
            <a:avLst/>
          </a:prstGeom>
          <a:noFill/>
          <a:ln/>
        </p:spPr>
        <p:txBody>
          <a:bodyPr wrap="square" lIns="0" tIns="0" rIns="0" bIns="0" rtlCol="0" anchor="t"/>
          <a:lstStyle/>
          <a:p>
            <a:pPr marL="0" indent="0" algn="l">
              <a:lnSpc>
                <a:spcPts val="2400"/>
              </a:lnSpc>
              <a:buNone/>
            </a:pPr>
            <a:r>
              <a:rPr lang="en-US" sz="1500" dirty="0">
                <a:solidFill>
                  <a:srgbClr val="2C2926"/>
                </a:solidFill>
                <a:latin typeface="Inter" pitchFamily="34" charset="0"/>
                <a:ea typeface="Inter" pitchFamily="34" charset="-122"/>
                <a:cs typeface="Inter" pitchFamily="34" charset="-120"/>
              </a:rPr>
              <a:t>Apparatni fizik ravishda o‘zgartirmasdan turli modulyatsiya turlari, aloqa protokollari va chastota diapazonlari o‘rtasida tezda o‘tish imkonini beradi. Bu, masalan, bitta radiostansiyaning turli missiyalarda, turli aloqa standartlari talab qilinadigan vaziyatlarda ishlatilishiga imkon yaratadi.</a:t>
            </a:r>
            <a:endParaRPr lang="en-US" sz="1500" dirty="0"/>
          </a:p>
        </p:txBody>
      </p:sp>
      <p:sp>
        <p:nvSpPr>
          <p:cNvPr id="8" name="Shape 6"/>
          <p:cNvSpPr/>
          <p:nvPr/>
        </p:nvSpPr>
        <p:spPr>
          <a:xfrm>
            <a:off x="5136713" y="3119199"/>
            <a:ext cx="4356854" cy="3584138"/>
          </a:xfrm>
          <a:prstGeom prst="rect">
            <a:avLst/>
          </a:prstGeom>
          <a:solidFill>
            <a:srgbClr val="FFFFFF"/>
          </a:solidFill>
          <a:ln/>
        </p:spPr>
      </p:sp>
      <p:sp>
        <p:nvSpPr>
          <p:cNvPr id="9" name="Shape 7"/>
          <p:cNvSpPr/>
          <p:nvPr/>
        </p:nvSpPr>
        <p:spPr>
          <a:xfrm>
            <a:off x="5136713" y="3119199"/>
            <a:ext cx="22860" cy="3584138"/>
          </a:xfrm>
          <a:prstGeom prst="roundRect">
            <a:avLst>
              <a:gd name="adj" fmla="val 354796"/>
            </a:avLst>
          </a:prstGeom>
          <a:solidFill>
            <a:srgbClr val="F8ECD3"/>
          </a:solidFill>
          <a:ln/>
        </p:spPr>
      </p:sp>
      <p:sp>
        <p:nvSpPr>
          <p:cNvPr id="10" name="Text 8"/>
          <p:cNvSpPr/>
          <p:nvPr/>
        </p:nvSpPr>
        <p:spPr>
          <a:xfrm>
            <a:off x="5619393" y="3312200"/>
            <a:ext cx="2685812" cy="301585"/>
          </a:xfrm>
          <a:prstGeom prst="rect">
            <a:avLst/>
          </a:prstGeom>
          <a:noFill/>
          <a:ln/>
        </p:spPr>
        <p:txBody>
          <a:bodyPr wrap="none" lIns="0" tIns="0" rIns="0" bIns="0" rtlCol="0" anchor="t"/>
          <a:lstStyle/>
          <a:p>
            <a:pPr marL="0" indent="0" algn="l">
              <a:lnSpc>
                <a:spcPts val="2350"/>
              </a:lnSpc>
              <a:buNone/>
            </a:pPr>
            <a:r>
              <a:rPr lang="en-US" sz="1900" dirty="0">
                <a:solidFill>
                  <a:srgbClr val="2C2926"/>
                </a:solidFill>
                <a:latin typeface="Bricolage Grotesque Semi Bold" pitchFamily="34" charset="0"/>
                <a:ea typeface="Bricolage Grotesque Semi Bold" pitchFamily="34" charset="-122"/>
                <a:cs typeface="Bricolage Grotesque Semi Bold" pitchFamily="34" charset="-120"/>
              </a:rPr>
              <a:t>Dasturiy yangilanishlar</a:t>
            </a:r>
            <a:endParaRPr lang="en-US" sz="1900" dirty="0"/>
          </a:p>
        </p:txBody>
      </p:sp>
      <p:sp>
        <p:nvSpPr>
          <p:cNvPr id="11" name="Text 9"/>
          <p:cNvSpPr/>
          <p:nvPr/>
        </p:nvSpPr>
        <p:spPr>
          <a:xfrm>
            <a:off x="5619393" y="3729633"/>
            <a:ext cx="3391495" cy="2780705"/>
          </a:xfrm>
          <a:prstGeom prst="rect">
            <a:avLst/>
          </a:prstGeom>
          <a:noFill/>
          <a:ln/>
        </p:spPr>
        <p:txBody>
          <a:bodyPr wrap="square" lIns="0" tIns="0" rIns="0" bIns="0" rtlCol="0" anchor="t"/>
          <a:lstStyle/>
          <a:p>
            <a:pPr marL="0" indent="0" algn="l">
              <a:lnSpc>
                <a:spcPts val="2400"/>
              </a:lnSpc>
              <a:buNone/>
            </a:pPr>
            <a:r>
              <a:rPr lang="en-US" sz="1500" dirty="0">
                <a:solidFill>
                  <a:srgbClr val="2C2926"/>
                </a:solidFill>
                <a:latin typeface="Inter" pitchFamily="34" charset="0"/>
                <a:ea typeface="Inter" pitchFamily="34" charset="-122"/>
                <a:cs typeface="Inter" pitchFamily="34" charset="-120"/>
              </a:rPr>
              <a:t>Yangi xususiyatlar, funksiyalar va xavfsizlik protokollari mavjud qurilmaga dasturiy ta’minotni yuklash orqali qo‘shilishi mumkin. Bu radiostansiyaning umr davomiyligini sezilarli darajada uzaytiradi va eskirish xavfini kamaytiradi. Shu bilan birga, yangi apparat sotib olish zaruratini kamaytiradi.</a:t>
            </a:r>
            <a:endParaRPr lang="en-US" sz="1500" dirty="0"/>
          </a:p>
        </p:txBody>
      </p:sp>
      <p:sp>
        <p:nvSpPr>
          <p:cNvPr id="12" name="Shape 10"/>
          <p:cNvSpPr/>
          <p:nvPr/>
        </p:nvSpPr>
        <p:spPr>
          <a:xfrm>
            <a:off x="4895374" y="4669869"/>
            <a:ext cx="482679" cy="482679"/>
          </a:xfrm>
          <a:prstGeom prst="roundRect">
            <a:avLst>
              <a:gd name="adj" fmla="val 16803"/>
            </a:avLst>
          </a:prstGeom>
          <a:solidFill>
            <a:srgbClr val="FFFFFF">
              <a:alpha val="95000"/>
            </a:srgbClr>
          </a:solidFill>
          <a:ln w="22860">
            <a:solidFill>
              <a:srgbClr val="F8ECD3"/>
            </a:solidFill>
            <a:prstDash val="solid"/>
          </a:ln>
        </p:spPr>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5984" y="4790480"/>
            <a:ext cx="241340" cy="241340"/>
          </a:xfrm>
          <a:prstGeom prst="rect">
            <a:avLst/>
          </a:prstGeom>
        </p:spPr>
      </p:pic>
      <p:sp>
        <p:nvSpPr>
          <p:cNvPr id="14" name="Shape 11"/>
          <p:cNvSpPr/>
          <p:nvPr/>
        </p:nvSpPr>
        <p:spPr>
          <a:xfrm>
            <a:off x="9493568" y="3119199"/>
            <a:ext cx="4356854" cy="3584138"/>
          </a:xfrm>
          <a:prstGeom prst="rect">
            <a:avLst/>
          </a:prstGeom>
          <a:solidFill>
            <a:srgbClr val="FFFFFF"/>
          </a:solidFill>
          <a:ln/>
        </p:spPr>
      </p:sp>
      <p:sp>
        <p:nvSpPr>
          <p:cNvPr id="15" name="Shape 12"/>
          <p:cNvSpPr/>
          <p:nvPr/>
        </p:nvSpPr>
        <p:spPr>
          <a:xfrm>
            <a:off x="9493568" y="3119199"/>
            <a:ext cx="22860" cy="3584138"/>
          </a:xfrm>
          <a:prstGeom prst="roundRect">
            <a:avLst>
              <a:gd name="adj" fmla="val 354796"/>
            </a:avLst>
          </a:prstGeom>
          <a:solidFill>
            <a:srgbClr val="F8ECD3"/>
          </a:solidFill>
          <a:ln/>
        </p:spPr>
      </p:sp>
      <p:sp>
        <p:nvSpPr>
          <p:cNvPr id="16" name="Text 13"/>
          <p:cNvSpPr/>
          <p:nvPr/>
        </p:nvSpPr>
        <p:spPr>
          <a:xfrm>
            <a:off x="9976247" y="3312200"/>
            <a:ext cx="2413873" cy="301585"/>
          </a:xfrm>
          <a:prstGeom prst="rect">
            <a:avLst/>
          </a:prstGeom>
          <a:noFill/>
          <a:ln/>
        </p:spPr>
        <p:txBody>
          <a:bodyPr wrap="none" lIns="0" tIns="0" rIns="0" bIns="0" rtlCol="0" anchor="t"/>
          <a:lstStyle/>
          <a:p>
            <a:pPr marL="0" indent="0" algn="l">
              <a:lnSpc>
                <a:spcPts val="2350"/>
              </a:lnSpc>
              <a:buNone/>
            </a:pPr>
            <a:r>
              <a:rPr lang="en-US" sz="1900" dirty="0">
                <a:solidFill>
                  <a:srgbClr val="2C2926"/>
                </a:solidFill>
                <a:latin typeface="Bricolage Grotesque Semi Bold" pitchFamily="34" charset="0"/>
                <a:ea typeface="Bricolage Grotesque Semi Bold" pitchFamily="34" charset="-122"/>
                <a:cs typeface="Bricolage Grotesque Semi Bold" pitchFamily="34" charset="-120"/>
              </a:rPr>
              <a:t>Xavfsizlikni oshirish</a:t>
            </a:r>
            <a:endParaRPr lang="en-US" sz="1900" dirty="0"/>
          </a:p>
        </p:txBody>
      </p:sp>
      <p:sp>
        <p:nvSpPr>
          <p:cNvPr id="17" name="Text 14"/>
          <p:cNvSpPr/>
          <p:nvPr/>
        </p:nvSpPr>
        <p:spPr>
          <a:xfrm>
            <a:off x="9976247" y="3729633"/>
            <a:ext cx="3681174" cy="1544836"/>
          </a:xfrm>
          <a:prstGeom prst="rect">
            <a:avLst/>
          </a:prstGeom>
          <a:noFill/>
          <a:ln/>
        </p:spPr>
        <p:txBody>
          <a:bodyPr wrap="square" lIns="0" tIns="0" rIns="0" bIns="0" rtlCol="0" anchor="t"/>
          <a:lstStyle/>
          <a:p>
            <a:pPr marL="0" indent="0" algn="l">
              <a:lnSpc>
                <a:spcPts val="2400"/>
              </a:lnSpc>
              <a:buNone/>
            </a:pPr>
            <a:r>
              <a:rPr lang="en-US" sz="1500" dirty="0">
                <a:solidFill>
                  <a:srgbClr val="2C2926"/>
                </a:solidFill>
                <a:latin typeface="Inter" pitchFamily="34" charset="0"/>
                <a:ea typeface="Inter" pitchFamily="34" charset="-122"/>
                <a:cs typeface="Inter" pitchFamily="34" charset="-120"/>
              </a:rPr>
              <a:t>Kriptografik algoritmlarni va xavfsizlik mexanizmlarini doimiy ravishda yangilab turish imkoniyati mavjud. Bu elektron razvedka va hujumlarga qarshi doimiy himoyani ta’minlashda muhim.</a:t>
            </a:r>
            <a:endParaRPr lang="en-US" sz="1500" dirty="0"/>
          </a:p>
        </p:txBody>
      </p:sp>
      <p:sp>
        <p:nvSpPr>
          <p:cNvPr id="18" name="Shape 15"/>
          <p:cNvSpPr/>
          <p:nvPr/>
        </p:nvSpPr>
        <p:spPr>
          <a:xfrm>
            <a:off x="9252228" y="4669869"/>
            <a:ext cx="482679" cy="482679"/>
          </a:xfrm>
          <a:prstGeom prst="roundRect">
            <a:avLst>
              <a:gd name="adj" fmla="val 16803"/>
            </a:avLst>
          </a:prstGeom>
          <a:solidFill>
            <a:srgbClr val="FFFFFF">
              <a:alpha val="95000"/>
            </a:srgbClr>
          </a:solidFill>
          <a:ln w="22860">
            <a:solidFill>
              <a:srgbClr val="F8ECD3"/>
            </a:solidFill>
            <a:prstDash val="solid"/>
          </a:ln>
        </p:spPr>
      </p:sp>
      <p:pic>
        <p:nvPicPr>
          <p:cNvPr id="19"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9372838" y="4790480"/>
            <a:ext cx="241340" cy="241340"/>
          </a:xfrm>
          <a:prstGeom prst="rect">
            <a:avLst/>
          </a:prstGeom>
        </p:spPr>
      </p:pic>
      <p:sp>
        <p:nvSpPr>
          <p:cNvPr id="20" name="Text 16"/>
          <p:cNvSpPr/>
          <p:nvPr/>
        </p:nvSpPr>
        <p:spPr>
          <a:xfrm>
            <a:off x="772358" y="6928128"/>
            <a:ext cx="13085683" cy="617934"/>
          </a:xfrm>
          <a:prstGeom prst="rect">
            <a:avLst/>
          </a:prstGeom>
          <a:noFill/>
          <a:ln/>
        </p:spPr>
        <p:txBody>
          <a:bodyPr wrap="square" lIns="0" tIns="0" rIns="0" bIns="0" rtlCol="0" anchor="t"/>
          <a:lstStyle/>
          <a:p>
            <a:pPr marL="0" indent="0" algn="l">
              <a:lnSpc>
                <a:spcPts val="2400"/>
              </a:lnSpc>
              <a:buNone/>
            </a:pPr>
            <a:r>
              <a:rPr lang="en-US" sz="1500" dirty="0">
                <a:solidFill>
                  <a:srgbClr val="2C2926"/>
                </a:solidFill>
                <a:latin typeface="Inter" pitchFamily="34" charset="0"/>
                <a:ea typeface="Inter" pitchFamily="34" charset="-122"/>
                <a:cs typeface="Inter" pitchFamily="34" charset="-120"/>
              </a:rPr>
              <a:t>Ushbu afzalliklar SDR radiostansiyalarini kelajakdagi aloqa talablariga javob beradigan va doimiy rivojlanib boradigan texnologiya ekanligini isbotlaydi.</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4020" y="794742"/>
            <a:ext cx="13162359" cy="1146810"/>
          </a:xfrm>
          <a:prstGeom prst="rect">
            <a:avLst/>
          </a:prstGeom>
          <a:noFill/>
          <a:ln/>
        </p:spPr>
        <p:txBody>
          <a:bodyPr wrap="square" lIns="0" tIns="0" rIns="0" bIns="0" rtlCol="0" anchor="t"/>
          <a:lstStyle/>
          <a:p>
            <a:pPr marL="0" indent="0" algn="l">
              <a:lnSpc>
                <a:spcPts val="4500"/>
              </a:lnSpc>
              <a:buNone/>
            </a:pPr>
            <a:r>
              <a:rPr lang="en-US" sz="3600" dirty="0">
                <a:solidFill>
                  <a:srgbClr val="2C2926"/>
                </a:solidFill>
                <a:latin typeface="Bricolage Grotesque Semi Bold" pitchFamily="34" charset="0"/>
                <a:ea typeface="Bricolage Grotesque Semi Bold" pitchFamily="34" charset="-122"/>
                <a:cs typeface="Bricolage Grotesque Semi Bold" pitchFamily="34" charset="-120"/>
              </a:rPr>
              <a:t>Texnik Ko‘rsatkichlarni Taqqoslash: Chastota diapazoni, quvvat, xavfsizlik</a:t>
            </a:r>
            <a:endParaRPr lang="en-US" sz="3600" dirty="0"/>
          </a:p>
        </p:txBody>
      </p:sp>
      <p:sp>
        <p:nvSpPr>
          <p:cNvPr id="3" name="Text 1"/>
          <p:cNvSpPr/>
          <p:nvPr/>
        </p:nvSpPr>
        <p:spPr>
          <a:xfrm>
            <a:off x="734020" y="2308503"/>
            <a:ext cx="13162359"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SDR radiostansiyalarini tanlashda ularning texnik ko‘rsatkichlari muhim rol o‘ynaydi. Quyida ba’zi muhim ko‘rsatkichlar va ularning taqqoslanishi berilgan:</a:t>
            </a:r>
            <a:endParaRPr lang="en-US" sz="1400" dirty="0"/>
          </a:p>
        </p:txBody>
      </p:sp>
      <p:sp>
        <p:nvSpPr>
          <p:cNvPr id="4" name="Shape 2"/>
          <p:cNvSpPr/>
          <p:nvPr/>
        </p:nvSpPr>
        <p:spPr>
          <a:xfrm>
            <a:off x="734020" y="2808446"/>
            <a:ext cx="13162359" cy="3832979"/>
          </a:xfrm>
          <a:prstGeom prst="roundRect">
            <a:avLst>
              <a:gd name="adj" fmla="val 2011"/>
            </a:avLst>
          </a:prstGeom>
          <a:noFill/>
          <a:ln w="7620">
            <a:solidFill>
              <a:srgbClr val="000000">
                <a:alpha val="8000"/>
              </a:srgbClr>
            </a:solidFill>
            <a:prstDash val="solid"/>
          </a:ln>
        </p:spPr>
      </p:sp>
      <p:sp>
        <p:nvSpPr>
          <p:cNvPr id="5" name="Shape 3"/>
          <p:cNvSpPr/>
          <p:nvPr/>
        </p:nvSpPr>
        <p:spPr>
          <a:xfrm>
            <a:off x="741640" y="2816066"/>
            <a:ext cx="13147119" cy="822246"/>
          </a:xfrm>
          <a:prstGeom prst="rect">
            <a:avLst/>
          </a:prstGeom>
          <a:solidFill>
            <a:srgbClr val="FFFFFF">
              <a:alpha val="4000"/>
            </a:srgbClr>
          </a:solidFill>
          <a:ln/>
        </p:spPr>
      </p:sp>
      <p:sp>
        <p:nvSpPr>
          <p:cNvPr id="6" name="Text 4"/>
          <p:cNvSpPr/>
          <p:nvPr/>
        </p:nvSpPr>
        <p:spPr>
          <a:xfrm>
            <a:off x="925354" y="2933700"/>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Chastota diapazoni</a:t>
            </a:r>
            <a:endParaRPr lang="en-US" sz="1400" dirty="0"/>
          </a:p>
        </p:txBody>
      </p:sp>
      <p:sp>
        <p:nvSpPr>
          <p:cNvPr id="7" name="Text 5"/>
          <p:cNvSpPr/>
          <p:nvPr/>
        </p:nvSpPr>
        <p:spPr>
          <a:xfrm>
            <a:off x="4215884" y="2933700"/>
            <a:ext cx="291215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HF, VHF, UHF</a:t>
            </a:r>
            <a:endParaRPr lang="en-US" sz="1400" dirty="0"/>
          </a:p>
        </p:txBody>
      </p:sp>
      <p:sp>
        <p:nvSpPr>
          <p:cNvPr id="8" name="Text 6"/>
          <p:cNvSpPr/>
          <p:nvPr/>
        </p:nvSpPr>
        <p:spPr>
          <a:xfrm>
            <a:off x="7502604" y="2933700"/>
            <a:ext cx="291215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VHF (PR4G), HF/VHF/UHF (SDR-MM)</a:t>
            </a:r>
            <a:endParaRPr lang="en-US" sz="1400" dirty="0"/>
          </a:p>
        </p:txBody>
      </p:sp>
      <p:sp>
        <p:nvSpPr>
          <p:cNvPr id="9" name="Text 7"/>
          <p:cNvSpPr/>
          <p:nvPr/>
        </p:nvSpPr>
        <p:spPr>
          <a:xfrm>
            <a:off x="10789325" y="2933700"/>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HF, VHF, UHF, SHF</a:t>
            </a:r>
            <a:endParaRPr lang="en-US" sz="1400" dirty="0"/>
          </a:p>
        </p:txBody>
      </p:sp>
      <p:sp>
        <p:nvSpPr>
          <p:cNvPr id="10" name="Shape 8"/>
          <p:cNvSpPr/>
          <p:nvPr/>
        </p:nvSpPr>
        <p:spPr>
          <a:xfrm>
            <a:off x="741640" y="3638312"/>
            <a:ext cx="13147119" cy="822246"/>
          </a:xfrm>
          <a:prstGeom prst="rect">
            <a:avLst/>
          </a:prstGeom>
          <a:solidFill>
            <a:srgbClr val="000000">
              <a:alpha val="4000"/>
            </a:srgbClr>
          </a:solidFill>
          <a:ln/>
        </p:spPr>
      </p:sp>
      <p:sp>
        <p:nvSpPr>
          <p:cNvPr id="11" name="Text 9"/>
          <p:cNvSpPr/>
          <p:nvPr/>
        </p:nvSpPr>
        <p:spPr>
          <a:xfrm>
            <a:off x="925354" y="3755946"/>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Chiqish quvvati</a:t>
            </a:r>
            <a:endParaRPr lang="en-US" sz="1400" dirty="0"/>
          </a:p>
        </p:txBody>
      </p:sp>
      <p:sp>
        <p:nvSpPr>
          <p:cNvPr id="12" name="Text 10"/>
          <p:cNvSpPr/>
          <p:nvPr/>
        </p:nvSpPr>
        <p:spPr>
          <a:xfrm>
            <a:off x="4215884" y="3755946"/>
            <a:ext cx="291215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5W - 150W (konfiguratsiyaga qarab)</a:t>
            </a:r>
            <a:endParaRPr lang="en-US" sz="1400" dirty="0"/>
          </a:p>
        </p:txBody>
      </p:sp>
      <p:sp>
        <p:nvSpPr>
          <p:cNvPr id="13" name="Text 11"/>
          <p:cNvSpPr/>
          <p:nvPr/>
        </p:nvSpPr>
        <p:spPr>
          <a:xfrm>
            <a:off x="7502604" y="3755946"/>
            <a:ext cx="291215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0.5W - 50W (PR4G), 5W - 125W (SDR-MM)</a:t>
            </a:r>
            <a:endParaRPr lang="en-US" sz="1400" dirty="0"/>
          </a:p>
        </p:txBody>
      </p:sp>
      <p:sp>
        <p:nvSpPr>
          <p:cNvPr id="14" name="Text 12"/>
          <p:cNvSpPr/>
          <p:nvPr/>
        </p:nvSpPr>
        <p:spPr>
          <a:xfrm>
            <a:off x="10789325" y="3755946"/>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1W - 200W</a:t>
            </a:r>
            <a:endParaRPr lang="en-US" sz="1400" dirty="0"/>
          </a:p>
        </p:txBody>
      </p:sp>
      <p:sp>
        <p:nvSpPr>
          <p:cNvPr id="15" name="Shape 13"/>
          <p:cNvSpPr/>
          <p:nvPr/>
        </p:nvSpPr>
        <p:spPr>
          <a:xfrm>
            <a:off x="741640" y="4460558"/>
            <a:ext cx="13147119" cy="822246"/>
          </a:xfrm>
          <a:prstGeom prst="rect">
            <a:avLst/>
          </a:prstGeom>
          <a:solidFill>
            <a:srgbClr val="FFFFFF">
              <a:alpha val="4000"/>
            </a:srgbClr>
          </a:solidFill>
          <a:ln/>
        </p:spPr>
      </p:sp>
      <p:sp>
        <p:nvSpPr>
          <p:cNvPr id="16" name="Text 14"/>
          <p:cNvSpPr/>
          <p:nvPr/>
        </p:nvSpPr>
        <p:spPr>
          <a:xfrm>
            <a:off x="925354" y="4578191"/>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Ma’lumot uzatish tezligi</a:t>
            </a:r>
            <a:endParaRPr lang="en-US" sz="1400" dirty="0"/>
          </a:p>
        </p:txBody>
      </p:sp>
      <p:sp>
        <p:nvSpPr>
          <p:cNvPr id="17" name="Text 15"/>
          <p:cNvSpPr/>
          <p:nvPr/>
        </p:nvSpPr>
        <p:spPr>
          <a:xfrm>
            <a:off x="4215884" y="4578191"/>
            <a:ext cx="291215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Yuqori (kilobit/s dan megabit/s gacha)</a:t>
            </a:r>
            <a:endParaRPr lang="en-US" sz="1400" dirty="0"/>
          </a:p>
        </p:txBody>
      </p:sp>
      <p:sp>
        <p:nvSpPr>
          <p:cNvPr id="18" name="Text 16"/>
          <p:cNvSpPr/>
          <p:nvPr/>
        </p:nvSpPr>
        <p:spPr>
          <a:xfrm>
            <a:off x="7502604" y="4578191"/>
            <a:ext cx="291215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Yuqori</a:t>
            </a:r>
            <a:endParaRPr lang="en-US" sz="1400" dirty="0"/>
          </a:p>
        </p:txBody>
      </p:sp>
      <p:sp>
        <p:nvSpPr>
          <p:cNvPr id="19" name="Text 17"/>
          <p:cNvSpPr/>
          <p:nvPr/>
        </p:nvSpPr>
        <p:spPr>
          <a:xfrm>
            <a:off x="10789325" y="4578191"/>
            <a:ext cx="291596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Juda yuqori (video uzatish qobiliyati)</a:t>
            </a:r>
            <a:endParaRPr lang="en-US" sz="1400" dirty="0"/>
          </a:p>
        </p:txBody>
      </p:sp>
      <p:sp>
        <p:nvSpPr>
          <p:cNvPr id="20" name="Shape 18"/>
          <p:cNvSpPr/>
          <p:nvPr/>
        </p:nvSpPr>
        <p:spPr>
          <a:xfrm>
            <a:off x="741640" y="5282803"/>
            <a:ext cx="13147119" cy="822246"/>
          </a:xfrm>
          <a:prstGeom prst="rect">
            <a:avLst/>
          </a:prstGeom>
          <a:solidFill>
            <a:srgbClr val="000000">
              <a:alpha val="4000"/>
            </a:srgbClr>
          </a:solidFill>
          <a:ln/>
        </p:spPr>
      </p:sp>
      <p:sp>
        <p:nvSpPr>
          <p:cNvPr id="21" name="Text 19"/>
          <p:cNvSpPr/>
          <p:nvPr/>
        </p:nvSpPr>
        <p:spPr>
          <a:xfrm>
            <a:off x="925354" y="5400437"/>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Xavfsizlik</a:t>
            </a:r>
            <a:endParaRPr lang="en-US" sz="1400" dirty="0"/>
          </a:p>
        </p:txBody>
      </p:sp>
      <p:sp>
        <p:nvSpPr>
          <p:cNvPr id="22" name="Text 20"/>
          <p:cNvSpPr/>
          <p:nvPr/>
        </p:nvSpPr>
        <p:spPr>
          <a:xfrm>
            <a:off x="4215884" y="5400437"/>
            <a:ext cx="291215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AES 256-bit, HAIPE, Suite B</a:t>
            </a:r>
            <a:endParaRPr lang="en-US" sz="1400" dirty="0"/>
          </a:p>
        </p:txBody>
      </p:sp>
      <p:sp>
        <p:nvSpPr>
          <p:cNvPr id="23" name="Text 21"/>
          <p:cNvSpPr/>
          <p:nvPr/>
        </p:nvSpPr>
        <p:spPr>
          <a:xfrm>
            <a:off x="7502604" y="5400437"/>
            <a:ext cx="291215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O‘ziga xos shifrlash, hopping chastota</a:t>
            </a:r>
            <a:endParaRPr lang="en-US" sz="1400" dirty="0"/>
          </a:p>
        </p:txBody>
      </p:sp>
      <p:sp>
        <p:nvSpPr>
          <p:cNvPr id="24" name="Text 22"/>
          <p:cNvSpPr/>
          <p:nvPr/>
        </p:nvSpPr>
        <p:spPr>
          <a:xfrm>
            <a:off x="10789325" y="5400437"/>
            <a:ext cx="2915960"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Yuqori darajadagi milliy shifrlash standartlari</a:t>
            </a:r>
            <a:endParaRPr lang="en-US" sz="1400" dirty="0"/>
          </a:p>
        </p:txBody>
      </p:sp>
      <p:sp>
        <p:nvSpPr>
          <p:cNvPr id="25" name="Shape 23"/>
          <p:cNvSpPr/>
          <p:nvPr/>
        </p:nvSpPr>
        <p:spPr>
          <a:xfrm>
            <a:off x="741640" y="6105049"/>
            <a:ext cx="13147119" cy="528757"/>
          </a:xfrm>
          <a:prstGeom prst="rect">
            <a:avLst/>
          </a:prstGeom>
          <a:solidFill>
            <a:srgbClr val="FFFFFF">
              <a:alpha val="4000"/>
            </a:srgbClr>
          </a:solidFill>
          <a:ln/>
        </p:spPr>
      </p:sp>
      <p:sp>
        <p:nvSpPr>
          <p:cNvPr id="26" name="Text 24"/>
          <p:cNvSpPr/>
          <p:nvPr/>
        </p:nvSpPr>
        <p:spPr>
          <a:xfrm>
            <a:off x="925354" y="6222683"/>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Moslashuvchanlik</a:t>
            </a:r>
            <a:endParaRPr lang="en-US" sz="1400" dirty="0"/>
          </a:p>
        </p:txBody>
      </p:sp>
      <p:sp>
        <p:nvSpPr>
          <p:cNvPr id="27" name="Text 25"/>
          <p:cNvSpPr/>
          <p:nvPr/>
        </p:nvSpPr>
        <p:spPr>
          <a:xfrm>
            <a:off x="4215884" y="6222683"/>
            <a:ext cx="291215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Yuqori (dasturiy yangilanishlar)</a:t>
            </a:r>
            <a:endParaRPr lang="en-US" sz="1400" dirty="0"/>
          </a:p>
        </p:txBody>
      </p:sp>
      <p:sp>
        <p:nvSpPr>
          <p:cNvPr id="28" name="Text 26"/>
          <p:cNvSpPr/>
          <p:nvPr/>
        </p:nvSpPr>
        <p:spPr>
          <a:xfrm>
            <a:off x="7502604" y="6222683"/>
            <a:ext cx="291215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Yuqori</a:t>
            </a:r>
            <a:endParaRPr lang="en-US" sz="1400" dirty="0"/>
          </a:p>
        </p:txBody>
      </p:sp>
      <p:sp>
        <p:nvSpPr>
          <p:cNvPr id="29" name="Text 27"/>
          <p:cNvSpPr/>
          <p:nvPr/>
        </p:nvSpPr>
        <p:spPr>
          <a:xfrm>
            <a:off x="10789325" y="6222683"/>
            <a:ext cx="2915960" cy="293489"/>
          </a:xfrm>
          <a:prstGeom prst="rect">
            <a:avLst/>
          </a:prstGeom>
          <a:noFill/>
          <a:ln/>
        </p:spPr>
        <p:txBody>
          <a:bodyPr wrap="non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Yuqori</a:t>
            </a:r>
            <a:endParaRPr lang="en-US" sz="1400" dirty="0"/>
          </a:p>
        </p:txBody>
      </p:sp>
      <p:sp>
        <p:nvSpPr>
          <p:cNvPr id="30" name="Text 28"/>
          <p:cNvSpPr/>
          <p:nvPr/>
        </p:nvSpPr>
        <p:spPr>
          <a:xfrm>
            <a:off x="734020" y="6847880"/>
            <a:ext cx="13162359" cy="586978"/>
          </a:xfrm>
          <a:prstGeom prst="rect">
            <a:avLst/>
          </a:prstGeom>
          <a:noFill/>
          <a:ln/>
        </p:spPr>
        <p:txBody>
          <a:bodyPr wrap="square" lIns="0" tIns="0" rIns="0" bIns="0" rtlCol="0" anchor="t"/>
          <a:lstStyle/>
          <a:p>
            <a:pPr marL="0" indent="0" algn="l">
              <a:lnSpc>
                <a:spcPts val="2300"/>
              </a:lnSpc>
              <a:buNone/>
            </a:pPr>
            <a:r>
              <a:rPr lang="en-US" sz="1400" dirty="0">
                <a:solidFill>
                  <a:srgbClr val="2C2926"/>
                </a:solidFill>
                <a:latin typeface="Inter" pitchFamily="34" charset="0"/>
                <a:ea typeface="Inter" pitchFamily="34" charset="-122"/>
                <a:cs typeface="Inter" pitchFamily="34" charset="-120"/>
              </a:rPr>
              <a:t>Ushbu taqqoslash SDR radiostansiyalarining har birining o‘ziga xos afzalliklari borligini ko‘rsatadi. Tanlov foydalanuvchining ehtiyojlari va operatsion sharoitlarga bog‘liq.</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82216" y="400288"/>
            <a:ext cx="12363450" cy="454938"/>
          </a:xfrm>
          <a:prstGeom prst="rect">
            <a:avLst/>
          </a:prstGeom>
          <a:noFill/>
          <a:ln/>
        </p:spPr>
        <p:txBody>
          <a:bodyPr wrap="none" lIns="0" tIns="0" rIns="0" bIns="0" rtlCol="0" anchor="t"/>
          <a:lstStyle/>
          <a:p>
            <a:pPr marL="0" indent="0" algn="l">
              <a:lnSpc>
                <a:spcPts val="3550"/>
              </a:lnSpc>
              <a:buNone/>
            </a:pPr>
            <a:r>
              <a:rPr lang="en-US" sz="2850" dirty="0">
                <a:solidFill>
                  <a:srgbClr val="2C2926"/>
                </a:solidFill>
                <a:latin typeface="Bricolage Grotesque Semi Bold" pitchFamily="34" charset="0"/>
                <a:ea typeface="Bricolage Grotesque Semi Bold" pitchFamily="34" charset="-122"/>
                <a:cs typeface="Bricolage Grotesque Semi Bold" pitchFamily="34" charset="-120"/>
              </a:rPr>
              <a:t>SDR Radiostansiyalarni Qo'llash Sohalari va Kelajakdagi Tendentsiyalar</a:t>
            </a:r>
            <a:endParaRPr lang="en-US" sz="2850" dirty="0"/>
          </a:p>
        </p:txBody>
      </p:sp>
      <p:sp>
        <p:nvSpPr>
          <p:cNvPr id="3" name="Text 1"/>
          <p:cNvSpPr/>
          <p:nvPr/>
        </p:nvSpPr>
        <p:spPr>
          <a:xfrm>
            <a:off x="582216" y="1146334"/>
            <a:ext cx="13465969" cy="232886"/>
          </a:xfrm>
          <a:prstGeom prst="rect">
            <a:avLst/>
          </a:prstGeom>
          <a:noFill/>
          <a:ln/>
        </p:spPr>
        <p:txBody>
          <a:bodyPr wrap="none" lIns="0" tIns="0" rIns="0" bIns="0" rtlCol="0" anchor="t"/>
          <a:lstStyle/>
          <a:p>
            <a:pPr marL="0" indent="0" algn="l">
              <a:lnSpc>
                <a:spcPts val="1800"/>
              </a:lnSpc>
              <a:buNone/>
            </a:pPr>
            <a:r>
              <a:rPr lang="en-US" sz="1100" dirty="0">
                <a:solidFill>
                  <a:srgbClr val="2C2926"/>
                </a:solidFill>
                <a:latin typeface="Inter" pitchFamily="34" charset="0"/>
                <a:ea typeface="Inter" pitchFamily="34" charset="-122"/>
                <a:cs typeface="Inter" pitchFamily="34" charset="-120"/>
              </a:rPr>
              <a:t>SDR radiostansiyalarining keng imkoniyatlari ularni turli sohalarda keng qo‘llashga imkon beradi. Kelajakda bu texnologiyaning rivojlanish tendensiyalari ham juda istiqbolli.</a:t>
            </a:r>
            <a:endParaRPr lang="en-US" sz="1100" dirty="0"/>
          </a:p>
        </p:txBody>
      </p:sp>
      <p:sp>
        <p:nvSpPr>
          <p:cNvPr id="4" name="Text 2"/>
          <p:cNvSpPr/>
          <p:nvPr/>
        </p:nvSpPr>
        <p:spPr>
          <a:xfrm>
            <a:off x="3138845" y="2276237"/>
            <a:ext cx="1819751" cy="227409"/>
          </a:xfrm>
          <a:prstGeom prst="rect">
            <a:avLst/>
          </a:prstGeom>
          <a:noFill/>
          <a:ln/>
        </p:spPr>
        <p:txBody>
          <a:bodyPr wrap="none" lIns="0" tIns="0" rIns="0" bIns="0" rtlCol="0" anchor="t"/>
          <a:lstStyle/>
          <a:p>
            <a:pPr marL="0" indent="0" algn="r">
              <a:lnSpc>
                <a:spcPts val="1750"/>
              </a:lnSpc>
              <a:buNone/>
            </a:pPr>
            <a:r>
              <a:rPr lang="en-US" sz="1400" dirty="0">
                <a:solidFill>
                  <a:srgbClr val="2C2926"/>
                </a:solidFill>
                <a:latin typeface="Bricolage Grotesque Semi Bold" pitchFamily="34" charset="0"/>
                <a:ea typeface="Bricolage Grotesque Semi Bold" pitchFamily="34" charset="-122"/>
                <a:cs typeface="Bricolage Grotesque Semi Bold" pitchFamily="34" charset="-120"/>
              </a:rPr>
              <a:t>Harbiy aloqa</a:t>
            </a:r>
            <a:endParaRPr lang="en-US" sz="1400" dirty="0"/>
          </a:p>
        </p:txBody>
      </p:sp>
      <p:sp>
        <p:nvSpPr>
          <p:cNvPr id="5" name="Text 3"/>
          <p:cNvSpPr/>
          <p:nvPr/>
        </p:nvSpPr>
        <p:spPr>
          <a:xfrm>
            <a:off x="582216" y="2590919"/>
            <a:ext cx="4376380" cy="465773"/>
          </a:xfrm>
          <a:prstGeom prst="rect">
            <a:avLst/>
          </a:prstGeom>
          <a:noFill/>
          <a:ln/>
        </p:spPr>
        <p:txBody>
          <a:bodyPr wrap="square" lIns="0" tIns="0" rIns="0" bIns="0" rtlCol="0" anchor="t"/>
          <a:lstStyle/>
          <a:p>
            <a:pPr marL="0" indent="0" algn="r">
              <a:lnSpc>
                <a:spcPts val="1800"/>
              </a:lnSpc>
              <a:buNone/>
            </a:pPr>
            <a:r>
              <a:rPr lang="en-US" sz="1100" dirty="0">
                <a:solidFill>
                  <a:srgbClr val="2C2926"/>
                </a:solidFill>
                <a:latin typeface="Inter" pitchFamily="34" charset="0"/>
                <a:ea typeface="Inter" pitchFamily="34" charset="-122"/>
                <a:cs typeface="Inter" pitchFamily="34" charset="-120"/>
              </a:rPr>
              <a:t>Taktik tarmoqlar, komanda boshqaruvi, elektron kurashga chidamlilik.</a:t>
            </a:r>
            <a:endParaRPr lang="en-US" sz="1100" dirty="0"/>
          </a:p>
        </p:txBody>
      </p:sp>
      <p:pic>
        <p:nvPicPr>
          <p:cNvPr id="6" name="Image 0" descr="preencoded.png"/>
          <p:cNvPicPr>
            <a:picLocks noChangeAspect="1"/>
          </p:cNvPicPr>
          <p:nvPr/>
        </p:nvPicPr>
        <p:blipFill>
          <a:blip r:embed="rId3"/>
          <a:stretch>
            <a:fillRect/>
          </a:stretch>
        </p:blipFill>
        <p:spPr>
          <a:xfrm>
            <a:off x="4958596" y="1542931"/>
            <a:ext cx="4713089" cy="4713089"/>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30898" y="3083719"/>
            <a:ext cx="204668" cy="204668"/>
          </a:xfrm>
          <a:prstGeom prst="rect">
            <a:avLst/>
          </a:prstGeom>
        </p:spPr>
      </p:pic>
      <p:sp>
        <p:nvSpPr>
          <p:cNvPr id="8" name="Text 4"/>
          <p:cNvSpPr/>
          <p:nvPr/>
        </p:nvSpPr>
        <p:spPr>
          <a:xfrm>
            <a:off x="9671685" y="1981795"/>
            <a:ext cx="2832497" cy="227409"/>
          </a:xfrm>
          <a:prstGeom prst="rect">
            <a:avLst/>
          </a:prstGeom>
          <a:noFill/>
          <a:ln/>
        </p:spPr>
        <p:txBody>
          <a:bodyPr wrap="none" lIns="0" tIns="0" rIns="0" bIns="0" rtlCol="0" anchor="t"/>
          <a:lstStyle/>
          <a:p>
            <a:pPr marL="0" indent="0" algn="l">
              <a:lnSpc>
                <a:spcPts val="1750"/>
              </a:lnSpc>
              <a:buNone/>
            </a:pPr>
            <a:r>
              <a:rPr lang="en-US" sz="1400" dirty="0">
                <a:solidFill>
                  <a:srgbClr val="2C2926"/>
                </a:solidFill>
                <a:latin typeface="Bricolage Grotesque Semi Bold" pitchFamily="34" charset="0"/>
                <a:ea typeface="Bricolage Grotesque Semi Bold" pitchFamily="34" charset="-122"/>
                <a:cs typeface="Bricolage Grotesque Semi Bold" pitchFamily="34" charset="-120"/>
              </a:rPr>
              <a:t>Favqulodda vaziyatlar xizmatlari</a:t>
            </a:r>
            <a:endParaRPr lang="en-US" sz="1400" dirty="0"/>
          </a:p>
        </p:txBody>
      </p:sp>
      <p:sp>
        <p:nvSpPr>
          <p:cNvPr id="9" name="Text 5"/>
          <p:cNvSpPr/>
          <p:nvPr/>
        </p:nvSpPr>
        <p:spPr>
          <a:xfrm>
            <a:off x="9671685" y="2296477"/>
            <a:ext cx="4376499" cy="232886"/>
          </a:xfrm>
          <a:prstGeom prst="rect">
            <a:avLst/>
          </a:prstGeom>
          <a:noFill/>
          <a:ln/>
        </p:spPr>
        <p:txBody>
          <a:bodyPr wrap="none" lIns="0" tIns="0" rIns="0" bIns="0" rtlCol="0" anchor="t"/>
          <a:lstStyle/>
          <a:p>
            <a:pPr marL="0" indent="0" algn="l">
              <a:lnSpc>
                <a:spcPts val="1800"/>
              </a:lnSpc>
              <a:buNone/>
            </a:pPr>
            <a:r>
              <a:rPr lang="en-US" sz="1100" dirty="0">
                <a:solidFill>
                  <a:srgbClr val="2C2926"/>
                </a:solidFill>
                <a:latin typeface="Inter" pitchFamily="34" charset="0"/>
                <a:ea typeface="Inter" pitchFamily="34" charset="-122"/>
                <a:cs typeface="Inter" pitchFamily="34" charset="-120"/>
              </a:rPr>
              <a:t>Qutqaruv operatsiyalari, tabiiy ofatlar paytida ishonchli aloqa.</a:t>
            </a:r>
            <a:endParaRPr lang="en-US" sz="1100" dirty="0"/>
          </a:p>
        </p:txBody>
      </p:sp>
      <p:pic>
        <p:nvPicPr>
          <p:cNvPr id="10" name="Image 2" descr="preencoded.png"/>
          <p:cNvPicPr>
            <a:picLocks noChangeAspect="1"/>
          </p:cNvPicPr>
          <p:nvPr/>
        </p:nvPicPr>
        <p:blipFill>
          <a:blip r:embed="rId6"/>
          <a:stretch>
            <a:fillRect/>
          </a:stretch>
        </p:blipFill>
        <p:spPr>
          <a:xfrm>
            <a:off x="4958596" y="1542931"/>
            <a:ext cx="4713089" cy="4713089"/>
          </a:xfrm>
          <a:prstGeom prst="rect">
            <a:avLst/>
          </a:prstGeom>
        </p:spPr>
      </p:pic>
      <p:pic>
        <p:nvPicPr>
          <p:cNvPr id="11"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7587734" y="2642830"/>
            <a:ext cx="204668" cy="204668"/>
          </a:xfrm>
          <a:prstGeom prst="rect">
            <a:avLst/>
          </a:prstGeom>
        </p:spPr>
      </p:pic>
      <p:sp>
        <p:nvSpPr>
          <p:cNvPr id="12" name="Text 6"/>
          <p:cNvSpPr/>
          <p:nvPr/>
        </p:nvSpPr>
        <p:spPr>
          <a:xfrm>
            <a:off x="9962793" y="3625572"/>
            <a:ext cx="1819751" cy="227409"/>
          </a:xfrm>
          <a:prstGeom prst="rect">
            <a:avLst/>
          </a:prstGeom>
          <a:noFill/>
          <a:ln/>
        </p:spPr>
        <p:txBody>
          <a:bodyPr wrap="none" lIns="0" tIns="0" rIns="0" bIns="0" rtlCol="0" anchor="t"/>
          <a:lstStyle/>
          <a:p>
            <a:pPr marL="0" indent="0" algn="l">
              <a:lnSpc>
                <a:spcPts val="1750"/>
              </a:lnSpc>
              <a:buNone/>
            </a:pPr>
            <a:r>
              <a:rPr lang="en-US" sz="1400" dirty="0">
                <a:solidFill>
                  <a:srgbClr val="2C2926"/>
                </a:solidFill>
                <a:latin typeface="Bricolage Grotesque Semi Bold" pitchFamily="34" charset="0"/>
                <a:ea typeface="Bricolage Grotesque Semi Bold" pitchFamily="34" charset="-122"/>
                <a:cs typeface="Bricolage Grotesque Semi Bold" pitchFamily="34" charset="-120"/>
              </a:rPr>
              <a:t>Aerokosmik aloqa</a:t>
            </a:r>
            <a:endParaRPr lang="en-US" sz="1400" dirty="0"/>
          </a:p>
        </p:txBody>
      </p:sp>
      <p:sp>
        <p:nvSpPr>
          <p:cNvPr id="13" name="Text 7"/>
          <p:cNvSpPr/>
          <p:nvPr/>
        </p:nvSpPr>
        <p:spPr>
          <a:xfrm>
            <a:off x="9962793" y="3940254"/>
            <a:ext cx="4085392" cy="232886"/>
          </a:xfrm>
          <a:prstGeom prst="rect">
            <a:avLst/>
          </a:prstGeom>
          <a:noFill/>
          <a:ln/>
        </p:spPr>
        <p:txBody>
          <a:bodyPr wrap="none" lIns="0" tIns="0" rIns="0" bIns="0" rtlCol="0" anchor="t"/>
          <a:lstStyle/>
          <a:p>
            <a:pPr marL="0" indent="0" algn="l">
              <a:lnSpc>
                <a:spcPts val="1800"/>
              </a:lnSpc>
              <a:buNone/>
            </a:pPr>
            <a:r>
              <a:rPr lang="en-US" sz="1100" dirty="0">
                <a:solidFill>
                  <a:srgbClr val="2C2926"/>
                </a:solidFill>
                <a:latin typeface="Inter" pitchFamily="34" charset="0"/>
                <a:ea typeface="Inter" pitchFamily="34" charset="-122"/>
                <a:cs typeface="Inter" pitchFamily="34" charset="-120"/>
              </a:rPr>
              <a:t>Uchuvchisiz uchish apparatlari, kosmik zondlar bilan aloqa.</a:t>
            </a:r>
            <a:endParaRPr lang="en-US" sz="1100" dirty="0"/>
          </a:p>
        </p:txBody>
      </p:sp>
      <p:pic>
        <p:nvPicPr>
          <p:cNvPr id="14" name="Image 4" descr="preencoded.png"/>
          <p:cNvPicPr>
            <a:picLocks noChangeAspect="1"/>
          </p:cNvPicPr>
          <p:nvPr/>
        </p:nvPicPr>
        <p:blipFill>
          <a:blip r:embed="rId8"/>
          <a:stretch>
            <a:fillRect/>
          </a:stretch>
        </p:blipFill>
        <p:spPr>
          <a:xfrm>
            <a:off x="4958596" y="1542931"/>
            <a:ext cx="4713089" cy="4713089"/>
          </a:xfrm>
          <a:prstGeom prst="rect">
            <a:avLst/>
          </a:prstGeom>
        </p:spPr>
      </p:pic>
      <p:pic>
        <p:nvPicPr>
          <p:cNvPr id="15" name="Image 5" descr="preencoded.png"/>
          <p:cNvPicPr>
            <a:picLocks noChangeAspect="1"/>
          </p:cNvPicPr>
          <p:nvPr/>
        </p:nvPicPr>
        <p:blipFill>
          <a:blip r:embed="rId4">
            <a:extLst>
              <a:ext uri="{96DAC541-7B7A-43D3-8B79-37D633B846F1}">
                <asvg:svgBlip xmlns:asvg="http://schemas.microsoft.com/office/drawing/2016/SVG/main" r:embed="rId9"/>
              </a:ext>
            </a:extLst>
          </a:blip>
          <a:stretch>
            <a:fillRect/>
          </a:stretch>
        </p:blipFill>
        <p:spPr>
          <a:xfrm>
            <a:off x="8426291" y="3797022"/>
            <a:ext cx="204668" cy="204668"/>
          </a:xfrm>
          <a:prstGeom prst="rect">
            <a:avLst/>
          </a:prstGeom>
        </p:spPr>
      </p:pic>
      <p:sp>
        <p:nvSpPr>
          <p:cNvPr id="16" name="Text 8"/>
          <p:cNvSpPr/>
          <p:nvPr/>
        </p:nvSpPr>
        <p:spPr>
          <a:xfrm>
            <a:off x="9671685" y="5269468"/>
            <a:ext cx="2176463" cy="227409"/>
          </a:xfrm>
          <a:prstGeom prst="rect">
            <a:avLst/>
          </a:prstGeom>
          <a:noFill/>
          <a:ln/>
        </p:spPr>
        <p:txBody>
          <a:bodyPr wrap="none" lIns="0" tIns="0" rIns="0" bIns="0" rtlCol="0" anchor="t"/>
          <a:lstStyle/>
          <a:p>
            <a:pPr marL="0" indent="0" algn="l">
              <a:lnSpc>
                <a:spcPts val="1750"/>
              </a:lnSpc>
              <a:buNone/>
            </a:pPr>
            <a:r>
              <a:rPr lang="en-US" sz="1400" dirty="0">
                <a:solidFill>
                  <a:srgbClr val="2C2926"/>
                </a:solidFill>
                <a:latin typeface="Bricolage Grotesque Semi Bold" pitchFamily="34" charset="0"/>
                <a:ea typeface="Bricolage Grotesque Semi Bold" pitchFamily="34" charset="-122"/>
                <a:cs typeface="Bricolage Grotesque Semi Bold" pitchFamily="34" charset="-120"/>
              </a:rPr>
              <a:t>Huquqni muhofaza qilish</a:t>
            </a:r>
            <a:endParaRPr lang="en-US" sz="1400" dirty="0"/>
          </a:p>
        </p:txBody>
      </p:sp>
      <p:sp>
        <p:nvSpPr>
          <p:cNvPr id="17" name="Text 9"/>
          <p:cNvSpPr/>
          <p:nvPr/>
        </p:nvSpPr>
        <p:spPr>
          <a:xfrm>
            <a:off x="9671685" y="5584150"/>
            <a:ext cx="4376499" cy="232886"/>
          </a:xfrm>
          <a:prstGeom prst="rect">
            <a:avLst/>
          </a:prstGeom>
          <a:noFill/>
          <a:ln/>
        </p:spPr>
        <p:txBody>
          <a:bodyPr wrap="none" lIns="0" tIns="0" rIns="0" bIns="0" rtlCol="0" anchor="t"/>
          <a:lstStyle/>
          <a:p>
            <a:pPr marL="0" indent="0" algn="l">
              <a:lnSpc>
                <a:spcPts val="1800"/>
              </a:lnSpc>
              <a:buNone/>
            </a:pPr>
            <a:r>
              <a:rPr lang="en-US" sz="1100" dirty="0">
                <a:solidFill>
                  <a:srgbClr val="2C2926"/>
                </a:solidFill>
                <a:latin typeface="Inter" pitchFamily="34" charset="0"/>
                <a:ea typeface="Inter" pitchFamily="34" charset="-122"/>
                <a:cs typeface="Inter" pitchFamily="34" charset="-120"/>
              </a:rPr>
              <a:t>Maxsus operatsiyalar, chegara xizmatlari.</a:t>
            </a:r>
            <a:endParaRPr lang="en-US" sz="1100" dirty="0"/>
          </a:p>
        </p:txBody>
      </p:sp>
      <p:pic>
        <p:nvPicPr>
          <p:cNvPr id="18" name="Image 6" descr="preencoded.png"/>
          <p:cNvPicPr>
            <a:picLocks noChangeAspect="1"/>
          </p:cNvPicPr>
          <p:nvPr/>
        </p:nvPicPr>
        <p:blipFill>
          <a:blip r:embed="rId10"/>
          <a:stretch>
            <a:fillRect/>
          </a:stretch>
        </p:blipFill>
        <p:spPr>
          <a:xfrm>
            <a:off x="4958596" y="1542931"/>
            <a:ext cx="4713089" cy="4713089"/>
          </a:xfrm>
          <a:prstGeom prst="rect">
            <a:avLst/>
          </a:prstGeom>
        </p:spPr>
      </p:pic>
      <p:pic>
        <p:nvPicPr>
          <p:cNvPr id="19" name="Image 7" descr="preencoded.png"/>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7587734" y="4951214"/>
            <a:ext cx="204668" cy="204668"/>
          </a:xfrm>
          <a:prstGeom prst="rect">
            <a:avLst/>
          </a:prstGeom>
        </p:spPr>
      </p:pic>
      <p:sp>
        <p:nvSpPr>
          <p:cNvPr id="20" name="Text 10"/>
          <p:cNvSpPr/>
          <p:nvPr/>
        </p:nvSpPr>
        <p:spPr>
          <a:xfrm>
            <a:off x="3138845" y="4858464"/>
            <a:ext cx="1819751" cy="227409"/>
          </a:xfrm>
          <a:prstGeom prst="rect">
            <a:avLst/>
          </a:prstGeom>
          <a:noFill/>
          <a:ln/>
        </p:spPr>
        <p:txBody>
          <a:bodyPr wrap="none" lIns="0" tIns="0" rIns="0" bIns="0" rtlCol="0" anchor="t"/>
          <a:lstStyle/>
          <a:p>
            <a:pPr marL="0" indent="0" algn="r">
              <a:lnSpc>
                <a:spcPts val="1750"/>
              </a:lnSpc>
              <a:buNone/>
            </a:pPr>
            <a:r>
              <a:rPr lang="en-US" sz="1400" dirty="0">
                <a:solidFill>
                  <a:srgbClr val="2C2926"/>
                </a:solidFill>
                <a:latin typeface="Bricolage Grotesque Semi Bold" pitchFamily="34" charset="0"/>
                <a:ea typeface="Bricolage Grotesque Semi Bold" pitchFamily="34" charset="-122"/>
                <a:cs typeface="Bricolage Grotesque Semi Bold" pitchFamily="34" charset="-120"/>
              </a:rPr>
              <a:t>Fuqarolik ilovalar</a:t>
            </a:r>
            <a:endParaRPr lang="en-US" sz="1400" dirty="0"/>
          </a:p>
        </p:txBody>
      </p:sp>
      <p:sp>
        <p:nvSpPr>
          <p:cNvPr id="21" name="Text 11"/>
          <p:cNvSpPr/>
          <p:nvPr/>
        </p:nvSpPr>
        <p:spPr>
          <a:xfrm>
            <a:off x="582216" y="5173147"/>
            <a:ext cx="4376380" cy="232886"/>
          </a:xfrm>
          <a:prstGeom prst="rect">
            <a:avLst/>
          </a:prstGeom>
          <a:noFill/>
          <a:ln/>
        </p:spPr>
        <p:txBody>
          <a:bodyPr wrap="none" lIns="0" tIns="0" rIns="0" bIns="0" rtlCol="0" anchor="t"/>
          <a:lstStyle/>
          <a:p>
            <a:pPr marL="0" indent="0" algn="r">
              <a:lnSpc>
                <a:spcPts val="1800"/>
              </a:lnSpc>
              <a:buNone/>
            </a:pPr>
            <a:r>
              <a:rPr lang="en-US" sz="1100" dirty="0">
                <a:solidFill>
                  <a:srgbClr val="2C2926"/>
                </a:solidFill>
                <a:latin typeface="Inter" pitchFamily="34" charset="0"/>
                <a:ea typeface="Inter" pitchFamily="34" charset="-122"/>
                <a:cs typeface="Inter" pitchFamily="34" charset="-120"/>
              </a:rPr>
              <a:t>Amateur radio, ilmiy tadqiqotlar, Internet of Things (IoT).</a:t>
            </a:r>
            <a:endParaRPr lang="en-US" sz="1100" dirty="0"/>
          </a:p>
        </p:txBody>
      </p:sp>
      <p:pic>
        <p:nvPicPr>
          <p:cNvPr id="22" name="Image 8" descr="preencoded.png"/>
          <p:cNvPicPr>
            <a:picLocks noChangeAspect="1"/>
          </p:cNvPicPr>
          <p:nvPr/>
        </p:nvPicPr>
        <p:blipFill>
          <a:blip r:embed="rId12"/>
          <a:stretch>
            <a:fillRect/>
          </a:stretch>
        </p:blipFill>
        <p:spPr>
          <a:xfrm>
            <a:off x="4958596" y="1542931"/>
            <a:ext cx="4713089" cy="4713089"/>
          </a:xfrm>
          <a:prstGeom prst="rect">
            <a:avLst/>
          </a:prstGeom>
        </p:spPr>
      </p:pic>
      <p:pic>
        <p:nvPicPr>
          <p:cNvPr id="23" name="Image 9" descr="preencoded.png"/>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6230898" y="4510326"/>
            <a:ext cx="204668" cy="204668"/>
          </a:xfrm>
          <a:prstGeom prst="rect">
            <a:avLst/>
          </a:prstGeom>
        </p:spPr>
      </p:pic>
      <p:sp>
        <p:nvSpPr>
          <p:cNvPr id="24" name="Text 12"/>
          <p:cNvSpPr/>
          <p:nvPr/>
        </p:nvSpPr>
        <p:spPr>
          <a:xfrm>
            <a:off x="582216" y="6419731"/>
            <a:ext cx="13465969" cy="232886"/>
          </a:xfrm>
          <a:prstGeom prst="rect">
            <a:avLst/>
          </a:prstGeom>
          <a:noFill/>
          <a:ln/>
        </p:spPr>
        <p:txBody>
          <a:bodyPr wrap="none" lIns="0" tIns="0" rIns="0" bIns="0" rtlCol="0" anchor="t"/>
          <a:lstStyle/>
          <a:p>
            <a:pPr marL="0" indent="0" algn="l">
              <a:lnSpc>
                <a:spcPts val="1800"/>
              </a:lnSpc>
              <a:buNone/>
            </a:pPr>
            <a:r>
              <a:rPr lang="en-US" sz="1100" dirty="0">
                <a:solidFill>
                  <a:srgbClr val="2C2926"/>
                </a:solidFill>
                <a:latin typeface="Inter" pitchFamily="34" charset="0"/>
                <a:ea typeface="Inter" pitchFamily="34" charset="-122"/>
                <a:cs typeface="Inter" pitchFamily="34" charset="-120"/>
              </a:rPr>
              <a:t>Kelajakdagi tendensiyalar:</a:t>
            </a:r>
            <a:endParaRPr lang="en-US" sz="1100" dirty="0"/>
          </a:p>
        </p:txBody>
      </p:sp>
      <p:sp>
        <p:nvSpPr>
          <p:cNvPr id="25" name="Text 13"/>
          <p:cNvSpPr/>
          <p:nvPr/>
        </p:nvSpPr>
        <p:spPr>
          <a:xfrm>
            <a:off x="582216" y="6816328"/>
            <a:ext cx="13465969" cy="232886"/>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2C2926"/>
                </a:solidFill>
                <a:latin typeface="Inter" pitchFamily="34" charset="0"/>
                <a:ea typeface="Inter" pitchFamily="34" charset="-122"/>
                <a:cs typeface="Inter" pitchFamily="34" charset="-120"/>
              </a:rPr>
              <a:t>5G va 6G integratsiyasi:</a:t>
            </a:r>
            <a:r>
              <a:rPr lang="en-US" sz="1100" dirty="0">
                <a:solidFill>
                  <a:srgbClr val="2C2926"/>
                </a:solidFill>
                <a:latin typeface="Inter" pitchFamily="34" charset="0"/>
                <a:ea typeface="Inter" pitchFamily="34" charset="-122"/>
                <a:cs typeface="Inter" pitchFamily="34" charset="-120"/>
              </a:rPr>
              <a:t> Mobil aloqa standartlari bilan chuqurroq integratsiya.</a:t>
            </a:r>
            <a:endParaRPr lang="en-US" sz="1100" dirty="0"/>
          </a:p>
        </p:txBody>
      </p:sp>
      <p:sp>
        <p:nvSpPr>
          <p:cNvPr id="26" name="Text 14"/>
          <p:cNvSpPr/>
          <p:nvPr/>
        </p:nvSpPr>
        <p:spPr>
          <a:xfrm>
            <a:off x="582216" y="7100054"/>
            <a:ext cx="13465969" cy="232886"/>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2C2926"/>
                </a:solidFill>
                <a:latin typeface="Inter" pitchFamily="34" charset="0"/>
                <a:ea typeface="Inter" pitchFamily="34" charset="-122"/>
                <a:cs typeface="Inter" pitchFamily="34" charset="-120"/>
              </a:rPr>
              <a:t>Sun’iy intellekt va mashinani o‘rganish:</a:t>
            </a:r>
            <a:r>
              <a:rPr lang="en-US" sz="1100" dirty="0">
                <a:solidFill>
                  <a:srgbClr val="2C2926"/>
                </a:solidFill>
                <a:latin typeface="Inter" pitchFamily="34" charset="0"/>
                <a:ea typeface="Inter" pitchFamily="34" charset="-122"/>
                <a:cs typeface="Inter" pitchFamily="34" charset="-120"/>
              </a:rPr>
              <a:t> Aloqa parametrlarni optimallashtirish va xavfsizlikni oshirish.</a:t>
            </a:r>
            <a:endParaRPr lang="en-US" sz="1100" dirty="0"/>
          </a:p>
        </p:txBody>
      </p:sp>
      <p:sp>
        <p:nvSpPr>
          <p:cNvPr id="27" name="Text 15"/>
          <p:cNvSpPr/>
          <p:nvPr/>
        </p:nvSpPr>
        <p:spPr>
          <a:xfrm>
            <a:off x="582216" y="7383780"/>
            <a:ext cx="13465969" cy="232886"/>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2C2926"/>
                </a:solidFill>
                <a:latin typeface="Inter" pitchFamily="34" charset="0"/>
                <a:ea typeface="Inter" pitchFamily="34" charset="-122"/>
                <a:cs typeface="Inter" pitchFamily="34" charset="-120"/>
              </a:rPr>
              <a:t>Miniatyuralash va energiya samaradorligi:</a:t>
            </a:r>
            <a:r>
              <a:rPr lang="en-US" sz="1100" dirty="0">
                <a:solidFill>
                  <a:srgbClr val="2C2926"/>
                </a:solidFill>
                <a:latin typeface="Inter" pitchFamily="34" charset="0"/>
                <a:ea typeface="Inter" pitchFamily="34" charset="-122"/>
                <a:cs typeface="Inter" pitchFamily="34" charset="-120"/>
              </a:rPr>
              <a:t> Kichikroq, yengilroq va uzoqroq ishlaydigan qurilmalar yaratish.</a:t>
            </a:r>
            <a:endParaRPr lang="en-US" sz="1100" dirty="0"/>
          </a:p>
        </p:txBody>
      </p:sp>
      <p:sp>
        <p:nvSpPr>
          <p:cNvPr id="28" name="Text 16"/>
          <p:cNvSpPr/>
          <p:nvPr/>
        </p:nvSpPr>
        <p:spPr>
          <a:xfrm>
            <a:off x="582216" y="7667506"/>
            <a:ext cx="13465969" cy="232886"/>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2C2926"/>
                </a:solidFill>
                <a:latin typeface="Inter" pitchFamily="34" charset="0"/>
                <a:ea typeface="Inter" pitchFamily="34" charset="-122"/>
                <a:cs typeface="Inter" pitchFamily="34" charset="-120"/>
              </a:rPr>
              <a:t>Kiberxavfsizlikni kuchaytirish:</a:t>
            </a:r>
            <a:r>
              <a:rPr lang="en-US" sz="1100" dirty="0">
                <a:solidFill>
                  <a:srgbClr val="2C2926"/>
                </a:solidFill>
                <a:latin typeface="Inter" pitchFamily="34" charset="0"/>
                <a:ea typeface="Inter" pitchFamily="34" charset="-122"/>
                <a:cs typeface="Inter" pitchFamily="34" charset="-120"/>
              </a:rPr>
              <a:t> Radiokiberhujumlarga qarshi yanada kuchli himoya mexanizmlari.</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1160" y="510302"/>
            <a:ext cx="12418338" cy="555546"/>
          </a:xfrm>
          <a:prstGeom prst="rect">
            <a:avLst/>
          </a:prstGeom>
          <a:noFill/>
          <a:ln/>
        </p:spPr>
        <p:txBody>
          <a:bodyPr wrap="none" lIns="0" tIns="0" rIns="0" bIns="0" rtlCol="0" anchor="t"/>
          <a:lstStyle/>
          <a:p>
            <a:pPr marL="0" indent="0" algn="l">
              <a:lnSpc>
                <a:spcPts val="4350"/>
              </a:lnSpc>
              <a:buNone/>
            </a:pPr>
            <a:r>
              <a:rPr lang="en-US" sz="3450" dirty="0">
                <a:solidFill>
                  <a:srgbClr val="2C2926"/>
                </a:solidFill>
                <a:latin typeface="Bricolage Grotesque Semi Bold" pitchFamily="34" charset="0"/>
                <a:ea typeface="Bricolage Grotesque Semi Bold" pitchFamily="34" charset="-122"/>
                <a:cs typeface="Bricolage Grotesque Semi Bold" pitchFamily="34" charset="-120"/>
              </a:rPr>
              <a:t>Xulosa va asosiy tavsiyalar: Texnologik ustunlikka erishish</a:t>
            </a:r>
            <a:endParaRPr lang="en-US" sz="3450" dirty="0"/>
          </a:p>
        </p:txBody>
      </p:sp>
      <p:sp>
        <p:nvSpPr>
          <p:cNvPr id="3" name="Text 1"/>
          <p:cNvSpPr/>
          <p:nvPr/>
        </p:nvSpPr>
        <p:spPr>
          <a:xfrm>
            <a:off x="711160" y="1421368"/>
            <a:ext cx="13208079" cy="852964"/>
          </a:xfrm>
          <a:prstGeom prst="rect">
            <a:avLst/>
          </a:prstGeom>
          <a:noFill/>
          <a:ln/>
        </p:spPr>
        <p:txBody>
          <a:bodyPr wrap="square" lIns="0" tIns="0" rIns="0" bIns="0" rtlCol="0" anchor="t"/>
          <a:lstStyle/>
          <a:p>
            <a:pPr marL="0" indent="0" algn="l">
              <a:lnSpc>
                <a:spcPts val="2200"/>
              </a:lnSpc>
              <a:buNone/>
            </a:pPr>
            <a:r>
              <a:rPr lang="en-US" sz="1350" dirty="0">
                <a:solidFill>
                  <a:srgbClr val="2C2926"/>
                </a:solidFill>
                <a:latin typeface="Inter" pitchFamily="34" charset="0"/>
                <a:ea typeface="Inter" pitchFamily="34" charset="-122"/>
                <a:cs typeface="Inter" pitchFamily="34" charset="-120"/>
              </a:rPr>
              <a:t>Dasturiy konfiguratsiyalanadigan radiostansiyalar (SDR) zamonaviy aloqa texnologiyalarining eng muhim yutuqlaridan biridir. Ular moslashuvchanlik, yangilanish imkoniyati va yuqori xavfsizlikni ta’minlab, turli sohalarda, ayniqsa harbiy va favqulodda vaziyatlar xizmatlarida hal qiluvchi ahamiyat kasb etmoqda.</a:t>
            </a:r>
            <a:endParaRPr lang="en-US" sz="1350" dirty="0"/>
          </a:p>
        </p:txBody>
      </p:sp>
      <p:sp>
        <p:nvSpPr>
          <p:cNvPr id="4" name="Shape 2"/>
          <p:cNvSpPr/>
          <p:nvPr/>
        </p:nvSpPr>
        <p:spPr>
          <a:xfrm>
            <a:off x="711160" y="2741057"/>
            <a:ext cx="6515100" cy="1882497"/>
          </a:xfrm>
          <a:prstGeom prst="roundRect">
            <a:avLst>
              <a:gd name="adj" fmla="val 5829"/>
            </a:avLst>
          </a:prstGeom>
          <a:solidFill>
            <a:srgbClr val="FFFFFF">
              <a:alpha val="95000"/>
            </a:srgbClr>
          </a:solidFill>
          <a:ln/>
        </p:spPr>
      </p:sp>
      <p:pic>
        <p:nvPicPr>
          <p:cNvPr id="5" name="Image 0" descr="preencoded.png"/>
          <p:cNvPicPr>
            <a:picLocks noChangeAspect="1"/>
          </p:cNvPicPr>
          <p:nvPr/>
        </p:nvPicPr>
        <p:blipFill>
          <a:blip r:embed="rId3"/>
          <a:stretch>
            <a:fillRect/>
          </a:stretch>
        </p:blipFill>
        <p:spPr>
          <a:xfrm>
            <a:off x="711160" y="2718197"/>
            <a:ext cx="6515100" cy="91440"/>
          </a:xfrm>
          <a:prstGeom prst="rect">
            <a:avLst/>
          </a:prstGeom>
        </p:spPr>
      </p:pic>
      <p:pic>
        <p:nvPicPr>
          <p:cNvPr id="6" name="Image 1" descr="preencoded.png"/>
          <p:cNvPicPr>
            <a:picLocks noChangeAspect="1"/>
          </p:cNvPicPr>
          <p:nvPr/>
        </p:nvPicPr>
        <p:blipFill>
          <a:blip r:embed="rId4"/>
          <a:stretch>
            <a:fillRect/>
          </a:stretch>
        </p:blipFill>
        <p:spPr>
          <a:xfrm>
            <a:off x="3702010" y="2474357"/>
            <a:ext cx="533400" cy="533400"/>
          </a:xfrm>
          <a:prstGeom prst="rect">
            <a:avLst/>
          </a:prstGeom>
        </p:spPr>
      </p:pic>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2030" y="2634377"/>
            <a:ext cx="213360" cy="213360"/>
          </a:xfrm>
          <a:prstGeom prst="rect">
            <a:avLst/>
          </a:prstGeom>
        </p:spPr>
      </p:pic>
      <p:sp>
        <p:nvSpPr>
          <p:cNvPr id="8" name="Text 3"/>
          <p:cNvSpPr/>
          <p:nvPr/>
        </p:nvSpPr>
        <p:spPr>
          <a:xfrm>
            <a:off x="911781" y="3185517"/>
            <a:ext cx="2222421" cy="277773"/>
          </a:xfrm>
          <a:prstGeom prst="rect">
            <a:avLst/>
          </a:prstGeom>
          <a:noFill/>
          <a:ln/>
        </p:spPr>
        <p:txBody>
          <a:bodyPr wrap="none" lIns="0" tIns="0" rIns="0" bIns="0" rtlCol="0" anchor="t"/>
          <a:lstStyle/>
          <a:p>
            <a:pPr marL="0" indent="0" algn="l">
              <a:lnSpc>
                <a:spcPts val="2150"/>
              </a:lnSpc>
              <a:buNone/>
            </a:pPr>
            <a:r>
              <a:rPr lang="en-US" sz="1750" dirty="0">
                <a:solidFill>
                  <a:srgbClr val="2C2926"/>
                </a:solidFill>
                <a:latin typeface="Bricolage Grotesque Semi Bold" pitchFamily="34" charset="0"/>
                <a:ea typeface="Bricolage Grotesque Semi Bold" pitchFamily="34" charset="-122"/>
                <a:cs typeface="Bricolage Grotesque Semi Bold" pitchFamily="34" charset="-120"/>
              </a:rPr>
              <a:t>Texnologik ustunlik</a:t>
            </a:r>
            <a:endParaRPr lang="en-US" sz="1750" dirty="0"/>
          </a:p>
        </p:txBody>
      </p:sp>
      <p:sp>
        <p:nvSpPr>
          <p:cNvPr id="9" name="Text 4"/>
          <p:cNvSpPr/>
          <p:nvPr/>
        </p:nvSpPr>
        <p:spPr>
          <a:xfrm>
            <a:off x="911781" y="3569970"/>
            <a:ext cx="6113859" cy="568643"/>
          </a:xfrm>
          <a:prstGeom prst="rect">
            <a:avLst/>
          </a:prstGeom>
          <a:noFill/>
          <a:ln/>
        </p:spPr>
        <p:txBody>
          <a:bodyPr wrap="square" lIns="0" tIns="0" rIns="0" bIns="0" rtlCol="0" anchor="t"/>
          <a:lstStyle/>
          <a:p>
            <a:pPr marL="0" indent="0" algn="l">
              <a:lnSpc>
                <a:spcPts val="2200"/>
              </a:lnSpc>
              <a:buNone/>
            </a:pPr>
            <a:r>
              <a:rPr lang="en-US" sz="1350" dirty="0">
                <a:solidFill>
                  <a:srgbClr val="2C2926"/>
                </a:solidFill>
                <a:latin typeface="Inter" pitchFamily="34" charset="0"/>
                <a:ea typeface="Inter" pitchFamily="34" charset="-122"/>
                <a:cs typeface="Inter" pitchFamily="34" charset="-120"/>
              </a:rPr>
              <a:t>SDR texnologiyasini joriy etish va rivojlantirish aloqa tizimlarida texnologik ustunlikka erishishning asosiy kalitidir.</a:t>
            </a:r>
            <a:endParaRPr lang="en-US" sz="1350" dirty="0"/>
          </a:p>
        </p:txBody>
      </p:sp>
      <p:sp>
        <p:nvSpPr>
          <p:cNvPr id="10" name="Shape 5"/>
          <p:cNvSpPr/>
          <p:nvPr/>
        </p:nvSpPr>
        <p:spPr>
          <a:xfrm>
            <a:off x="7404021" y="2741057"/>
            <a:ext cx="6515219" cy="1882497"/>
          </a:xfrm>
          <a:prstGeom prst="roundRect">
            <a:avLst>
              <a:gd name="adj" fmla="val 5829"/>
            </a:avLst>
          </a:prstGeom>
          <a:solidFill>
            <a:srgbClr val="FFFFFF">
              <a:alpha val="95000"/>
            </a:srgbClr>
          </a:solidFill>
          <a:ln/>
        </p:spPr>
      </p:sp>
      <p:pic>
        <p:nvPicPr>
          <p:cNvPr id="11" name="Image 3" descr="preencoded.png"/>
          <p:cNvPicPr>
            <a:picLocks noChangeAspect="1"/>
          </p:cNvPicPr>
          <p:nvPr/>
        </p:nvPicPr>
        <p:blipFill>
          <a:blip r:embed="rId3"/>
          <a:stretch>
            <a:fillRect/>
          </a:stretch>
        </p:blipFill>
        <p:spPr>
          <a:xfrm>
            <a:off x="7404021" y="2718197"/>
            <a:ext cx="6515219" cy="91440"/>
          </a:xfrm>
          <a:prstGeom prst="rect">
            <a:avLst/>
          </a:prstGeom>
        </p:spPr>
      </p:pic>
      <p:pic>
        <p:nvPicPr>
          <p:cNvPr id="12" name="Image 4" descr="preencoded.png"/>
          <p:cNvPicPr>
            <a:picLocks noChangeAspect="1"/>
          </p:cNvPicPr>
          <p:nvPr/>
        </p:nvPicPr>
        <p:blipFill>
          <a:blip r:embed="rId4"/>
          <a:stretch>
            <a:fillRect/>
          </a:stretch>
        </p:blipFill>
        <p:spPr>
          <a:xfrm>
            <a:off x="10394871" y="2474357"/>
            <a:ext cx="533400" cy="533400"/>
          </a:xfrm>
          <a:prstGeom prst="rect">
            <a:avLst/>
          </a:prstGeom>
        </p:spPr>
      </p:pic>
      <p:pic>
        <p:nvPicPr>
          <p:cNvPr id="13" name="Image 5" descr="preencoded.png"/>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10554891" y="2634377"/>
            <a:ext cx="213360" cy="213360"/>
          </a:xfrm>
          <a:prstGeom prst="rect">
            <a:avLst/>
          </a:prstGeom>
        </p:spPr>
      </p:pic>
      <p:sp>
        <p:nvSpPr>
          <p:cNvPr id="14" name="Text 6"/>
          <p:cNvSpPr/>
          <p:nvPr/>
        </p:nvSpPr>
        <p:spPr>
          <a:xfrm>
            <a:off x="7604641" y="3185517"/>
            <a:ext cx="2222421" cy="277773"/>
          </a:xfrm>
          <a:prstGeom prst="rect">
            <a:avLst/>
          </a:prstGeom>
          <a:noFill/>
          <a:ln/>
        </p:spPr>
        <p:txBody>
          <a:bodyPr wrap="none" lIns="0" tIns="0" rIns="0" bIns="0" rtlCol="0" anchor="t"/>
          <a:lstStyle/>
          <a:p>
            <a:pPr marL="0" indent="0" algn="l">
              <a:lnSpc>
                <a:spcPts val="2150"/>
              </a:lnSpc>
              <a:buNone/>
            </a:pPr>
            <a:r>
              <a:rPr lang="en-US" sz="1750" dirty="0">
                <a:solidFill>
                  <a:srgbClr val="2C2926"/>
                </a:solidFill>
                <a:latin typeface="Bricolage Grotesque Semi Bold" pitchFamily="34" charset="0"/>
                <a:ea typeface="Bricolage Grotesque Semi Bold" pitchFamily="34" charset="-122"/>
                <a:cs typeface="Bricolage Grotesque Semi Bold" pitchFamily="34" charset="-120"/>
              </a:rPr>
              <a:t>Doimiy yangilanish</a:t>
            </a:r>
            <a:endParaRPr lang="en-US" sz="1750" dirty="0"/>
          </a:p>
        </p:txBody>
      </p:sp>
      <p:sp>
        <p:nvSpPr>
          <p:cNvPr id="15" name="Text 7"/>
          <p:cNvSpPr/>
          <p:nvPr/>
        </p:nvSpPr>
        <p:spPr>
          <a:xfrm>
            <a:off x="7604641" y="3569970"/>
            <a:ext cx="6113978" cy="852964"/>
          </a:xfrm>
          <a:prstGeom prst="rect">
            <a:avLst/>
          </a:prstGeom>
          <a:noFill/>
          <a:ln/>
        </p:spPr>
        <p:txBody>
          <a:bodyPr wrap="square" lIns="0" tIns="0" rIns="0" bIns="0" rtlCol="0" anchor="t"/>
          <a:lstStyle/>
          <a:p>
            <a:pPr marL="0" indent="0" algn="l">
              <a:lnSpc>
                <a:spcPts val="2200"/>
              </a:lnSpc>
              <a:buNone/>
            </a:pPr>
            <a:r>
              <a:rPr lang="en-US" sz="1350" dirty="0">
                <a:solidFill>
                  <a:srgbClr val="2C2926"/>
                </a:solidFill>
                <a:latin typeface="Inter" pitchFamily="34" charset="0"/>
                <a:ea typeface="Inter" pitchFamily="34" charset="-122"/>
                <a:cs typeface="Inter" pitchFamily="34" charset="-120"/>
              </a:rPr>
              <a:t>Mavjud SDR qurilmalarini muntazam ravishda dasturiy ta’minot bilan yangilab turish ularning funksionalligini oshiradi va xavfsizlikni ta’minlaydi.</a:t>
            </a:r>
            <a:endParaRPr lang="en-US" sz="1350" dirty="0"/>
          </a:p>
        </p:txBody>
      </p:sp>
      <p:sp>
        <p:nvSpPr>
          <p:cNvPr id="16" name="Shape 8"/>
          <p:cNvSpPr/>
          <p:nvPr/>
        </p:nvSpPr>
        <p:spPr>
          <a:xfrm>
            <a:off x="711160" y="5068014"/>
            <a:ext cx="6515100" cy="1882497"/>
          </a:xfrm>
          <a:prstGeom prst="roundRect">
            <a:avLst>
              <a:gd name="adj" fmla="val 5829"/>
            </a:avLst>
          </a:prstGeom>
          <a:solidFill>
            <a:srgbClr val="FFFFFF">
              <a:alpha val="95000"/>
            </a:srgbClr>
          </a:solidFill>
          <a:ln/>
        </p:spPr>
      </p:sp>
      <p:pic>
        <p:nvPicPr>
          <p:cNvPr id="17" name="Image 6" descr="preencoded.png"/>
          <p:cNvPicPr>
            <a:picLocks noChangeAspect="1"/>
          </p:cNvPicPr>
          <p:nvPr/>
        </p:nvPicPr>
        <p:blipFill>
          <a:blip r:embed="rId3"/>
          <a:stretch>
            <a:fillRect/>
          </a:stretch>
        </p:blipFill>
        <p:spPr>
          <a:xfrm>
            <a:off x="711160" y="5045154"/>
            <a:ext cx="6515100" cy="91440"/>
          </a:xfrm>
          <a:prstGeom prst="rect">
            <a:avLst/>
          </a:prstGeom>
        </p:spPr>
      </p:pic>
      <p:pic>
        <p:nvPicPr>
          <p:cNvPr id="18" name="Image 7" descr="preencoded.png"/>
          <p:cNvPicPr>
            <a:picLocks noChangeAspect="1"/>
          </p:cNvPicPr>
          <p:nvPr/>
        </p:nvPicPr>
        <p:blipFill>
          <a:blip r:embed="rId4"/>
          <a:stretch>
            <a:fillRect/>
          </a:stretch>
        </p:blipFill>
        <p:spPr>
          <a:xfrm>
            <a:off x="3702010" y="4801314"/>
            <a:ext cx="533400" cy="533400"/>
          </a:xfrm>
          <a:prstGeom prst="rect">
            <a:avLst/>
          </a:prstGeom>
        </p:spPr>
      </p:pic>
      <p:pic>
        <p:nvPicPr>
          <p:cNvPr id="19" name="Image 8" descr="preencoded.png"/>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3862030" y="4961334"/>
            <a:ext cx="213360" cy="213360"/>
          </a:xfrm>
          <a:prstGeom prst="rect">
            <a:avLst/>
          </a:prstGeom>
        </p:spPr>
      </p:pic>
      <p:sp>
        <p:nvSpPr>
          <p:cNvPr id="20" name="Text 9"/>
          <p:cNvSpPr/>
          <p:nvPr/>
        </p:nvSpPr>
        <p:spPr>
          <a:xfrm>
            <a:off x="911781" y="5512475"/>
            <a:ext cx="2685931" cy="277773"/>
          </a:xfrm>
          <a:prstGeom prst="rect">
            <a:avLst/>
          </a:prstGeom>
          <a:noFill/>
          <a:ln/>
        </p:spPr>
        <p:txBody>
          <a:bodyPr wrap="none" lIns="0" tIns="0" rIns="0" bIns="0" rtlCol="0" anchor="t"/>
          <a:lstStyle/>
          <a:p>
            <a:pPr marL="0" indent="0" algn="l">
              <a:lnSpc>
                <a:spcPts val="2150"/>
              </a:lnSpc>
              <a:buNone/>
            </a:pPr>
            <a:r>
              <a:rPr lang="en-US" sz="1750" dirty="0">
                <a:solidFill>
                  <a:srgbClr val="2C2926"/>
                </a:solidFill>
                <a:latin typeface="Bricolage Grotesque Semi Bold" pitchFamily="34" charset="0"/>
                <a:ea typeface="Bricolage Grotesque Semi Bold" pitchFamily="34" charset="-122"/>
                <a:cs typeface="Bricolage Grotesque Semi Bold" pitchFamily="34" charset="-120"/>
              </a:rPr>
              <a:t>Hamkorlikni kuchaytirish</a:t>
            </a:r>
            <a:endParaRPr lang="en-US" sz="1750" dirty="0"/>
          </a:p>
        </p:txBody>
      </p:sp>
      <p:sp>
        <p:nvSpPr>
          <p:cNvPr id="21" name="Text 10"/>
          <p:cNvSpPr/>
          <p:nvPr/>
        </p:nvSpPr>
        <p:spPr>
          <a:xfrm>
            <a:off x="911781" y="5896928"/>
            <a:ext cx="6113859" cy="568643"/>
          </a:xfrm>
          <a:prstGeom prst="rect">
            <a:avLst/>
          </a:prstGeom>
          <a:noFill/>
          <a:ln/>
        </p:spPr>
        <p:txBody>
          <a:bodyPr wrap="square" lIns="0" tIns="0" rIns="0" bIns="0" rtlCol="0" anchor="t"/>
          <a:lstStyle/>
          <a:p>
            <a:pPr marL="0" indent="0" algn="l">
              <a:lnSpc>
                <a:spcPts val="2200"/>
              </a:lnSpc>
              <a:buNone/>
            </a:pPr>
            <a:r>
              <a:rPr lang="en-US" sz="1350" dirty="0">
                <a:solidFill>
                  <a:srgbClr val="2C2926"/>
                </a:solidFill>
                <a:latin typeface="Inter" pitchFamily="34" charset="0"/>
                <a:ea typeface="Inter" pitchFamily="34" charset="-122"/>
                <a:cs typeface="Inter" pitchFamily="34" charset="-120"/>
              </a:rPr>
              <a:t>Xorijiy ishlab chiqaruvchilar bilan hamkorlik qilish orqali eng ilg‘or texnologiyalarni o‘rganish va joriy etish imkoniyatlari kengayadi.</a:t>
            </a:r>
            <a:endParaRPr lang="en-US" sz="1350" dirty="0"/>
          </a:p>
        </p:txBody>
      </p:sp>
      <p:sp>
        <p:nvSpPr>
          <p:cNvPr id="22" name="Shape 11"/>
          <p:cNvSpPr/>
          <p:nvPr/>
        </p:nvSpPr>
        <p:spPr>
          <a:xfrm>
            <a:off x="7404021" y="5068014"/>
            <a:ext cx="6515219" cy="1882497"/>
          </a:xfrm>
          <a:prstGeom prst="roundRect">
            <a:avLst>
              <a:gd name="adj" fmla="val 5829"/>
            </a:avLst>
          </a:prstGeom>
          <a:solidFill>
            <a:srgbClr val="FFFFFF">
              <a:alpha val="95000"/>
            </a:srgbClr>
          </a:solidFill>
          <a:ln/>
        </p:spPr>
      </p:sp>
      <p:pic>
        <p:nvPicPr>
          <p:cNvPr id="23" name="Image 9" descr="preencoded.png"/>
          <p:cNvPicPr>
            <a:picLocks noChangeAspect="1"/>
          </p:cNvPicPr>
          <p:nvPr/>
        </p:nvPicPr>
        <p:blipFill>
          <a:blip r:embed="rId3"/>
          <a:stretch>
            <a:fillRect/>
          </a:stretch>
        </p:blipFill>
        <p:spPr>
          <a:xfrm>
            <a:off x="7404021" y="5045154"/>
            <a:ext cx="6515219" cy="91440"/>
          </a:xfrm>
          <a:prstGeom prst="rect">
            <a:avLst/>
          </a:prstGeom>
        </p:spPr>
      </p:pic>
      <p:pic>
        <p:nvPicPr>
          <p:cNvPr id="24" name="Image 10" descr="preencoded.png"/>
          <p:cNvPicPr>
            <a:picLocks noChangeAspect="1"/>
          </p:cNvPicPr>
          <p:nvPr/>
        </p:nvPicPr>
        <p:blipFill>
          <a:blip r:embed="rId4"/>
          <a:stretch>
            <a:fillRect/>
          </a:stretch>
        </p:blipFill>
        <p:spPr>
          <a:xfrm>
            <a:off x="10394871" y="4801314"/>
            <a:ext cx="533400" cy="533400"/>
          </a:xfrm>
          <a:prstGeom prst="rect">
            <a:avLst/>
          </a:prstGeom>
        </p:spPr>
      </p:pic>
      <p:pic>
        <p:nvPicPr>
          <p:cNvPr id="25" name="Image 11" descr="preencoded.png"/>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10554891" y="4961334"/>
            <a:ext cx="213360" cy="213360"/>
          </a:xfrm>
          <a:prstGeom prst="rect">
            <a:avLst/>
          </a:prstGeom>
        </p:spPr>
      </p:pic>
      <p:sp>
        <p:nvSpPr>
          <p:cNvPr id="26" name="Text 12"/>
          <p:cNvSpPr/>
          <p:nvPr/>
        </p:nvSpPr>
        <p:spPr>
          <a:xfrm>
            <a:off x="7604641" y="5512475"/>
            <a:ext cx="2222421" cy="277773"/>
          </a:xfrm>
          <a:prstGeom prst="rect">
            <a:avLst/>
          </a:prstGeom>
          <a:noFill/>
          <a:ln/>
        </p:spPr>
        <p:txBody>
          <a:bodyPr wrap="none" lIns="0" tIns="0" rIns="0" bIns="0" rtlCol="0" anchor="t"/>
          <a:lstStyle/>
          <a:p>
            <a:pPr marL="0" indent="0" algn="l">
              <a:lnSpc>
                <a:spcPts val="2150"/>
              </a:lnSpc>
              <a:buNone/>
            </a:pPr>
            <a:r>
              <a:rPr lang="en-US" sz="1750" dirty="0">
                <a:solidFill>
                  <a:srgbClr val="2C2926"/>
                </a:solidFill>
                <a:latin typeface="Bricolage Grotesque Semi Bold" pitchFamily="34" charset="0"/>
                <a:ea typeface="Bricolage Grotesque Semi Bold" pitchFamily="34" charset="-122"/>
                <a:cs typeface="Bricolage Grotesque Semi Bold" pitchFamily="34" charset="-120"/>
              </a:rPr>
              <a:t>Ilmiy tadqiqotlar</a:t>
            </a:r>
            <a:endParaRPr lang="en-US" sz="1750" dirty="0"/>
          </a:p>
        </p:txBody>
      </p:sp>
      <p:sp>
        <p:nvSpPr>
          <p:cNvPr id="27" name="Text 13"/>
          <p:cNvSpPr/>
          <p:nvPr/>
        </p:nvSpPr>
        <p:spPr>
          <a:xfrm>
            <a:off x="7604641" y="5896928"/>
            <a:ext cx="6113978" cy="852964"/>
          </a:xfrm>
          <a:prstGeom prst="rect">
            <a:avLst/>
          </a:prstGeom>
          <a:noFill/>
          <a:ln/>
        </p:spPr>
        <p:txBody>
          <a:bodyPr wrap="square" lIns="0" tIns="0" rIns="0" bIns="0" rtlCol="0" anchor="t"/>
          <a:lstStyle/>
          <a:p>
            <a:pPr marL="0" indent="0" algn="l">
              <a:lnSpc>
                <a:spcPts val="2200"/>
              </a:lnSpc>
              <a:buNone/>
            </a:pPr>
            <a:r>
              <a:rPr lang="en-US" sz="1350" dirty="0">
                <a:solidFill>
                  <a:srgbClr val="2C2926"/>
                </a:solidFill>
                <a:latin typeface="Inter" pitchFamily="34" charset="0"/>
                <a:ea typeface="Inter" pitchFamily="34" charset="-122"/>
                <a:cs typeface="Inter" pitchFamily="34" charset="-120"/>
              </a:rPr>
              <a:t>Mahalliy ilmiy-tadqiqot ishlarini rivojlantirish va o‘z SDR yechimlarini yaratishga sarmoya kiritish uzoq muddatli istiqbolda mustaqillikni ta’minlaydi.</a:t>
            </a:r>
            <a:endParaRPr lang="en-US" sz="1350" dirty="0"/>
          </a:p>
        </p:txBody>
      </p:sp>
      <p:sp>
        <p:nvSpPr>
          <p:cNvPr id="28" name="Text 14"/>
          <p:cNvSpPr/>
          <p:nvPr/>
        </p:nvSpPr>
        <p:spPr>
          <a:xfrm>
            <a:off x="711160" y="7150537"/>
            <a:ext cx="13208079" cy="568643"/>
          </a:xfrm>
          <a:prstGeom prst="rect">
            <a:avLst/>
          </a:prstGeom>
          <a:noFill/>
          <a:ln/>
        </p:spPr>
        <p:txBody>
          <a:bodyPr wrap="square" lIns="0" tIns="0" rIns="0" bIns="0" rtlCol="0" anchor="t"/>
          <a:lstStyle/>
          <a:p>
            <a:pPr marL="0" indent="0" algn="l">
              <a:lnSpc>
                <a:spcPts val="2200"/>
              </a:lnSpc>
              <a:buNone/>
            </a:pPr>
            <a:r>
              <a:rPr lang="en-US" sz="1350" dirty="0">
                <a:solidFill>
                  <a:srgbClr val="2C2926"/>
                </a:solidFill>
                <a:latin typeface="Inter" pitchFamily="34" charset="0"/>
                <a:ea typeface="Inter" pitchFamily="34" charset="-122"/>
                <a:cs typeface="Inter" pitchFamily="34" charset="-120"/>
              </a:rPr>
              <a:t>SDR texnologiyalari aloqa sohasida inqilobiy o‘zgarishlarni olib kelmoqda. Bu texnologiyalarni chuqur o‘rganish va o‘zlashtirish orqali mamlakatimiz mudofaa qobiliyatini va favqulodda vaziyatlarga javob berish salohiyatini sezilarli darajada oshirish mumkin.</a:t>
            </a:r>
            <a:endParaRPr lang="en-US" sz="1350" dirty="0"/>
          </a:p>
        </p:txBody>
      </p:sp>
    </p:spTree>
  </p:cSld>
  <p:clrMapOvr>
    <a:masterClrMapping/>
  </p:clrMapOvr>
</p:sld>
</file>

<file path=ppt/theme/theme1.xml><?xml version="1.0" encoding="utf-8"?>
<a:theme xmlns:a="http://schemas.openxmlformats.org/drawingml/2006/main" name="Сектор">
  <a:themeElements>
    <a:clrScheme name="Сектор">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Сектор">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Сектор">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18</TotalTime>
  <Words>1759</Words>
  <Application>Microsoft Office PowerPoint</Application>
  <PresentationFormat>Произвольный</PresentationFormat>
  <Paragraphs>140</Paragraphs>
  <Slides>12</Slides>
  <Notes>11</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12</vt:i4>
      </vt:variant>
    </vt:vector>
  </HeadingPairs>
  <TitlesOfParts>
    <vt:vector size="20" baseType="lpstr">
      <vt:lpstr>Bricolage Grotesque Semi Bold</vt:lpstr>
      <vt:lpstr>Century Gothic</vt:lpstr>
      <vt:lpstr>Inter</vt:lpstr>
      <vt:lpstr>Times New Roman</vt:lpstr>
      <vt:lpstr>Wingdings 3</vt:lpstr>
      <vt:lpstr>Calibri</vt:lpstr>
      <vt:lpstr>Arial</vt:lpstr>
      <vt:lpstr>Сектор</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авмин</dc:creator>
  <cp:lastModifiedBy>авмин</cp:lastModifiedBy>
  <cp:revision>3</cp:revision>
  <dcterms:created xsi:type="dcterms:W3CDTF">2025-11-19T05:24:41Z</dcterms:created>
  <dcterms:modified xsi:type="dcterms:W3CDTF">2025-11-30T07:02:50Z</dcterms:modified>
</cp:coreProperties>
</file>