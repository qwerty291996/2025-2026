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2" r:id="rId2"/>
  </p:sldMasterIdLst>
  <p:sldIdLst>
    <p:sldId id="256" r:id="rId3"/>
    <p:sldId id="259" r:id="rId4"/>
    <p:sldId id="260" r:id="rId5"/>
    <p:sldId id="261" r:id="rId6"/>
    <p:sldId id="257" r:id="rId7"/>
    <p:sldId id="258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50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24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5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5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95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00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5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22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2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6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11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366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398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916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86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77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7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5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109473"/>
            <a:ext cx="8940021" cy="1414272"/>
          </a:xfrm>
        </p:spPr>
        <p:txBody>
          <a:bodyPr/>
          <a:lstStyle/>
          <a:p>
            <a:pPr algn="ctr"/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Pythonda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ishlash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3011424"/>
            <a:ext cx="8825658" cy="1926336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o‘quv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savollari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qollanishi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royxatlarni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usullari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ishlovchi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metodlar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693152" y="5193792"/>
            <a:ext cx="3621024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Bajardi:kursant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Abdisamadov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GTBClassificationF1782894998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414165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6875" y="4145281"/>
            <a:ext cx="8825658" cy="4765190"/>
          </a:xfrm>
        </p:spPr>
        <p:txBody>
          <a:bodyPr/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qollanishi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saqlay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tuzilmasi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saqlanishi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➥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guruhlash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ismlar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["Ali", "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/>
                </a:solidFill>
              </a:rPr>
              <a:t>➥ </a:t>
            </a:r>
            <a:r>
              <a:rPr lang="en-US" sz="1800" b="1" dirty="0" err="1">
                <a:solidFill>
                  <a:schemeClr val="bg1"/>
                </a:solidFill>
              </a:rPr>
              <a:t>Elementlar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ustida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ishlar</a:t>
            </a:r>
            <a:r>
              <a:rPr lang="en-US" sz="1800" b="1" dirty="0">
                <a:solidFill>
                  <a:schemeClr val="bg1"/>
                </a:solidFill>
              </a:rPr>
              <a:t> (loop)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ism in </a:t>
            </a:r>
            <a:r>
              <a:rPr lang="en-US" sz="1800" b="1" dirty="0" err="1">
                <a:solidFill>
                  <a:schemeClr val="bg1"/>
                </a:solidFill>
              </a:rPr>
              <a:t>ismlar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print("</a:t>
            </a:r>
            <a:r>
              <a:rPr lang="en-US" sz="1800" b="1" dirty="0" err="1">
                <a:solidFill>
                  <a:schemeClr val="bg1"/>
                </a:solidFill>
              </a:rPr>
              <a:t>Salom</a:t>
            </a:r>
            <a:r>
              <a:rPr lang="en-US" sz="1800" b="1" dirty="0">
                <a:solidFill>
                  <a:schemeClr val="bg1"/>
                </a:solidFill>
              </a:rPr>
              <a:t>,", ism)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/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  <p:sp>
        <p:nvSpPr>
          <p:cNvPr id="4" name="GTBClassificationH3008613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710343129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78278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28107" y="3684693"/>
            <a:ext cx="8825658" cy="2677648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Saralash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qidirish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indekslash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 = [7, 2, 9, 1]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sonlar.sort()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print(sonlar.index(2))  # 1</a:t>
            </a:r>
            <a:br>
              <a:rPr lang="sv-SE" sz="1800" b="1" dirty="0">
                <a:solidFill>
                  <a:schemeClr val="tx1"/>
                </a:solidFill>
              </a:rPr>
            </a:br>
            <a:br>
              <a:rPr lang="sv-SE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Matematik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hisoblashlar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 = [5, 10, 15]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print(sum(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30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print(max(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15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Foydalanuvchidan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ma’lumot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yig‘ish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raqamlar</a:t>
            </a:r>
            <a:r>
              <a:rPr lang="en-US" sz="1800" b="1" dirty="0">
                <a:solidFill>
                  <a:schemeClr val="tx1"/>
                </a:solidFill>
              </a:rPr>
              <a:t> = []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</a:t>
            </a:r>
            <a:r>
              <a:rPr lang="en-US" sz="1800" b="1" dirty="0" err="1">
                <a:solidFill>
                  <a:schemeClr val="tx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in range(3):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</a:t>
            </a:r>
            <a:r>
              <a:rPr lang="en-US" sz="1800" b="1" dirty="0" err="1">
                <a:solidFill>
                  <a:schemeClr val="tx1"/>
                </a:solidFill>
              </a:rPr>
              <a:t>raqamlar.append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int</a:t>
            </a:r>
            <a:r>
              <a:rPr lang="en-US" sz="1800" b="1" dirty="0">
                <a:solidFill>
                  <a:schemeClr val="tx1"/>
                </a:solidFill>
              </a:rPr>
              <a:t>(input(f"{i+1}-</a:t>
            </a:r>
            <a:r>
              <a:rPr lang="en-US" sz="1800" b="1" dirty="0" err="1">
                <a:solidFill>
                  <a:schemeClr val="tx1"/>
                </a:solidFill>
              </a:rPr>
              <a:t>raqamni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kiriting</a:t>
            </a:r>
            <a:r>
              <a:rPr lang="en-US" sz="1800" b="1" dirty="0">
                <a:solidFill>
                  <a:schemeClr val="tx1"/>
                </a:solidFill>
              </a:rPr>
              <a:t>: ")))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Shartlar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tekshiruvi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if "Ali"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print("Ali </a:t>
            </a:r>
            <a:r>
              <a:rPr lang="en-US" sz="1800" b="1" dirty="0" err="1">
                <a:solidFill>
                  <a:schemeClr val="tx1"/>
                </a:solidFill>
              </a:rPr>
              <a:t>ro'yxatda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mavjud</a:t>
            </a:r>
            <a:r>
              <a:rPr lang="en-US" sz="1800" b="1" dirty="0">
                <a:solidFill>
                  <a:schemeClr val="tx1"/>
                </a:solidFill>
              </a:rPr>
              <a:t>")</a:t>
            </a:r>
            <a:br>
              <a:rPr lang="en-US" sz="1800" b="1" dirty="0"/>
            </a:br>
            <a:br>
              <a:rPr lang="en-US" sz="1800" b="1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5522824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394294421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58429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7291" y="3148245"/>
            <a:ext cx="8825658" cy="2677648"/>
          </a:xfrm>
        </p:spPr>
        <p:txBody>
          <a:bodyPr/>
          <a:lstStyle/>
          <a:p>
            <a:r>
              <a:rPr lang="en-US" sz="1800" dirty="0"/>
              <a:t>➥ </a:t>
            </a:r>
            <a:r>
              <a:rPr lang="en-US" sz="1800" b="1" dirty="0" err="1"/>
              <a:t>Matnni</a:t>
            </a:r>
            <a:r>
              <a:rPr lang="en-US" sz="1800" b="1" dirty="0"/>
              <a:t> </a:t>
            </a:r>
            <a:r>
              <a:rPr lang="en-US" sz="1800" b="1" dirty="0" err="1"/>
              <a:t>harflarga</a:t>
            </a:r>
            <a:r>
              <a:rPr lang="en-US" sz="1800" b="1" dirty="0"/>
              <a:t> </a:t>
            </a:r>
            <a:r>
              <a:rPr lang="en-US" sz="1800" b="1" dirty="0" err="1"/>
              <a:t>ajratish</a:t>
            </a:r>
            <a:br>
              <a:rPr lang="en-US" sz="1800" b="1" dirty="0"/>
            </a:br>
            <a:r>
              <a:rPr lang="en-US" sz="1800" b="1" dirty="0" err="1"/>
              <a:t>soz</a:t>
            </a:r>
            <a:r>
              <a:rPr lang="en-US" sz="1800" b="1" dirty="0"/>
              <a:t> = "</a:t>
            </a:r>
            <a:r>
              <a:rPr lang="en-US" sz="1800" b="1" dirty="0" err="1"/>
              <a:t>salom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 err="1"/>
              <a:t>harflar</a:t>
            </a:r>
            <a:r>
              <a:rPr lang="en-US" sz="1800" b="1" dirty="0"/>
              <a:t> = list(</a:t>
            </a:r>
            <a:r>
              <a:rPr lang="en-US" sz="1800" b="1" dirty="0" err="1"/>
              <a:t>soz</a:t>
            </a:r>
            <a:r>
              <a:rPr lang="en-US" sz="1800" b="1" dirty="0"/>
              <a:t>)  # ['s', 'a', 'l', 'o', 'm']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➥ </a:t>
            </a:r>
            <a:r>
              <a:rPr lang="en-US" sz="1800" b="1" dirty="0" err="1"/>
              <a:t>Jadval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matritsa</a:t>
            </a:r>
            <a:r>
              <a:rPr lang="en-US" sz="1800" b="1" dirty="0"/>
              <a:t> </a:t>
            </a:r>
            <a:r>
              <a:rPr lang="en-US" sz="1800" b="1" dirty="0" err="1"/>
              <a:t>yaratish</a:t>
            </a:r>
            <a:br>
              <a:rPr lang="en-US" sz="1800" b="1" dirty="0"/>
            </a:br>
            <a:r>
              <a:rPr lang="pt-BR" sz="1800" b="1" dirty="0"/>
              <a:t>matritsa = [</a:t>
            </a:r>
            <a:br>
              <a:rPr lang="pt-BR" sz="1800" b="1" dirty="0"/>
            </a:br>
            <a:r>
              <a:rPr lang="pt-BR" sz="1800" b="1" dirty="0"/>
              <a:t>    [1, 2, 3],</a:t>
            </a:r>
            <a:br>
              <a:rPr lang="pt-BR" sz="1800" b="1" dirty="0"/>
            </a:br>
            <a:r>
              <a:rPr lang="pt-BR" sz="1800" b="1" dirty="0"/>
              <a:t>    [4, 5, 6]</a:t>
            </a:r>
            <a:br>
              <a:rPr lang="pt-BR" sz="1800" b="1" dirty="0"/>
            </a:br>
            <a:r>
              <a:rPr lang="pt-BR" sz="1800" b="1" dirty="0"/>
              <a:t>]</a:t>
            </a:r>
            <a:br>
              <a:rPr lang="pt-BR" sz="1800" b="1" dirty="0"/>
            </a:br>
            <a:br>
              <a:rPr lang="pt-BR" sz="1800" b="1" dirty="0"/>
            </a:br>
            <a:r>
              <a:rPr lang="en-US" sz="1800" b="1" dirty="0"/>
              <a:t>✦ </a:t>
            </a:r>
            <a:r>
              <a:rPr lang="en-US" sz="1800" b="1" dirty="0" err="1"/>
              <a:t>Ro‘yxatlar</a:t>
            </a:r>
            <a:r>
              <a:rPr lang="en-US" sz="1800" b="1" dirty="0"/>
              <a:t> </a:t>
            </a:r>
            <a:r>
              <a:rPr lang="en-US" sz="1800" b="1" dirty="0" err="1"/>
              <a:t>qachon</a:t>
            </a:r>
            <a:r>
              <a:rPr lang="en-US" sz="1800" b="1" dirty="0"/>
              <a:t> </a:t>
            </a:r>
            <a:r>
              <a:rPr lang="en-US" sz="1800" b="1" dirty="0" err="1"/>
              <a:t>kerak</a:t>
            </a:r>
            <a:r>
              <a:rPr lang="en-US" sz="1800" b="1" dirty="0"/>
              <a:t>?</a:t>
            </a:r>
            <a:br>
              <a:rPr lang="en-US" sz="1800" b="1" dirty="0"/>
            </a:br>
            <a:r>
              <a:rPr lang="en-US" sz="1800" dirty="0" err="1"/>
              <a:t>Ma’lumotlarni</a:t>
            </a:r>
            <a:r>
              <a:rPr lang="en-US" sz="1800" dirty="0"/>
              <a:t> </a:t>
            </a:r>
            <a:r>
              <a:rPr lang="en-US" sz="1800" dirty="0" err="1"/>
              <a:t>guruhlashda</a:t>
            </a:r>
            <a:br>
              <a:rPr lang="en-US" sz="1800" dirty="0"/>
            </a:br>
            <a:r>
              <a:rPr lang="en-US" sz="1800" dirty="0" err="1"/>
              <a:t>Ma’lumotlarga</a:t>
            </a:r>
            <a:r>
              <a:rPr lang="en-US" sz="1800" dirty="0"/>
              <a:t> </a:t>
            </a:r>
            <a:r>
              <a:rPr lang="en-US" sz="1800" dirty="0" err="1"/>
              <a:t>indeks</a:t>
            </a:r>
            <a:r>
              <a:rPr lang="en-US" sz="1800" dirty="0"/>
              <a:t> </a:t>
            </a:r>
            <a:r>
              <a:rPr lang="en-US" sz="1800" dirty="0" err="1"/>
              <a:t>orqali</a:t>
            </a:r>
            <a:r>
              <a:rPr lang="en-US" sz="1800" dirty="0"/>
              <a:t> </a:t>
            </a:r>
            <a:r>
              <a:rPr lang="en-US" sz="1800" dirty="0" err="1"/>
              <a:t>murojaat</a:t>
            </a:r>
            <a:r>
              <a:rPr lang="en-US" sz="1800" dirty="0"/>
              <a:t> </a:t>
            </a:r>
            <a:r>
              <a:rPr lang="en-US" sz="1800" dirty="0" err="1"/>
              <a:t>qilishda</a:t>
            </a:r>
            <a:br>
              <a:rPr lang="en-US" sz="1800" dirty="0"/>
            </a:br>
            <a:r>
              <a:rPr lang="en-US" sz="1800" dirty="0" err="1"/>
              <a:t>Elementlarni</a:t>
            </a:r>
            <a:r>
              <a:rPr lang="en-US" sz="1800" dirty="0"/>
              <a:t> </a:t>
            </a:r>
            <a:r>
              <a:rPr lang="en-US" sz="1800" dirty="0" err="1"/>
              <a:t>o‘zgartirish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qo‘shishda</a:t>
            </a:r>
            <a:br>
              <a:rPr lang="en-US" sz="1800" dirty="0"/>
            </a:br>
            <a:r>
              <a:rPr lang="en-US" sz="1800" dirty="0" err="1"/>
              <a:t>Takroriy</a:t>
            </a:r>
            <a:r>
              <a:rPr lang="en-US" sz="1800" dirty="0"/>
              <a:t> </a:t>
            </a:r>
            <a:r>
              <a:rPr lang="en-US" sz="1800" dirty="0" err="1"/>
              <a:t>operatsiyalarni</a:t>
            </a:r>
            <a:r>
              <a:rPr lang="en-US" sz="1800" dirty="0"/>
              <a:t> </a:t>
            </a:r>
            <a:r>
              <a:rPr lang="en-US" sz="1800" dirty="0" err="1"/>
              <a:t>avtomatlashtirishda</a:t>
            </a:r>
            <a:br>
              <a:rPr lang="en-US" sz="1800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2653292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188619645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24008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0299" y="1487424"/>
            <a:ext cx="8825658" cy="4132165"/>
          </a:xfrm>
        </p:spPr>
        <p:txBody>
          <a:bodyPr/>
          <a:lstStyle/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2.Python’da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(list)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nechta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mavjud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Quyida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6 ta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asosiy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ko‘rib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chiqamiz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1.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Kvadrat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qavslar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mevalar = ["olma", "banan", "anor"]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sonlar = [1, 2, 3, 4, 5]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aralash = [1, "salom", True, 3.14]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2. list()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funksiyasi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harflar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list("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salom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")      # ['s', 'a', 'l', 'o', 'm']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bo‘sh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list()               # []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raqamlar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list((1, 2, 3))   # (tuple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dan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listga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sv-SE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GTBClassificationH949643627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10" name="GTBClassificationF1877998046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321892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093995" y="678007"/>
            <a:ext cx="98178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✅ 3.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range()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funksiyasi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bilan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list(range(5))         # [0, 1, 2, 3, 4]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list(range(2, 11, 2)) # [2, 4, 6, 8, 10]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4. </a:t>
            </a:r>
            <a:r>
              <a:rPr lang="en-US" sz="1800" b="1" dirty="0">
                <a:solidFill>
                  <a:schemeClr val="bg1"/>
                </a:solidFill>
              </a:rPr>
              <a:t>List comprehension (</a:t>
            </a:r>
            <a:r>
              <a:rPr lang="en-US" sz="1800" b="1" dirty="0" err="1">
                <a:solidFill>
                  <a:schemeClr val="bg1"/>
                </a:solidFill>
              </a:rPr>
              <a:t>ro‘yxat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ifodasi</a:t>
            </a:r>
            <a:r>
              <a:rPr lang="en-US" sz="1800" b="1" dirty="0">
                <a:solidFill>
                  <a:schemeClr val="bg1"/>
                </a:solidFill>
              </a:rPr>
              <a:t>)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kvadratlar</a:t>
            </a:r>
            <a:r>
              <a:rPr lang="en-US" sz="1800" b="1" dirty="0">
                <a:solidFill>
                  <a:schemeClr val="bg1"/>
                </a:solidFill>
              </a:rPr>
              <a:t> = [x**2 for x in range(1, 6)]  # [1, 4, 9, 16, 25]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[x for x in range(10) if x % 2 == 0]  # [0, 2, 4, 6, 8]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5. </a:t>
            </a:r>
            <a:r>
              <a:rPr lang="en-US" sz="1800" b="1" dirty="0" err="1">
                <a:solidFill>
                  <a:schemeClr val="bg1"/>
                </a:solidFill>
              </a:rPr>
              <a:t>Ko‘paytirish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operatori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yordamida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qiymatlar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 nol_royxat = [0] * 5      # [0, 0, 0, 0, 0]</a:t>
            </a:r>
            <a:br>
              <a:rPr lang="pl-PL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kataklar = ["bo‘sh"] * 3  # ['bo‘sh', 'bo‘sh', 'bo‘sh']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6. </a:t>
            </a:r>
            <a:r>
              <a:rPr lang="en-US" sz="1800" b="1" dirty="0" err="1">
                <a:solidFill>
                  <a:schemeClr val="bg1"/>
                </a:solidFill>
              </a:rPr>
              <a:t>Foydalanuvchidan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orqali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n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(input("</a:t>
            </a:r>
            <a:r>
              <a:rPr lang="en-US" sz="1800" b="1" dirty="0" err="1">
                <a:solidFill>
                  <a:schemeClr val="bg1"/>
                </a:solidFill>
              </a:rPr>
              <a:t>Nechta</a:t>
            </a:r>
            <a:r>
              <a:rPr lang="en-US" sz="1800" b="1" dirty="0">
                <a:solidFill>
                  <a:schemeClr val="bg1"/>
                </a:solidFill>
              </a:rPr>
              <a:t> son </a:t>
            </a:r>
            <a:r>
              <a:rPr lang="en-US" sz="1800" b="1" dirty="0" err="1">
                <a:solidFill>
                  <a:schemeClr val="bg1"/>
                </a:solidFill>
              </a:rPr>
              <a:t>kiritasiz</a:t>
            </a:r>
            <a:r>
              <a:rPr lang="en-US" sz="1800" b="1" dirty="0">
                <a:solidFill>
                  <a:schemeClr val="bg1"/>
                </a:solidFill>
              </a:rPr>
              <a:t>?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[]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</a:t>
            </a:r>
            <a:r>
              <a:rPr lang="en-US" sz="1800" b="1" dirty="0" err="1">
                <a:solidFill>
                  <a:schemeClr val="bg1"/>
                </a:solidFill>
              </a:rPr>
              <a:t>i</a:t>
            </a:r>
            <a:r>
              <a:rPr lang="en-US" sz="1800" b="1" dirty="0">
                <a:solidFill>
                  <a:schemeClr val="bg1"/>
                </a:solidFill>
              </a:rPr>
              <a:t> in range(n):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(input(f"{i+1}-</a:t>
            </a:r>
            <a:r>
              <a:rPr lang="en-US" sz="1800" b="1" dirty="0" err="1">
                <a:solidFill>
                  <a:schemeClr val="bg1"/>
                </a:solidFill>
              </a:rPr>
              <a:t>sonni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kiriting</a:t>
            </a:r>
            <a:r>
              <a:rPr lang="en-US" sz="1800" b="1" dirty="0">
                <a:solidFill>
                  <a:schemeClr val="bg1"/>
                </a:solidFill>
              </a:rPr>
              <a:t>: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sonlar.append</a:t>
            </a:r>
            <a:r>
              <a:rPr lang="en-US" sz="1800" b="1" dirty="0">
                <a:solidFill>
                  <a:schemeClr val="bg1"/>
                </a:solidFill>
              </a:rPr>
              <a:t>(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print("</a:t>
            </a:r>
            <a:r>
              <a:rPr lang="en-US" sz="1800" b="1" dirty="0" err="1">
                <a:solidFill>
                  <a:schemeClr val="bg1"/>
                </a:solidFill>
              </a:rPr>
              <a:t>Natija</a:t>
            </a:r>
            <a:r>
              <a:rPr lang="en-US" sz="1800" b="1" dirty="0">
                <a:solidFill>
                  <a:schemeClr val="bg1"/>
                </a:solidFill>
              </a:rPr>
              <a:t>:", </a:t>
            </a: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/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GTBClassificationH709145515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195688604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209656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609600"/>
            <a:ext cx="8825658" cy="853440"/>
          </a:xfrm>
        </p:spPr>
        <p:txBody>
          <a:bodyPr/>
          <a:lstStyle/>
          <a:p>
            <a:r>
              <a:rPr lang="en-US" sz="1800" dirty="0"/>
              <a:t>📝 </a:t>
            </a:r>
            <a:r>
              <a:rPr lang="en-US" sz="1800" b="1" dirty="0"/>
              <a:t>Python </a:t>
            </a:r>
            <a:r>
              <a:rPr lang="en-US" sz="1800" b="1" dirty="0" err="1"/>
              <a:t>ro‘yxatlari</a:t>
            </a:r>
            <a:r>
              <a:rPr lang="en-US" sz="1800" b="1" dirty="0"/>
              <a:t> </a:t>
            </a:r>
            <a:r>
              <a:rPr lang="en-US" sz="1800" b="1" dirty="0" err="1"/>
              <a:t>metodlari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706"/>
              </p:ext>
            </p:extLst>
          </p:nvPr>
        </p:nvGraphicFramePr>
        <p:xfrm>
          <a:off x="1048513" y="1572056"/>
          <a:ext cx="9960864" cy="44320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1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478">
                <a:tc>
                  <a:txBody>
                    <a:bodyPr/>
                    <a:lstStyle/>
                    <a:p>
                      <a:r>
                        <a:rPr lang="en-US" sz="1100" dirty="0" err="1"/>
                        <a:t>Metod</a:t>
                      </a:r>
                      <a:endParaRPr lang="en-US" sz="1100" dirty="0"/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Maqsadi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Misol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.append(x)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yangi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lst.append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.extend(iterable)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boshqa iterable qo‘shadi (ro‘yxat birlashtirish)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lst.extend([6,7])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.insert(i, 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Ro‘yxatning i-indeksiga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lst.insert(1, 10)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.remove(x)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Ro‘yxatdan birinchi uchragan x elementini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lst.remove(3)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85">
                <a:tc>
                  <a:txBody>
                    <a:bodyPr/>
                    <a:lstStyle/>
                    <a:p>
                      <a:r>
                        <a:rPr lang="en-US" sz="1100"/>
                        <a:t>.pop([i])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Ro‘yxatdan i-indeksdagi elementni olib tashlaydi va qaytaradi; indeks berilmasa oxirgi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.clear()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Ro‘yxatdagi barcha elementlarni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lst.clear()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.index(x[, start[, end]])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 x elementining birinchi indeksini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lst.index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.count(x)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 x elementi nechta borligini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lst.count(2)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718">
                <a:tc>
                  <a:txBody>
                    <a:bodyPr/>
                    <a:lstStyle/>
                    <a:p>
                      <a:r>
                        <a:rPr lang="en-US" sz="1100"/>
                        <a:t>.sort(key=None, reverse=False)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 tartiblaydi (o‘sish tartibida); reverse=True teskari tartib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lst.sort(), lst.sort(reverse=True)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.reverse()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elementlarini teskarisiga o‘zgartiradi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lst.reverse()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.copy()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nusxasini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new_lst</a:t>
                      </a:r>
                      <a:r>
                        <a:rPr lang="en-US" sz="1100" dirty="0"/>
                        <a:t> = </a:t>
                      </a:r>
                      <a:r>
                        <a:rPr lang="en-US" sz="1100" dirty="0" err="1"/>
                        <a:t>lst.copy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GTBClassificationH327767728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6" name="GTBClassificationF517485924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177278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0016" y="999744"/>
            <a:ext cx="10290048" cy="3828288"/>
          </a:xfrm>
        </p:spPr>
        <p:txBody>
          <a:bodyPr/>
          <a:lstStyle/>
          <a:p>
            <a:r>
              <a:rPr lang="en-US" sz="1800" b="1" dirty="0" err="1">
                <a:solidFill>
                  <a:schemeClr val="bg1"/>
                </a:solidFill>
              </a:rPr>
              <a:t>Misollar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 = [3, 1, 4, 1, 5]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lst.append</a:t>
            </a:r>
            <a:r>
              <a:rPr lang="en-US" sz="1800" b="1" dirty="0">
                <a:solidFill>
                  <a:schemeClr val="bg1"/>
                </a:solidFill>
              </a:rPr>
              <a:t>(9)       # [3, 1,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lst.insert</a:t>
            </a:r>
            <a:r>
              <a:rPr lang="en-US" sz="1800" b="1" dirty="0">
                <a:solidFill>
                  <a:schemeClr val="bg1"/>
                </a:solidFill>
              </a:rPr>
              <a:t>(2, 10)   # [3, 1,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lst.remove</a:t>
            </a:r>
            <a:r>
              <a:rPr lang="en-US" sz="1800" b="1" dirty="0">
                <a:solidFill>
                  <a:schemeClr val="bg1"/>
                </a:solidFill>
              </a:rPr>
              <a:t>(1)       # [3,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lst.pop</a:t>
            </a:r>
            <a:r>
              <a:rPr lang="en-US" sz="1800" b="1" dirty="0">
                <a:solidFill>
                  <a:schemeClr val="bg1"/>
                </a:solidFill>
              </a:rPr>
              <a:t>())    # 9, </a:t>
            </a: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: [3, 10, 4, 1, 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lst.sort</a:t>
            </a:r>
            <a:r>
              <a:rPr lang="en-US" sz="1800" b="1" dirty="0">
                <a:solidFill>
                  <a:schemeClr val="bg1"/>
                </a:solidFill>
              </a:rPr>
              <a:t>()          # [1, 3, 4, 5, 10]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lst.reverse</a:t>
            </a:r>
            <a:r>
              <a:rPr lang="en-US" sz="1800" b="1" dirty="0">
                <a:solidFill>
                  <a:schemeClr val="bg1"/>
                </a:solidFill>
              </a:rPr>
              <a:t>()       # [10, 5, 4, 3, 1]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lst.count</a:t>
            </a:r>
            <a:r>
              <a:rPr lang="en-US" sz="1800" b="1" dirty="0">
                <a:solidFill>
                  <a:schemeClr val="bg1"/>
                </a:solidFill>
              </a:rPr>
              <a:t>(3)) # 1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lst.index</a:t>
            </a:r>
            <a:r>
              <a:rPr lang="en-US" sz="1800" b="1" dirty="0">
                <a:solidFill>
                  <a:schemeClr val="bg1"/>
                </a:solidFill>
              </a:rPr>
              <a:t>(5)) # 3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lst.clear</a:t>
            </a:r>
            <a:r>
              <a:rPr lang="en-US" sz="1800" b="1" dirty="0">
                <a:solidFill>
                  <a:schemeClr val="bg1"/>
                </a:solidFill>
              </a:rPr>
              <a:t>()         # []</a:t>
            </a:r>
            <a:br>
              <a:rPr lang="en-US" sz="1800" b="1" dirty="0">
                <a:solidFill>
                  <a:schemeClr val="bg1"/>
                </a:solidFill>
              </a:rPr>
            </a:b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TBClassificationH1442666102"/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  <p:sp>
        <p:nvSpPr>
          <p:cNvPr id="5" name="GTBClassificationF863235387"/>
          <p:cNvSpPr txBox="1"/>
          <p:nvPr/>
        </p:nvSpPr>
        <p:spPr>
          <a:xfrm>
            <a:off x="0" y="6444615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b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FF0000">
                    <a:alpha val="70000"/>
                  </a:srgbClr>
                </a:solidFill>
                <a:latin typeface="arial" panose="020B0604020202020204" pitchFamily="34" charset="0"/>
              </a:rPr>
              <a:t>Personal</a:t>
            </a:r>
          </a:p>
        </p:txBody>
      </p:sp>
    </p:spTree>
    <p:extLst>
      <p:ext uri="{BB962C8B-B14F-4D97-AF65-F5344CB8AC3E}">
        <p14:creationId xmlns:p14="http://schemas.microsoft.com/office/powerpoint/2010/main" val="525912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Personal</attrValue>
  <customPropName>Classification</customPropName>
  <timestamp>10/17/2025 12:09:53 PM</timestamp>
  <userName>INTERNET\elmirzayev_a</userName>
  <computerName>301-4.INTERNET.AHI</computerName>
  <guid>{e059a23c-3be3-4c50-ba33-9c027ecd8d3e}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hdr>
  <ft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ftr>
  <wm>
    <fontName>arial</fontName>
    <fontColor>000000</fontColor>
    <b/>
    <fontSize>14</fontSize>
    <rotation>315</rotation>
    <transparency>50</transparency>
    <text xml:space="preserve">Personal</text>
  </wm>
</GTBClassification>
</file>

<file path=customXml/itemProps1.xml><?xml version="1.0" encoding="utf-8"?>
<ds:datastoreItem xmlns:ds="http://schemas.openxmlformats.org/officeDocument/2006/customXml" ds:itemID="{9B4B52AE-5D99-4ED7-8C82-A8B754204AD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60</TotalTime>
  <Words>1260</Words>
  <Application>Microsoft Office PowerPoint</Application>
  <PresentationFormat>Широкоэкранный</PresentationFormat>
  <Paragraphs>63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Arial</vt:lpstr>
      <vt:lpstr>Arial Unicode MS</vt:lpstr>
      <vt:lpstr>Century Gothic</vt:lpstr>
      <vt:lpstr>Times New Roman</vt:lpstr>
      <vt:lpstr>Wingdings 3</vt:lpstr>
      <vt:lpstr>Совет директоров</vt:lpstr>
      <vt:lpstr>Pythonda ro‘yxatlar bilan ishlash </vt:lpstr>
      <vt:lpstr>1. Ro‘yxatlar va ularning qollanishi ✦ Ro‘yxat (list) nima?  Ro‘yxat — bu tartiblangan, o‘zgaruvchan va turli turdagi qiymatlarni saqlay oluvchi ma’lumotlar tuzilmasi.   ✦ Ro‘yxatlarning asosiy xususiyatlari ▪️ Tartiblangan: elementlar indekslar orqali tartiblangan ▪️ O‘zgaruvchan: elementlar qo‘shish, o‘chirish, o‘zgartirish mumkin ▪️ Moslashuvchan: turli turdagi qiymatlar saqlanishi mumkin  ✦ Ro‘yxatlarning qo‘llanilishi ➥ Ma’lumotlarni guruhlash va saqlash ismlar = ["Ali", "Vali", "Hasan"]  ➥ Elementlar ustida takroriy ishlar (loop) for ism in ismlar:     print("Salom,", ism)      </vt:lpstr>
      <vt:lpstr>➥ Saralash, qidirish, indekslash sonlar = [7, 2, 9, 1] sonlar.sort() print(sonlar.index(2))  # 1  ➥ Matematik hisoblashlar sonlar = [5, 10, 15] print(sum(sonlar))  # 30 print(max(sonlar))  # 15  ➥ Foydalanuvchidan ma’lumot yig‘ish raqamlar = [] for i in range(3):     raqamlar.append(int(input(f"{i+1}-raqamni kiriting: ")))  ➥ Shartlar tekshiruvi if "Ali" in ismlar:     print("Ali ro'yxatda mavjud")  </vt:lpstr>
      <vt:lpstr>➥ Matnni harflarga ajratish soz = "salom" harflar = list(soz)  # ['s', 'a', 'l', 'o', 'm']  ➥ Jadval va matritsa yaratish matritsa = [     [1, 2, 3],     [4, 5, 6] ]  ✦ Ro‘yxatlar qachon kerak? Ma’lumotlarni guruhlashda Ma’lumotlarga indeks orqali murojaat qilishda Elementlarni o‘zgartirish va qo‘shishda Takroriy operatsiyalarni avtomatlashtirishda </vt:lpstr>
      <vt:lpstr>2.Python’da ro‘yxat (list) yaratishning bir nechta usuli mavjud. Quyida ro‘yxat yaratishning 6 ta asosiy usulini ko‘rib chiqamiz:  ✅ 1. Kvadrat qavslar yordamida mevalar = ["olma", "banan", "anor"] sonlar = [1, 2, 3, 4, 5] aralash = [1, "salom", True, 3.14]  ✅ 2. list() funksiyasi yordamida harflar = list("salom")      # ['s', 'a', 'l', 'o', 'm'] bo‘sh = list()               # [] raqamlar = list((1, 2, 3))   # (tuple dan listga)   </vt:lpstr>
      <vt:lpstr>✅ 3. range() funksiyasi bilan sonlar = list(range(5))         # [0, 1, 2, 3, 4] juftlar = list(range(2, 11, 2)) # [2, 4, 6, 8, 10]   ✅ 4. List comprehension (ro‘yxat ifodasi)  kvadratlar = [x**2 for x in range(1, 6)]  # [1, 4, 9, 16, 25] juftlar = [x for x in range(10) if x % 2 == 0]  # [0, 2, 4, 6, 8]   ✅ 5. Ko‘paytirish operatori yordamida (takroriy qiymatlar)  nol_royxat = [0] * 5      # [0, 0, 0, 0, 0] kataklar = ["bo‘sh"] * 3  # ['bo‘sh', 'bo‘sh', 'bo‘sh']   ✅ 6. Foydalanuvchidan kiritish orqali  n = int(input("Nechta son kiritasiz? ")) sonlar = [] for i in range(n):     qiymat = int(input(f"{i+1}-sonni kiriting: "))     sonlar.append(qiymat) print("Natija:", sonlar)      </vt:lpstr>
      <vt:lpstr>📝 Python ro‘yxatlari metodlari</vt:lpstr>
      <vt:lpstr>Misollar: lst = [3, 1, 4, 1, 5]  lst.append(9)       # [3, 1, 4, 1, 5, 9] lst.insert(2, 10)   # [3, 1, 10, 4, 1, 5, 9] lst.remove(1)       # [3, 10, 4, 1, 5, 9] print(lst.pop())    # 9, lst: [3, 10, 4, 1, 5] lst.sort()          # [1, 3, 4, 5, 10] lst.reverse()       # [10, 5, 4, 3, 1] print(lst.count(3)) # 1 print(lst.index(5)) # 3 lst.clear()         # []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Pythonda ro‘yxatlar bilan ishlash</dc:title>
  <dc:creator>Elmirzayev Akobirshox</dc:creator>
  <cp:keywords>ClassificationData:&lt;Classification:Personal&gt;</cp:keywords>
  <cp:lastModifiedBy>авмин</cp:lastModifiedBy>
  <cp:revision>10</cp:revision>
  <dcterms:created xsi:type="dcterms:W3CDTF">2025-10-17T18:11:11Z</dcterms:created>
  <dcterms:modified xsi:type="dcterms:W3CDTF">2025-12-05T04:09:49Z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Personal</vt:lpwstr>
  </property>
  <property fmtid="{D5CDD505-2E9C-101B-9397-08002B2CF9AE}" pid="3" name="ClassifiedBy">
    <vt:lpwstr>INTERNET\elmirzayev_a</vt:lpwstr>
  </property>
  <property fmtid="{D5CDD505-2E9C-101B-9397-08002B2CF9AE}" pid="4" name="ClassificationHost">
    <vt:lpwstr>301-4.INTERNET.AHI</vt:lpwstr>
  </property>
  <property fmtid="{D5CDD505-2E9C-101B-9397-08002B2CF9AE}" pid="5" name="ClassificationDate">
    <vt:lpwstr>10/17/2025 12:09:53 PM</vt:lpwstr>
  </property>
  <property fmtid="{D5CDD505-2E9C-101B-9397-08002B2CF9AE}" pid="6" name="ClassificationGUID">
    <vt:lpwstr>{e059a23c-3be3-4c50-ba33-9c027ecd8d3e}</vt:lpwstr>
  </property>
</Properties>
</file>